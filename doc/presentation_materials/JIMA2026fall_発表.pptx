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28800"/>
            <a:ext cx="11057839" cy="731520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828800"/>
            <a:ext cx="1050919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3194227" y="2578608"/>
            <a:ext cx="2901620" cy="44805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3063240"/>
            <a:ext cx="525459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227832"/>
            <a:ext cx="34257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721608"/>
            <a:ext cx="47059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578608"/>
            <a:ext cx="2901620" cy="44805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70167" y="3063240"/>
            <a:ext cx="5254599" cy="123444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4487" y="3227832"/>
            <a:ext cx="34257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487" y="3721608"/>
            <a:ext cx="47059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0327" y="3246120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97467" y="4334256"/>
            <a:ext cx="0" cy="347472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70167" y="4736592"/>
            <a:ext cx="525459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4487" y="4773168"/>
            <a:ext cx="4705959" cy="138988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</a:t>
            </a:r>
          </a:p>
          <a:p>
            <a:pPr>
              <a:lnSpc>
                <a:spcPct val="110000"/>
              </a:lnSpc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138928"/>
            <a:ext cx="1463040" cy="384048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本研究の対象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67128" y="5074920"/>
            <a:ext cx="3791559" cy="51206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ジョブショップ問題（JSP）における作業遅延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安定性では最適で，生産効率も高い解が，探索の開始前から得られている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27632"/>
            <a:ext cx="5852160" cy="45244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56248" y="1783080"/>
            <a:ext cx="506851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22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 の処理順序を保ったまま遅延を吸収した解は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探索の開始前から得られる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この解は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変更量 0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 で安定性では最適であり，</a:t>
            </a:r>
            <a:r>
              <a:rPr sz="17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22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 が外乱前に最適化済みのため </a:t>
            </a:r>
            <a:r>
              <a:rPr sz="17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 も小さい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変更コストが無視できない場面では，</a:t>
            </a:r>
            <a:r>
              <a:rPr sz="17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22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）で </a:t>
            </a:r>
            <a:r>
              <a:rPr sz="17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 を改善した解が求められる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6248" y="4343400"/>
            <a:ext cx="5068519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8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手法はフロント全体の解の質だけでなく，</a:t>
            </a:r>
          </a:p>
          <a:p>
            <a:pPr algn="l">
              <a:lnSpc>
                <a:spcPct val="108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高安定領域の解の質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でも評価する必要がある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6248" y="5029200"/>
            <a:ext cx="50685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本研究では，解の質を hypervolume（HV）で測る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探索構造の差は検証されておらず，その差を測る形式も，差を補う操作もない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16712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96926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91839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721607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364991"/>
            <a:ext cx="3108960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493008"/>
            <a:ext cx="13716" cy="96926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364991"/>
            <a:ext cx="6485839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46320"/>
            <a:ext cx="11057839" cy="1371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2760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919472"/>
            <a:ext cx="3108960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フロント全体を保って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高安定領域の解を生む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5047488"/>
            <a:ext cx="13716" cy="96926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919472"/>
            <a:ext cx="6485839" cy="12252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：選ばれる解は変わるが，高安定領域の解を作る操作はない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：解は高安定領域に留まるが，範囲外のトレードオフ解を失う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探索構造が高安定領域に届かないとき（課題 1），補う手段がない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02536"/>
            <a:ext cx="5062575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6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6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からの小さな変更では表せない飛躍を伴うため，</a:t>
            </a:r>
          </a:p>
          <a:p>
            <a:pPr algn="l">
              <a:lnSpc>
                <a:spcPct val="112000"/>
              </a:lnSpc>
            </a:pPr>
            <a:r>
              <a:rPr sz="16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6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511296"/>
            <a:ext cx="4391343" cy="2889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78727" y="1572768"/>
            <a:ext cx="539175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1956816"/>
            <a:ext cx="5391759" cy="146304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7599" y="2002536"/>
            <a:ext cx="5062575" cy="13716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6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6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その経路上に変更量が小さく </a:t>
            </a:r>
            <a:r>
              <a:rPr sz="1650" b="0" i="1">
                <a:solidFill>
                  <a:srgbClr val="FFFFFF"/>
                </a:solidFill>
                <a:latin typeface="Meiryo"/>
                <a:ea typeface="Meiryo"/>
              </a:rPr>
              <a:t>MS</a:t>
            </a: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 の劣化も小さい</a:t>
            </a:r>
          </a:p>
          <a:p>
            <a:pPr algn="l">
              <a:lnSpc>
                <a:spcPct val="112000"/>
              </a:lnSpc>
            </a:pPr>
            <a:r>
              <a:rPr sz="1650" b="0" i="0">
                <a:solidFill>
                  <a:srgbClr val="FFFFFF"/>
                </a:solidFill>
                <a:latin typeface="Meiryo"/>
                <a:ea typeface="Meiryo"/>
              </a:rPr>
              <a:t>解が現れるため，</a:t>
            </a:r>
            <a:r>
              <a:rPr sz="16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511296"/>
            <a:ext cx="4391343" cy="288950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問題設定・評価指標・探索構造・安定性誘導演算子・仮説の判定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8308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312" y="3520440"/>
            <a:ext cx="2808271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3666744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16052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66344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235440" y="3310127"/>
            <a:ext cx="859536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954512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|3−2| ＋ |2−3|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の処理順序を保った解は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の処理順序を保った解）は全手法が探索せずに得るため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9164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単点探索（ILS：反復局所探索）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現在解は常に 1 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E06C00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局所探索と摂動が別の段で，演算子を摂動に組み込める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70048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670048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670048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471416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709160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489704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782312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8727" y="1691640"/>
            <a:ext cx="5346039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78727" y="169164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1607" y="169164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Meiryo"/>
                <a:ea typeface="Meiryo"/>
              </a:rPr>
              <a:t>多点探索（Memetic：GA＋局所探索）</a:t>
            </a:r>
            <a:r>
              <a:rPr sz="1200" b="0" i="0">
                <a:solidFill>
                  <a:srgbClr val="FFFFFF"/>
                </a:solidFill>
                <a:latin typeface="Meiryo"/>
                <a:ea typeface="Meiryo"/>
              </a:rPr>
              <a:t>　複数の解を保持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7327" y="2276856"/>
            <a:ext cx="4888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00" b="1" i="0">
                <a:solidFill>
                  <a:srgbClr val="0F5C28"/>
                </a:solidFill>
                <a:latin typeface="Meiryo"/>
                <a:ea typeface="Meiryo"/>
              </a:rPr>
              <a:t>選定理由：</a:t>
            </a:r>
            <a:r>
              <a:rPr sz="1200" b="0" i="0">
                <a:solidFill>
                  <a:srgbClr val="26303A"/>
                </a:solidFill>
                <a:latin typeface="Meiryo"/>
                <a:ea typeface="Meiryo"/>
              </a:rPr>
              <a:t>先行研究で標準的な，GA に局所探索を組み込んだ構成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98767" y="2770632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＋ 無作為に生成した個体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98767" y="3520440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選択・交叉：2 親の染色体を組み替え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381847" y="3264408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598767" y="4270248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381847" y="4014215"/>
            <a:ext cx="0" cy="23774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598767" y="5020056"/>
            <a:ext cx="3566160" cy="47548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81847" y="4764024"/>
            <a:ext cx="0" cy="23774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83215" y="5257800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0420959" y="3758184"/>
            <a:ext cx="0" cy="149961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0201503" y="3758184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0494111" y="4325112"/>
            <a:ext cx="11887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760720"/>
            <a:ext cx="11057839" cy="566928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揃えた条件：局所探索（N5 近傍）・目的関数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・初期解に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 を含めること　→　局所探索の有無による差を除いて比較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安定性誘導演算子：PR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path relinking（PR）の誘導解を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移動でたどる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4087" y="1691640"/>
            <a:ext cx="5440680" cy="44805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2687" y="1783080"/>
            <a:ext cx="4983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1247" y="2240280"/>
            <a:ext cx="5166360" cy="64008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2687" y="2331720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1407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2071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2735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3399" y="2331720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37215" y="2331720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2687" y="3127248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01407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42071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2735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23399" y="3127248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37215" y="3127248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55687" y="3584448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687" y="4005072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1407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42071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2735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302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23399" y="4005072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37215" y="4005072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5687" y="4462272"/>
            <a:ext cx="393192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5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2687" y="4882896"/>
            <a:ext cx="118872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01407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42071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82735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23399" y="4882896"/>
            <a:ext cx="658368" cy="45720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37215" y="4882896"/>
            <a:ext cx="82296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2687" y="5458968"/>
            <a:ext cx="4983480" cy="6400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と順位が異なる作業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64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2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0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1691640"/>
            <a:ext cx="5342839" cy="14813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49808" y="187452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92807" y="1764792"/>
            <a:ext cx="3879799" cy="13350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通常の PR はエリート解どうしを結ぶ．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本研究では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し，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現在解と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を結ぶ経路をたどり，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その中間解から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の小さい解を選ぶ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37560"/>
            <a:ext cx="5342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9808" y="3520440"/>
            <a:ext cx="960120" cy="384048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PR-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92807" y="3410712"/>
            <a:ext cx="387979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回の swap で打ち切り，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到達解を返す．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で変える</a:t>
            </a:r>
          </a:p>
          <a:p>
            <a:pPr algn="l">
              <a:lnSpc>
                <a:spcPct val="112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と順位が異なる作業数）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4690872"/>
            <a:ext cx="5342839" cy="1481327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5528" y="4745736"/>
            <a:ext cx="4885639" cy="137159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停滞したときに，摂動として発動</a:t>
            </a:r>
          </a:p>
          <a:p>
            <a:pPr>
              <a:spcBef>
                <a:spcPts val="800"/>
              </a:spcBef>
            </a:pPr>
            <a:r>
              <a:rPr sz="150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各個体に確率的に，改善操作として発動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本研究の主眼は最先端手法との性能競争ではなく，仮説を立てて条件を統制し，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探索構造と演算子の関係を切り分けること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975104"/>
          <a:ext cx="7955280" cy="109728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42247" y="2340864"/>
            <a:ext cx="2782519" cy="7315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参考：GA（局所探索なし）を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加えて計 7 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300984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088" y="3273552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712464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を全シナリオで有意に上回れば，支持とみなす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308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7088" y="422452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66344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を全シナリオで有意に上回れば，支持とみなす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084064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5202936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仮説なし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47088" y="5175504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も，仮説 2 と同じ形で ILS と比較する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33872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1　高安定領域の非劣解（代表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2　高安定 HV（全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安定性誘導演算子の効果が現れる条件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3　全域 HV と AUC（代表 2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結果 4　全域 HV と AUC（全 8 シナリオ）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261" y="1325880"/>
            <a:ext cx="4805172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