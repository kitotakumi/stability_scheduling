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外乱が起きたら，事前に作成した初期スケジュール Sp を修正する（予測リアクティブ再スケジューリング）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スケジュールの変更は現場にコストを生むため，生産効率と安定性の二目的最適化として扱う</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スケジュール変更コストが無視できない場面では高安定領域の解が求められるため，本研究は高安定領域に限った HV（高安定 HV）で手法を評価する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 が探索前に得られているこの問題では，この特性が探索構造の優劣を左右するのではないか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安定性の確保は 2 つのアプローチに分かれるが，どちらもメタヒューリスティクスによる解法は多点探索に集中している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先行研究には，探索構造の比較・高安定領域での評価・安定性の高い解を作り出す操作が欠けている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課題 1・3 に対して 2 つの仮説を立て，どちらも高安定 HV（課題 2 への対応）で判定する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決定変数は，遅延後に最適化対象となる作業の，機械ごとの処理順序</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局所探索などの条件を揃え，解の作り方（少しずつ変更するか，交叉で組み替えるか）を比較する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 の誘導解を初期スケジュール Sp に固定し，現在解から Sp へ swap でたどる経路上の解を返す操作にする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仮説 1 は ILS と Memetic，仮説 2 は Memetic と演算子を組み込んだ Memetic の高安定 HV を比較して判定する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つのベンチマーク問題に単一作業の遅延を与え，8 シナリオを構成</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ta21S では，演算子なしの Memetic は高安定領域に非劣解を持たない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仮説 1・仮説 2 とも，全 8 シナリオで支持された</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演算子を組み込むと両構造とも最良値の付近に達する．ILS は組み込む前から最良値の付近にある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仮説の判定とは別に，同じ試行を，フロント全体の品質と anytime 性能でも評価する</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立ち上がりは ILS が速く，到達した全域 HV は演算子を組み込んだ Memetic が同等以上</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最良の手法は評価指標によって異なる：全域 HV は Memetic＋演算子，AUC は ILS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高安定 HV は単点探索が上回り，多点探索も安定性誘導演算子を組み込めば同程度に達する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結論は本実験の条件の下で得たもので，条件を変えた再検証が今後の課題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868680" y="1874519"/>
            <a:ext cx="2377440" cy="0"/>
          </a:xfrm>
          <a:prstGeom prst="bentConnector3">
            <a:avLst/>
          </a:prstGeom>
          <a:ln w="254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68680" y="1874519"/>
            <a:ext cx="10454335" cy="2468880"/>
          </a:xfrm>
          <a:prstGeom prst="rect">
            <a:avLst/>
          </a:prstGeom>
          <a:noFill/>
        </p:spPr>
        <p:txBody>
          <a:bodyPr wrap="square" anchor="ctr" lIns="18288" rIns="18288" tIns="108204" bIns="9144">
            <a:spAutoFit/>
          </a:bodyPr>
          <a:lstStyle/>
          <a:p>
            <a:pPr>
              <a:lnSpc>
                <a:spcPct val="115000"/>
              </a:lnSpc>
            </a:pPr>
            <a:r>
              <a:rPr sz="3000" b="1" i="0" lang="ja-JP">
                <a:solidFill>
                  <a:srgbClr val="FFFFFF"/>
                </a:solidFill>
                <a:latin typeface="Meiryo"/>
                <a:ea typeface="Meiryo"/>
              </a:rPr>
              <a:t>処理順序の変更量を考慮した再スケジューリングにおける</a:t>
            </a:r>
          </a:p>
          <a:p>
            <a:pPr>
              <a:lnSpc>
                <a:spcPct val="115000"/>
              </a:lnSpc>
            </a:pPr>
            <a:r>
              <a:rPr sz="3000" b="1" i="0" lang="ja-JP">
                <a:solidFill>
                  <a:srgbClr val="FFFFFF"/>
                </a:solidFill>
                <a:latin typeface="Meiryo"/>
                <a:ea typeface="Meiryo"/>
              </a:rPr>
              <a:t>path relinking の適用と探索構造の比較評価</a:t>
            </a:r>
          </a:p>
        </p:txBody>
      </p:sp>
      <p:cxnSp>
        <p:nvCxnSpPr>
          <p:cNvPr id="5" name="Connector 4"/>
          <p:cNvCxnSpPr/>
          <p:nvPr/>
        </p:nvCxnSpPr>
        <p:spPr>
          <a:xfrm>
            <a:off x="886968" y="4343400"/>
            <a:ext cx="3108960" cy="0"/>
          </a:xfrm>
          <a:prstGeom prst="bentConnector3">
            <a:avLst/>
          </a:prstGeom>
          <a:ln w="12700">
            <a:solidFill>
              <a:srgbClr val="3E618C"/>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86968" y="4480560"/>
            <a:ext cx="10454335" cy="1463040"/>
          </a:xfrm>
          <a:prstGeom prst="rect">
            <a:avLst/>
          </a:prstGeom>
          <a:noFill/>
        </p:spPr>
        <p:txBody>
          <a:bodyPr wrap="square" anchor="t" lIns="18288" rIns="18288" tIns="9144" bIns="9144">
            <a:spAutoFit/>
          </a:bodyPr>
          <a:lstStyle/>
          <a:p>
            <a:pPr>
              <a:spcBef>
                <a:spcPts val="0"/>
              </a:spcBef>
            </a:pPr>
            <a:r>
              <a:rPr sz="1500" b="0" i="0" lang="ja-JP">
                <a:solidFill>
                  <a:srgbClr val="AFC2D8"/>
                </a:solidFill>
                <a:latin typeface="Meiryo"/>
                <a:ea typeface="Meiryo"/>
              </a:rPr>
              <a:t>早稲田大学</a:t>
            </a:r>
          </a:p>
          <a:p>
            <a:pPr>
              <a:spcBef>
                <a:spcPts val="600"/>
              </a:spcBef>
            </a:pPr>
            <a:r>
              <a:rPr sz="1900" b="1" i="0" lang="ja-JP">
                <a:solidFill>
                  <a:srgbClr val="FFFFFF"/>
                </a:solidFill>
                <a:latin typeface="Meiryo"/>
                <a:ea typeface="Meiryo"/>
              </a:rPr>
              <a:t>○鬼頭 拓海，谷水 義隆，渡邉 るりこ</a:t>
            </a:r>
          </a:p>
          <a:p>
            <a:pPr>
              <a:spcBef>
                <a:spcPts val="600"/>
              </a:spcBef>
            </a:pPr>
            <a:r>
              <a:rPr sz="1250" b="0" i="0" lang="ja-JP">
                <a:solidFill>
                  <a:srgbClr val="8CA3C0"/>
                </a:solidFill>
                <a:latin typeface="Meiryo"/>
                <a:ea typeface="Meiryo"/>
              </a:rPr>
              <a:t>日本経営工学会 2026年秋季大会　2026年10月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737360" y="1371599"/>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0" y="1417319"/>
            <a:ext cx="914400" cy="868680"/>
          </a:xfrm>
          <a:prstGeom prst="rect">
            <a:avLst/>
          </a:prstGeom>
          <a:noFill/>
        </p:spPr>
        <p:txBody>
          <a:bodyPr wrap="square" anchor="ctr" lIns="18288" rIns="18288" tIns="141224" bIns="9144">
            <a:spAutoFit/>
          </a:bodyPr>
          <a:lstStyle/>
          <a:p>
            <a:r>
              <a:rPr sz="4000" b="1" i="0" lang="ja-JP">
                <a:solidFill>
                  <a:srgbClr val="FFFFFF"/>
                </a:solidFill>
                <a:latin typeface="Meiryo"/>
                <a:ea typeface="Meiryo"/>
              </a:rPr>
              <a:t>1</a:t>
            </a:r>
          </a:p>
        </p:txBody>
      </p:sp>
      <p:sp>
        <p:nvSpPr>
          <p:cNvPr id="5" name="TextBox 4"/>
          <p:cNvSpPr txBox="1"/>
          <p:nvPr/>
        </p:nvSpPr>
        <p:spPr>
          <a:xfrm>
            <a:off x="3017520" y="1417319"/>
            <a:ext cx="7162495" cy="868680"/>
          </a:xfrm>
          <a:prstGeom prst="rect">
            <a:avLst/>
          </a:prstGeom>
          <a:noFill/>
        </p:spPr>
        <p:txBody>
          <a:bodyPr wrap="square" anchor="ctr" lIns="18288" rIns="18288" tIns="94996" bIns="9144">
            <a:spAutoFit/>
          </a:bodyPr>
          <a:lstStyle/>
          <a:p>
            <a:r>
              <a:rPr sz="2600" b="1" i="0" lang="ja-JP">
                <a:solidFill>
                  <a:srgbClr val="FFFFFF"/>
                </a:solidFill>
                <a:latin typeface="Meiryo"/>
                <a:ea typeface="Meiryo"/>
              </a:rPr>
              <a:t>研究背景と仮説</a:t>
            </a:r>
          </a:p>
          <a:p>
            <a:pPr>
              <a:spcBef>
                <a:spcPts val="400"/>
              </a:spcBef>
            </a:pPr>
            <a:r>
              <a:rPr sz="1300" b="0" i="0" lang="ja-JP">
                <a:solidFill>
                  <a:srgbClr val="AFC2D8"/>
                </a:solidFill>
                <a:latin typeface="Meiryo"/>
                <a:ea typeface="Meiryo"/>
              </a:rPr>
              <a:t>外乱と再スケジューリング・高安定領域・高安定 HV・特殊性・先行研究・課題・仮説</a:t>
            </a:r>
          </a:p>
        </p:txBody>
      </p:sp>
      <p:sp>
        <p:nvSpPr>
          <p:cNvPr id="6" name="TextBox 5"/>
          <p:cNvSpPr txBox="1"/>
          <p:nvPr/>
        </p:nvSpPr>
        <p:spPr>
          <a:xfrm>
            <a:off x="2011680" y="2468879"/>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問題設定と実験計画</a:t>
            </a:r>
          </a:p>
        </p:txBody>
      </p:sp>
      <p:sp>
        <p:nvSpPr>
          <p:cNvPr id="8" name="TextBox 7"/>
          <p:cNvSpPr txBox="1"/>
          <p:nvPr/>
        </p:nvSpPr>
        <p:spPr>
          <a:xfrm>
            <a:off x="2011680" y="3520439"/>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AFC2D8"/>
                </a:solidFill>
                <a:latin typeface="Meiryo"/>
                <a:ea typeface="Meiryo"/>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外乱と再スケジューリング</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a:t>
            </a:r>
          </a:p>
        </p:txBody>
      </p:sp>
      <p:sp>
        <p:nvSpPr>
          <p:cNvPr id="6" name="Rounded Rectangle 5"/>
          <p:cNvSpPr/>
          <p:nvPr/>
        </p:nvSpPr>
        <p:spPr>
          <a:xfrm>
            <a:off x="566928" y="2062200"/>
            <a:ext cx="3184855" cy="3771900"/>
          </a:xfrm>
          <a:prstGeom prst="roundRect">
            <a:avLst>
              <a:gd name="adj" fmla="val 6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2062200"/>
            <a:ext cx="2819095" cy="3771900"/>
          </a:xfrm>
          <a:prstGeom prst="rect">
            <a:avLst/>
          </a:prstGeom>
          <a:noFill/>
        </p:spPr>
        <p:txBody>
          <a:bodyPr wrap="square" anchor="ctr" lIns="18288" rIns="18288" tIns="68580" bIns="9144">
            <a:spAutoFit/>
          </a:bodyPr>
          <a:lstStyle/>
          <a:p>
            <a:r>
              <a:rPr sz="1800" b="1" i="0" lang="ja-JP">
                <a:solidFill>
                  <a:srgbClr val="16385C"/>
                </a:solidFill>
                <a:latin typeface="Meiryo"/>
                <a:ea typeface="Meiryo"/>
              </a:rPr>
              <a:t>外乱</a:t>
            </a:r>
          </a:p>
          <a:p>
            <a:pPr>
              <a:lnSpc>
                <a:spcPct val="110000"/>
              </a:lnSpc>
              <a:spcBef>
                <a:spcPts val="600"/>
              </a:spcBef>
            </a:pPr>
            <a:r>
              <a:rPr sz="1800" b="0" i="0" lang="ja-JP">
                <a:solidFill>
                  <a:srgbClr val="26303A"/>
                </a:solidFill>
                <a:latin typeface="Meiryo"/>
                <a:ea typeface="Meiryo"/>
              </a:rPr>
              <a:t>製造現場では，機械故障や</a:t>
            </a:r>
            <a:br/>
            <a:r>
              <a:rPr sz="1800" b="0" i="0" lang="ja-JP">
                <a:solidFill>
                  <a:srgbClr val="26303A"/>
                </a:solidFill>
                <a:latin typeface="Meiryo"/>
                <a:ea typeface="Meiryo"/>
              </a:rPr>
              <a:t>作業遅延などにより，</a:t>
            </a:r>
            <a:br/>
            <a:r>
              <a:rPr sz="1800" b="0" i="0" lang="ja-JP">
                <a:solidFill>
                  <a:srgbClr val="26303A"/>
                </a:solidFill>
                <a:latin typeface="Meiryo"/>
                <a:ea typeface="Meiryo"/>
              </a:rPr>
              <a:t>スケジュール通りに作業を</a:t>
            </a:r>
            <a:br/>
            <a:r>
              <a:rPr sz="1800" b="0" i="0" lang="ja-JP">
                <a:solidFill>
                  <a:srgbClr val="26303A"/>
                </a:solidFill>
                <a:latin typeface="Meiryo"/>
                <a:ea typeface="Meiryo"/>
              </a:rPr>
              <a:t>実行できないことがある</a:t>
            </a:r>
          </a:p>
        </p:txBody>
      </p:sp>
      <p:sp>
        <p:nvSpPr>
          <p:cNvPr id="8" name="Rounded Rectangle 7"/>
          <p:cNvSpPr/>
          <p:nvPr/>
        </p:nvSpPr>
        <p:spPr>
          <a:xfrm>
            <a:off x="4007815" y="1435608"/>
            <a:ext cx="2971800" cy="2350465"/>
          </a:xfrm>
          <a:prstGeom prst="roundRect">
            <a:avLst>
              <a:gd name="adj" fmla="val 6000"/>
            </a:avLst>
          </a:prstGeom>
          <a:solidFill>
            <a:srgbClr val="EDF2F7"/>
          </a:solidFill>
          <a:ln w="2286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90695" y="1435608"/>
            <a:ext cx="2606040" cy="2350465"/>
          </a:xfrm>
          <a:prstGeom prst="rect">
            <a:avLst/>
          </a:prstGeom>
          <a:noFill/>
        </p:spPr>
        <p:txBody>
          <a:bodyPr wrap="square" anchor="ctr" lIns="18288" rIns="18288" tIns="68580" bIns="9144">
            <a:spAutoFit/>
          </a:bodyPr>
          <a:lstStyle/>
          <a:p>
            <a:r>
              <a:rPr sz="1800" b="1" i="0" lang="ja-JP">
                <a:solidFill>
                  <a:srgbClr val="16385C"/>
                </a:solidFill>
                <a:latin typeface="Meiryo"/>
                <a:ea typeface="Meiryo"/>
              </a:rPr>
              <a:t>動的アプローチ</a:t>
            </a:r>
          </a:p>
          <a:p>
            <a:pPr>
              <a:lnSpc>
                <a:spcPct val="110000"/>
              </a:lnSpc>
              <a:spcBef>
                <a:spcPts val="600"/>
              </a:spcBef>
            </a:pPr>
            <a:r>
              <a:rPr sz="1800" b="0" i="0" lang="ja-JP">
                <a:solidFill>
                  <a:srgbClr val="26303A"/>
                </a:solidFill>
                <a:latin typeface="Meiryo"/>
                <a:ea typeface="Meiryo"/>
              </a:rPr>
              <a:t>外乱の発生後に，</a:t>
            </a:r>
            <a:br/>
            <a:r>
              <a:rPr sz="1800" b="0" i="0" lang="ja-JP">
                <a:solidFill>
                  <a:srgbClr val="26303A"/>
                </a:solidFill>
                <a:latin typeface="Meiryo"/>
                <a:ea typeface="Meiryo"/>
              </a:rPr>
              <a:t>スケジュールを修正する</a:t>
            </a:r>
          </a:p>
        </p:txBody>
      </p:sp>
      <p:sp>
        <p:nvSpPr>
          <p:cNvPr id="10" name="Rounded Rectangle 9"/>
          <p:cNvSpPr/>
          <p:nvPr/>
        </p:nvSpPr>
        <p:spPr>
          <a:xfrm>
            <a:off x="4007815" y="4243273"/>
            <a:ext cx="2971800" cy="2084374"/>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90695" y="4243273"/>
            <a:ext cx="2606040" cy="2084374"/>
          </a:xfrm>
          <a:prstGeom prst="rect">
            <a:avLst/>
          </a:prstGeom>
          <a:noFill/>
        </p:spPr>
        <p:txBody>
          <a:bodyPr wrap="square" anchor="ctr" lIns="18288" rIns="18288" tIns="68580" bIns="9144">
            <a:spAutoFit/>
          </a:bodyPr>
          <a:lstStyle/>
          <a:p>
            <a:r>
              <a:rPr sz="1800" b="1" i="0" lang="ja-JP">
                <a:solidFill>
                  <a:srgbClr val="6E7A88"/>
                </a:solidFill>
                <a:latin typeface="Meiryo"/>
                <a:ea typeface="Meiryo"/>
              </a:rPr>
              <a:t>静的アプローチ</a:t>
            </a:r>
          </a:p>
          <a:p>
            <a:pPr>
              <a:lnSpc>
                <a:spcPct val="110000"/>
              </a:lnSpc>
              <a:spcBef>
                <a:spcPts val="600"/>
              </a:spcBef>
            </a:pPr>
            <a:r>
              <a:rPr sz="1800" b="0" i="0" lang="ja-JP">
                <a:solidFill>
                  <a:srgbClr val="6E7A88"/>
                </a:solidFill>
                <a:latin typeface="Meiryo"/>
                <a:ea typeface="Meiryo"/>
              </a:rPr>
              <a:t>外乱に対してロバストな</a:t>
            </a:r>
            <a:br/>
            <a:r>
              <a:rPr sz="1800" b="0" i="0" lang="ja-JP">
                <a:solidFill>
                  <a:srgbClr val="6E7A88"/>
                </a:solidFill>
                <a:latin typeface="Meiryo"/>
                <a:ea typeface="Meiryo"/>
              </a:rPr>
              <a:t>スケジュールを</a:t>
            </a:r>
            <a:br/>
            <a:r>
              <a:rPr sz="1800" b="0" i="0" lang="ja-JP">
                <a:solidFill>
                  <a:srgbClr val="6E7A88"/>
                </a:solidFill>
                <a:latin typeface="Meiryo"/>
                <a:ea typeface="Meiryo"/>
              </a:rPr>
              <a:t>事前に作成する</a:t>
            </a:r>
          </a:p>
        </p:txBody>
      </p:sp>
      <p:sp>
        <p:nvSpPr>
          <p:cNvPr id="12" name="Rounded Rectangle 11"/>
          <p:cNvSpPr/>
          <p:nvPr/>
        </p:nvSpPr>
        <p:spPr>
          <a:xfrm>
            <a:off x="7235647" y="4243273"/>
            <a:ext cx="4389120" cy="2084374"/>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18527" y="4243273"/>
            <a:ext cx="4023359" cy="2084374"/>
          </a:xfrm>
          <a:prstGeom prst="rect">
            <a:avLst/>
          </a:prstGeom>
          <a:noFill/>
        </p:spPr>
        <p:txBody>
          <a:bodyPr wrap="square" anchor="ctr" lIns="18288" rIns="18288" tIns="68580" bIns="9144">
            <a:spAutoFit/>
          </a:bodyPr>
          <a:lstStyle/>
          <a:p>
            <a:r>
              <a:rPr sz="1800" b="1" i="0" lang="ja-JP">
                <a:solidFill>
                  <a:srgbClr val="6E7A88"/>
                </a:solidFill>
                <a:latin typeface="Meiryo"/>
                <a:ea typeface="Meiryo"/>
              </a:rPr>
              <a:t>完全リアクティブ</a:t>
            </a:r>
          </a:p>
          <a:p>
            <a:pPr>
              <a:lnSpc>
                <a:spcPct val="110000"/>
              </a:lnSpc>
              <a:spcBef>
                <a:spcPts val="600"/>
              </a:spcBef>
            </a:pPr>
            <a:r>
              <a:rPr sz="1800" b="0" i="0" lang="ja-JP">
                <a:solidFill>
                  <a:srgbClr val="6E7A88"/>
                </a:solidFill>
                <a:latin typeface="Meiryo"/>
                <a:ea typeface="Meiryo"/>
              </a:rPr>
              <a:t>事前のスケジュールを持たず，</a:t>
            </a:r>
            <a:br/>
            <a:r>
              <a:rPr sz="1800" b="0" i="0" lang="ja-JP">
                <a:solidFill>
                  <a:srgbClr val="6E7A88"/>
                </a:solidFill>
                <a:latin typeface="Meiryo"/>
                <a:ea typeface="Meiryo"/>
              </a:rPr>
              <a:t>ディスパッチングルールなどで</a:t>
            </a:r>
            <a:br/>
            <a:r>
              <a:rPr sz="1800" b="0" i="0" lang="ja-JP">
                <a:solidFill>
                  <a:srgbClr val="6E7A88"/>
                </a:solidFill>
                <a:latin typeface="Meiryo"/>
                <a:ea typeface="Meiryo"/>
              </a:rPr>
              <a:t>作業をその場で決める</a:t>
            </a:r>
          </a:p>
        </p:txBody>
      </p:sp>
      <p:sp>
        <p:nvSpPr>
          <p:cNvPr id="14" name="Rounded Rectangle 13"/>
          <p:cNvSpPr/>
          <p:nvPr/>
        </p:nvSpPr>
        <p:spPr>
          <a:xfrm>
            <a:off x="7235647" y="1435608"/>
            <a:ext cx="4389120" cy="2350465"/>
          </a:xfrm>
          <a:prstGeom prst="roundRect">
            <a:avLst>
              <a:gd name="adj" fmla="val 6000"/>
            </a:avLst>
          </a:prstGeom>
          <a:solidFill>
            <a:srgbClr val="EDF2F7"/>
          </a:solidFill>
          <a:ln w="3556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436047" y="1261872"/>
            <a:ext cx="1005840" cy="347472"/>
          </a:xfrm>
          <a:prstGeom prst="roundRect">
            <a:avLst>
              <a:gd name="adj" fmla="val 4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67818" bIns="18288"/>
          <a:lstStyle/>
          <a:p>
            <a:pPr algn="ctr">
              <a:lnSpc>
                <a:spcPct val="100000"/>
              </a:lnSpc>
            </a:pPr>
            <a:r>
              <a:rPr sz="1500" b="1" i="0" lang="ja-JP">
                <a:solidFill>
                  <a:srgbClr val="FFFFFF"/>
                </a:solidFill>
                <a:latin typeface="Meiryo"/>
                <a:ea typeface="Meiryo"/>
              </a:rPr>
              <a:t>本研究</a:t>
            </a:r>
          </a:p>
        </p:txBody>
      </p:sp>
      <p:sp>
        <p:nvSpPr>
          <p:cNvPr id="16" name="TextBox 15"/>
          <p:cNvSpPr txBox="1"/>
          <p:nvPr/>
        </p:nvSpPr>
        <p:spPr>
          <a:xfrm>
            <a:off x="7418527" y="1435608"/>
            <a:ext cx="4023359" cy="2350465"/>
          </a:xfrm>
          <a:prstGeom prst="rect">
            <a:avLst/>
          </a:prstGeom>
          <a:noFill/>
        </p:spPr>
        <p:txBody>
          <a:bodyPr wrap="square" anchor="ctr" lIns="18288" rIns="18288" tIns="68580" bIns="9144">
            <a:spAutoFit/>
          </a:bodyPr>
          <a:lstStyle/>
          <a:p>
            <a:r>
              <a:rPr sz="1800" b="1" i="0" lang="ja-JP">
                <a:solidFill>
                  <a:srgbClr val="16385C"/>
                </a:solidFill>
                <a:latin typeface="Meiryo"/>
                <a:ea typeface="Meiryo"/>
              </a:rPr>
              <a:t>予測リアクティブ再スケジューリング</a:t>
            </a:r>
          </a:p>
          <a:p>
            <a:pPr>
              <a:lnSpc>
                <a:spcPct val="110000"/>
              </a:lnSpc>
              <a:spcBef>
                <a:spcPts val="600"/>
              </a:spcBef>
            </a:pPr>
            <a:r>
              <a:rPr sz="1800" b="0" i="0" lang="ja-JP">
                <a:solidFill>
                  <a:srgbClr val="26303A"/>
                </a:solidFill>
                <a:latin typeface="Meiryo"/>
                <a:ea typeface="Meiryo"/>
              </a:rPr>
              <a:t>外乱が起きたら，外乱前の</a:t>
            </a:r>
            <a:br/>
            <a:r>
              <a:rPr sz="1800" b="0" i="0" lang="ja-JP">
                <a:solidFill>
                  <a:srgbClr val="26303A"/>
                </a:solidFill>
                <a:latin typeface="Meiryo"/>
                <a:ea typeface="Meiryo"/>
              </a:rPr>
              <a:t>スケジュール（</a:t>
            </a:r>
            <a:r>
              <a:rPr sz="1800" b="1" i="0" lang="ja-JP">
                <a:solidFill>
                  <a:srgbClr val="16385C"/>
                </a:solidFill>
                <a:latin typeface="Meiryo"/>
                <a:ea typeface="Meiryo"/>
              </a:rPr>
              <a:t>初期スケジュール </a:t>
            </a:r>
            <a:r>
              <a:rPr sz="1800" b="1" i="1" lang="ja-JP">
                <a:solidFill>
                  <a:srgbClr val="16385C"/>
                </a:solidFill>
                <a:latin typeface="Meiryo"/>
                <a:ea typeface="Meiryo"/>
              </a:rPr>
              <a:t>S</a:t>
            </a:r>
            <a:r>
              <a:rPr sz="1296" b="1" i="1" lang="ja-JP" baseline="-22000">
                <a:solidFill>
                  <a:srgbClr val="16385C"/>
                </a:solidFill>
                <a:latin typeface="Meiryo"/>
                <a:ea typeface="Meiryo"/>
              </a:rPr>
              <a:t>p</a:t>
            </a:r>
            <a:r>
              <a:rPr sz="1800" b="0" i="0" lang="ja-JP">
                <a:solidFill>
                  <a:srgbClr val="26303A"/>
                </a:solidFill>
                <a:latin typeface="Meiryo"/>
                <a:ea typeface="Meiryo"/>
              </a:rPr>
              <a:t>）</a:t>
            </a:r>
            <a:br/>
            <a:r>
              <a:rPr sz="1800" b="0" i="0" lang="ja-JP">
                <a:solidFill>
                  <a:srgbClr val="26303A"/>
                </a:solidFill>
                <a:latin typeface="Meiryo"/>
                <a:ea typeface="Meiryo"/>
              </a:rPr>
              <a:t>を修正する</a:t>
            </a:r>
          </a:p>
        </p:txBody>
      </p:sp>
      <p:cxnSp>
        <p:nvCxnSpPr>
          <p:cNvPr id="17" name="Connector 16"/>
          <p:cNvCxnSpPr/>
          <p:nvPr/>
        </p:nvCxnSpPr>
        <p:spPr>
          <a:xfrm>
            <a:off x="3779215" y="2610840"/>
            <a:ext cx="201168" cy="0"/>
          </a:xfrm>
          <a:prstGeom prst="line">
            <a:avLst/>
          </a:prstGeom>
          <a:ln w="3048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79215" y="5285460"/>
            <a:ext cx="201168" cy="0"/>
          </a:xfrm>
          <a:prstGeom prst="line">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007047" y="3362989"/>
            <a:ext cx="201168" cy="1922471"/>
          </a:xfrm>
          <a:prstGeom prst="bentConnector3">
            <a:avLst/>
          </a:prstGeom>
          <a:ln w="2032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007047" y="2610840"/>
            <a:ext cx="201168" cy="0"/>
          </a:xfrm>
          <a:prstGeom prst="line">
            <a:avLst/>
          </a:prstGeom>
          <a:ln w="3302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再スケジューリングと安定性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4</a:t>
            </a:r>
          </a:p>
        </p:txBody>
      </p:sp>
      <p:sp>
        <p:nvSpPr>
          <p:cNvPr id="6" name="TextBox 5"/>
          <p:cNvSpPr txBox="1"/>
          <p:nvPr/>
        </p:nvSpPr>
        <p:spPr>
          <a:xfrm>
            <a:off x="566928" y="1207008"/>
            <a:ext cx="11057839" cy="365760"/>
          </a:xfrm>
          <a:prstGeom prst="rect">
            <a:avLst/>
          </a:prstGeom>
          <a:noFill/>
        </p:spPr>
        <p:txBody>
          <a:bodyPr wrap="square" anchor="ctr" lIns="18288" rIns="18288" tIns="61976" bIns="9144">
            <a:spAutoFit/>
          </a:bodyPr>
          <a:lstStyle/>
          <a:p>
            <a:r>
              <a:rPr sz="1600" b="1" i="0" lang="ja-JP">
                <a:solidFill>
                  <a:srgbClr val="26303A"/>
                </a:solidFill>
                <a:latin typeface="Meiryo"/>
                <a:ea typeface="Meiryo"/>
              </a:rPr>
              <a:t>例：</a:t>
            </a:r>
            <a:r>
              <a:rPr sz="1600" b="1" i="0" lang="ja-JP">
                <a:solidFill>
                  <a:srgbClr val="B03A2E"/>
                </a:solidFill>
                <a:latin typeface="Meiryo"/>
                <a:ea typeface="Meiryo"/>
              </a:rPr>
              <a:t>M2 の J1 が 3 遅延（赤）</a:t>
            </a:r>
            <a:r>
              <a:rPr sz="1600" b="0" i="0" lang="ja-JP">
                <a:solidFill>
                  <a:srgbClr val="26303A"/>
                </a:solidFill>
                <a:latin typeface="Meiryo"/>
                <a:ea typeface="Meiryo"/>
              </a:rPr>
              <a:t> → 時刻 </a:t>
            </a:r>
            <a:r>
              <a:rPr sz="1600" b="0" i="1" lang="ja-JP">
                <a:solidFill>
                  <a:srgbClr val="26303A"/>
                </a:solidFill>
                <a:latin typeface="Meiryo"/>
                <a:ea typeface="Meiryo"/>
              </a:rPr>
              <a:t>t</a:t>
            </a:r>
            <a:r>
              <a:rPr sz="1152" b="0" i="1" lang="ja-JP" baseline="-22000">
                <a:solidFill>
                  <a:srgbClr val="26303A"/>
                </a:solidFill>
                <a:latin typeface="Meiryo"/>
                <a:ea typeface="Meiryo"/>
              </a:rPr>
              <a:t>r</a:t>
            </a:r>
            <a:r>
              <a:rPr sz="1600" b="0" i="0" lang="ja-JP">
                <a:solidFill>
                  <a:srgbClr val="26303A"/>
                </a:solidFill>
                <a:latin typeface="Meiryo"/>
                <a:ea typeface="Meiryo"/>
              </a:rPr>
              <a:t> 以降の処理順序を変更</a:t>
            </a:r>
          </a:p>
        </p:txBody>
      </p:sp>
      <p:sp>
        <p:nvSpPr>
          <p:cNvPr id="7" name="Rounded Rectangle 6"/>
          <p:cNvSpPr/>
          <p:nvPr/>
        </p:nvSpPr>
        <p:spPr>
          <a:xfrm>
            <a:off x="566928" y="1664208"/>
            <a:ext cx="5760720" cy="228600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55648"/>
            <a:ext cx="2468879" cy="384048"/>
          </a:xfrm>
          <a:prstGeom prst="rect">
            <a:avLst/>
          </a:prstGeom>
          <a:noFill/>
        </p:spPr>
        <p:txBody>
          <a:bodyPr wrap="square" anchor="ctr" lIns="18288" rIns="18288" tIns="61976" bIns="9144">
            <a:spAutoFit/>
          </a:bodyPr>
          <a:lstStyle/>
          <a:p>
            <a:pPr algn="l">
              <a:lnSpc>
                <a:spcPct val="105000"/>
              </a:lnSpc>
            </a:pPr>
            <a:r>
              <a:rPr sz="1600" b="1" i="1" lang="ja-JP">
                <a:solidFill>
                  <a:srgbClr val="26303A"/>
                </a:solidFill>
                <a:latin typeface="Meiryo"/>
                <a:ea typeface="Meiryo"/>
              </a:rPr>
              <a:t>S</a:t>
            </a:r>
            <a:r>
              <a:rPr sz="1152" b="1" i="1" lang="ja-JP" baseline="-22000">
                <a:solidFill>
                  <a:srgbClr val="26303A"/>
                </a:solidFill>
                <a:latin typeface="Meiryo"/>
                <a:ea typeface="Meiryo"/>
              </a:rPr>
              <a:t>p</a:t>
            </a:r>
            <a:r>
              <a:rPr sz="1600" b="1" i="0" lang="ja-JP">
                <a:solidFill>
                  <a:srgbClr val="26303A"/>
                </a:solidFill>
                <a:latin typeface="Meiryo"/>
                <a:ea typeface="Meiryo"/>
              </a:rPr>
              <a:t> の処理順序を保つ</a:t>
            </a:r>
          </a:p>
        </p:txBody>
      </p:sp>
      <p:sp>
        <p:nvSpPr>
          <p:cNvPr id="9" name="Rounded Rectangle 8"/>
          <p:cNvSpPr/>
          <p:nvPr/>
        </p:nvSpPr>
        <p:spPr>
          <a:xfrm>
            <a:off x="3236976" y="1755648"/>
            <a:ext cx="1463040" cy="384048"/>
          </a:xfrm>
          <a:prstGeom prst="roundRect">
            <a:avLst>
              <a:gd name="adj" fmla="val 3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67818" bIns="18288"/>
          <a:lstStyle/>
          <a:p>
            <a:pPr algn="ctr">
              <a:lnSpc>
                <a:spcPct val="100000"/>
              </a:lnSpc>
            </a:pPr>
            <a:r>
              <a:rPr sz="1500" b="0" i="0" lang="ja-JP">
                <a:solidFill>
                  <a:srgbClr val="26303A"/>
                </a:solidFill>
                <a:latin typeface="Meiryo"/>
                <a:ea typeface="Meiryo"/>
              </a:rPr>
              <a:t>総所要時間 19</a:t>
            </a:r>
          </a:p>
        </p:txBody>
      </p:sp>
      <p:sp>
        <p:nvSpPr>
          <p:cNvPr id="10" name="Rounded Rectangle 9"/>
          <p:cNvSpPr/>
          <p:nvPr/>
        </p:nvSpPr>
        <p:spPr>
          <a:xfrm>
            <a:off x="4754880" y="1755648"/>
            <a:ext cx="1463040" cy="384048"/>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67818" bIns="18288"/>
          <a:lstStyle/>
          <a:p>
            <a:pPr algn="ctr">
              <a:lnSpc>
                <a:spcPct val="100000"/>
              </a:lnSpc>
            </a:pPr>
            <a:r>
              <a:rPr sz="1500" b="1" i="0" lang="ja-JP">
                <a:solidFill>
                  <a:srgbClr val="FFFFFF"/>
                </a:solidFill>
                <a:latin typeface="Meiryo"/>
                <a:ea typeface="Meiryo"/>
              </a:rPr>
              <a:t>変更なし</a:t>
            </a:r>
          </a:p>
        </p:txBody>
      </p:sp>
      <p:sp>
        <p:nvSpPr>
          <p:cNvPr id="11" name="TextBox 10"/>
          <p:cNvSpPr txBox="1"/>
          <p:nvPr/>
        </p:nvSpPr>
        <p:spPr>
          <a:xfrm>
            <a:off x="704088" y="2578608"/>
            <a:ext cx="457200" cy="365760"/>
          </a:xfrm>
          <a:prstGeom prst="rect">
            <a:avLst/>
          </a:prstGeom>
          <a:noFill/>
        </p:spPr>
        <p:txBody>
          <a:bodyPr wrap="square" anchor="ctr" lIns="18288" rIns="18288" tIns="61976" bIns="9144">
            <a:spAutoFit/>
          </a:bodyPr>
          <a:lstStyle/>
          <a:p>
            <a:pPr algn="l">
              <a:lnSpc>
                <a:spcPct val="105000"/>
              </a:lnSpc>
            </a:pPr>
            <a:r>
              <a:rPr sz="1600" b="0" i="0" lang="ja-JP">
                <a:solidFill>
                  <a:srgbClr val="6E7A88"/>
                </a:solidFill>
                <a:latin typeface="Meiryo"/>
                <a:ea typeface="Meiryo"/>
              </a:rPr>
              <a:t>M1</a:t>
            </a:r>
          </a:p>
        </p:txBody>
      </p:sp>
      <p:sp>
        <p:nvSpPr>
          <p:cNvPr id="12" name="Rounded Rectangle 11"/>
          <p:cNvSpPr/>
          <p:nvPr/>
        </p:nvSpPr>
        <p:spPr>
          <a:xfrm>
            <a:off x="1175004" y="2578608"/>
            <a:ext cx="726947" cy="365760"/>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13" name="Rounded Rectangle 12"/>
          <p:cNvSpPr/>
          <p:nvPr/>
        </p:nvSpPr>
        <p:spPr>
          <a:xfrm>
            <a:off x="2180844" y="2578608"/>
            <a:ext cx="726947" cy="365760"/>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14" name="Rounded Rectangle 13"/>
          <p:cNvSpPr/>
          <p:nvPr/>
        </p:nvSpPr>
        <p:spPr>
          <a:xfrm>
            <a:off x="4946903" y="2578608"/>
            <a:ext cx="978408" cy="365760"/>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15" name="TextBox 14"/>
          <p:cNvSpPr txBox="1"/>
          <p:nvPr/>
        </p:nvSpPr>
        <p:spPr>
          <a:xfrm>
            <a:off x="704088" y="3035808"/>
            <a:ext cx="457200" cy="365760"/>
          </a:xfrm>
          <a:prstGeom prst="rect">
            <a:avLst/>
          </a:prstGeom>
          <a:noFill/>
        </p:spPr>
        <p:txBody>
          <a:bodyPr wrap="square" anchor="ctr" lIns="18288" rIns="18288" tIns="61976" bIns="9144">
            <a:spAutoFit/>
          </a:bodyPr>
          <a:lstStyle/>
          <a:p>
            <a:pPr algn="l">
              <a:lnSpc>
                <a:spcPct val="105000"/>
              </a:lnSpc>
            </a:pPr>
            <a:r>
              <a:rPr sz="1600" b="0" i="0" lang="ja-JP">
                <a:solidFill>
                  <a:srgbClr val="6E7A88"/>
                </a:solidFill>
                <a:latin typeface="Meiryo"/>
                <a:ea typeface="Meiryo"/>
              </a:rPr>
              <a:t>M2</a:t>
            </a:r>
          </a:p>
        </p:txBody>
      </p:sp>
      <p:sp>
        <p:nvSpPr>
          <p:cNvPr id="16" name="Rounded Rectangle 15"/>
          <p:cNvSpPr/>
          <p:nvPr/>
        </p:nvSpPr>
        <p:spPr>
          <a:xfrm>
            <a:off x="1175004" y="3035808"/>
            <a:ext cx="726947" cy="365760"/>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17" name="Rounded Rectangle 16"/>
          <p:cNvSpPr/>
          <p:nvPr/>
        </p:nvSpPr>
        <p:spPr>
          <a:xfrm>
            <a:off x="1929384" y="3035808"/>
            <a:ext cx="726947" cy="365760"/>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18" name="Rounded Rectangle 17"/>
          <p:cNvSpPr/>
          <p:nvPr/>
        </p:nvSpPr>
        <p:spPr>
          <a:xfrm>
            <a:off x="2683764" y="3035808"/>
            <a:ext cx="726947" cy="365760"/>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438144" y="3035808"/>
            <a:ext cx="726947" cy="365760"/>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20" name="TextBox 19"/>
          <p:cNvSpPr txBox="1"/>
          <p:nvPr/>
        </p:nvSpPr>
        <p:spPr>
          <a:xfrm>
            <a:off x="704088" y="3493008"/>
            <a:ext cx="457200" cy="365760"/>
          </a:xfrm>
          <a:prstGeom prst="rect">
            <a:avLst/>
          </a:prstGeom>
          <a:noFill/>
        </p:spPr>
        <p:txBody>
          <a:bodyPr wrap="square" anchor="ctr" lIns="18288" rIns="18288" tIns="61976" bIns="9144">
            <a:spAutoFit/>
          </a:bodyPr>
          <a:lstStyle/>
          <a:p>
            <a:pPr algn="l">
              <a:lnSpc>
                <a:spcPct val="105000"/>
              </a:lnSpc>
            </a:pPr>
            <a:r>
              <a:rPr sz="1600" b="0" i="0" lang="ja-JP">
                <a:solidFill>
                  <a:srgbClr val="6E7A88"/>
                </a:solidFill>
                <a:latin typeface="Meiryo"/>
                <a:ea typeface="Meiryo"/>
              </a:rPr>
              <a:t>M3</a:t>
            </a:r>
          </a:p>
        </p:txBody>
      </p:sp>
      <p:sp>
        <p:nvSpPr>
          <p:cNvPr id="21" name="Rounded Rectangle 20"/>
          <p:cNvSpPr/>
          <p:nvPr/>
        </p:nvSpPr>
        <p:spPr>
          <a:xfrm>
            <a:off x="1175004" y="3493008"/>
            <a:ext cx="978408" cy="365760"/>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22" name="Rounded Rectangle 21"/>
          <p:cNvSpPr/>
          <p:nvPr/>
        </p:nvSpPr>
        <p:spPr>
          <a:xfrm>
            <a:off x="3438144" y="3493008"/>
            <a:ext cx="726947" cy="365760"/>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23" name="Rounded Rectangle 22"/>
          <p:cNvSpPr/>
          <p:nvPr/>
        </p:nvSpPr>
        <p:spPr>
          <a:xfrm>
            <a:off x="4192524" y="3493008"/>
            <a:ext cx="726947" cy="365760"/>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cxnSp>
        <p:nvCxnSpPr>
          <p:cNvPr id="24" name="Connector 23"/>
          <p:cNvCxnSpPr/>
          <p:nvPr/>
        </p:nvCxnSpPr>
        <p:spPr>
          <a:xfrm>
            <a:off x="1161288" y="3895344"/>
            <a:ext cx="5029200"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143000" y="2542032"/>
            <a:ext cx="2281428" cy="1353312"/>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3424428" y="2468880"/>
            <a:ext cx="0" cy="1463040"/>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39027" y="2468880"/>
            <a:ext cx="0" cy="1463040"/>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150108" y="2194560"/>
            <a:ext cx="548640" cy="274320"/>
          </a:xfrm>
          <a:prstGeom prst="rect">
            <a:avLst/>
          </a:prstGeom>
          <a:noFill/>
        </p:spPr>
        <p:txBody>
          <a:bodyPr wrap="square" anchor="t" lIns="18288" rIns="18288" tIns="9144" bIns="9144">
            <a:spAutoFit/>
          </a:bodyPr>
          <a:lstStyle/>
          <a:p>
            <a:pPr algn="ctr">
              <a:lnSpc>
                <a:spcPct val="105000"/>
              </a:lnSpc>
            </a:pPr>
            <a:r>
              <a:rPr sz="1600" b="1" i="1" lang="ja-JP">
                <a:solidFill>
                  <a:srgbClr val="26303A"/>
                </a:solidFill>
                <a:latin typeface="Meiryo"/>
                <a:ea typeface="Meiryo"/>
              </a:rPr>
              <a:t>t</a:t>
            </a:r>
            <a:r>
              <a:rPr sz="1152" b="1" i="1" lang="ja-JP" baseline="-22000">
                <a:solidFill>
                  <a:srgbClr val="26303A"/>
                </a:solidFill>
                <a:latin typeface="Meiryo"/>
                <a:ea typeface="Meiryo"/>
              </a:rPr>
              <a:t>r</a:t>
            </a:r>
          </a:p>
        </p:txBody>
      </p:sp>
      <p:sp>
        <p:nvSpPr>
          <p:cNvPr id="29" name="TextBox 28"/>
          <p:cNvSpPr txBox="1"/>
          <p:nvPr/>
        </p:nvSpPr>
        <p:spPr>
          <a:xfrm>
            <a:off x="1161288" y="2212848"/>
            <a:ext cx="1943100" cy="274320"/>
          </a:xfrm>
          <a:prstGeom prst="rect">
            <a:avLst/>
          </a:prstGeom>
          <a:noFill/>
        </p:spPr>
        <p:txBody>
          <a:bodyPr wrap="square" anchor="t" lIns="18288" rIns="18288" tIns="9144" bIns="9144">
            <a:spAutoFit/>
          </a:bodyPr>
          <a:lstStyle/>
          <a:p>
            <a:pPr algn="r">
              <a:lnSpc>
                <a:spcPct val="105000"/>
              </a:lnSpc>
            </a:pPr>
            <a:r>
              <a:rPr sz="1500" b="0" i="0" lang="ja-JP">
                <a:solidFill>
                  <a:srgbClr val="6E7A88"/>
                </a:solidFill>
                <a:latin typeface="Meiryo"/>
                <a:ea typeface="Meiryo"/>
              </a:rPr>
              <a:t>開始済み（凍結）</a:t>
            </a:r>
          </a:p>
        </p:txBody>
      </p:sp>
      <p:sp>
        <p:nvSpPr>
          <p:cNvPr id="30" name="TextBox 29"/>
          <p:cNvSpPr txBox="1"/>
          <p:nvPr/>
        </p:nvSpPr>
        <p:spPr>
          <a:xfrm>
            <a:off x="3561588" y="2212848"/>
            <a:ext cx="2514600" cy="274320"/>
          </a:xfrm>
          <a:prstGeom prst="rect">
            <a:avLst/>
          </a:prstGeom>
          <a:noFill/>
        </p:spPr>
        <p:txBody>
          <a:bodyPr wrap="square" anchor="t" lIns="18288" rIns="18288" tIns="9144" bIns="9144">
            <a:spAutoFit/>
          </a:bodyPr>
          <a:lstStyle/>
          <a:p>
            <a:pPr algn="l">
              <a:lnSpc>
                <a:spcPct val="105000"/>
              </a:lnSpc>
            </a:pPr>
            <a:r>
              <a:rPr sz="1500" b="0" i="0" lang="ja-JP">
                <a:solidFill>
                  <a:srgbClr val="6E7A88"/>
                </a:solidFill>
                <a:latin typeface="Meiryo"/>
                <a:ea typeface="Meiryo"/>
              </a:rPr>
              <a:t>再スケジューリングの対象</a:t>
            </a:r>
          </a:p>
        </p:txBody>
      </p:sp>
      <p:sp>
        <p:nvSpPr>
          <p:cNvPr id="31" name="Rounded Rectangle 30"/>
          <p:cNvSpPr/>
          <p:nvPr/>
        </p:nvSpPr>
        <p:spPr>
          <a:xfrm>
            <a:off x="566928" y="4078224"/>
            <a:ext cx="5760720" cy="228600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169663"/>
            <a:ext cx="2468879" cy="384048"/>
          </a:xfrm>
          <a:prstGeom prst="rect">
            <a:avLst/>
          </a:prstGeom>
          <a:noFill/>
        </p:spPr>
        <p:txBody>
          <a:bodyPr wrap="square" anchor="ctr" lIns="18288" rIns="18288" tIns="61976" bIns="9144">
            <a:spAutoFit/>
          </a:bodyPr>
          <a:lstStyle/>
          <a:p>
            <a:pPr algn="l">
              <a:lnSpc>
                <a:spcPct val="105000"/>
              </a:lnSpc>
            </a:pPr>
            <a:r>
              <a:rPr sz="1600" b="1" i="0" lang="ja-JP">
                <a:solidFill>
                  <a:srgbClr val="26303A"/>
                </a:solidFill>
                <a:latin typeface="Meiryo"/>
                <a:ea typeface="Meiryo"/>
              </a:rPr>
              <a:t>M3 の順序を入れ替える</a:t>
            </a:r>
          </a:p>
        </p:txBody>
      </p:sp>
      <p:sp>
        <p:nvSpPr>
          <p:cNvPr id="33" name="Rounded Rectangle 32"/>
          <p:cNvSpPr/>
          <p:nvPr/>
        </p:nvSpPr>
        <p:spPr>
          <a:xfrm>
            <a:off x="3236976" y="4169663"/>
            <a:ext cx="1463040" cy="384048"/>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67818" bIns="18288"/>
          <a:lstStyle/>
          <a:p>
            <a:pPr algn="ctr">
              <a:lnSpc>
                <a:spcPct val="100000"/>
              </a:lnSpc>
            </a:pPr>
            <a:r>
              <a:rPr sz="1500" b="1" i="0" lang="ja-JP">
                <a:solidFill>
                  <a:srgbClr val="FFFFFF"/>
                </a:solidFill>
                <a:latin typeface="Meiryo"/>
                <a:ea typeface="Meiryo"/>
              </a:rPr>
              <a:t>総所要時間 16</a:t>
            </a:r>
          </a:p>
        </p:txBody>
      </p:sp>
      <p:sp>
        <p:nvSpPr>
          <p:cNvPr id="34" name="Rounded Rectangle 33"/>
          <p:cNvSpPr/>
          <p:nvPr/>
        </p:nvSpPr>
        <p:spPr>
          <a:xfrm>
            <a:off x="4754880" y="4169663"/>
            <a:ext cx="1463040" cy="384048"/>
          </a:xfrm>
          <a:prstGeom prst="roundRect">
            <a:avLst>
              <a:gd name="adj" fmla="val 30000"/>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67818" bIns="18288"/>
          <a:lstStyle/>
          <a:p>
            <a:pPr algn="ctr">
              <a:lnSpc>
                <a:spcPct val="100000"/>
              </a:lnSpc>
            </a:pPr>
            <a:r>
              <a:rPr sz="1500" b="1" i="0" lang="ja-JP">
                <a:solidFill>
                  <a:srgbClr val="FFFFFF"/>
                </a:solidFill>
                <a:latin typeface="Meiryo"/>
                <a:ea typeface="Meiryo"/>
              </a:rPr>
              <a:t>順序を変更</a:t>
            </a:r>
          </a:p>
        </p:txBody>
      </p:sp>
      <p:sp>
        <p:nvSpPr>
          <p:cNvPr id="35" name="TextBox 34"/>
          <p:cNvSpPr txBox="1"/>
          <p:nvPr/>
        </p:nvSpPr>
        <p:spPr>
          <a:xfrm>
            <a:off x="704088" y="4992624"/>
            <a:ext cx="457200" cy="365760"/>
          </a:xfrm>
          <a:prstGeom prst="rect">
            <a:avLst/>
          </a:prstGeom>
          <a:noFill/>
        </p:spPr>
        <p:txBody>
          <a:bodyPr wrap="square" anchor="ctr" lIns="18288" rIns="18288" tIns="61976" bIns="9144">
            <a:spAutoFit/>
          </a:bodyPr>
          <a:lstStyle/>
          <a:p>
            <a:pPr algn="l">
              <a:lnSpc>
                <a:spcPct val="105000"/>
              </a:lnSpc>
            </a:pPr>
            <a:r>
              <a:rPr sz="1600" b="0" i="0" lang="ja-JP">
                <a:solidFill>
                  <a:srgbClr val="6E7A88"/>
                </a:solidFill>
                <a:latin typeface="Meiryo"/>
                <a:ea typeface="Meiryo"/>
              </a:rPr>
              <a:t>M1</a:t>
            </a:r>
          </a:p>
        </p:txBody>
      </p:sp>
      <p:sp>
        <p:nvSpPr>
          <p:cNvPr id="36" name="Rounded Rectangle 35"/>
          <p:cNvSpPr/>
          <p:nvPr/>
        </p:nvSpPr>
        <p:spPr>
          <a:xfrm>
            <a:off x="1175004" y="4992624"/>
            <a:ext cx="726947" cy="365760"/>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37" name="Rounded Rectangle 36"/>
          <p:cNvSpPr/>
          <p:nvPr/>
        </p:nvSpPr>
        <p:spPr>
          <a:xfrm>
            <a:off x="2180844" y="4992624"/>
            <a:ext cx="726947" cy="365760"/>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38" name="Rounded Rectangle 37"/>
          <p:cNvSpPr/>
          <p:nvPr/>
        </p:nvSpPr>
        <p:spPr>
          <a:xfrm>
            <a:off x="4192524" y="4992624"/>
            <a:ext cx="978408" cy="365760"/>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39" name="TextBox 38"/>
          <p:cNvSpPr txBox="1"/>
          <p:nvPr/>
        </p:nvSpPr>
        <p:spPr>
          <a:xfrm>
            <a:off x="704088" y="5449824"/>
            <a:ext cx="457200" cy="365760"/>
          </a:xfrm>
          <a:prstGeom prst="rect">
            <a:avLst/>
          </a:prstGeom>
          <a:noFill/>
        </p:spPr>
        <p:txBody>
          <a:bodyPr wrap="square" anchor="ctr" lIns="18288" rIns="18288" tIns="61976" bIns="9144">
            <a:spAutoFit/>
          </a:bodyPr>
          <a:lstStyle/>
          <a:p>
            <a:pPr algn="l">
              <a:lnSpc>
                <a:spcPct val="105000"/>
              </a:lnSpc>
            </a:pPr>
            <a:r>
              <a:rPr sz="1600" b="0" i="0" lang="ja-JP">
                <a:solidFill>
                  <a:srgbClr val="6E7A88"/>
                </a:solidFill>
                <a:latin typeface="Meiryo"/>
                <a:ea typeface="Meiryo"/>
              </a:rPr>
              <a:t>M2</a:t>
            </a:r>
          </a:p>
        </p:txBody>
      </p:sp>
      <p:sp>
        <p:nvSpPr>
          <p:cNvPr id="40" name="Rounded Rectangle 39"/>
          <p:cNvSpPr/>
          <p:nvPr/>
        </p:nvSpPr>
        <p:spPr>
          <a:xfrm>
            <a:off x="1175004" y="5449824"/>
            <a:ext cx="726947" cy="365760"/>
          </a:xfrm>
          <a:prstGeom prst="roundRect">
            <a:avLst>
              <a:gd name="adj" fmla="val 8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41" name="Rounded Rectangle 40"/>
          <p:cNvSpPr/>
          <p:nvPr/>
        </p:nvSpPr>
        <p:spPr>
          <a:xfrm>
            <a:off x="1929384" y="5449824"/>
            <a:ext cx="726947" cy="365760"/>
          </a:xfrm>
          <a:prstGeom prst="roundRect">
            <a:avLst>
              <a:gd name="adj" fmla="val 8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42" name="Rounded Rectangle 41"/>
          <p:cNvSpPr/>
          <p:nvPr/>
        </p:nvSpPr>
        <p:spPr>
          <a:xfrm>
            <a:off x="2683764" y="5449824"/>
            <a:ext cx="726947" cy="365760"/>
          </a:xfrm>
          <a:prstGeom prst="roundRect">
            <a:avLst>
              <a:gd name="adj" fmla="val 8000"/>
            </a:avLst>
          </a:prstGeom>
          <a:solidFill>
            <a:srgbClr val="F6D5D1"/>
          </a:solidFill>
          <a:ln w="1524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3438144" y="5449824"/>
            <a:ext cx="726947" cy="365760"/>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44" name="TextBox 43"/>
          <p:cNvSpPr txBox="1"/>
          <p:nvPr/>
        </p:nvSpPr>
        <p:spPr>
          <a:xfrm>
            <a:off x="704088" y="5907024"/>
            <a:ext cx="457200" cy="365760"/>
          </a:xfrm>
          <a:prstGeom prst="rect">
            <a:avLst/>
          </a:prstGeom>
          <a:noFill/>
        </p:spPr>
        <p:txBody>
          <a:bodyPr wrap="square" anchor="ctr" lIns="18288" rIns="18288" tIns="61976" bIns="9144">
            <a:spAutoFit/>
          </a:bodyPr>
          <a:lstStyle/>
          <a:p>
            <a:pPr algn="l">
              <a:lnSpc>
                <a:spcPct val="105000"/>
              </a:lnSpc>
            </a:pPr>
            <a:r>
              <a:rPr sz="1600" b="0" i="0" lang="ja-JP">
                <a:solidFill>
                  <a:srgbClr val="6E7A88"/>
                </a:solidFill>
                <a:latin typeface="Meiryo"/>
                <a:ea typeface="Meiryo"/>
              </a:rPr>
              <a:t>M3</a:t>
            </a:r>
          </a:p>
        </p:txBody>
      </p:sp>
      <p:sp>
        <p:nvSpPr>
          <p:cNvPr id="45" name="Rounded Rectangle 44"/>
          <p:cNvSpPr/>
          <p:nvPr/>
        </p:nvSpPr>
        <p:spPr>
          <a:xfrm>
            <a:off x="1175004" y="5907024"/>
            <a:ext cx="978408" cy="365760"/>
          </a:xfrm>
          <a:prstGeom prst="roundRect">
            <a:avLst>
              <a:gd name="adj" fmla="val 8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46" name="Rounded Rectangle 45"/>
          <p:cNvSpPr/>
          <p:nvPr/>
        </p:nvSpPr>
        <p:spPr>
          <a:xfrm>
            <a:off x="3438144" y="5907024"/>
            <a:ext cx="726947" cy="365760"/>
          </a:xfrm>
          <a:prstGeom prst="roundRect">
            <a:avLst>
              <a:gd name="adj" fmla="val 8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47" name="Rounded Rectangle 46"/>
          <p:cNvSpPr/>
          <p:nvPr/>
        </p:nvSpPr>
        <p:spPr>
          <a:xfrm>
            <a:off x="4192524" y="5907024"/>
            <a:ext cx="726947" cy="365760"/>
          </a:xfrm>
          <a:prstGeom prst="roundRect">
            <a:avLst>
              <a:gd name="adj" fmla="val 8000"/>
            </a:avLst>
          </a:prstGeom>
          <a:solidFill>
            <a:srgbClr val="3E618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cxnSp>
        <p:nvCxnSpPr>
          <p:cNvPr id="48" name="Connector 47"/>
          <p:cNvCxnSpPr/>
          <p:nvPr/>
        </p:nvCxnSpPr>
        <p:spPr>
          <a:xfrm>
            <a:off x="1161288" y="6309360"/>
            <a:ext cx="5029200" cy="0"/>
          </a:xfrm>
          <a:prstGeom prst="bentConnector3">
            <a:avLst/>
          </a:prstGeom>
          <a:ln w="12700">
            <a:solidFill>
              <a:srgbClr val="D6DEE7"/>
            </a:solidFill>
          </a:ln>
          <a:effectLst/>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1143000" y="4956048"/>
            <a:ext cx="2281428" cy="1353312"/>
          </a:xfrm>
          <a:prstGeom prst="rect">
            <a:avLst/>
          </a:prstGeom>
          <a:solidFill>
            <a:srgbClr val="FFFF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3424428" y="4882896"/>
            <a:ext cx="0" cy="1463040"/>
          </a:xfrm>
          <a:prstGeom prst="line">
            <a:avLst/>
          </a:prstGeom>
          <a:ln w="20320">
            <a:solidFill>
              <a:srgbClr val="26303A"/>
            </a:solidFill>
            <a:prstDash val="dash"/>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939027" y="4882896"/>
            <a:ext cx="0" cy="1463040"/>
          </a:xfrm>
          <a:prstGeom prst="line">
            <a:avLst/>
          </a:prstGeom>
          <a:ln w="17780">
            <a:solidFill>
              <a:srgbClr val="6E7A88"/>
            </a:solidFill>
            <a:prstDash val="sysDot"/>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4707" y="4626864"/>
            <a:ext cx="548640" cy="274320"/>
          </a:xfrm>
          <a:prstGeom prst="rect">
            <a:avLst/>
          </a:prstGeom>
          <a:noFill/>
        </p:spPr>
        <p:txBody>
          <a:bodyPr wrap="square" anchor="t" lIns="18288" rIns="18288" tIns="9144" bIns="9144">
            <a:spAutoFit/>
          </a:bodyPr>
          <a:lstStyle/>
          <a:p>
            <a:pPr algn="ctr">
              <a:lnSpc>
                <a:spcPct val="105000"/>
              </a:lnSpc>
            </a:pPr>
            <a:r>
              <a:rPr sz="1500" b="0" i="0" lang="ja-JP">
                <a:solidFill>
                  <a:srgbClr val="6E7A88"/>
                </a:solidFill>
                <a:latin typeface="Meiryo"/>
                <a:ea typeface="Meiryo"/>
              </a:rPr>
              <a:t>19</a:t>
            </a:r>
          </a:p>
        </p:txBody>
      </p:sp>
      <p:sp>
        <p:nvSpPr>
          <p:cNvPr id="53" name="TextBox 52"/>
          <p:cNvSpPr txBox="1"/>
          <p:nvPr/>
        </p:nvSpPr>
        <p:spPr>
          <a:xfrm>
            <a:off x="3150108" y="4608576"/>
            <a:ext cx="548640" cy="274320"/>
          </a:xfrm>
          <a:prstGeom prst="rect">
            <a:avLst/>
          </a:prstGeom>
          <a:noFill/>
        </p:spPr>
        <p:txBody>
          <a:bodyPr wrap="square" anchor="t" lIns="18288" rIns="18288" tIns="9144" bIns="9144">
            <a:spAutoFit/>
          </a:bodyPr>
          <a:lstStyle/>
          <a:p>
            <a:pPr algn="ctr">
              <a:lnSpc>
                <a:spcPct val="105000"/>
              </a:lnSpc>
            </a:pPr>
            <a:r>
              <a:rPr sz="1600" b="1" i="1" lang="ja-JP">
                <a:solidFill>
                  <a:srgbClr val="26303A"/>
                </a:solidFill>
                <a:latin typeface="Meiryo"/>
                <a:ea typeface="Meiryo"/>
              </a:rPr>
              <a:t>t</a:t>
            </a:r>
            <a:r>
              <a:rPr sz="1152" b="1" i="1" lang="ja-JP" baseline="-22000">
                <a:solidFill>
                  <a:srgbClr val="26303A"/>
                </a:solidFill>
                <a:latin typeface="Meiryo"/>
                <a:ea typeface="Meiryo"/>
              </a:rPr>
              <a:t>r</a:t>
            </a:r>
          </a:p>
        </p:txBody>
      </p:sp>
      <p:cxnSp>
        <p:nvCxnSpPr>
          <p:cNvPr id="54" name="Connector 53"/>
          <p:cNvCxnSpPr/>
          <p:nvPr/>
        </p:nvCxnSpPr>
        <p:spPr>
          <a:xfrm flipV="1">
            <a:off x="6373368" y="3104388"/>
            <a:ext cx="274320" cy="1257300"/>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93408" y="1664208"/>
            <a:ext cx="4931359" cy="2514600"/>
          </a:xfrm>
          <a:prstGeom prst="roundRect">
            <a:avLst>
              <a:gd name="adj" fmla="val 5000"/>
            </a:avLst>
          </a:prstGeom>
          <a:solidFill>
            <a:srgbClr val="FBEEEC"/>
          </a:solidFill>
          <a:ln w="177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94576" y="1773936"/>
            <a:ext cx="4529023" cy="777240"/>
          </a:xfrm>
          <a:prstGeom prst="rect">
            <a:avLst/>
          </a:prstGeom>
          <a:noFill/>
        </p:spPr>
        <p:txBody>
          <a:bodyPr wrap="square" anchor="ctr" lIns="18288" rIns="18288" tIns="68580" bIns="9144">
            <a:spAutoFit/>
          </a:bodyPr>
          <a:lstStyle/>
          <a:p>
            <a:pPr>
              <a:lnSpc>
                <a:spcPct val="105000"/>
              </a:lnSpc>
            </a:pPr>
            <a:r>
              <a:rPr sz="1800" b="1" i="0" lang="ja-JP">
                <a:solidFill>
                  <a:srgbClr val="B03A2E"/>
                </a:solidFill>
                <a:latin typeface="Meiryo"/>
                <a:ea typeface="Meiryo"/>
              </a:rPr>
              <a:t>処理順序の変更は，現場にコストを生む</a:t>
            </a:r>
          </a:p>
          <a:p>
            <a:pPr>
              <a:lnSpc>
                <a:spcPct val="105000"/>
              </a:lnSpc>
            </a:pPr>
            <a:r>
              <a:rPr sz="1600" b="1" i="0" lang="ja-JP">
                <a:solidFill>
                  <a:srgbClr val="B03A2E"/>
                </a:solidFill>
                <a:latin typeface="Meiryo"/>
                <a:ea typeface="Meiryo"/>
              </a:rPr>
              <a:t>（スケジュール変更コスト）</a:t>
            </a:r>
          </a:p>
        </p:txBody>
      </p:sp>
      <p:sp>
        <p:nvSpPr>
          <p:cNvPr id="57" name="Rounded Rectangle 56"/>
          <p:cNvSpPr/>
          <p:nvPr/>
        </p:nvSpPr>
        <p:spPr>
          <a:xfrm>
            <a:off x="6894576" y="2624328"/>
            <a:ext cx="2195931" cy="658368"/>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26303A"/>
                </a:solidFill>
                <a:latin typeface="Meiryo"/>
                <a:ea typeface="Meiryo"/>
              </a:rPr>
              <a:t>段取り替え</a:t>
            </a:r>
          </a:p>
        </p:txBody>
      </p:sp>
      <p:sp>
        <p:nvSpPr>
          <p:cNvPr id="58" name="Rounded Rectangle 57"/>
          <p:cNvSpPr/>
          <p:nvPr/>
        </p:nvSpPr>
        <p:spPr>
          <a:xfrm>
            <a:off x="9227667" y="2624328"/>
            <a:ext cx="2195931" cy="658368"/>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26303A"/>
                </a:solidFill>
                <a:latin typeface="Meiryo"/>
                <a:ea typeface="Meiryo"/>
              </a:rPr>
              <a:t>資材・治具の再手配</a:t>
            </a:r>
          </a:p>
        </p:txBody>
      </p:sp>
      <p:sp>
        <p:nvSpPr>
          <p:cNvPr id="59" name="Rounded Rectangle 58"/>
          <p:cNvSpPr/>
          <p:nvPr/>
        </p:nvSpPr>
        <p:spPr>
          <a:xfrm>
            <a:off x="6894576" y="3374136"/>
            <a:ext cx="2195931" cy="658368"/>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26303A"/>
                </a:solidFill>
                <a:latin typeface="Meiryo"/>
                <a:ea typeface="Meiryo"/>
              </a:rPr>
              <a:t>作業者の再配置</a:t>
            </a:r>
          </a:p>
        </p:txBody>
      </p:sp>
      <p:sp>
        <p:nvSpPr>
          <p:cNvPr id="60" name="Rounded Rectangle 59"/>
          <p:cNvSpPr/>
          <p:nvPr/>
        </p:nvSpPr>
        <p:spPr>
          <a:xfrm>
            <a:off x="9227667" y="3374136"/>
            <a:ext cx="2195931" cy="658368"/>
          </a:xfrm>
          <a:prstGeom prst="roundRect">
            <a:avLst>
              <a:gd name="adj" fmla="val 10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26303A"/>
                </a:solidFill>
                <a:latin typeface="Meiryo"/>
                <a:ea typeface="Meiryo"/>
              </a:rPr>
              <a:t>下流工程・外注先への
予定変更の波及</a:t>
            </a:r>
          </a:p>
        </p:txBody>
      </p:sp>
      <p:cxnSp>
        <p:nvCxnSpPr>
          <p:cNvPr id="61" name="Connector 60"/>
          <p:cNvCxnSpPr/>
          <p:nvPr/>
        </p:nvCxnSpPr>
        <p:spPr>
          <a:xfrm>
            <a:off x="9159087" y="4224528"/>
            <a:ext cx="0" cy="274320"/>
          </a:xfrm>
          <a:prstGeom prst="line">
            <a:avLst/>
          </a:prstGeom>
          <a:ln w="38100">
            <a:solidFill>
              <a:srgbClr val="16385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693408" y="4544568"/>
            <a:ext cx="4931359" cy="1819655"/>
          </a:xfrm>
          <a:prstGeom prst="roundRect">
            <a:avLst>
              <a:gd name="adj" fmla="val 5000"/>
            </a:avLst>
          </a:prstGeom>
          <a:solidFill>
            <a:srgbClr val="FFFFFF"/>
          </a:solidFill>
          <a:ln w="2032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693408" y="4599432"/>
            <a:ext cx="4931359" cy="411480"/>
          </a:xfrm>
          <a:prstGeom prst="rect">
            <a:avLst/>
          </a:prstGeom>
          <a:noFill/>
        </p:spPr>
        <p:txBody>
          <a:bodyPr wrap="square" anchor="ctr" lIns="18288" rIns="18288" tIns="68580" bIns="9144">
            <a:spAutoFit/>
          </a:bodyPr>
          <a:lstStyle/>
          <a:p>
            <a:pPr algn="ctr">
              <a:lnSpc>
                <a:spcPct val="105000"/>
              </a:lnSpc>
            </a:pPr>
            <a:r>
              <a:rPr sz="1800" b="1" i="0" lang="ja-JP">
                <a:solidFill>
                  <a:srgbClr val="16385C"/>
                </a:solidFill>
                <a:latin typeface="Meiryo"/>
                <a:ea typeface="Meiryo"/>
              </a:rPr>
              <a:t>二目的最適化</a:t>
            </a:r>
          </a:p>
        </p:txBody>
      </p:sp>
      <p:sp>
        <p:nvSpPr>
          <p:cNvPr id="64" name="Rounded Rectangle 63"/>
          <p:cNvSpPr/>
          <p:nvPr/>
        </p:nvSpPr>
        <p:spPr>
          <a:xfrm>
            <a:off x="6894576" y="5093208"/>
            <a:ext cx="2058771" cy="1133855"/>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894576" y="5093208"/>
            <a:ext cx="2058771" cy="384048"/>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生産効率</a:t>
            </a:r>
          </a:p>
        </p:txBody>
      </p:sp>
      <p:sp>
        <p:nvSpPr>
          <p:cNvPr id="66" name="TextBox 65"/>
          <p:cNvSpPr txBox="1"/>
          <p:nvPr/>
        </p:nvSpPr>
        <p:spPr>
          <a:xfrm>
            <a:off x="6967728" y="5477256"/>
            <a:ext cx="1912467" cy="749807"/>
          </a:xfrm>
          <a:prstGeom prst="rect">
            <a:avLst/>
          </a:prstGeom>
          <a:noFill/>
        </p:spPr>
        <p:txBody>
          <a:bodyPr wrap="square" anchor="ctr" lIns="18288" rIns="18288" tIns="61976" bIns="9144">
            <a:spAutoFit/>
          </a:bodyPr>
          <a:lstStyle/>
          <a:p>
            <a:pPr algn="ctr">
              <a:lnSpc>
                <a:spcPct val="105000"/>
              </a:lnSpc>
            </a:pPr>
            <a:r>
              <a:rPr sz="1600" b="0" i="0" lang="ja-JP">
                <a:solidFill>
                  <a:srgbClr val="26303A"/>
                </a:solidFill>
                <a:latin typeface="Meiryo"/>
                <a:ea typeface="Meiryo"/>
              </a:rPr>
              <a:t>総所要時間を</a:t>
            </a:r>
          </a:p>
          <a:p>
            <a:pPr algn="ctr">
              <a:lnSpc>
                <a:spcPct val="105000"/>
              </a:lnSpc>
            </a:pPr>
            <a:r>
              <a:rPr sz="1600" b="0" i="0" lang="ja-JP">
                <a:solidFill>
                  <a:srgbClr val="26303A"/>
                </a:solidFill>
                <a:latin typeface="Meiryo"/>
                <a:ea typeface="Meiryo"/>
              </a:rPr>
              <a:t>小さく</a:t>
            </a:r>
          </a:p>
        </p:txBody>
      </p:sp>
      <p:sp>
        <p:nvSpPr>
          <p:cNvPr id="67" name="TextBox 66"/>
          <p:cNvSpPr txBox="1"/>
          <p:nvPr/>
        </p:nvSpPr>
        <p:spPr>
          <a:xfrm>
            <a:off x="8953347" y="5093208"/>
            <a:ext cx="411480" cy="1133855"/>
          </a:xfrm>
          <a:prstGeom prst="rect">
            <a:avLst/>
          </a:prstGeom>
          <a:noFill/>
        </p:spPr>
        <p:txBody>
          <a:bodyPr wrap="square" anchor="ctr" lIns="18288" rIns="18288" tIns="75184" bIns="9144">
            <a:spAutoFit/>
          </a:bodyPr>
          <a:lstStyle/>
          <a:p>
            <a:pPr algn="ctr">
              <a:lnSpc>
                <a:spcPct val="105000"/>
              </a:lnSpc>
            </a:pPr>
            <a:r>
              <a:rPr sz="2000" b="1" i="0" lang="ja-JP">
                <a:solidFill>
                  <a:srgbClr val="16385C"/>
                </a:solidFill>
                <a:latin typeface="Meiryo"/>
                <a:ea typeface="Meiryo"/>
              </a:rPr>
              <a:t>⇄</a:t>
            </a:r>
          </a:p>
        </p:txBody>
      </p:sp>
      <p:sp>
        <p:nvSpPr>
          <p:cNvPr id="68" name="Rounded Rectangle 67"/>
          <p:cNvSpPr/>
          <p:nvPr/>
        </p:nvSpPr>
        <p:spPr>
          <a:xfrm>
            <a:off x="9364827" y="5093208"/>
            <a:ext cx="2058771" cy="1133855"/>
          </a:xfrm>
          <a:prstGeom prst="roundRect">
            <a:avLst>
              <a:gd name="adj" fmla="val 8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9364827" y="5093208"/>
            <a:ext cx="2058771" cy="384048"/>
          </a:xfrm>
          <a:prstGeom prst="roundRect">
            <a:avLst>
              <a:gd name="adj" fmla="val 12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安定性</a:t>
            </a:r>
          </a:p>
        </p:txBody>
      </p:sp>
      <p:sp>
        <p:nvSpPr>
          <p:cNvPr id="70" name="TextBox 69"/>
          <p:cNvSpPr txBox="1"/>
          <p:nvPr/>
        </p:nvSpPr>
        <p:spPr>
          <a:xfrm>
            <a:off x="9437979" y="5477256"/>
            <a:ext cx="1912467" cy="749807"/>
          </a:xfrm>
          <a:prstGeom prst="rect">
            <a:avLst/>
          </a:prstGeom>
          <a:noFill/>
        </p:spPr>
        <p:txBody>
          <a:bodyPr wrap="square" anchor="ctr" lIns="18288" rIns="18288" tIns="61976" bIns="9144">
            <a:spAutoFit/>
          </a:bodyPr>
          <a:lstStyle/>
          <a:p>
            <a:pPr algn="ctr">
              <a:lnSpc>
                <a:spcPct val="105000"/>
              </a:lnSpc>
            </a:pPr>
            <a:r>
              <a:rPr sz="1600" b="0" i="0" lang="ja-JP">
                <a:solidFill>
                  <a:srgbClr val="26303A"/>
                </a:solidFill>
                <a:latin typeface="Meiryo"/>
                <a:ea typeface="Meiryo"/>
              </a:rPr>
              <a:t>初期スケジュール</a:t>
            </a:r>
          </a:p>
          <a:p>
            <a:pPr algn="ctr">
              <a:lnSpc>
                <a:spcPct val="105000"/>
              </a:lnSpc>
            </a:pPr>
            <a:r>
              <a:rPr sz="1600" b="0" i="0" lang="ja-JP">
                <a:solidFill>
                  <a:srgbClr val="26303A"/>
                </a:solidFill>
                <a:latin typeface="Meiryo"/>
                <a:ea typeface="Meiryo"/>
              </a:rPr>
              <a:t>からの変更を小さく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本研究の着目点と評価指標：高安定 HV</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5</a:t>
            </a:r>
          </a:p>
        </p:txBody>
      </p:sp>
      <p:pic>
        <p:nvPicPr>
          <p:cNvPr id="6" name="Picture 5" descr="concept_hv.png"/>
          <p:cNvPicPr>
            <a:picLocks noChangeAspect="1"/>
          </p:cNvPicPr>
          <p:nvPr/>
        </p:nvPicPr>
        <p:blipFill>
          <a:blip r:embed="rId3"/>
          <a:stretch>
            <a:fillRect/>
          </a:stretch>
        </p:blipFill>
        <p:spPr>
          <a:xfrm>
            <a:off x="521207" y="1207008"/>
            <a:ext cx="5303520" cy="5011826"/>
          </a:xfrm>
          <a:prstGeom prst="rect">
            <a:avLst/>
          </a:prstGeom>
        </p:spPr>
      </p:pic>
      <p:sp>
        <p:nvSpPr>
          <p:cNvPr id="7" name="TextBox 6"/>
          <p:cNvSpPr txBox="1"/>
          <p:nvPr/>
        </p:nvSpPr>
        <p:spPr>
          <a:xfrm>
            <a:off x="5961888" y="1298448"/>
            <a:ext cx="5662879" cy="1463040"/>
          </a:xfrm>
          <a:prstGeom prst="rect">
            <a:avLst/>
          </a:prstGeom>
          <a:noFill/>
        </p:spPr>
        <p:txBody>
          <a:bodyPr wrap="square" anchor="t" lIns="18288" rIns="18288" tIns="9144" bIns="9144">
            <a:spAutoFit/>
          </a:bodyPr>
          <a:lstStyle/>
          <a:p>
            <a:pPr marL="306324" indent="-306324">
              <a:lnSpc>
                <a:spcPct val="108000"/>
              </a:lnSpc>
              <a:spcBef>
                <a:spcPts val="0"/>
              </a:spcBef>
            </a:pPr>
            <a:r>
              <a:rPr sz="1800" b="0" i="0" lang="ja-JP">
                <a:solidFill>
                  <a:srgbClr val="26303A"/>
                </a:solidFill>
                <a:latin typeface="Meiryo"/>
                <a:ea typeface="Meiryo"/>
              </a:rPr>
              <a:t>● スケジュール変更コストが無視できない</a:t>
            </a:r>
            <a:br/>
            <a:r>
              <a:rPr sz="1800" b="0" i="0" lang="ja-JP">
                <a:solidFill>
                  <a:srgbClr val="26303A"/>
                </a:solidFill>
                <a:latin typeface="Meiryo"/>
                <a:ea typeface="Meiryo"/>
              </a:rPr>
              <a:t>場面で求められるのは，</a:t>
            </a:r>
            <a:r>
              <a:rPr sz="1800" b="1" i="0" lang="ja-JP">
                <a:solidFill>
                  <a:srgbClr val="16385C"/>
                </a:solidFill>
                <a:latin typeface="Meiryo"/>
                <a:ea typeface="Meiryo"/>
              </a:rPr>
              <a:t>安定性の高い解</a:t>
            </a:r>
            <a:r>
              <a:rPr sz="1800" b="0" i="0" lang="ja-JP">
                <a:solidFill>
                  <a:srgbClr val="26303A"/>
                </a:solidFill>
                <a:latin typeface="Meiryo"/>
                <a:ea typeface="Meiryo"/>
              </a:rPr>
              <a:t>，</a:t>
            </a:r>
            <a:br/>
            <a:r>
              <a:rPr sz="1800" b="0" i="0" lang="ja-JP">
                <a:solidFill>
                  <a:srgbClr val="26303A"/>
                </a:solidFill>
                <a:latin typeface="Meiryo"/>
                <a:ea typeface="Meiryo"/>
              </a:rPr>
              <a:t>すなわち Pareto フロント上の</a:t>
            </a:r>
            <a:r>
              <a:rPr sz="1800" b="1" i="0" lang="ja-JP">
                <a:solidFill>
                  <a:srgbClr val="16385C"/>
                </a:solidFill>
                <a:latin typeface="Meiryo"/>
                <a:ea typeface="Meiryo"/>
              </a:rPr>
              <a:t>高安定領域</a:t>
            </a:r>
            <a:r>
              <a:rPr sz="1800" b="0" i="0" lang="ja-JP">
                <a:solidFill>
                  <a:srgbClr val="26303A"/>
                </a:solidFill>
                <a:latin typeface="Meiryo"/>
                <a:ea typeface="Meiryo"/>
              </a:rPr>
              <a:t>の解</a:t>
            </a:r>
          </a:p>
          <a:p>
            <a:pPr marL="306324" indent="-306324">
              <a:lnSpc>
                <a:spcPct val="108000"/>
              </a:lnSpc>
              <a:spcBef>
                <a:spcPts val="1400"/>
              </a:spcBef>
            </a:pPr>
            <a:r>
              <a:rPr sz="1800" b="0" i="0" lang="ja-JP">
                <a:solidFill>
                  <a:srgbClr val="26303A"/>
                </a:solidFill>
                <a:latin typeface="Meiryo"/>
                <a:ea typeface="Meiryo"/>
              </a:rPr>
              <a:t>→ 本研究は，この</a:t>
            </a:r>
            <a:r>
              <a:rPr sz="1800" b="1" i="0" lang="ja-JP">
                <a:solidFill>
                  <a:srgbClr val="16385C"/>
                </a:solidFill>
                <a:latin typeface="Meiryo"/>
                <a:ea typeface="Meiryo"/>
              </a:rPr>
              <a:t>高安定領域の品質</a:t>
            </a:r>
            <a:r>
              <a:rPr sz="1800" b="0" i="0" lang="ja-JP">
                <a:solidFill>
                  <a:srgbClr val="26303A"/>
                </a:solidFill>
                <a:latin typeface="Meiryo"/>
                <a:ea typeface="Meiryo"/>
              </a:rPr>
              <a:t>に着目する</a:t>
            </a:r>
          </a:p>
        </p:txBody>
      </p:sp>
      <p:sp>
        <p:nvSpPr>
          <p:cNvPr id="8" name="Rectangle 7"/>
          <p:cNvSpPr/>
          <p:nvPr/>
        </p:nvSpPr>
        <p:spPr>
          <a:xfrm>
            <a:off x="5961888" y="2990088"/>
            <a:ext cx="566287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61888" y="3310128"/>
            <a:ext cx="5662879" cy="2908706"/>
          </a:xfrm>
          <a:prstGeom prst="rect">
            <a:avLst/>
          </a:prstGeom>
          <a:noFill/>
        </p:spPr>
        <p:txBody>
          <a:bodyPr wrap="square" anchor="t" lIns="18288" rIns="18288" tIns="9144" bIns="9144">
            <a:spAutoFit/>
          </a:bodyPr>
          <a:lstStyle/>
          <a:p>
            <a:pPr marL="306324" indent="-306324">
              <a:lnSpc>
                <a:spcPct val="108000"/>
              </a:lnSpc>
              <a:spcBef>
                <a:spcPts val="0"/>
              </a:spcBef>
            </a:pPr>
            <a:r>
              <a:rPr sz="1800" b="0" i="0" lang="ja-JP">
                <a:solidFill>
                  <a:srgbClr val="26303A"/>
                </a:solidFill>
                <a:latin typeface="Meiryo"/>
                <a:ea typeface="Meiryo"/>
              </a:rPr>
              <a:t>● 本研究は，Pareto フロントの品質を</a:t>
            </a:r>
            <a:br/>
            <a:r>
              <a:rPr sz="1800" b="1" i="0" lang="ja-JP">
                <a:solidFill>
                  <a:srgbClr val="16385C"/>
                </a:solidFill>
                <a:latin typeface="Meiryo"/>
                <a:ea typeface="Meiryo"/>
              </a:rPr>
              <a:t>hypervolume（HV）</a:t>
            </a:r>
            <a:r>
              <a:rPr sz="1800" b="0" i="0" lang="ja-JP">
                <a:solidFill>
                  <a:srgbClr val="26303A"/>
                </a:solidFill>
                <a:latin typeface="Meiryo"/>
                <a:ea typeface="Meiryo"/>
              </a:rPr>
              <a:t>で測る．</a:t>
            </a:r>
            <a:br/>
            <a:r>
              <a:rPr sz="1800" b="0" i="0" lang="ja-JP">
                <a:solidFill>
                  <a:srgbClr val="26303A"/>
                </a:solidFill>
                <a:latin typeface="Meiryo"/>
                <a:ea typeface="Meiryo"/>
              </a:rPr>
              <a:t>HV は非劣解が支配する領域（参照点まで）の</a:t>
            </a:r>
            <a:br/>
            <a:r>
              <a:rPr sz="1800" b="0" i="0" lang="ja-JP">
                <a:solidFill>
                  <a:srgbClr val="26303A"/>
                </a:solidFill>
                <a:latin typeface="Meiryo"/>
                <a:ea typeface="Meiryo"/>
              </a:rPr>
              <a:t>面積で，大きいほど品質が高い</a:t>
            </a:r>
          </a:p>
          <a:p>
            <a:pPr marL="306324" indent="-306324">
              <a:lnSpc>
                <a:spcPct val="108000"/>
              </a:lnSpc>
              <a:spcBef>
                <a:spcPts val="1400"/>
              </a:spcBef>
            </a:pPr>
            <a:r>
              <a:rPr sz="1800" b="0" i="0" lang="ja-JP">
                <a:solidFill>
                  <a:srgbClr val="26303A"/>
                </a:solidFill>
                <a:latin typeface="Meiryo"/>
                <a:ea typeface="Meiryo"/>
              </a:rPr>
              <a:t>→ 高安定領域に限った HV を</a:t>
            </a:r>
            <a:r>
              <a:rPr sz="1800" b="1" i="0" lang="ja-JP">
                <a:solidFill>
                  <a:srgbClr val="16385C"/>
                </a:solidFill>
                <a:latin typeface="Meiryo"/>
                <a:ea typeface="Meiryo"/>
              </a:rPr>
              <a:t>高安定 HV</a:t>
            </a:r>
            <a:r>
              <a:rPr sz="1800" b="0" i="0" lang="ja-JP">
                <a:solidFill>
                  <a:srgbClr val="26303A"/>
                </a:solidFill>
                <a:latin typeface="Meiryo"/>
                <a:ea typeface="Meiryo"/>
              </a:rPr>
              <a:t> と呼び，</a:t>
            </a:r>
            <a:br/>
            <a:r>
              <a:rPr sz="1800" b="0" i="0" lang="ja-JP">
                <a:solidFill>
                  <a:srgbClr val="26303A"/>
                </a:solidFill>
                <a:latin typeface="Meiryo"/>
                <a:ea typeface="Meiryo"/>
              </a:rPr>
              <a:t>これで手法を評価する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本研究の出発点：再スケジューリングの特殊性</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6</a:t>
            </a:r>
          </a:p>
        </p:txBody>
      </p:sp>
      <p:pic>
        <p:nvPicPr>
          <p:cNvPr id="6" name="Picture 5" descr="concept_sp.png"/>
          <p:cNvPicPr>
            <a:picLocks noChangeAspect="1"/>
          </p:cNvPicPr>
          <p:nvPr/>
        </p:nvPicPr>
        <p:blipFill>
          <a:blip r:embed="rId3"/>
          <a:stretch>
            <a:fillRect/>
          </a:stretch>
        </p:blipFill>
        <p:spPr>
          <a:xfrm>
            <a:off x="521207" y="1207008"/>
            <a:ext cx="5303520" cy="5011826"/>
          </a:xfrm>
          <a:prstGeom prst="rect">
            <a:avLst/>
          </a:prstGeom>
        </p:spPr>
      </p:pic>
      <p:sp>
        <p:nvSpPr>
          <p:cNvPr id="7" name="TextBox 6"/>
          <p:cNvSpPr txBox="1"/>
          <p:nvPr/>
        </p:nvSpPr>
        <p:spPr>
          <a:xfrm>
            <a:off x="5961888" y="1298448"/>
            <a:ext cx="5662879" cy="2377440"/>
          </a:xfrm>
          <a:prstGeom prst="rect">
            <a:avLst/>
          </a:prstGeom>
          <a:noFill/>
        </p:spPr>
        <p:txBody>
          <a:bodyPr wrap="square" anchor="t" lIns="18288" rIns="18288" tIns="9144" bIns="9144">
            <a:spAutoFit/>
          </a:bodyPr>
          <a:lstStyle/>
          <a:p>
            <a:pPr marL="306324" indent="-306324">
              <a:lnSpc>
                <a:spcPct val="108000"/>
              </a:lnSpc>
            </a:pPr>
            <a:r>
              <a:rPr sz="1800" b="0" i="0" lang="ja-JP">
                <a:solidFill>
                  <a:srgbClr val="26303A"/>
                </a:solidFill>
                <a:latin typeface="Meiryo"/>
                <a:ea typeface="Meiryo"/>
              </a:rPr>
              <a:t>★ 再スケジューリングの特殊性：</a:t>
            </a:r>
            <a:br/>
            <a:r>
              <a:rPr sz="1800" b="0" i="0" lang="ja-JP">
                <a:solidFill>
                  <a:srgbClr val="26303A"/>
                </a:solidFill>
                <a:latin typeface="Meiryo"/>
                <a:ea typeface="Meiryo"/>
              </a:rPr>
              <a:t>初期解 </a:t>
            </a:r>
            <a:r>
              <a:rPr sz="1800" b="0" i="1" lang="ja-JP">
                <a:solidFill>
                  <a:srgbClr val="26303A"/>
                </a:solidFill>
                <a:latin typeface="Meiryo"/>
                <a:ea typeface="Meiryo"/>
              </a:rPr>
              <a:t>S</a:t>
            </a:r>
            <a:r>
              <a:rPr sz="1296" b="0" i="1" lang="ja-JP" baseline="-22000">
                <a:solidFill>
                  <a:srgbClr val="26303A"/>
                </a:solidFill>
                <a:latin typeface="Meiryo"/>
                <a:ea typeface="Meiryo"/>
              </a:rPr>
              <a:t>p</a:t>
            </a:r>
            <a:r>
              <a:rPr sz="1800" b="0" i="0" lang="ja-JP">
                <a:solidFill>
                  <a:srgbClr val="26303A"/>
                </a:solidFill>
                <a:latin typeface="Meiryo"/>
                <a:ea typeface="Meiryo"/>
              </a:rPr>
              <a:t>（処理順序を保って遅延を</a:t>
            </a:r>
            <a:br/>
            <a:r>
              <a:rPr sz="1800" b="0" i="0" lang="ja-JP">
                <a:solidFill>
                  <a:srgbClr val="26303A"/>
                </a:solidFill>
                <a:latin typeface="Meiryo"/>
                <a:ea typeface="Meiryo"/>
              </a:rPr>
              <a:t>吸収した解）は，</a:t>
            </a:r>
            <a:r>
              <a:rPr sz="1800" b="1" i="0" lang="ja-JP">
                <a:solidFill>
                  <a:srgbClr val="16385C"/>
                </a:solidFill>
                <a:latin typeface="Meiryo"/>
                <a:ea typeface="Meiryo"/>
              </a:rPr>
              <a:t>探索せずに得られる</a:t>
            </a:r>
            <a:r>
              <a:rPr sz="1800" b="0" i="0" lang="ja-JP">
                <a:solidFill>
                  <a:srgbClr val="26303A"/>
                </a:solidFill>
                <a:latin typeface="Meiryo"/>
                <a:ea typeface="Meiryo"/>
              </a:rPr>
              <a:t>．</a:t>
            </a:r>
            <a:br/>
            <a:r>
              <a:rPr sz="1800" b="0" i="0" lang="ja-JP">
                <a:solidFill>
                  <a:srgbClr val="26303A"/>
                </a:solidFill>
                <a:latin typeface="Meiryo"/>
                <a:ea typeface="Meiryo"/>
              </a:rPr>
              <a:t>変更量 0 で安定性は最良，</a:t>
            </a:r>
            <a:r>
              <a:rPr sz="1800" b="0" i="1" lang="ja-JP">
                <a:solidFill>
                  <a:srgbClr val="26303A"/>
                </a:solidFill>
                <a:latin typeface="Meiryo"/>
                <a:ea typeface="Meiryo"/>
              </a:rPr>
              <a:t>MS</a:t>
            </a:r>
            <a:r>
              <a:rPr sz="1800" b="0" i="0" lang="ja-JP">
                <a:solidFill>
                  <a:srgbClr val="26303A"/>
                </a:solidFill>
                <a:latin typeface="Meiryo"/>
                <a:ea typeface="Meiryo"/>
              </a:rPr>
              <a:t> も外乱前に最適化済</a:t>
            </a:r>
          </a:p>
          <a:p>
            <a:pPr marL="306324" indent="-306324">
              <a:lnSpc>
                <a:spcPct val="108000"/>
              </a:lnSpc>
              <a:spcBef>
                <a:spcPts val="1400"/>
              </a:spcBef>
            </a:pPr>
            <a:r>
              <a:rPr sz="1800" b="0" i="0" lang="ja-JP">
                <a:solidFill>
                  <a:srgbClr val="26303A"/>
                </a:solidFill>
                <a:latin typeface="Meiryo"/>
                <a:ea typeface="Meiryo"/>
              </a:rPr>
              <a:t>→ この </a:t>
            </a:r>
            <a:r>
              <a:rPr sz="1800" b="0" i="1" lang="ja-JP">
                <a:solidFill>
                  <a:srgbClr val="26303A"/>
                </a:solidFill>
                <a:latin typeface="Meiryo"/>
                <a:ea typeface="Meiryo"/>
              </a:rPr>
              <a:t>S</a:t>
            </a:r>
            <a:r>
              <a:rPr sz="1296" b="0" i="1" lang="ja-JP" baseline="-22000">
                <a:solidFill>
                  <a:srgbClr val="26303A"/>
                </a:solidFill>
                <a:latin typeface="Meiryo"/>
                <a:ea typeface="Meiryo"/>
              </a:rPr>
              <a:t>p</a:t>
            </a:r>
            <a:r>
              <a:rPr sz="1800" b="0" i="0" lang="ja-JP">
                <a:solidFill>
                  <a:srgbClr val="26303A"/>
                </a:solidFill>
                <a:latin typeface="Meiryo"/>
                <a:ea typeface="Meiryo"/>
              </a:rPr>
              <a:t> の存在が，</a:t>
            </a:r>
            <a:r>
              <a:rPr sz="1800" b="1" i="0" lang="ja-JP">
                <a:solidFill>
                  <a:srgbClr val="16385C"/>
                </a:solidFill>
                <a:latin typeface="Meiryo"/>
                <a:ea typeface="Meiryo"/>
              </a:rPr>
              <a:t>探索構造の優劣，特に</a:t>
            </a:r>
            <a:br/>
            <a:r>
              <a:rPr sz="1800" b="1" i="0" lang="ja-JP">
                <a:solidFill>
                  <a:srgbClr val="16385C"/>
                </a:solidFill>
                <a:latin typeface="Meiryo"/>
                <a:ea typeface="Meiryo"/>
              </a:rPr>
              <a:t>高安定 HV に大きな影響を与えるのではないか</a:t>
            </a:r>
          </a:p>
        </p:txBody>
      </p:sp>
      <p:sp>
        <p:nvSpPr>
          <p:cNvPr id="8" name="Rectangle 7"/>
          <p:cNvSpPr/>
          <p:nvPr/>
        </p:nvSpPr>
        <p:spPr>
          <a:xfrm>
            <a:off x="5961888" y="3538728"/>
            <a:ext cx="566287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61888" y="3767328"/>
            <a:ext cx="5662879" cy="329184"/>
          </a:xfrm>
          <a:prstGeom prst="rect">
            <a:avLst/>
          </a:prstGeom>
          <a:noFill/>
        </p:spPr>
        <p:txBody>
          <a:bodyPr wrap="square" anchor="ctr" lIns="18288" rIns="18288" tIns="61976" bIns="9144">
            <a:spAutoFit/>
          </a:bodyPr>
          <a:lstStyle/>
          <a:p>
            <a:r>
              <a:rPr sz="1600" b="0" i="0" lang="ja-JP">
                <a:solidFill>
                  <a:srgbClr val="26303A"/>
                </a:solidFill>
                <a:latin typeface="Meiryo"/>
                <a:ea typeface="Meiryo"/>
              </a:rPr>
              <a:t>メタヒューリスティクスの探索構造</a:t>
            </a:r>
            <a:r>
              <a:rPr sz="1500" b="0" i="0" lang="ja-JP">
                <a:solidFill>
                  <a:srgbClr val="6E7A88"/>
                </a:solidFill>
                <a:latin typeface="Meiryo"/>
                <a:ea typeface="Meiryo"/>
              </a:rPr>
              <a:t>（Blum &amp; Roli, 2003）</a:t>
            </a:r>
          </a:p>
        </p:txBody>
      </p:sp>
      <p:sp>
        <p:nvSpPr>
          <p:cNvPr id="10" name="Rounded Rectangle 9"/>
          <p:cNvSpPr/>
          <p:nvPr/>
        </p:nvSpPr>
        <p:spPr>
          <a:xfrm>
            <a:off x="5961888" y="4151376"/>
            <a:ext cx="2785719" cy="14173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61888" y="4151376"/>
            <a:ext cx="2785719" cy="411480"/>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71616" y="4151376"/>
            <a:ext cx="2566263" cy="411480"/>
          </a:xfrm>
          <a:prstGeom prst="rect">
            <a:avLst/>
          </a:prstGeom>
          <a:noFill/>
        </p:spPr>
        <p:txBody>
          <a:bodyPr wrap="square" anchor="ctr" lIns="18288" rIns="18288" tIns="68580" bIns="9144">
            <a:spAutoFit/>
          </a:bodyPr>
          <a:lstStyle/>
          <a:p>
            <a:pPr algn="l">
              <a:lnSpc>
                <a:spcPct val="105000"/>
              </a:lnSpc>
            </a:pPr>
            <a:r>
              <a:rPr sz="1800" b="1" i="0" lang="ja-JP">
                <a:solidFill>
                  <a:srgbClr val="FFFFFF"/>
                </a:solidFill>
                <a:latin typeface="Meiryo"/>
                <a:ea typeface="Meiryo"/>
              </a:rPr>
              <a:t>単点探索</a:t>
            </a:r>
          </a:p>
        </p:txBody>
      </p:sp>
      <p:sp>
        <p:nvSpPr>
          <p:cNvPr id="13" name="TextBox 12"/>
          <p:cNvSpPr txBox="1"/>
          <p:nvPr/>
        </p:nvSpPr>
        <p:spPr>
          <a:xfrm>
            <a:off x="6007608" y="4626864"/>
            <a:ext cx="2694279" cy="886968"/>
          </a:xfrm>
          <a:prstGeom prst="rect">
            <a:avLst/>
          </a:prstGeom>
          <a:noFill/>
        </p:spPr>
        <p:txBody>
          <a:bodyPr wrap="square" anchor="t" lIns="18288" rIns="18288" tIns="9144" bIns="9144">
            <a:spAutoFit/>
          </a:bodyPr>
          <a:lstStyle/>
          <a:p>
            <a:pPr>
              <a:lnSpc>
                <a:spcPct val="105000"/>
              </a:lnSpc>
            </a:pPr>
            <a:r>
              <a:rPr sz="1600" b="0" i="0" lang="ja-JP">
                <a:solidFill>
                  <a:srgbClr val="26303A"/>
                </a:solidFill>
                <a:latin typeface="Meiryo"/>
                <a:ea typeface="Meiryo"/>
              </a:rPr>
              <a:t>1 つの解を少しずつ</a:t>
            </a:r>
          </a:p>
          <a:p>
            <a:pPr>
              <a:lnSpc>
                <a:spcPct val="105000"/>
              </a:lnSpc>
            </a:pPr>
            <a:r>
              <a:rPr sz="1600" b="0" i="0" lang="ja-JP">
                <a:solidFill>
                  <a:srgbClr val="26303A"/>
                </a:solidFill>
                <a:latin typeface="Meiryo"/>
                <a:ea typeface="Meiryo"/>
              </a:rPr>
              <a:t>変更しながら進む</a:t>
            </a:r>
          </a:p>
          <a:p>
            <a:pPr>
              <a:lnSpc>
                <a:spcPct val="105000"/>
              </a:lnSpc>
            </a:pPr>
            <a:r>
              <a:rPr sz="1500" b="0" i="0" lang="ja-JP">
                <a:solidFill>
                  <a:srgbClr val="26303A"/>
                </a:solidFill>
                <a:latin typeface="Meiryo"/>
                <a:ea typeface="Meiryo"/>
              </a:rPr>
              <a:t>例：TS，SA，ILS</a:t>
            </a:r>
          </a:p>
        </p:txBody>
      </p:sp>
      <p:sp>
        <p:nvSpPr>
          <p:cNvPr id="14" name="Rounded Rectangle 13"/>
          <p:cNvSpPr/>
          <p:nvPr/>
        </p:nvSpPr>
        <p:spPr>
          <a:xfrm>
            <a:off x="8839047" y="4151376"/>
            <a:ext cx="2785719" cy="1417320"/>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39047" y="4151376"/>
            <a:ext cx="2785719" cy="411480"/>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48775" y="4151376"/>
            <a:ext cx="2566263" cy="411480"/>
          </a:xfrm>
          <a:prstGeom prst="rect">
            <a:avLst/>
          </a:prstGeom>
          <a:noFill/>
        </p:spPr>
        <p:txBody>
          <a:bodyPr wrap="square" anchor="ctr" lIns="18288" rIns="18288" tIns="68580" bIns="9144">
            <a:spAutoFit/>
          </a:bodyPr>
          <a:lstStyle/>
          <a:p>
            <a:pPr algn="l">
              <a:lnSpc>
                <a:spcPct val="105000"/>
              </a:lnSpc>
            </a:pPr>
            <a:r>
              <a:rPr sz="1800" b="1" i="0" lang="ja-JP">
                <a:solidFill>
                  <a:srgbClr val="FFFFFF"/>
                </a:solidFill>
                <a:latin typeface="Meiryo"/>
                <a:ea typeface="Meiryo"/>
              </a:rPr>
              <a:t>多点探索</a:t>
            </a:r>
          </a:p>
        </p:txBody>
      </p:sp>
      <p:sp>
        <p:nvSpPr>
          <p:cNvPr id="17" name="TextBox 16"/>
          <p:cNvSpPr txBox="1"/>
          <p:nvPr/>
        </p:nvSpPr>
        <p:spPr>
          <a:xfrm>
            <a:off x="8884767" y="4626864"/>
            <a:ext cx="2694279" cy="886968"/>
          </a:xfrm>
          <a:prstGeom prst="rect">
            <a:avLst/>
          </a:prstGeom>
          <a:noFill/>
        </p:spPr>
        <p:txBody>
          <a:bodyPr wrap="square" anchor="t" lIns="18288" rIns="18288" tIns="9144" bIns="9144">
            <a:spAutoFit/>
          </a:bodyPr>
          <a:lstStyle/>
          <a:p>
            <a:pPr>
              <a:lnSpc>
                <a:spcPct val="105000"/>
              </a:lnSpc>
            </a:pPr>
            <a:r>
              <a:rPr sz="1600" b="0" i="0" lang="ja-JP">
                <a:solidFill>
                  <a:srgbClr val="26303A"/>
                </a:solidFill>
                <a:latin typeface="Meiryo"/>
                <a:ea typeface="Meiryo"/>
              </a:rPr>
              <a:t>複数の解を保持し，</a:t>
            </a:r>
          </a:p>
          <a:p>
            <a:pPr>
              <a:lnSpc>
                <a:spcPct val="105000"/>
              </a:lnSpc>
            </a:pPr>
            <a:r>
              <a:rPr sz="1600" b="0" i="0" lang="ja-JP">
                <a:solidFill>
                  <a:srgbClr val="26303A"/>
                </a:solidFill>
                <a:latin typeface="Meiryo"/>
                <a:ea typeface="Meiryo"/>
              </a:rPr>
              <a:t>互いに組み替えて進む</a:t>
            </a:r>
          </a:p>
          <a:p>
            <a:pPr>
              <a:lnSpc>
                <a:spcPct val="105000"/>
              </a:lnSpc>
            </a:pPr>
            <a:r>
              <a:rPr sz="1500" b="0" i="0" lang="ja-JP">
                <a:solidFill>
                  <a:srgbClr val="26303A"/>
                </a:solidFill>
                <a:latin typeface="Meiryo"/>
                <a:ea typeface="Meiryo"/>
              </a:rPr>
              <a:t>例：GA，NSGA-II，Memetic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先行研究：安定性を確保する 2 つのアプローチ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7</a:t>
            </a:r>
          </a:p>
        </p:txBody>
      </p:sp>
      <p:sp>
        <p:nvSpPr>
          <p:cNvPr id="6" name="Rounded Rectangle 5"/>
          <p:cNvSpPr/>
          <p:nvPr/>
        </p:nvSpPr>
        <p:spPr>
          <a:xfrm>
            <a:off x="566928" y="1207008"/>
            <a:ext cx="5391759" cy="457200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207008"/>
            <a:ext cx="5391759" cy="530352"/>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207008"/>
            <a:ext cx="5117439" cy="530352"/>
          </a:xfrm>
          <a:prstGeom prst="rect">
            <a:avLst/>
          </a:prstGeom>
          <a:noFill/>
        </p:spPr>
        <p:txBody>
          <a:bodyPr wrap="square" anchor="ctr" lIns="18288" rIns="18288" tIns="68580" bIns="9144">
            <a:spAutoFit/>
          </a:bodyPr>
          <a:lstStyle/>
          <a:p>
            <a:pPr algn="l">
              <a:lnSpc>
                <a:spcPct val="105000"/>
              </a:lnSpc>
            </a:pPr>
            <a:r>
              <a:rPr sz="1800" b="1" i="0" lang="ja-JP">
                <a:solidFill>
                  <a:srgbClr val="FFFFFF"/>
                </a:solidFill>
                <a:latin typeface="Meiryo"/>
                <a:ea typeface="Meiryo"/>
              </a:rPr>
              <a:t>安定性を目的関数に組み込むアプローチ</a:t>
            </a:r>
          </a:p>
        </p:txBody>
      </p:sp>
      <p:sp>
        <p:nvSpPr>
          <p:cNvPr id="9" name="TextBox 8"/>
          <p:cNvSpPr txBox="1"/>
          <p:nvPr/>
        </p:nvSpPr>
        <p:spPr>
          <a:xfrm>
            <a:off x="795528" y="1938528"/>
            <a:ext cx="4934559" cy="3108960"/>
          </a:xfrm>
          <a:prstGeom prst="rect">
            <a:avLst/>
          </a:prstGeom>
          <a:noFill/>
        </p:spPr>
        <p:txBody>
          <a:bodyPr wrap="square" anchor="t" lIns="18288" rIns="18288" tIns="9144" bIns="9144">
            <a:spAutoFit/>
          </a:bodyPr>
          <a:lstStyle/>
          <a:p>
            <a:pPr>
              <a:lnSpc>
                <a:spcPct val="100000"/>
              </a:lnSpc>
              <a:spcBef>
                <a:spcPts val="0"/>
              </a:spcBef>
            </a:pPr>
            <a:r>
              <a:rPr sz="1600" b="1" i="0" lang="ja-JP">
                <a:solidFill>
                  <a:srgbClr val="16385C"/>
                </a:solidFill>
                <a:latin typeface="Meiryo"/>
                <a:ea typeface="Meiryo"/>
              </a:rPr>
              <a:t>Wu ら (1993)</a:t>
            </a:r>
          </a:p>
          <a:p>
            <a:pPr>
              <a:lnSpc>
                <a:spcPct val="100000"/>
              </a:lnSpc>
            </a:pPr>
            <a:r>
              <a:rPr sz="1600" b="0" i="0" lang="ja-JP">
                <a:solidFill>
                  <a:srgbClr val="26303A"/>
                </a:solidFill>
                <a:latin typeface="Meiryo"/>
                <a:ea typeface="Meiryo"/>
              </a:rPr>
              <a:t>　単一機械で効率と安定性を評価基準に定式化</a:t>
            </a:r>
          </a:p>
          <a:p>
            <a:pPr>
              <a:lnSpc>
                <a:spcPct val="100000"/>
              </a:lnSpc>
              <a:spcBef>
                <a:spcPts val="900"/>
              </a:spcBef>
            </a:pPr>
            <a:r>
              <a:rPr sz="1600" b="1" i="0" lang="ja-JP">
                <a:solidFill>
                  <a:srgbClr val="16385C"/>
                </a:solidFill>
                <a:latin typeface="Meiryo"/>
                <a:ea typeface="Meiryo"/>
              </a:rPr>
              <a:t>Rangsaritratsamee ら (2004)</a:t>
            </a:r>
          </a:p>
          <a:p>
            <a:pPr>
              <a:lnSpc>
                <a:spcPct val="100000"/>
              </a:lnSpc>
            </a:pPr>
            <a:r>
              <a:rPr sz="1600" b="0" i="0" lang="ja-JP">
                <a:solidFill>
                  <a:srgbClr val="26303A"/>
                </a:solidFill>
                <a:latin typeface="Meiryo"/>
                <a:ea typeface="Meiryo"/>
              </a:rPr>
              <a:t>　JSP．GA＋局所探索</a:t>
            </a:r>
          </a:p>
          <a:p>
            <a:pPr>
              <a:lnSpc>
                <a:spcPct val="100000"/>
              </a:lnSpc>
              <a:spcBef>
                <a:spcPts val="900"/>
              </a:spcBef>
            </a:pPr>
            <a:r>
              <a:rPr sz="1600" b="1" i="0" lang="ja-JP">
                <a:solidFill>
                  <a:srgbClr val="16385C"/>
                </a:solidFill>
                <a:latin typeface="Meiryo"/>
                <a:ea typeface="Meiryo"/>
              </a:rPr>
              <a:t>Zhang ら (2013)</a:t>
            </a:r>
          </a:p>
          <a:p>
            <a:pPr>
              <a:lnSpc>
                <a:spcPct val="100000"/>
              </a:lnSpc>
            </a:pPr>
            <a:r>
              <a:rPr sz="1600" b="0" i="0" lang="ja-JP">
                <a:solidFill>
                  <a:srgbClr val="26303A"/>
                </a:solidFill>
                <a:latin typeface="Meiryo"/>
                <a:ea typeface="Meiryo"/>
              </a:rPr>
              <a:t>　JSP．GA＋タブーサーチ</a:t>
            </a:r>
          </a:p>
          <a:p>
            <a:pPr>
              <a:lnSpc>
                <a:spcPct val="100000"/>
              </a:lnSpc>
              <a:spcBef>
                <a:spcPts val="900"/>
              </a:spcBef>
            </a:pPr>
            <a:r>
              <a:rPr sz="1600" b="1" i="0" lang="ja-JP">
                <a:solidFill>
                  <a:srgbClr val="16385C"/>
                </a:solidFill>
                <a:latin typeface="Meiryo"/>
                <a:ea typeface="Meiryo"/>
              </a:rPr>
              <a:t>Fattahi &amp; Fallahi (2010)</a:t>
            </a:r>
          </a:p>
          <a:p>
            <a:pPr>
              <a:lnSpc>
                <a:spcPct val="100000"/>
              </a:lnSpc>
            </a:pPr>
            <a:r>
              <a:rPr sz="1600" b="0" i="0" lang="ja-JP">
                <a:solidFill>
                  <a:srgbClr val="26303A"/>
                </a:solidFill>
                <a:latin typeface="Meiryo"/>
                <a:ea typeface="Meiryo"/>
              </a:rPr>
              <a:t>　FJSP．GA＋局所探索</a:t>
            </a:r>
          </a:p>
          <a:p>
            <a:pPr>
              <a:lnSpc>
                <a:spcPct val="100000"/>
              </a:lnSpc>
              <a:spcBef>
                <a:spcPts val="900"/>
              </a:spcBef>
            </a:pPr>
            <a:r>
              <a:rPr sz="1600" b="1" i="0" lang="ja-JP">
                <a:solidFill>
                  <a:srgbClr val="16385C"/>
                </a:solidFill>
                <a:latin typeface="Meiryo"/>
                <a:ea typeface="Meiryo"/>
              </a:rPr>
              <a:t>Valledor ら (2022)，Luo ら (2025)</a:t>
            </a:r>
          </a:p>
          <a:p>
            <a:pPr>
              <a:lnSpc>
                <a:spcPct val="100000"/>
              </a:lnSpc>
            </a:pPr>
            <a:r>
              <a:rPr sz="1600" b="0" i="0" lang="ja-JP">
                <a:solidFill>
                  <a:srgbClr val="26303A"/>
                </a:solidFill>
                <a:latin typeface="Meiryo"/>
                <a:ea typeface="Meiryo"/>
              </a:rPr>
              <a:t>　NSGA-II 系で Pareto 支配</a:t>
            </a:r>
          </a:p>
        </p:txBody>
      </p:sp>
      <p:sp>
        <p:nvSpPr>
          <p:cNvPr id="10" name="Rounded Rectangle 9"/>
          <p:cNvSpPr/>
          <p:nvPr/>
        </p:nvSpPr>
        <p:spPr>
          <a:xfrm>
            <a:off x="795528" y="5138928"/>
            <a:ext cx="4934559" cy="475488"/>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16385C"/>
                </a:solidFill>
                <a:latin typeface="Meiryo"/>
                <a:ea typeface="Meiryo"/>
              </a:rPr>
              <a:t>安定性は解の評価（目的関数の一項）にのみ反映</a:t>
            </a:r>
          </a:p>
        </p:txBody>
      </p:sp>
      <p:sp>
        <p:nvSpPr>
          <p:cNvPr id="11" name="Rounded Rectangle 10"/>
          <p:cNvSpPr/>
          <p:nvPr/>
        </p:nvSpPr>
        <p:spPr>
          <a:xfrm>
            <a:off x="6233007" y="1207008"/>
            <a:ext cx="5391759" cy="457200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1207008"/>
            <a:ext cx="5391759" cy="530352"/>
          </a:xfrm>
          <a:prstGeom prst="rect">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0167" y="1207008"/>
            <a:ext cx="5117439" cy="530352"/>
          </a:xfrm>
          <a:prstGeom prst="rect">
            <a:avLst/>
          </a:prstGeom>
          <a:noFill/>
        </p:spPr>
        <p:txBody>
          <a:bodyPr wrap="square" anchor="ctr" lIns="18288" rIns="18288" tIns="68580" bIns="9144">
            <a:spAutoFit/>
          </a:bodyPr>
          <a:lstStyle/>
          <a:p>
            <a:pPr algn="l">
              <a:lnSpc>
                <a:spcPct val="105000"/>
              </a:lnSpc>
            </a:pPr>
            <a:r>
              <a:rPr sz="1800" b="1" i="0" lang="ja-JP">
                <a:solidFill>
                  <a:srgbClr val="FFFFFF"/>
                </a:solidFill>
                <a:latin typeface="Meiryo"/>
                <a:ea typeface="Meiryo"/>
              </a:rPr>
              <a:t>再スケジュールの対象範囲を限定するアプローチ</a:t>
            </a:r>
          </a:p>
        </p:txBody>
      </p:sp>
      <p:sp>
        <p:nvSpPr>
          <p:cNvPr id="14" name="TextBox 13"/>
          <p:cNvSpPr txBox="1"/>
          <p:nvPr/>
        </p:nvSpPr>
        <p:spPr>
          <a:xfrm>
            <a:off x="6461607" y="1938528"/>
            <a:ext cx="4934559" cy="3108960"/>
          </a:xfrm>
          <a:prstGeom prst="rect">
            <a:avLst/>
          </a:prstGeom>
          <a:noFill/>
        </p:spPr>
        <p:txBody>
          <a:bodyPr wrap="square" anchor="t" lIns="18288" rIns="18288" tIns="9144" bIns="9144">
            <a:spAutoFit/>
          </a:bodyPr>
          <a:lstStyle/>
          <a:p>
            <a:pPr>
              <a:lnSpc>
                <a:spcPct val="100000"/>
              </a:lnSpc>
              <a:spcBef>
                <a:spcPts val="0"/>
              </a:spcBef>
            </a:pPr>
            <a:r>
              <a:rPr sz="1600" b="1" i="0" lang="ja-JP">
                <a:solidFill>
                  <a:srgbClr val="16385C"/>
                </a:solidFill>
                <a:latin typeface="Meiryo"/>
                <a:ea typeface="Meiryo"/>
              </a:rPr>
              <a:t>Bean ら (1991)</a:t>
            </a:r>
          </a:p>
          <a:p>
            <a:pPr>
              <a:lnSpc>
                <a:spcPct val="100000"/>
              </a:lnSpc>
            </a:pPr>
            <a:r>
              <a:rPr sz="1600" b="0" i="0" lang="ja-JP">
                <a:solidFill>
                  <a:srgbClr val="26303A"/>
                </a:solidFill>
                <a:latin typeface="Meiryo"/>
                <a:ea typeface="Meiryo"/>
              </a:rPr>
              <a:t>　復帰時点までを再スケジュール（match-up）</a:t>
            </a:r>
          </a:p>
          <a:p>
            <a:pPr>
              <a:lnSpc>
                <a:spcPct val="100000"/>
              </a:lnSpc>
              <a:spcBef>
                <a:spcPts val="900"/>
              </a:spcBef>
            </a:pPr>
            <a:r>
              <a:rPr sz="1600" b="1" i="0" lang="ja-JP">
                <a:solidFill>
                  <a:srgbClr val="16385C"/>
                </a:solidFill>
                <a:latin typeface="Meiryo"/>
                <a:ea typeface="Meiryo"/>
              </a:rPr>
              <a:t>Abumaizar &amp; Svestka (1997)</a:t>
            </a:r>
          </a:p>
          <a:p>
            <a:pPr>
              <a:lnSpc>
                <a:spcPct val="100000"/>
              </a:lnSpc>
            </a:pPr>
            <a:r>
              <a:rPr sz="1600" b="0" i="0" lang="ja-JP">
                <a:solidFill>
                  <a:srgbClr val="26303A"/>
                </a:solidFill>
                <a:latin typeface="Meiryo"/>
                <a:ea typeface="Meiryo"/>
              </a:rPr>
              <a:t>　影響を受ける作業だけを再スケジュール</a:t>
            </a:r>
          </a:p>
          <a:p>
            <a:pPr>
              <a:lnSpc>
                <a:spcPct val="100000"/>
              </a:lnSpc>
              <a:spcBef>
                <a:spcPts val="900"/>
              </a:spcBef>
            </a:pPr>
            <a:r>
              <a:rPr sz="1600" b="1" i="0" lang="ja-JP">
                <a:solidFill>
                  <a:srgbClr val="16385C"/>
                </a:solidFill>
                <a:latin typeface="Meiryo"/>
                <a:ea typeface="Meiryo"/>
              </a:rPr>
              <a:t>Zakaria &amp; Petrovic (2012)</a:t>
            </a:r>
          </a:p>
          <a:p>
            <a:pPr>
              <a:lnSpc>
                <a:spcPct val="100000"/>
              </a:lnSpc>
            </a:pPr>
            <a:r>
              <a:rPr sz="1600" b="0" i="0" lang="ja-JP">
                <a:solidFill>
                  <a:srgbClr val="26303A"/>
                </a:solidFill>
                <a:latin typeface="Meiryo"/>
                <a:ea typeface="Meiryo"/>
              </a:rPr>
              <a:t>　GA の染色体を区間に限定</a:t>
            </a:r>
          </a:p>
          <a:p>
            <a:pPr>
              <a:lnSpc>
                <a:spcPct val="100000"/>
              </a:lnSpc>
              <a:spcBef>
                <a:spcPts val="900"/>
              </a:spcBef>
            </a:pPr>
            <a:r>
              <a:rPr sz="1600" b="1" i="0" lang="ja-JP">
                <a:solidFill>
                  <a:srgbClr val="16385C"/>
                </a:solidFill>
                <a:latin typeface="Meiryo"/>
                <a:ea typeface="Meiryo"/>
              </a:rPr>
              <a:t>Sun ら (2026)</a:t>
            </a:r>
          </a:p>
          <a:p>
            <a:pPr>
              <a:lnSpc>
                <a:spcPct val="100000"/>
              </a:lnSpc>
            </a:pPr>
            <a:r>
              <a:rPr sz="1600" b="0" i="0" lang="ja-JP">
                <a:solidFill>
                  <a:srgbClr val="26303A"/>
                </a:solidFill>
                <a:latin typeface="Meiryo"/>
                <a:ea typeface="Meiryo"/>
              </a:rPr>
              <a:t>　再最適化の範囲を 4 段階に整理</a:t>
            </a:r>
          </a:p>
        </p:txBody>
      </p:sp>
      <p:sp>
        <p:nvSpPr>
          <p:cNvPr id="15" name="Rounded Rectangle 14"/>
          <p:cNvSpPr/>
          <p:nvPr/>
        </p:nvSpPr>
        <p:spPr>
          <a:xfrm>
            <a:off x="6461607" y="5138928"/>
            <a:ext cx="4934559" cy="475488"/>
          </a:xfrm>
          <a:prstGeom prst="roundRect">
            <a:avLst>
              <a:gd name="adj" fmla="val 20000"/>
            </a:avLst>
          </a:prstGeom>
          <a:solidFill>
            <a:srgbClr val="EDF2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16385C"/>
                </a:solidFill>
                <a:latin typeface="Meiryo"/>
                <a:ea typeface="Meiryo"/>
              </a:rPr>
              <a:t>探索空間の制限で安定性を確保する</a:t>
            </a:r>
          </a:p>
        </p:txBody>
      </p:sp>
      <p:sp>
        <p:nvSpPr>
          <p:cNvPr id="16" name="TextBox 15"/>
          <p:cNvSpPr txBox="1"/>
          <p:nvPr/>
        </p:nvSpPr>
        <p:spPr>
          <a:xfrm>
            <a:off x="566928" y="5961888"/>
            <a:ext cx="11057839" cy="457200"/>
          </a:xfrm>
          <a:prstGeom prst="rect">
            <a:avLst/>
          </a:prstGeom>
          <a:noFill/>
        </p:spPr>
        <p:txBody>
          <a:bodyPr wrap="square" anchor="ctr" lIns="18288" rIns="18288" tIns="68580" bIns="9144">
            <a:spAutoFit/>
          </a:bodyPr>
          <a:lstStyle/>
          <a:p>
            <a:pPr algn="ctr">
              <a:lnSpc>
                <a:spcPct val="105000"/>
              </a:lnSpc>
            </a:pPr>
            <a:r>
              <a:rPr sz="1800" b="0" i="0" lang="ja-JP">
                <a:solidFill>
                  <a:srgbClr val="26303A"/>
                </a:solidFill>
                <a:latin typeface="Meiryo"/>
                <a:ea typeface="Meiryo"/>
              </a:rPr>
              <a:t>どちらのアプローチでも，メタヒューリスティクスによる解法は GA を基軸とする</a:t>
            </a:r>
            <a:r>
              <a:rPr sz="1800" b="1" i="0" lang="ja-JP">
                <a:solidFill>
                  <a:srgbClr val="16385C"/>
                </a:solidFill>
                <a:latin typeface="Meiryo"/>
                <a:ea typeface="Meiryo"/>
              </a:rPr>
              <a:t>多点探索に集中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先行研究に残された 3 つの課題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8</a:t>
            </a:r>
          </a:p>
        </p:txBody>
      </p:sp>
      <p:sp>
        <p:nvSpPr>
          <p:cNvPr id="6" name="Rounded Rectangle 5"/>
          <p:cNvSpPr/>
          <p:nvPr/>
        </p:nvSpPr>
        <p:spPr>
          <a:xfrm>
            <a:off x="566928" y="1252728"/>
            <a:ext cx="11057839" cy="1383791"/>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68096" y="1688592"/>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7724" bIns="18288"/>
          <a:lstStyle/>
          <a:p>
            <a:pPr algn="ctr">
              <a:lnSpc>
                <a:spcPct val="100000"/>
              </a:lnSpc>
            </a:pPr>
            <a:r>
              <a:rPr sz="1800" b="1" i="0" lang="ja-JP">
                <a:solidFill>
                  <a:srgbClr val="FFFFFF"/>
                </a:solidFill>
                <a:latin typeface="Meiryo"/>
                <a:ea typeface="Meiryo"/>
              </a:rPr>
              <a:t>1</a:t>
            </a:r>
          </a:p>
        </p:txBody>
      </p:sp>
      <p:sp>
        <p:nvSpPr>
          <p:cNvPr id="8" name="TextBox 7"/>
          <p:cNvSpPr txBox="1"/>
          <p:nvPr/>
        </p:nvSpPr>
        <p:spPr>
          <a:xfrm>
            <a:off x="1481328" y="1325880"/>
            <a:ext cx="2834640" cy="1237488"/>
          </a:xfrm>
          <a:prstGeom prst="rect">
            <a:avLst/>
          </a:prstGeom>
          <a:noFill/>
        </p:spPr>
        <p:txBody>
          <a:bodyPr wrap="square" anchor="ctr" lIns="18288" rIns="18288" tIns="68580" bIns="9144">
            <a:spAutoFit/>
          </a:bodyPr>
          <a:lstStyle/>
          <a:p>
            <a:pPr algn="l">
              <a:lnSpc>
                <a:spcPct val="110000"/>
              </a:lnSpc>
            </a:pPr>
            <a:r>
              <a:rPr sz="1800" b="1" i="0" lang="ja-JP">
                <a:solidFill>
                  <a:srgbClr val="16385C"/>
                </a:solidFill>
                <a:latin typeface="Meiryo"/>
                <a:ea typeface="Meiryo"/>
              </a:rPr>
              <a:t>探索構造の差が</a:t>
            </a:r>
          </a:p>
          <a:p>
            <a:pPr algn="l">
              <a:lnSpc>
                <a:spcPct val="110000"/>
              </a:lnSpc>
            </a:pPr>
            <a:r>
              <a:rPr sz="1800" b="1" i="0" lang="ja-JP">
                <a:solidFill>
                  <a:srgbClr val="16385C"/>
                </a:solidFill>
                <a:latin typeface="Meiryo"/>
                <a:ea typeface="Meiryo"/>
              </a:rPr>
              <a:t>検証されていない</a:t>
            </a:r>
          </a:p>
        </p:txBody>
      </p:sp>
      <p:sp>
        <p:nvSpPr>
          <p:cNvPr id="9" name="Rectangle 8"/>
          <p:cNvSpPr/>
          <p:nvPr/>
        </p:nvSpPr>
        <p:spPr>
          <a:xfrm>
            <a:off x="4407408" y="1417320"/>
            <a:ext cx="13716" cy="1054608"/>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36008" y="1307592"/>
            <a:ext cx="6760159" cy="1274063"/>
          </a:xfrm>
          <a:prstGeom prst="rect">
            <a:avLst/>
          </a:prstGeom>
          <a:noFill/>
        </p:spPr>
        <p:txBody>
          <a:bodyPr wrap="square" anchor="ctr" lIns="18288" rIns="18288" tIns="68580" bIns="9144">
            <a:spAutoFit/>
          </a:bodyPr>
          <a:lstStyle/>
          <a:p>
            <a:pPr algn="l">
              <a:lnSpc>
                <a:spcPct val="108000"/>
              </a:lnSpc>
            </a:pPr>
            <a:r>
              <a:rPr sz="1800" b="0" i="1" lang="ja-JP">
                <a:solidFill>
                  <a:srgbClr val="26303A"/>
                </a:solidFill>
                <a:latin typeface="Meiryo"/>
                <a:ea typeface="Meiryo"/>
              </a:rPr>
              <a:t>S</a:t>
            </a:r>
            <a:r>
              <a:rPr sz="1296" b="0" i="1" lang="ja-JP" baseline="-22000">
                <a:solidFill>
                  <a:srgbClr val="26303A"/>
                </a:solidFill>
                <a:latin typeface="Meiryo"/>
                <a:ea typeface="Meiryo"/>
              </a:rPr>
              <a:t>p</a:t>
            </a:r>
            <a:r>
              <a:rPr sz="1800" b="0" i="0" lang="ja-JP">
                <a:solidFill>
                  <a:srgbClr val="26303A"/>
                </a:solidFill>
                <a:latin typeface="Meiryo"/>
                <a:ea typeface="Meiryo"/>
              </a:rPr>
              <a:t> の存在が単点探索と多点探索の優劣に与える影響は，</a:t>
            </a:r>
          </a:p>
          <a:p>
            <a:pPr algn="l">
              <a:lnSpc>
                <a:spcPct val="108000"/>
              </a:lnSpc>
            </a:pPr>
            <a:r>
              <a:rPr sz="1800" b="0" i="0" lang="ja-JP">
                <a:solidFill>
                  <a:srgbClr val="26303A"/>
                </a:solidFill>
                <a:latin typeface="Meiryo"/>
                <a:ea typeface="Meiryo"/>
              </a:rPr>
              <a:t>分析されていない</a:t>
            </a:r>
          </a:p>
        </p:txBody>
      </p:sp>
      <p:sp>
        <p:nvSpPr>
          <p:cNvPr id="11" name="Rounded Rectangle 10"/>
          <p:cNvSpPr/>
          <p:nvPr/>
        </p:nvSpPr>
        <p:spPr>
          <a:xfrm>
            <a:off x="566928" y="2801112"/>
            <a:ext cx="11057839" cy="1680972"/>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8096" y="3385566"/>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7724" bIns="18288"/>
          <a:lstStyle/>
          <a:p>
            <a:pPr algn="ctr">
              <a:lnSpc>
                <a:spcPct val="100000"/>
              </a:lnSpc>
            </a:pPr>
            <a:r>
              <a:rPr sz="1800" b="1" i="0" lang="ja-JP">
                <a:solidFill>
                  <a:srgbClr val="FFFFFF"/>
                </a:solidFill>
                <a:latin typeface="Meiryo"/>
                <a:ea typeface="Meiryo"/>
              </a:rPr>
              <a:t>2</a:t>
            </a:r>
          </a:p>
        </p:txBody>
      </p:sp>
      <p:sp>
        <p:nvSpPr>
          <p:cNvPr id="13" name="TextBox 12"/>
          <p:cNvSpPr txBox="1"/>
          <p:nvPr/>
        </p:nvSpPr>
        <p:spPr>
          <a:xfrm>
            <a:off x="1481328" y="2874264"/>
            <a:ext cx="2834640" cy="1534668"/>
          </a:xfrm>
          <a:prstGeom prst="rect">
            <a:avLst/>
          </a:prstGeom>
          <a:noFill/>
        </p:spPr>
        <p:txBody>
          <a:bodyPr wrap="square" anchor="ctr" lIns="18288" rIns="18288" tIns="68580" bIns="9144">
            <a:spAutoFit/>
          </a:bodyPr>
          <a:lstStyle/>
          <a:p>
            <a:pPr algn="l">
              <a:lnSpc>
                <a:spcPct val="110000"/>
              </a:lnSpc>
            </a:pPr>
            <a:r>
              <a:rPr sz="1800" b="1" i="0" lang="ja-JP">
                <a:solidFill>
                  <a:srgbClr val="16385C"/>
                </a:solidFill>
                <a:latin typeface="Meiryo"/>
                <a:ea typeface="Meiryo"/>
              </a:rPr>
              <a:t>高安定領域の品質が</a:t>
            </a:r>
          </a:p>
          <a:p>
            <a:pPr algn="l">
              <a:lnSpc>
                <a:spcPct val="110000"/>
              </a:lnSpc>
            </a:pPr>
            <a:r>
              <a:rPr sz="1800" b="1" i="0" lang="ja-JP">
                <a:solidFill>
                  <a:srgbClr val="16385C"/>
                </a:solidFill>
                <a:latin typeface="Meiryo"/>
                <a:ea typeface="Meiryo"/>
              </a:rPr>
              <a:t>評価されていない</a:t>
            </a:r>
          </a:p>
        </p:txBody>
      </p:sp>
      <p:sp>
        <p:nvSpPr>
          <p:cNvPr id="14" name="Rectangle 13"/>
          <p:cNvSpPr/>
          <p:nvPr/>
        </p:nvSpPr>
        <p:spPr>
          <a:xfrm>
            <a:off x="4407408" y="2965704"/>
            <a:ext cx="13716" cy="1351788"/>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6008" y="2855976"/>
            <a:ext cx="6760159" cy="1571244"/>
          </a:xfrm>
          <a:prstGeom prst="rect">
            <a:avLst/>
          </a:prstGeom>
          <a:noFill/>
        </p:spPr>
        <p:txBody>
          <a:bodyPr wrap="square" anchor="ctr" lIns="18288" rIns="18288" tIns="68580" bIns="9144">
            <a:spAutoFit/>
          </a:bodyPr>
          <a:lstStyle/>
          <a:p>
            <a:pPr algn="l">
              <a:lnSpc>
                <a:spcPct val="108000"/>
              </a:lnSpc>
            </a:pPr>
            <a:r>
              <a:rPr sz="1800" b="0" i="0" lang="ja-JP">
                <a:solidFill>
                  <a:srgbClr val="26303A"/>
                </a:solidFill>
                <a:latin typeface="Meiryo"/>
                <a:ea typeface="Meiryo"/>
              </a:rPr>
              <a:t>比較は少数の重みでのスカラー値や，Pareto フロント全体の</a:t>
            </a:r>
          </a:p>
          <a:p>
            <a:pPr algn="l">
              <a:lnSpc>
                <a:spcPct val="108000"/>
              </a:lnSpc>
            </a:pPr>
            <a:r>
              <a:rPr sz="1800" b="0" i="0" lang="ja-JP">
                <a:solidFill>
                  <a:srgbClr val="26303A"/>
                </a:solidFill>
                <a:latin typeface="Meiryo"/>
                <a:ea typeface="Meiryo"/>
              </a:rPr>
              <a:t>HV で行われ，高安定領域で手法がどう異なるかは</a:t>
            </a:r>
          </a:p>
          <a:p>
            <a:pPr algn="l">
              <a:lnSpc>
                <a:spcPct val="108000"/>
              </a:lnSpc>
            </a:pPr>
            <a:r>
              <a:rPr sz="1800" b="0" i="0" lang="ja-JP">
                <a:solidFill>
                  <a:srgbClr val="26303A"/>
                </a:solidFill>
                <a:latin typeface="Meiryo"/>
                <a:ea typeface="Meiryo"/>
              </a:rPr>
              <a:t>分析されていない</a:t>
            </a:r>
          </a:p>
        </p:txBody>
      </p:sp>
      <p:sp>
        <p:nvSpPr>
          <p:cNvPr id="16" name="Rounded Rectangle 15"/>
          <p:cNvSpPr/>
          <p:nvPr/>
        </p:nvSpPr>
        <p:spPr>
          <a:xfrm>
            <a:off x="566928" y="4646676"/>
            <a:ext cx="11057839" cy="1680972"/>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68096" y="5231130"/>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7724" bIns="18288"/>
          <a:lstStyle/>
          <a:p>
            <a:pPr algn="ctr">
              <a:lnSpc>
                <a:spcPct val="100000"/>
              </a:lnSpc>
            </a:pPr>
            <a:r>
              <a:rPr sz="1800" b="1" i="0" lang="ja-JP">
                <a:solidFill>
                  <a:srgbClr val="FFFFFF"/>
                </a:solidFill>
                <a:latin typeface="Meiryo"/>
                <a:ea typeface="Meiryo"/>
              </a:rPr>
              <a:t>3</a:t>
            </a:r>
          </a:p>
        </p:txBody>
      </p:sp>
      <p:sp>
        <p:nvSpPr>
          <p:cNvPr id="18" name="TextBox 17"/>
          <p:cNvSpPr txBox="1"/>
          <p:nvPr/>
        </p:nvSpPr>
        <p:spPr>
          <a:xfrm>
            <a:off x="1481328" y="4719828"/>
            <a:ext cx="2834640" cy="1534668"/>
          </a:xfrm>
          <a:prstGeom prst="rect">
            <a:avLst/>
          </a:prstGeom>
          <a:noFill/>
        </p:spPr>
        <p:txBody>
          <a:bodyPr wrap="square" anchor="ctr" lIns="18288" rIns="18288" tIns="68580" bIns="9144">
            <a:spAutoFit/>
          </a:bodyPr>
          <a:lstStyle/>
          <a:p>
            <a:pPr algn="l">
              <a:lnSpc>
                <a:spcPct val="110000"/>
              </a:lnSpc>
            </a:pPr>
            <a:r>
              <a:rPr sz="1800" b="1" i="0" lang="ja-JP">
                <a:solidFill>
                  <a:srgbClr val="16385C"/>
                </a:solidFill>
                <a:latin typeface="Meiryo"/>
                <a:ea typeface="Meiryo"/>
              </a:rPr>
              <a:t>安定性の高い解を</a:t>
            </a:r>
          </a:p>
          <a:p>
            <a:pPr algn="l">
              <a:lnSpc>
                <a:spcPct val="110000"/>
              </a:lnSpc>
            </a:pPr>
            <a:r>
              <a:rPr sz="1800" b="1" i="0" lang="ja-JP">
                <a:solidFill>
                  <a:srgbClr val="16385C"/>
                </a:solidFill>
                <a:latin typeface="Meiryo"/>
                <a:ea typeface="Meiryo"/>
              </a:rPr>
              <a:t>作り出す操作がない</a:t>
            </a:r>
          </a:p>
        </p:txBody>
      </p:sp>
      <p:sp>
        <p:nvSpPr>
          <p:cNvPr id="19" name="Rectangle 18"/>
          <p:cNvSpPr/>
          <p:nvPr/>
        </p:nvSpPr>
        <p:spPr>
          <a:xfrm>
            <a:off x="4407408" y="4811268"/>
            <a:ext cx="13716" cy="1351788"/>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36008" y="4701540"/>
            <a:ext cx="6760159" cy="1571244"/>
          </a:xfrm>
          <a:prstGeom prst="rect">
            <a:avLst/>
          </a:prstGeom>
          <a:noFill/>
        </p:spPr>
        <p:txBody>
          <a:bodyPr wrap="square" anchor="ctr" lIns="18288" rIns="18288" tIns="68580" bIns="9144">
            <a:spAutoFit/>
          </a:bodyPr>
          <a:lstStyle/>
          <a:p>
            <a:pPr algn="l">
              <a:lnSpc>
                <a:spcPct val="108000"/>
              </a:lnSpc>
            </a:pPr>
            <a:r>
              <a:rPr sz="1800" b="1" i="0" lang="ja-JP">
                <a:solidFill>
                  <a:srgbClr val="16385C"/>
                </a:solidFill>
                <a:latin typeface="Meiryo"/>
                <a:ea typeface="Meiryo"/>
              </a:rPr>
              <a:t>目的関数に組み込む</a:t>
            </a:r>
            <a:r>
              <a:rPr sz="1800" b="0" i="0" lang="ja-JP">
                <a:solidFill>
                  <a:srgbClr val="26303A"/>
                </a:solidFill>
                <a:latin typeface="Meiryo"/>
                <a:ea typeface="Meiryo"/>
              </a:rPr>
              <a:t>：安定性は解の評価にだけ入る</a:t>
            </a:r>
          </a:p>
          <a:p>
            <a:pPr algn="l">
              <a:lnSpc>
                <a:spcPct val="108000"/>
              </a:lnSpc>
            </a:pPr>
            <a:r>
              <a:rPr sz="1800" b="1" i="0" lang="ja-JP">
                <a:solidFill>
                  <a:srgbClr val="16385C"/>
                </a:solidFill>
                <a:latin typeface="Meiryo"/>
                <a:ea typeface="Meiryo"/>
              </a:rPr>
              <a:t>範囲を限定する</a:t>
            </a:r>
            <a:r>
              <a:rPr sz="1800" b="0" i="0" lang="ja-JP">
                <a:solidFill>
                  <a:srgbClr val="26303A"/>
                </a:solidFill>
                <a:latin typeface="Meiryo"/>
                <a:ea typeface="Meiryo"/>
              </a:rPr>
              <a:t>：安定性は探索空間の制限にだけ入る</a:t>
            </a:r>
          </a:p>
          <a:p>
            <a:pPr algn="l" marL="306324" indent="-306324">
              <a:lnSpc>
                <a:spcPct val="108000"/>
              </a:lnSpc>
            </a:pPr>
            <a:r>
              <a:rPr sz="1800" b="0" i="0" lang="ja-JP">
                <a:solidFill>
                  <a:srgbClr val="26303A"/>
                </a:solidFill>
                <a:latin typeface="Meiryo"/>
                <a:ea typeface="Meiryo"/>
              </a:rPr>
              <a:t>→ どちらも，安定性の高い解を作り出す操作を持たない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本研究の仮説</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1. 研究背景と仮説</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9</a:t>
            </a:r>
          </a:p>
        </p:txBody>
      </p:sp>
      <p:sp>
        <p:nvSpPr>
          <p:cNvPr id="6" name="Rounded Rectangle 5"/>
          <p:cNvSpPr/>
          <p:nvPr/>
        </p:nvSpPr>
        <p:spPr>
          <a:xfrm>
            <a:off x="585216" y="1207008"/>
            <a:ext cx="960120" cy="329184"/>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仮説 1</a:t>
            </a:r>
          </a:p>
        </p:txBody>
      </p:sp>
      <p:sp>
        <p:nvSpPr>
          <p:cNvPr id="7" name="Rounded Rectangle 6"/>
          <p:cNvSpPr/>
          <p:nvPr/>
        </p:nvSpPr>
        <p:spPr>
          <a:xfrm>
            <a:off x="566928" y="1591056"/>
            <a:ext cx="5437479" cy="1691640"/>
          </a:xfrm>
          <a:prstGeom prst="roundRect">
            <a:avLst>
              <a:gd name="adj" fmla="val 6000"/>
            </a:avLst>
          </a:prstGeom>
          <a:solidFill>
            <a:srgbClr val="EDF2F7"/>
          </a:solidFill>
          <a:ln w="1905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82496"/>
            <a:ext cx="5071719" cy="1508760"/>
          </a:xfrm>
          <a:prstGeom prst="rect">
            <a:avLst/>
          </a:prstGeom>
          <a:noFill/>
        </p:spPr>
        <p:txBody>
          <a:bodyPr wrap="square" anchor="ctr" lIns="18288" rIns="18288" tIns="68580" bIns="9144">
            <a:spAutoFit/>
          </a:bodyPr>
          <a:lstStyle/>
          <a:p>
            <a:pPr algn="l">
              <a:lnSpc>
                <a:spcPct val="112000"/>
              </a:lnSpc>
            </a:pPr>
            <a:r>
              <a:rPr sz="1800" b="0" i="0" lang="ja-JP">
                <a:solidFill>
                  <a:srgbClr val="26303A"/>
                </a:solidFill>
                <a:latin typeface="Meiryo"/>
                <a:ea typeface="Meiryo"/>
              </a:rPr>
              <a:t>交叉で 2 親の染色体を組み替える</a:t>
            </a:r>
            <a:r>
              <a:rPr sz="1800" b="1" i="0" lang="ja-JP">
                <a:solidFill>
                  <a:srgbClr val="16385C"/>
                </a:solidFill>
                <a:latin typeface="Meiryo"/>
                <a:ea typeface="Meiryo"/>
              </a:rPr>
              <a:t>多点探索</a:t>
            </a:r>
            <a:r>
              <a:rPr sz="1800" b="0" i="0" lang="ja-JP">
                <a:solidFill>
                  <a:srgbClr val="26303A"/>
                </a:solidFill>
                <a:latin typeface="Meiryo"/>
                <a:ea typeface="Meiryo"/>
              </a:rPr>
              <a:t>は，</a:t>
            </a:r>
          </a:p>
          <a:p>
            <a:pPr algn="l">
              <a:lnSpc>
                <a:spcPct val="112000"/>
              </a:lnSpc>
            </a:pPr>
            <a:r>
              <a:rPr sz="1800" b="0" i="1" lang="ja-JP">
                <a:solidFill>
                  <a:srgbClr val="26303A"/>
                </a:solidFill>
                <a:latin typeface="Meiryo"/>
                <a:ea typeface="Meiryo"/>
              </a:rPr>
              <a:t>S</a:t>
            </a:r>
            <a:r>
              <a:rPr sz="1296" b="0" i="1" lang="ja-JP" baseline="-22000">
                <a:solidFill>
                  <a:srgbClr val="26303A"/>
                </a:solidFill>
                <a:latin typeface="Meiryo"/>
                <a:ea typeface="Meiryo"/>
              </a:rPr>
              <a:t>p</a:t>
            </a:r>
            <a:r>
              <a:rPr sz="1800" b="0" i="0" lang="ja-JP">
                <a:solidFill>
                  <a:srgbClr val="26303A"/>
                </a:solidFill>
                <a:latin typeface="Meiryo"/>
                <a:ea typeface="Meiryo"/>
              </a:rPr>
              <a:t> からの小さな変更では表せない飛躍を伴う．</a:t>
            </a:r>
          </a:p>
          <a:p>
            <a:pPr algn="l">
              <a:lnSpc>
                <a:spcPct val="112000"/>
              </a:lnSpc>
            </a:pPr>
            <a:r>
              <a:rPr sz="1800" b="0" i="0" lang="ja-JP">
                <a:solidFill>
                  <a:srgbClr val="26303A"/>
                </a:solidFill>
                <a:latin typeface="Meiryo"/>
                <a:ea typeface="Meiryo"/>
              </a:rPr>
              <a:t>そのため，</a:t>
            </a:r>
            <a:r>
              <a:rPr sz="1800" b="0" i="1" lang="ja-JP">
                <a:solidFill>
                  <a:srgbClr val="26303A"/>
                </a:solidFill>
                <a:latin typeface="Meiryo"/>
                <a:ea typeface="Meiryo"/>
              </a:rPr>
              <a:t>S</a:t>
            </a:r>
            <a:r>
              <a:rPr sz="1296" b="0" i="1" lang="ja-JP" baseline="-22000">
                <a:solidFill>
                  <a:srgbClr val="26303A"/>
                </a:solidFill>
                <a:latin typeface="Meiryo"/>
                <a:ea typeface="Meiryo"/>
              </a:rPr>
              <a:t>p</a:t>
            </a:r>
            <a:r>
              <a:rPr sz="1800" b="0" i="0" lang="ja-JP">
                <a:solidFill>
                  <a:srgbClr val="26303A"/>
                </a:solidFill>
                <a:latin typeface="Meiryo"/>
                <a:ea typeface="Meiryo"/>
              </a:rPr>
              <a:t> を初期解として少しずつ変更する</a:t>
            </a:r>
          </a:p>
          <a:p>
            <a:pPr algn="l">
              <a:lnSpc>
                <a:spcPct val="112000"/>
              </a:lnSpc>
            </a:pPr>
            <a:r>
              <a:rPr sz="1800" b="1" i="0" lang="ja-JP">
                <a:solidFill>
                  <a:srgbClr val="16385C"/>
                </a:solidFill>
                <a:latin typeface="Meiryo"/>
                <a:ea typeface="Meiryo"/>
              </a:rPr>
              <a:t>単点探索</a:t>
            </a:r>
            <a:r>
              <a:rPr sz="1800" b="0" i="0" lang="ja-JP">
                <a:solidFill>
                  <a:srgbClr val="26303A"/>
                </a:solidFill>
                <a:latin typeface="Meiryo"/>
                <a:ea typeface="Meiryo"/>
              </a:rPr>
              <a:t>のほうが，</a:t>
            </a:r>
            <a:r>
              <a:rPr sz="1800" b="1" i="0" lang="ja-JP">
                <a:solidFill>
                  <a:srgbClr val="16385C"/>
                </a:solidFill>
                <a:latin typeface="Meiryo"/>
                <a:ea typeface="Meiryo"/>
              </a:rPr>
              <a:t>高安定 HV が大きい</a:t>
            </a:r>
          </a:p>
        </p:txBody>
      </p:sp>
      <p:pic>
        <p:nvPicPr>
          <p:cNvPr id="9" name="Picture 8" descr="concept_h1.png"/>
          <p:cNvPicPr>
            <a:picLocks noChangeAspect="1"/>
          </p:cNvPicPr>
          <p:nvPr/>
        </p:nvPicPr>
        <p:blipFill>
          <a:blip r:embed="rId3"/>
          <a:stretch>
            <a:fillRect/>
          </a:stretch>
        </p:blipFill>
        <p:spPr>
          <a:xfrm>
            <a:off x="1235910" y="3355848"/>
            <a:ext cx="4099513" cy="2697480"/>
          </a:xfrm>
          <a:prstGeom prst="rect">
            <a:avLst/>
          </a:prstGeom>
        </p:spPr>
      </p:pic>
      <p:sp>
        <p:nvSpPr>
          <p:cNvPr id="10" name="Rounded Rectangle 9"/>
          <p:cNvSpPr/>
          <p:nvPr/>
        </p:nvSpPr>
        <p:spPr>
          <a:xfrm>
            <a:off x="6205575" y="1207008"/>
            <a:ext cx="960120" cy="329184"/>
          </a:xfrm>
          <a:prstGeom prst="roundRect">
            <a:avLst>
              <a:gd name="adj" fmla="val 4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仮説 2</a:t>
            </a:r>
          </a:p>
        </p:txBody>
      </p:sp>
      <p:sp>
        <p:nvSpPr>
          <p:cNvPr id="11" name="Rounded Rectangle 10"/>
          <p:cNvSpPr/>
          <p:nvPr/>
        </p:nvSpPr>
        <p:spPr>
          <a:xfrm>
            <a:off x="6187287" y="1591056"/>
            <a:ext cx="5437479" cy="1691640"/>
          </a:xfrm>
          <a:prstGeom prst="roundRect">
            <a:avLst>
              <a:gd name="adj" fmla="val 6000"/>
            </a:avLst>
          </a:prstGeom>
          <a:solidFill>
            <a:srgbClr val="EDF2F7"/>
          </a:solidFill>
          <a:ln w="1905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1682496"/>
            <a:ext cx="5071719" cy="1508760"/>
          </a:xfrm>
          <a:prstGeom prst="rect">
            <a:avLst/>
          </a:prstGeom>
          <a:noFill/>
        </p:spPr>
        <p:txBody>
          <a:bodyPr wrap="square" anchor="ctr" lIns="18288" rIns="18288" tIns="68580" bIns="9144">
            <a:spAutoFit/>
          </a:bodyPr>
          <a:lstStyle/>
          <a:p>
            <a:pPr algn="l">
              <a:lnSpc>
                <a:spcPct val="112000"/>
              </a:lnSpc>
            </a:pPr>
            <a:r>
              <a:rPr sz="1800" b="0" i="0" lang="ja-JP">
                <a:solidFill>
                  <a:srgbClr val="26303A"/>
                </a:solidFill>
                <a:latin typeface="Meiryo"/>
                <a:ea typeface="Meiryo"/>
              </a:rPr>
              <a:t>多点探索に，解を </a:t>
            </a:r>
            <a:r>
              <a:rPr sz="1800" b="0" i="1" lang="ja-JP">
                <a:solidFill>
                  <a:srgbClr val="26303A"/>
                </a:solidFill>
                <a:latin typeface="Meiryo"/>
                <a:ea typeface="Meiryo"/>
              </a:rPr>
              <a:t>S</a:t>
            </a:r>
            <a:r>
              <a:rPr sz="1296" b="0" i="1" lang="ja-JP" baseline="-22000">
                <a:solidFill>
                  <a:srgbClr val="26303A"/>
                </a:solidFill>
                <a:latin typeface="Meiryo"/>
                <a:ea typeface="Meiryo"/>
              </a:rPr>
              <a:t>p</a:t>
            </a:r>
            <a:r>
              <a:rPr sz="1800" b="0" i="0" lang="ja-JP">
                <a:solidFill>
                  <a:srgbClr val="26303A"/>
                </a:solidFill>
                <a:latin typeface="Meiryo"/>
                <a:ea typeface="Meiryo"/>
              </a:rPr>
              <a:t> に近づける移動</a:t>
            </a:r>
          </a:p>
          <a:p>
            <a:pPr algn="l">
              <a:lnSpc>
                <a:spcPct val="112000"/>
              </a:lnSpc>
            </a:pPr>
            <a:r>
              <a:rPr sz="1800" b="0" i="0" lang="ja-JP">
                <a:solidFill>
                  <a:srgbClr val="26303A"/>
                </a:solidFill>
                <a:latin typeface="Meiryo"/>
                <a:ea typeface="Meiryo"/>
              </a:rPr>
              <a:t>（</a:t>
            </a:r>
            <a:r>
              <a:rPr sz="1800" b="1" i="0" lang="ja-JP">
                <a:solidFill>
                  <a:srgbClr val="16385C"/>
                </a:solidFill>
                <a:latin typeface="Meiryo"/>
                <a:ea typeface="Meiryo"/>
              </a:rPr>
              <a:t>安定性誘導演算子</a:t>
            </a:r>
            <a:r>
              <a:rPr sz="1800" b="0" i="0" lang="ja-JP">
                <a:solidFill>
                  <a:srgbClr val="26303A"/>
                </a:solidFill>
                <a:latin typeface="Meiryo"/>
                <a:ea typeface="Meiryo"/>
              </a:rPr>
              <a:t>）を組み込めば，</a:t>
            </a:r>
          </a:p>
          <a:p>
            <a:pPr algn="l">
              <a:lnSpc>
                <a:spcPct val="112000"/>
              </a:lnSpc>
            </a:pPr>
            <a:r>
              <a:rPr sz="1800" b="0" i="0" lang="ja-JP">
                <a:solidFill>
                  <a:srgbClr val="26303A"/>
                </a:solidFill>
                <a:latin typeface="Meiryo"/>
                <a:ea typeface="Meiryo"/>
              </a:rPr>
              <a:t>その経路上に変更量の小さい解が現れるため，</a:t>
            </a:r>
          </a:p>
          <a:p>
            <a:pPr algn="l">
              <a:lnSpc>
                <a:spcPct val="112000"/>
              </a:lnSpc>
            </a:pPr>
            <a:r>
              <a:rPr sz="1800" b="1" i="0" lang="ja-JP">
                <a:solidFill>
                  <a:srgbClr val="16385C"/>
                </a:solidFill>
                <a:latin typeface="Meiryo"/>
                <a:ea typeface="Meiryo"/>
              </a:rPr>
              <a:t>多点探索の高安定 HV は向上する</a:t>
            </a:r>
          </a:p>
        </p:txBody>
      </p:sp>
      <p:pic>
        <p:nvPicPr>
          <p:cNvPr id="13" name="Picture 12" descr="concept_h2.png"/>
          <p:cNvPicPr>
            <a:picLocks noChangeAspect="1"/>
          </p:cNvPicPr>
          <p:nvPr/>
        </p:nvPicPr>
        <p:blipFill>
          <a:blip r:embed="rId4"/>
          <a:stretch>
            <a:fillRect/>
          </a:stretch>
        </p:blipFill>
        <p:spPr>
          <a:xfrm>
            <a:off x="6856270" y="3355848"/>
            <a:ext cx="4099513" cy="2697480"/>
          </a:xfrm>
          <a:prstGeom prst="rect">
            <a:avLst/>
          </a:prstGeom>
        </p:spPr>
      </p:pic>
      <p:sp>
        <p:nvSpPr>
          <p:cNvPr id="14" name="TextBox 13"/>
          <p:cNvSpPr txBox="1"/>
          <p:nvPr/>
        </p:nvSpPr>
        <p:spPr>
          <a:xfrm>
            <a:off x="566928" y="6108192"/>
            <a:ext cx="11057839" cy="292608"/>
          </a:xfrm>
          <a:prstGeom prst="rect">
            <a:avLst/>
          </a:prstGeom>
          <a:noFill/>
        </p:spPr>
        <p:txBody>
          <a:bodyPr wrap="square" anchor="ctr" lIns="18288" rIns="18288" tIns="58674" bIns="9144">
            <a:spAutoFit/>
          </a:bodyPr>
          <a:lstStyle/>
          <a:p>
            <a:pPr algn="ctr">
              <a:lnSpc>
                <a:spcPct val="105000"/>
              </a:lnSpc>
            </a:pPr>
            <a:r>
              <a:rPr sz="1500" b="0" i="0" lang="ja-JP">
                <a:solidFill>
                  <a:srgbClr val="6E7A88"/>
                </a:solidFill>
                <a:latin typeface="Meiryo"/>
                <a:ea typeface="Meiryo"/>
              </a:rPr>
              <a:t>主眼は最先端手法との性能競争ではなく，条件を統制して探索構造と演算子の関係を切り分けること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研究背景と仮説</a:t>
            </a:r>
          </a:p>
        </p:txBody>
      </p:sp>
      <p:sp>
        <p:nvSpPr>
          <p:cNvPr id="5" name="Rounded Rectangle 4"/>
          <p:cNvSpPr/>
          <p:nvPr/>
        </p:nvSpPr>
        <p:spPr>
          <a:xfrm>
            <a:off x="1737360" y="242316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2468879"/>
            <a:ext cx="914400" cy="868680"/>
          </a:xfrm>
          <a:prstGeom prst="rect">
            <a:avLst/>
          </a:prstGeom>
          <a:noFill/>
        </p:spPr>
        <p:txBody>
          <a:bodyPr wrap="square" anchor="ctr" lIns="18288" rIns="18288" tIns="141224" bIns="9144">
            <a:spAutoFit/>
          </a:bodyPr>
          <a:lstStyle/>
          <a:p>
            <a:r>
              <a:rPr sz="4000" b="1" i="0" lang="ja-JP">
                <a:solidFill>
                  <a:srgbClr val="FFFFFF"/>
                </a:solidFill>
                <a:latin typeface="Meiryo"/>
                <a:ea typeface="Meiryo"/>
              </a:rPr>
              <a:t>2</a:t>
            </a:r>
          </a:p>
        </p:txBody>
      </p:sp>
      <p:sp>
        <p:nvSpPr>
          <p:cNvPr id="7" name="TextBox 6"/>
          <p:cNvSpPr txBox="1"/>
          <p:nvPr/>
        </p:nvSpPr>
        <p:spPr>
          <a:xfrm>
            <a:off x="3017520" y="2468879"/>
            <a:ext cx="7162495" cy="868680"/>
          </a:xfrm>
          <a:prstGeom prst="rect">
            <a:avLst/>
          </a:prstGeom>
          <a:noFill/>
        </p:spPr>
        <p:txBody>
          <a:bodyPr wrap="square" anchor="ctr" lIns="18288" rIns="18288" tIns="94996" bIns="9144">
            <a:spAutoFit/>
          </a:bodyPr>
          <a:lstStyle/>
          <a:p>
            <a:r>
              <a:rPr sz="2600" b="1" i="0" lang="ja-JP">
                <a:solidFill>
                  <a:srgbClr val="FFFFFF"/>
                </a:solidFill>
                <a:latin typeface="Meiryo"/>
                <a:ea typeface="Meiryo"/>
              </a:rPr>
              <a:t>問題設定と実験計画</a:t>
            </a:r>
          </a:p>
          <a:p>
            <a:pPr>
              <a:spcBef>
                <a:spcPts val="400"/>
              </a:spcBef>
            </a:pPr>
            <a:r>
              <a:rPr sz="1300" b="0" i="0" lang="ja-JP">
                <a:solidFill>
                  <a:srgbClr val="AFC2D8"/>
                </a:solidFill>
                <a:latin typeface="Meiryo"/>
                <a:ea typeface="Meiryo"/>
              </a:rPr>
              <a:t>問題設定・探索構造・安定性誘導演算子・仮説の判定</a:t>
            </a:r>
          </a:p>
        </p:txBody>
      </p:sp>
      <p:sp>
        <p:nvSpPr>
          <p:cNvPr id="8" name="TextBox 7"/>
          <p:cNvSpPr txBox="1"/>
          <p:nvPr/>
        </p:nvSpPr>
        <p:spPr>
          <a:xfrm>
            <a:off x="2011680" y="3520439"/>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数値実験</a:t>
            </a:r>
          </a:p>
        </p:txBody>
      </p:sp>
      <p:sp>
        <p:nvSpPr>
          <p:cNvPr id="10" name="TextBox 9"/>
          <p:cNvSpPr txBox="1"/>
          <p:nvPr/>
        </p:nvSpPr>
        <p:spPr>
          <a:xfrm>
            <a:off x="2011680" y="4572000"/>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AFC2D8"/>
                </a:solidFill>
                <a:latin typeface="Meiryo"/>
                <a:ea typeface="Meiry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問題設定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2. 問題設定と実験計画</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11</a:t>
            </a:r>
          </a:p>
        </p:txBody>
      </p:sp>
      <p:sp>
        <p:nvSpPr>
          <p:cNvPr id="6" name="TextBox 5"/>
          <p:cNvSpPr txBox="1"/>
          <p:nvPr/>
        </p:nvSpPr>
        <p:spPr>
          <a:xfrm>
            <a:off x="566928" y="1298448"/>
            <a:ext cx="6035040"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0" i="1" lang="ja-JP">
                <a:solidFill>
                  <a:srgbClr val="26303A"/>
                </a:solidFill>
                <a:latin typeface="Meiryo"/>
                <a:ea typeface="Meiryo"/>
              </a:rPr>
              <a:t>n</a:t>
            </a:r>
            <a:r>
              <a:rPr sz="1800" b="0" i="0" lang="ja-JP">
                <a:solidFill>
                  <a:srgbClr val="26303A"/>
                </a:solidFill>
                <a:latin typeface="Meiryo"/>
                <a:ea typeface="Meiryo"/>
              </a:rPr>
              <a:t> ジョブ・</a:t>
            </a:r>
            <a:r>
              <a:rPr sz="1800" b="0" i="1" lang="ja-JP">
                <a:solidFill>
                  <a:srgbClr val="26303A"/>
                </a:solidFill>
                <a:latin typeface="Meiryo"/>
                <a:ea typeface="Meiryo"/>
              </a:rPr>
              <a:t>m</a:t>
            </a:r>
            <a:r>
              <a:rPr sz="1800" b="0" i="0" lang="ja-JP">
                <a:solidFill>
                  <a:srgbClr val="26303A"/>
                </a:solidFill>
                <a:latin typeface="Meiryo"/>
                <a:ea typeface="Meiryo"/>
              </a:rPr>
              <a:t> 機械のジョブショップ問題（JSP）に，</a:t>
            </a:r>
            <a:br/>
            <a:r>
              <a:rPr sz="1800" b="0" i="0" lang="ja-JP">
                <a:solidFill>
                  <a:srgbClr val="26303A"/>
                </a:solidFill>
                <a:latin typeface="Meiryo"/>
                <a:ea typeface="Meiryo"/>
              </a:rPr>
              <a:t>単一作業の遅延（遅延量 </a:t>
            </a:r>
            <a:r>
              <a:rPr sz="1800" b="0" i="1" lang="ja-JP">
                <a:solidFill>
                  <a:srgbClr val="26303A"/>
                </a:solidFill>
                <a:latin typeface="Meiryo"/>
                <a:ea typeface="Meiryo"/>
              </a:rPr>
              <a:t>Δ</a:t>
            </a:r>
            <a:r>
              <a:rPr sz="1800" b="0" i="0" lang="ja-JP">
                <a:solidFill>
                  <a:srgbClr val="26303A"/>
                </a:solidFill>
                <a:latin typeface="Meiryo"/>
                <a:ea typeface="Meiryo"/>
              </a:rPr>
              <a:t>）が発生</a:t>
            </a:r>
          </a:p>
          <a:p>
            <a:pPr marL="243596" indent="-243596">
              <a:lnSpc>
                <a:spcPct val="108000"/>
              </a:lnSpc>
              <a:spcBef>
                <a:spcPts val="1200"/>
              </a:spcBef>
            </a:pPr>
            <a:r>
              <a:rPr sz="1440" b="1" i="0" lang="ja-JP">
                <a:solidFill>
                  <a:srgbClr val="16385C"/>
                </a:solidFill>
                <a:latin typeface="Meiryo"/>
                <a:ea typeface="Meiryo"/>
              </a:rPr>
              <a:t>▪ </a:t>
            </a:r>
            <a:r>
              <a:rPr sz="1800" b="0" i="0" lang="ja-JP">
                <a:solidFill>
                  <a:srgbClr val="26303A"/>
                </a:solidFill>
                <a:latin typeface="Meiryo"/>
                <a:ea typeface="Meiryo"/>
              </a:rPr>
              <a:t>再スケジューリング時刻 </a:t>
            </a:r>
            <a:r>
              <a:rPr sz="1800" b="0" i="1" lang="ja-JP">
                <a:solidFill>
                  <a:srgbClr val="26303A"/>
                </a:solidFill>
                <a:latin typeface="Meiryo"/>
                <a:ea typeface="Meiryo"/>
              </a:rPr>
              <a:t>t</a:t>
            </a:r>
            <a:r>
              <a:rPr sz="1296" b="0" i="1" lang="ja-JP" baseline="-22000">
                <a:solidFill>
                  <a:srgbClr val="26303A"/>
                </a:solidFill>
                <a:latin typeface="Meiryo"/>
                <a:ea typeface="Meiryo"/>
              </a:rPr>
              <a:t>r</a:t>
            </a:r>
            <a:r>
              <a:rPr sz="1800" b="0" i="0" lang="ja-JP">
                <a:solidFill>
                  <a:srgbClr val="26303A"/>
                </a:solidFill>
                <a:latin typeface="Meiryo"/>
                <a:ea typeface="Meiryo"/>
              </a:rPr>
              <a:t> より前に開始した作業は</a:t>
            </a:r>
            <a:br/>
            <a:r>
              <a:rPr sz="1800" b="0" i="0" lang="ja-JP">
                <a:solidFill>
                  <a:srgbClr val="26303A"/>
                </a:solidFill>
                <a:latin typeface="Meiryo"/>
                <a:ea typeface="Meiryo"/>
              </a:rPr>
              <a:t>凍結し，以降の作業集合 </a:t>
            </a:r>
            <a:r>
              <a:rPr sz="1800" b="0" i="1" lang="ja-JP">
                <a:solidFill>
                  <a:srgbClr val="26303A"/>
                </a:solidFill>
                <a:latin typeface="Meiryo"/>
                <a:ea typeface="Meiryo"/>
              </a:rPr>
              <a:t>O</a:t>
            </a:r>
            <a:r>
              <a:rPr sz="1296" b="0" i="1" lang="ja-JP" baseline="-22000">
                <a:solidFill>
                  <a:srgbClr val="26303A"/>
                </a:solidFill>
                <a:latin typeface="Meiryo"/>
                <a:ea typeface="Meiryo"/>
              </a:rPr>
              <a:t>opt</a:t>
            </a:r>
            <a:r>
              <a:rPr sz="1800" b="0" i="0" lang="ja-JP">
                <a:solidFill>
                  <a:srgbClr val="26303A"/>
                </a:solidFill>
                <a:latin typeface="Meiryo"/>
                <a:ea typeface="Meiryo"/>
              </a:rPr>
              <a:t> の</a:t>
            </a:r>
            <a:r>
              <a:rPr sz="1800" b="1" i="0" lang="ja-JP">
                <a:solidFill>
                  <a:srgbClr val="16385C"/>
                </a:solidFill>
                <a:latin typeface="Meiryo"/>
                <a:ea typeface="Meiryo"/>
              </a:rPr>
              <a:t>機械ごとの処理順序</a:t>
            </a:r>
            <a:br/>
            <a:r>
              <a:rPr sz="1800" b="0" i="0" lang="ja-JP">
                <a:solidFill>
                  <a:srgbClr val="26303A"/>
                </a:solidFill>
                <a:latin typeface="Meiryo"/>
                <a:ea typeface="Meiryo"/>
              </a:rPr>
              <a:t>を決定変数とする</a:t>
            </a:r>
          </a:p>
        </p:txBody>
      </p:sp>
      <p:sp>
        <p:nvSpPr>
          <p:cNvPr id="7" name="Rectangle 6"/>
          <p:cNvSpPr/>
          <p:nvPr/>
        </p:nvSpPr>
        <p:spPr>
          <a:xfrm>
            <a:off x="566928" y="3108960"/>
            <a:ext cx="6035040"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328416"/>
            <a:ext cx="6035040"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0" i="0" lang="ja-JP">
                <a:solidFill>
                  <a:srgbClr val="26303A"/>
                </a:solidFill>
                <a:latin typeface="Meiryo"/>
                <a:ea typeface="Meiryo"/>
              </a:rPr>
              <a:t>安定性は</a:t>
            </a:r>
            <a:r>
              <a:rPr sz="1800" b="1" i="0" lang="ja-JP">
                <a:solidFill>
                  <a:srgbClr val="16385C"/>
                </a:solidFill>
                <a:latin typeface="Meiryo"/>
                <a:ea typeface="Meiryo"/>
              </a:rPr>
              <a:t>処理順序の変更量</a:t>
            </a:r>
            <a:r>
              <a:rPr sz="1800" b="0" i="0" lang="ja-JP">
                <a:solidFill>
                  <a:srgbClr val="26303A"/>
                </a:solidFill>
                <a:latin typeface="Meiryo"/>
                <a:ea typeface="Meiryo"/>
              </a:rPr>
              <a:t>で測る（順序偏差 </a:t>
            </a:r>
            <a:r>
              <a:rPr sz="1800" b="0" i="1" lang="ja-JP">
                <a:solidFill>
                  <a:srgbClr val="26303A"/>
                </a:solidFill>
                <a:latin typeface="Meiryo"/>
                <a:ea typeface="Meiryo"/>
              </a:rPr>
              <a:t>D</a:t>
            </a:r>
            <a:r>
              <a:rPr sz="1800" b="0" i="0" lang="ja-JP">
                <a:solidFill>
                  <a:srgbClr val="26303A"/>
                </a:solidFill>
                <a:latin typeface="Meiryo"/>
                <a:ea typeface="Meiryo"/>
              </a:rPr>
              <a:t>）</a:t>
            </a:r>
          </a:p>
        </p:txBody>
      </p:sp>
      <p:pic>
        <p:nvPicPr>
          <p:cNvPr id="9" name="Picture 8" descr="eq_talk_D.png"/>
          <p:cNvPicPr>
            <a:picLocks noChangeAspect="1"/>
          </p:cNvPicPr>
          <p:nvPr/>
        </p:nvPicPr>
        <p:blipFill>
          <a:blip r:embed="rId3"/>
          <a:stretch>
            <a:fillRect/>
          </a:stretch>
        </p:blipFill>
        <p:spPr>
          <a:xfrm>
            <a:off x="1885896" y="3840480"/>
            <a:ext cx="3397102" cy="685800"/>
          </a:xfrm>
          <a:prstGeom prst="rect">
            <a:avLst/>
          </a:prstGeom>
        </p:spPr>
      </p:pic>
      <p:sp>
        <p:nvSpPr>
          <p:cNvPr id="10" name="TextBox 9"/>
          <p:cNvSpPr txBox="1"/>
          <p:nvPr/>
        </p:nvSpPr>
        <p:spPr>
          <a:xfrm>
            <a:off x="5961888" y="4046220"/>
            <a:ext cx="640080" cy="274320"/>
          </a:xfrm>
          <a:prstGeom prst="rect">
            <a:avLst/>
          </a:prstGeom>
          <a:noFill/>
        </p:spPr>
        <p:txBody>
          <a:bodyPr wrap="square" anchor="t" lIns="18288" rIns="18288" tIns="9144" bIns="9144">
            <a:spAutoFit/>
          </a:bodyPr>
          <a:lstStyle/>
          <a:p>
            <a:pPr algn="r"/>
            <a:r>
              <a:rPr sz="1500" b="0" i="0" lang="ja-JP">
                <a:solidFill>
                  <a:srgbClr val="26303A"/>
                </a:solidFill>
                <a:latin typeface="Meiryo"/>
                <a:ea typeface="Meiryo"/>
              </a:rPr>
              <a:t>(1)</a:t>
            </a:r>
          </a:p>
        </p:txBody>
      </p:sp>
      <p:sp>
        <p:nvSpPr>
          <p:cNvPr id="11" name="TextBox 10"/>
          <p:cNvSpPr txBox="1"/>
          <p:nvPr/>
        </p:nvSpPr>
        <p:spPr>
          <a:xfrm>
            <a:off x="841247" y="4617720"/>
            <a:ext cx="5760720" cy="292608"/>
          </a:xfrm>
          <a:prstGeom prst="rect">
            <a:avLst/>
          </a:prstGeom>
          <a:noFill/>
        </p:spPr>
        <p:txBody>
          <a:bodyPr wrap="square" anchor="t" lIns="18288" rIns="18288" tIns="9144" bIns="9144">
            <a:spAutoFit/>
          </a:bodyPr>
          <a:lstStyle/>
          <a:p>
            <a:pPr algn="l">
              <a:lnSpc>
                <a:spcPct val="105000"/>
              </a:lnSpc>
            </a:pPr>
            <a:r>
              <a:rPr sz="1500" b="0" i="1" lang="ja-JP">
                <a:solidFill>
                  <a:srgbClr val="6E7A88"/>
                </a:solidFill>
                <a:latin typeface="Meiryo"/>
                <a:ea typeface="Meiryo"/>
              </a:rPr>
              <a:t>r</a:t>
            </a:r>
            <a:r>
              <a:rPr sz="1080" b="0" i="1" lang="ja-JP" baseline="-22000">
                <a:solidFill>
                  <a:srgbClr val="6E7A88"/>
                </a:solidFill>
                <a:latin typeface="Meiryo"/>
                <a:ea typeface="Meiryo"/>
              </a:rPr>
              <a:t>i,j</a:t>
            </a:r>
            <a:r>
              <a:rPr sz="1500" b="0" i="0" lang="ja-JP">
                <a:solidFill>
                  <a:srgbClr val="6E7A88"/>
                </a:solidFill>
                <a:latin typeface="Meiryo"/>
                <a:ea typeface="Meiryo"/>
              </a:rPr>
              <a:t>：機械 </a:t>
            </a:r>
            <a:r>
              <a:rPr sz="1500" b="0" i="1" lang="ja-JP">
                <a:solidFill>
                  <a:srgbClr val="6E7A88"/>
                </a:solidFill>
                <a:latin typeface="Meiryo"/>
                <a:ea typeface="Meiryo"/>
              </a:rPr>
              <a:t>i</a:t>
            </a:r>
            <a:r>
              <a:rPr sz="1500" b="0" i="0" lang="ja-JP">
                <a:solidFill>
                  <a:srgbClr val="6E7A88"/>
                </a:solidFill>
                <a:latin typeface="Meiryo"/>
                <a:ea typeface="Meiryo"/>
              </a:rPr>
              <a:t> におけるジョブ </a:t>
            </a:r>
            <a:r>
              <a:rPr sz="1500" b="0" i="1" lang="ja-JP">
                <a:solidFill>
                  <a:srgbClr val="6E7A88"/>
                </a:solidFill>
                <a:latin typeface="Meiryo"/>
                <a:ea typeface="Meiryo"/>
              </a:rPr>
              <a:t>j</a:t>
            </a:r>
            <a:r>
              <a:rPr sz="1500" b="0" i="0" lang="ja-JP">
                <a:solidFill>
                  <a:srgbClr val="6E7A88"/>
                </a:solidFill>
                <a:latin typeface="Meiryo"/>
                <a:ea typeface="Meiryo"/>
              </a:rPr>
              <a:t> の処理順位</a:t>
            </a:r>
          </a:p>
        </p:txBody>
      </p:sp>
      <p:sp>
        <p:nvSpPr>
          <p:cNvPr id="12" name="Rectangle 11"/>
          <p:cNvSpPr/>
          <p:nvPr/>
        </p:nvSpPr>
        <p:spPr>
          <a:xfrm>
            <a:off x="566928" y="5093208"/>
            <a:ext cx="6035040"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5276088"/>
            <a:ext cx="6035040"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0" i="0" lang="ja-JP">
                <a:solidFill>
                  <a:srgbClr val="26303A"/>
                </a:solidFill>
                <a:latin typeface="Meiryo"/>
                <a:ea typeface="Meiryo"/>
              </a:rPr>
              <a:t>二目的（</a:t>
            </a:r>
            <a:r>
              <a:rPr sz="1800" b="0" i="1" lang="ja-JP">
                <a:solidFill>
                  <a:srgbClr val="26303A"/>
                </a:solidFill>
                <a:latin typeface="Meiryo"/>
                <a:ea typeface="Meiryo"/>
              </a:rPr>
              <a:t>MS</a:t>
            </a:r>
            <a:r>
              <a:rPr sz="1800" b="0" i="0" lang="ja-JP">
                <a:solidFill>
                  <a:srgbClr val="26303A"/>
                </a:solidFill>
                <a:latin typeface="Meiryo"/>
                <a:ea typeface="Meiryo"/>
              </a:rPr>
              <a:t>, </a:t>
            </a:r>
            <a:r>
              <a:rPr sz="1800" b="0" i="1" lang="ja-JP">
                <a:solidFill>
                  <a:srgbClr val="26303A"/>
                </a:solidFill>
                <a:latin typeface="Meiryo"/>
                <a:ea typeface="Meiryo"/>
              </a:rPr>
              <a:t>D</a:t>
            </a:r>
            <a:r>
              <a:rPr sz="1800" b="0" i="0" lang="ja-JP">
                <a:solidFill>
                  <a:srgbClr val="26303A"/>
                </a:solidFill>
                <a:latin typeface="Meiryo"/>
                <a:ea typeface="Meiryo"/>
              </a:rPr>
              <a:t>）は重み付き和 </a:t>
            </a:r>
            <a:r>
              <a:rPr sz="1800" b="0" i="1" lang="ja-JP">
                <a:solidFill>
                  <a:srgbClr val="26303A"/>
                </a:solidFill>
                <a:latin typeface="Meiryo"/>
                <a:ea typeface="Meiryo"/>
              </a:rPr>
              <a:t>F</a:t>
            </a:r>
            <a:r>
              <a:rPr sz="1800" b="0" i="0" lang="ja-JP">
                <a:solidFill>
                  <a:srgbClr val="26303A"/>
                </a:solidFill>
                <a:latin typeface="Meiryo"/>
                <a:ea typeface="Meiryo"/>
              </a:rPr>
              <a:t> にまとめ，重み </a:t>
            </a:r>
            <a:r>
              <a:rPr sz="1800" b="0" i="1" lang="ja-JP">
                <a:solidFill>
                  <a:srgbClr val="26303A"/>
                </a:solidFill>
                <a:latin typeface="Meiryo"/>
                <a:ea typeface="Meiryo"/>
              </a:rPr>
              <a:t>λ</a:t>
            </a:r>
            <a:r>
              <a:rPr sz="1800" b="0" i="0" lang="ja-JP">
                <a:solidFill>
                  <a:srgbClr val="26303A"/>
                </a:solidFill>
                <a:latin typeface="Meiryo"/>
                <a:ea typeface="Meiryo"/>
              </a:rPr>
              <a:t> を</a:t>
            </a:r>
            <a:br/>
            <a:r>
              <a:rPr sz="1800" b="0" i="0" lang="ja-JP">
                <a:solidFill>
                  <a:srgbClr val="26303A"/>
                </a:solidFill>
                <a:latin typeface="Meiryo"/>
                <a:ea typeface="Meiryo"/>
              </a:rPr>
              <a:t>生産効率重視から安定性重視まで掃引し，得られた</a:t>
            </a:r>
            <a:br/>
            <a:r>
              <a:rPr sz="1800" b="0" i="0" lang="ja-JP">
                <a:solidFill>
                  <a:srgbClr val="26303A"/>
                </a:solidFill>
                <a:latin typeface="Meiryo"/>
                <a:ea typeface="Meiryo"/>
              </a:rPr>
              <a:t>全非劣解で評価する</a:t>
            </a:r>
          </a:p>
        </p:txBody>
      </p:sp>
      <p:sp>
        <p:nvSpPr>
          <p:cNvPr id="14" name="Rounded Rectangle 13"/>
          <p:cNvSpPr/>
          <p:nvPr/>
        </p:nvSpPr>
        <p:spPr>
          <a:xfrm>
            <a:off x="7086600" y="1207008"/>
            <a:ext cx="4526280" cy="512064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0" y="1316736"/>
            <a:ext cx="4069080" cy="384048"/>
          </a:xfrm>
          <a:prstGeom prst="rect">
            <a:avLst/>
          </a:prstGeom>
          <a:noFill/>
        </p:spPr>
        <p:txBody>
          <a:bodyPr wrap="square" anchor="t" lIns="18288" rIns="18288" tIns="9144" bIns="9144">
            <a:spAutoFit/>
          </a:bodyPr>
          <a:lstStyle/>
          <a:p>
            <a:pPr algn="l">
              <a:lnSpc>
                <a:spcPct val="105000"/>
              </a:lnSpc>
            </a:pPr>
            <a:r>
              <a:rPr sz="1800" b="1" i="0" lang="ja-JP">
                <a:solidFill>
                  <a:srgbClr val="16385C"/>
                </a:solidFill>
                <a:latin typeface="Meiryo"/>
                <a:ea typeface="Meiryo"/>
              </a:rPr>
              <a:t>例：ある機械の処理順序</a:t>
            </a:r>
          </a:p>
        </p:txBody>
      </p:sp>
      <p:sp>
        <p:nvSpPr>
          <p:cNvPr id="16" name="TextBox 15"/>
          <p:cNvSpPr txBox="1"/>
          <p:nvPr/>
        </p:nvSpPr>
        <p:spPr>
          <a:xfrm>
            <a:off x="7315200" y="2441448"/>
            <a:ext cx="640080" cy="548640"/>
          </a:xfrm>
          <a:prstGeom prst="rect">
            <a:avLst/>
          </a:prstGeom>
          <a:noFill/>
        </p:spPr>
        <p:txBody>
          <a:bodyPr wrap="square" anchor="ctr" lIns="18288" rIns="18288" tIns="68580" bIns="9144">
            <a:spAutoFit/>
          </a:bodyPr>
          <a:lstStyle/>
          <a:p>
            <a:pPr algn="l">
              <a:lnSpc>
                <a:spcPct val="105000"/>
              </a:lnSpc>
            </a:pPr>
            <a:r>
              <a:rPr sz="1800" b="1" i="1" lang="ja-JP">
                <a:solidFill>
                  <a:srgbClr val="26303A"/>
                </a:solidFill>
                <a:latin typeface="Meiryo"/>
                <a:ea typeface="Meiryo"/>
              </a:rPr>
              <a:t>S</a:t>
            </a:r>
            <a:r>
              <a:rPr sz="1296" b="1" i="1" lang="ja-JP" baseline="-22000">
                <a:solidFill>
                  <a:srgbClr val="26303A"/>
                </a:solidFill>
                <a:latin typeface="Meiryo"/>
                <a:ea typeface="Meiryo"/>
              </a:rPr>
              <a:t>p</a:t>
            </a:r>
          </a:p>
        </p:txBody>
      </p:sp>
      <p:sp>
        <p:nvSpPr>
          <p:cNvPr id="17" name="Rounded Rectangle 16"/>
          <p:cNvSpPr/>
          <p:nvPr/>
        </p:nvSpPr>
        <p:spPr>
          <a:xfrm>
            <a:off x="8001000" y="2441448"/>
            <a:ext cx="749808" cy="54864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18" name="TextBox 17"/>
          <p:cNvSpPr txBox="1"/>
          <p:nvPr/>
        </p:nvSpPr>
        <p:spPr>
          <a:xfrm>
            <a:off x="7955279" y="2103120"/>
            <a:ext cx="841247" cy="292608"/>
          </a:xfrm>
          <a:prstGeom prst="rect">
            <a:avLst/>
          </a:prstGeom>
          <a:noFill/>
        </p:spPr>
        <p:txBody>
          <a:bodyPr wrap="square" anchor="t" lIns="18288" rIns="18288" tIns="9144" bIns="9144">
            <a:spAutoFit/>
          </a:bodyPr>
          <a:lstStyle/>
          <a:p>
            <a:pPr algn="ctr">
              <a:lnSpc>
                <a:spcPct val="105000"/>
              </a:lnSpc>
            </a:pPr>
            <a:r>
              <a:rPr sz="1500" b="0" i="0" lang="ja-JP">
                <a:solidFill>
                  <a:srgbClr val="6E7A88"/>
                </a:solidFill>
                <a:latin typeface="Meiryo"/>
                <a:ea typeface="Meiryo"/>
              </a:rPr>
              <a:t>1番目</a:t>
            </a:r>
          </a:p>
        </p:txBody>
      </p:sp>
      <p:sp>
        <p:nvSpPr>
          <p:cNvPr id="19" name="Rounded Rectangle 18"/>
          <p:cNvSpPr/>
          <p:nvPr/>
        </p:nvSpPr>
        <p:spPr>
          <a:xfrm>
            <a:off x="8860536" y="2441448"/>
            <a:ext cx="749808" cy="54864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20" name="TextBox 19"/>
          <p:cNvSpPr txBox="1"/>
          <p:nvPr/>
        </p:nvSpPr>
        <p:spPr>
          <a:xfrm>
            <a:off x="8814815" y="2103120"/>
            <a:ext cx="841247" cy="292608"/>
          </a:xfrm>
          <a:prstGeom prst="rect">
            <a:avLst/>
          </a:prstGeom>
          <a:noFill/>
        </p:spPr>
        <p:txBody>
          <a:bodyPr wrap="square" anchor="t" lIns="18288" rIns="18288" tIns="9144" bIns="9144">
            <a:spAutoFit/>
          </a:bodyPr>
          <a:lstStyle/>
          <a:p>
            <a:pPr algn="ctr">
              <a:lnSpc>
                <a:spcPct val="105000"/>
              </a:lnSpc>
            </a:pPr>
            <a:r>
              <a:rPr sz="1500" b="0" i="0" lang="ja-JP">
                <a:solidFill>
                  <a:srgbClr val="6E7A88"/>
                </a:solidFill>
                <a:latin typeface="Meiryo"/>
                <a:ea typeface="Meiryo"/>
              </a:rPr>
              <a:t>2番目</a:t>
            </a:r>
          </a:p>
        </p:txBody>
      </p:sp>
      <p:sp>
        <p:nvSpPr>
          <p:cNvPr id="21" name="Rounded Rectangle 20"/>
          <p:cNvSpPr/>
          <p:nvPr/>
        </p:nvSpPr>
        <p:spPr>
          <a:xfrm>
            <a:off x="9720072" y="2441448"/>
            <a:ext cx="749808" cy="54864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22" name="TextBox 21"/>
          <p:cNvSpPr txBox="1"/>
          <p:nvPr/>
        </p:nvSpPr>
        <p:spPr>
          <a:xfrm>
            <a:off x="9674351" y="2103120"/>
            <a:ext cx="841247" cy="292608"/>
          </a:xfrm>
          <a:prstGeom prst="rect">
            <a:avLst/>
          </a:prstGeom>
          <a:noFill/>
        </p:spPr>
        <p:txBody>
          <a:bodyPr wrap="square" anchor="t" lIns="18288" rIns="18288" tIns="9144" bIns="9144">
            <a:spAutoFit/>
          </a:bodyPr>
          <a:lstStyle/>
          <a:p>
            <a:pPr algn="ctr">
              <a:lnSpc>
                <a:spcPct val="105000"/>
              </a:lnSpc>
            </a:pPr>
            <a:r>
              <a:rPr sz="1500" b="0" i="0" lang="ja-JP">
                <a:solidFill>
                  <a:srgbClr val="6E7A88"/>
                </a:solidFill>
                <a:latin typeface="Meiryo"/>
                <a:ea typeface="Meiryo"/>
              </a:rPr>
              <a:t>3番目</a:t>
            </a:r>
          </a:p>
        </p:txBody>
      </p:sp>
      <p:sp>
        <p:nvSpPr>
          <p:cNvPr id="23" name="Rounded Rectangle 22"/>
          <p:cNvSpPr/>
          <p:nvPr/>
        </p:nvSpPr>
        <p:spPr>
          <a:xfrm>
            <a:off x="10579608" y="2441448"/>
            <a:ext cx="749808" cy="54864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J4</a:t>
            </a:r>
          </a:p>
        </p:txBody>
      </p:sp>
      <p:sp>
        <p:nvSpPr>
          <p:cNvPr id="24" name="TextBox 23"/>
          <p:cNvSpPr txBox="1"/>
          <p:nvPr/>
        </p:nvSpPr>
        <p:spPr>
          <a:xfrm>
            <a:off x="10533888" y="2103120"/>
            <a:ext cx="841247" cy="292608"/>
          </a:xfrm>
          <a:prstGeom prst="rect">
            <a:avLst/>
          </a:prstGeom>
          <a:noFill/>
        </p:spPr>
        <p:txBody>
          <a:bodyPr wrap="square" anchor="t" lIns="18288" rIns="18288" tIns="9144" bIns="9144">
            <a:spAutoFit/>
          </a:bodyPr>
          <a:lstStyle/>
          <a:p>
            <a:pPr algn="ctr">
              <a:lnSpc>
                <a:spcPct val="105000"/>
              </a:lnSpc>
            </a:pPr>
            <a:r>
              <a:rPr sz="1500" b="0" i="0" lang="ja-JP">
                <a:solidFill>
                  <a:srgbClr val="6E7A88"/>
                </a:solidFill>
                <a:latin typeface="Meiryo"/>
                <a:ea typeface="Meiryo"/>
              </a:rPr>
              <a:t>4番目</a:t>
            </a:r>
          </a:p>
        </p:txBody>
      </p:sp>
      <p:sp>
        <p:nvSpPr>
          <p:cNvPr id="25" name="TextBox 24"/>
          <p:cNvSpPr txBox="1"/>
          <p:nvPr/>
        </p:nvSpPr>
        <p:spPr>
          <a:xfrm>
            <a:off x="7315200" y="3950208"/>
            <a:ext cx="640080" cy="548640"/>
          </a:xfrm>
          <a:prstGeom prst="rect">
            <a:avLst/>
          </a:prstGeom>
          <a:noFill/>
        </p:spPr>
        <p:txBody>
          <a:bodyPr wrap="square" anchor="ctr" lIns="18288" rIns="18288" tIns="68580" bIns="9144">
            <a:spAutoFit/>
          </a:bodyPr>
          <a:lstStyle/>
          <a:p>
            <a:pPr algn="l">
              <a:lnSpc>
                <a:spcPct val="105000"/>
              </a:lnSpc>
            </a:pPr>
            <a:r>
              <a:rPr sz="1800" b="1" i="1" lang="ja-JP">
                <a:solidFill>
                  <a:srgbClr val="26303A"/>
                </a:solidFill>
                <a:latin typeface="Meiryo"/>
                <a:ea typeface="Meiryo"/>
              </a:rPr>
              <a:t>S</a:t>
            </a:r>
            <a:r>
              <a:rPr sz="1296" b="1" i="1" lang="ja-JP" baseline="-22000">
                <a:solidFill>
                  <a:srgbClr val="26303A"/>
                </a:solidFill>
                <a:latin typeface="Meiryo"/>
                <a:ea typeface="Meiryo"/>
              </a:rPr>
              <a:t>q</a:t>
            </a:r>
          </a:p>
        </p:txBody>
      </p:sp>
      <p:sp>
        <p:nvSpPr>
          <p:cNvPr id="26" name="Rounded Rectangle 25"/>
          <p:cNvSpPr/>
          <p:nvPr/>
        </p:nvSpPr>
        <p:spPr>
          <a:xfrm>
            <a:off x="8001000" y="3950208"/>
            <a:ext cx="749808" cy="548640"/>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27" name="TextBox 26"/>
          <p:cNvSpPr txBox="1"/>
          <p:nvPr/>
        </p:nvSpPr>
        <p:spPr>
          <a:xfrm>
            <a:off x="7955279" y="4535424"/>
            <a:ext cx="841247" cy="292608"/>
          </a:xfrm>
          <a:prstGeom prst="rect">
            <a:avLst/>
          </a:prstGeom>
          <a:noFill/>
        </p:spPr>
        <p:txBody>
          <a:bodyPr wrap="square" anchor="t" lIns="18288" rIns="18288" tIns="9144" bIns="9144">
            <a:spAutoFit/>
          </a:bodyPr>
          <a:lstStyle/>
          <a:p>
            <a:pPr algn="ctr">
              <a:lnSpc>
                <a:spcPct val="105000"/>
              </a:lnSpc>
            </a:pPr>
            <a:r>
              <a:rPr sz="1500" b="0" i="0" lang="ja-JP">
                <a:solidFill>
                  <a:srgbClr val="6E7A88"/>
                </a:solidFill>
                <a:latin typeface="Meiryo"/>
                <a:ea typeface="Meiryo"/>
              </a:rPr>
              <a:t>1番目</a:t>
            </a:r>
          </a:p>
        </p:txBody>
      </p:sp>
      <p:sp>
        <p:nvSpPr>
          <p:cNvPr id="28" name="Rounded Rectangle 27"/>
          <p:cNvSpPr/>
          <p:nvPr/>
        </p:nvSpPr>
        <p:spPr>
          <a:xfrm>
            <a:off x="8860536" y="3950208"/>
            <a:ext cx="749808" cy="548640"/>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J4</a:t>
            </a:r>
          </a:p>
        </p:txBody>
      </p:sp>
      <p:sp>
        <p:nvSpPr>
          <p:cNvPr id="29" name="TextBox 28"/>
          <p:cNvSpPr txBox="1"/>
          <p:nvPr/>
        </p:nvSpPr>
        <p:spPr>
          <a:xfrm>
            <a:off x="8814815" y="4535424"/>
            <a:ext cx="841247" cy="292608"/>
          </a:xfrm>
          <a:prstGeom prst="rect">
            <a:avLst/>
          </a:prstGeom>
          <a:noFill/>
        </p:spPr>
        <p:txBody>
          <a:bodyPr wrap="square" anchor="t" lIns="18288" rIns="18288" tIns="9144" bIns="9144">
            <a:spAutoFit/>
          </a:bodyPr>
          <a:lstStyle/>
          <a:p>
            <a:pPr algn="ctr">
              <a:lnSpc>
                <a:spcPct val="105000"/>
              </a:lnSpc>
            </a:pPr>
            <a:r>
              <a:rPr sz="1500" b="0" i="0" lang="ja-JP">
                <a:solidFill>
                  <a:srgbClr val="6E7A88"/>
                </a:solidFill>
                <a:latin typeface="Meiryo"/>
                <a:ea typeface="Meiryo"/>
              </a:rPr>
              <a:t>2番目</a:t>
            </a:r>
          </a:p>
        </p:txBody>
      </p:sp>
      <p:sp>
        <p:nvSpPr>
          <p:cNvPr id="30" name="Rounded Rectangle 29"/>
          <p:cNvSpPr/>
          <p:nvPr/>
        </p:nvSpPr>
        <p:spPr>
          <a:xfrm>
            <a:off x="9720072" y="3950208"/>
            <a:ext cx="749808" cy="548640"/>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31" name="TextBox 30"/>
          <p:cNvSpPr txBox="1"/>
          <p:nvPr/>
        </p:nvSpPr>
        <p:spPr>
          <a:xfrm>
            <a:off x="9674351" y="4535424"/>
            <a:ext cx="841247" cy="292608"/>
          </a:xfrm>
          <a:prstGeom prst="rect">
            <a:avLst/>
          </a:prstGeom>
          <a:noFill/>
        </p:spPr>
        <p:txBody>
          <a:bodyPr wrap="square" anchor="t" lIns="18288" rIns="18288" tIns="9144" bIns="9144">
            <a:spAutoFit/>
          </a:bodyPr>
          <a:lstStyle/>
          <a:p>
            <a:pPr algn="ctr">
              <a:lnSpc>
                <a:spcPct val="105000"/>
              </a:lnSpc>
            </a:pPr>
            <a:r>
              <a:rPr sz="1500" b="0" i="0" lang="ja-JP">
                <a:solidFill>
                  <a:srgbClr val="6E7A88"/>
                </a:solidFill>
                <a:latin typeface="Meiryo"/>
                <a:ea typeface="Meiryo"/>
              </a:rPr>
              <a:t>3番目</a:t>
            </a:r>
          </a:p>
        </p:txBody>
      </p:sp>
      <p:sp>
        <p:nvSpPr>
          <p:cNvPr id="32" name="Rounded Rectangle 31"/>
          <p:cNvSpPr/>
          <p:nvPr/>
        </p:nvSpPr>
        <p:spPr>
          <a:xfrm>
            <a:off x="10579608" y="3950208"/>
            <a:ext cx="749808" cy="548640"/>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33" name="TextBox 32"/>
          <p:cNvSpPr txBox="1"/>
          <p:nvPr/>
        </p:nvSpPr>
        <p:spPr>
          <a:xfrm>
            <a:off x="10533888" y="4535424"/>
            <a:ext cx="841247" cy="292608"/>
          </a:xfrm>
          <a:prstGeom prst="rect">
            <a:avLst/>
          </a:prstGeom>
          <a:noFill/>
        </p:spPr>
        <p:txBody>
          <a:bodyPr wrap="square" anchor="t" lIns="18288" rIns="18288" tIns="9144" bIns="9144">
            <a:spAutoFit/>
          </a:bodyPr>
          <a:lstStyle/>
          <a:p>
            <a:pPr algn="ctr">
              <a:lnSpc>
                <a:spcPct val="105000"/>
              </a:lnSpc>
            </a:pPr>
            <a:r>
              <a:rPr sz="1500" b="0" i="0" lang="ja-JP">
                <a:solidFill>
                  <a:srgbClr val="6E7A88"/>
                </a:solidFill>
                <a:latin typeface="Meiryo"/>
                <a:ea typeface="Meiryo"/>
              </a:rPr>
              <a:t>4番目</a:t>
            </a:r>
          </a:p>
        </p:txBody>
      </p:sp>
      <p:cxnSp>
        <p:nvCxnSpPr>
          <p:cNvPr id="34" name="Connector 33"/>
          <p:cNvCxnSpPr/>
          <p:nvPr/>
        </p:nvCxnSpPr>
        <p:spPr>
          <a:xfrm>
            <a:off x="8375904" y="3008376"/>
            <a:ext cx="0" cy="923544"/>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35440" y="3008376"/>
            <a:ext cx="1719072" cy="923544"/>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094976" y="3008376"/>
            <a:ext cx="0" cy="923544"/>
          </a:xfrm>
          <a:prstGeom prst="line">
            <a:avLst/>
          </a:prstGeom>
          <a:ln w="15240">
            <a:solidFill>
              <a:srgbClr val="D6DEE7"/>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9235440" y="3008376"/>
            <a:ext cx="1719072" cy="923544"/>
          </a:xfrm>
          <a:prstGeom prst="line">
            <a:avLst/>
          </a:prstGeom>
          <a:ln w="25400">
            <a:solidFill>
              <a:srgbClr val="B03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315200" y="5093208"/>
            <a:ext cx="4069080" cy="457200"/>
          </a:xfrm>
          <a:prstGeom prst="rect">
            <a:avLst/>
          </a:prstGeom>
          <a:noFill/>
        </p:spPr>
        <p:txBody>
          <a:bodyPr wrap="square" anchor="t" lIns="18288" rIns="18288" tIns="9144" bIns="9144">
            <a:spAutoFit/>
          </a:bodyPr>
          <a:lstStyle/>
          <a:p>
            <a:pPr algn="ctr">
              <a:lnSpc>
                <a:spcPct val="105000"/>
              </a:lnSpc>
            </a:pPr>
            <a:r>
              <a:rPr sz="2000" b="0" i="1" lang="ja-JP">
                <a:solidFill>
                  <a:srgbClr val="26303A"/>
                </a:solidFill>
                <a:latin typeface="Meiryo"/>
                <a:ea typeface="Meiryo"/>
              </a:rPr>
              <a:t>D</a:t>
            </a:r>
            <a:r>
              <a:rPr sz="2000" b="0" i="0" lang="ja-JP">
                <a:solidFill>
                  <a:srgbClr val="26303A"/>
                </a:solidFill>
                <a:latin typeface="Meiryo"/>
                <a:ea typeface="Meiryo"/>
              </a:rPr>
              <a:t> = |2−4| ＋ |4−2| = </a:t>
            </a:r>
            <a:r>
              <a:rPr sz="2000" b="1" i="0" lang="ja-JP">
                <a:solidFill>
                  <a:srgbClr val="B03A2E"/>
                </a:solidFill>
                <a:latin typeface="Meiryo"/>
                <a:ea typeface="Meiryo"/>
              </a:rPr>
              <a:t>4</a:t>
            </a:r>
          </a:p>
        </p:txBody>
      </p:sp>
      <p:sp>
        <p:nvSpPr>
          <p:cNvPr id="39" name="TextBox 38"/>
          <p:cNvSpPr txBox="1"/>
          <p:nvPr/>
        </p:nvSpPr>
        <p:spPr>
          <a:xfrm>
            <a:off x="7315200" y="5687568"/>
            <a:ext cx="4069080" cy="365760"/>
          </a:xfrm>
          <a:prstGeom prst="rect">
            <a:avLst/>
          </a:prstGeom>
          <a:noFill/>
        </p:spPr>
        <p:txBody>
          <a:bodyPr wrap="square" anchor="t" lIns="18288" rIns="18288" tIns="9144" bIns="9144">
            <a:spAutoFit/>
          </a:bodyPr>
          <a:lstStyle/>
          <a:p>
            <a:pPr algn="ctr">
              <a:lnSpc>
                <a:spcPct val="105000"/>
              </a:lnSpc>
            </a:pPr>
            <a:r>
              <a:rPr sz="1600" b="0" i="0" lang="ja-JP">
                <a:solidFill>
                  <a:srgbClr val="6E7A88"/>
                </a:solidFill>
                <a:latin typeface="Meiryo"/>
                <a:ea typeface="Meiryo"/>
              </a:rPr>
              <a:t>初期解 </a:t>
            </a:r>
            <a:r>
              <a:rPr sz="1600" b="0" i="1" lang="ja-JP">
                <a:solidFill>
                  <a:srgbClr val="6E7A88"/>
                </a:solidFill>
                <a:latin typeface="Meiryo"/>
                <a:ea typeface="Meiryo"/>
              </a:rPr>
              <a:t>S</a:t>
            </a:r>
            <a:r>
              <a:rPr sz="1152" b="0" i="1" lang="ja-JP" baseline="-22000">
                <a:solidFill>
                  <a:srgbClr val="6E7A88"/>
                </a:solidFill>
                <a:latin typeface="Meiryo"/>
                <a:ea typeface="Meiryo"/>
              </a:rPr>
              <a:t>p</a:t>
            </a:r>
            <a:r>
              <a:rPr sz="1600" b="0" i="0" lang="ja-JP">
                <a:solidFill>
                  <a:srgbClr val="6E7A88"/>
                </a:solidFill>
                <a:latin typeface="Meiryo"/>
                <a:ea typeface="Meiryo"/>
              </a:rPr>
              <a:t> は </a:t>
            </a:r>
            <a:r>
              <a:rPr sz="1600" b="0" i="1" lang="ja-JP">
                <a:solidFill>
                  <a:srgbClr val="6E7A88"/>
                </a:solidFill>
                <a:latin typeface="Meiryo"/>
                <a:ea typeface="Meiryo"/>
              </a:rPr>
              <a:t>D</a:t>
            </a:r>
            <a:r>
              <a:rPr sz="1600" b="0" i="0" lang="ja-JP">
                <a:solidFill>
                  <a:srgbClr val="6E7A88"/>
                </a:solidFill>
                <a:latin typeface="Meiryo"/>
                <a:ea typeface="Meiryo"/>
              </a:rPr>
              <a:t> = 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比較する探索構造：単点探索と多点探索</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2. 問題設定と実験計画</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12</a:t>
            </a:r>
          </a:p>
        </p:txBody>
      </p:sp>
      <p:sp>
        <p:nvSpPr>
          <p:cNvPr id="6" name="Rounded Rectangle 5"/>
          <p:cNvSpPr/>
          <p:nvPr/>
        </p:nvSpPr>
        <p:spPr>
          <a:xfrm>
            <a:off x="566928" y="1207008"/>
            <a:ext cx="5391759" cy="4407408"/>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207008"/>
            <a:ext cx="5391759" cy="475488"/>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207008"/>
            <a:ext cx="5025999" cy="475488"/>
          </a:xfrm>
          <a:prstGeom prst="rect">
            <a:avLst/>
          </a:prstGeom>
          <a:noFill/>
        </p:spPr>
        <p:txBody>
          <a:bodyPr wrap="square" anchor="ctr" lIns="18288" rIns="18288" tIns="68580" bIns="9144">
            <a:spAutoFit/>
          </a:bodyPr>
          <a:lstStyle/>
          <a:p>
            <a:r>
              <a:rPr sz="1800" b="1" i="0" lang="ja-JP">
                <a:solidFill>
                  <a:srgbClr val="FFFFFF"/>
                </a:solidFill>
                <a:latin typeface="Meiryo"/>
                <a:ea typeface="Meiryo"/>
              </a:rPr>
              <a:t>単点探索（ILS）</a:t>
            </a:r>
          </a:p>
        </p:txBody>
      </p:sp>
      <p:sp>
        <p:nvSpPr>
          <p:cNvPr id="9" name="Rounded Rectangle 8"/>
          <p:cNvSpPr/>
          <p:nvPr/>
        </p:nvSpPr>
        <p:spPr>
          <a:xfrm>
            <a:off x="795528" y="1920240"/>
            <a:ext cx="2971800" cy="457200"/>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0" i="0" lang="ja-JP">
                <a:solidFill>
                  <a:srgbClr val="26303A"/>
                </a:solidFill>
                <a:latin typeface="Meiryo"/>
                <a:ea typeface="Meiryo"/>
              </a:rPr>
              <a:t>初期解：</a:t>
            </a:r>
            <a:r>
              <a:rPr sz="1600" b="0" i="1" lang="ja-JP">
                <a:solidFill>
                  <a:srgbClr val="26303A"/>
                </a:solidFill>
                <a:latin typeface="Meiryo"/>
                <a:ea typeface="Meiryo"/>
              </a:rPr>
              <a:t>S</a:t>
            </a:r>
            <a:r>
              <a:rPr sz="1152" b="0" i="1" lang="ja-JP" baseline="-22000">
                <a:solidFill>
                  <a:srgbClr val="26303A"/>
                </a:solidFill>
                <a:latin typeface="Meiryo"/>
                <a:ea typeface="Meiryo"/>
              </a:rPr>
              <a:t>p</a:t>
            </a:r>
          </a:p>
        </p:txBody>
      </p:sp>
      <p:sp>
        <p:nvSpPr>
          <p:cNvPr id="10" name="Rounded Rectangle 9"/>
          <p:cNvSpPr/>
          <p:nvPr/>
        </p:nvSpPr>
        <p:spPr>
          <a:xfrm>
            <a:off x="795528" y="2542032"/>
            <a:ext cx="2971800" cy="457200"/>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0" i="0" lang="ja-JP">
                <a:solidFill>
                  <a:srgbClr val="26303A"/>
                </a:solidFill>
                <a:latin typeface="Meiryo"/>
                <a:ea typeface="Meiryo"/>
              </a:rPr>
              <a:t>局所探索：N5 近傍</a:t>
            </a:r>
          </a:p>
        </p:txBody>
      </p:sp>
      <p:cxnSp>
        <p:nvCxnSpPr>
          <p:cNvPr id="11" name="Connector 10"/>
          <p:cNvCxnSpPr/>
          <p:nvPr/>
        </p:nvCxnSpPr>
        <p:spPr>
          <a:xfrm>
            <a:off x="2281428" y="2395728"/>
            <a:ext cx="0" cy="128016"/>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95528" y="3163824"/>
            <a:ext cx="2971800" cy="457200"/>
          </a:xfrm>
          <a:prstGeom prst="roundRect">
            <a:avLst>
              <a:gd name="adj" fmla="val 12000"/>
            </a:avLst>
          </a:prstGeom>
          <a:solidFill>
            <a:srgbClr val="FBE4CC"/>
          </a:solidFill>
          <a:ln w="20320">
            <a:solidFill>
              <a:srgbClr val="E06C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E06C00"/>
                </a:solidFill>
                <a:latin typeface="Meiryo"/>
                <a:ea typeface="Meiryo"/>
              </a:rPr>
              <a:t>摂動：数手の insert 移動</a:t>
            </a:r>
          </a:p>
        </p:txBody>
      </p:sp>
      <p:cxnSp>
        <p:nvCxnSpPr>
          <p:cNvPr id="13" name="Connector 12"/>
          <p:cNvCxnSpPr/>
          <p:nvPr/>
        </p:nvCxnSpPr>
        <p:spPr>
          <a:xfrm>
            <a:off x="2281428" y="3017520"/>
            <a:ext cx="0" cy="128016"/>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95528" y="3785616"/>
            <a:ext cx="2971800" cy="457200"/>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0" i="0" lang="ja-JP">
                <a:solidFill>
                  <a:srgbClr val="26303A"/>
                </a:solidFill>
                <a:latin typeface="Meiryo"/>
                <a:ea typeface="Meiryo"/>
              </a:rPr>
              <a:t>局所探索：N5 近傍</a:t>
            </a:r>
          </a:p>
        </p:txBody>
      </p:sp>
      <p:cxnSp>
        <p:nvCxnSpPr>
          <p:cNvPr id="15" name="Connector 14"/>
          <p:cNvCxnSpPr/>
          <p:nvPr/>
        </p:nvCxnSpPr>
        <p:spPr>
          <a:xfrm>
            <a:off x="2281428" y="3639312"/>
            <a:ext cx="0" cy="128016"/>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95528" y="4407408"/>
            <a:ext cx="2971800" cy="457200"/>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0" i="0" lang="ja-JP">
                <a:solidFill>
                  <a:srgbClr val="26303A"/>
                </a:solidFill>
                <a:latin typeface="Meiryo"/>
                <a:ea typeface="Meiryo"/>
              </a:rPr>
              <a:t>受理判定：</a:t>
            </a:r>
            <a:r>
              <a:rPr sz="1600" b="0" i="1" lang="ja-JP">
                <a:solidFill>
                  <a:srgbClr val="26303A"/>
                </a:solidFill>
                <a:latin typeface="Meiryo"/>
                <a:ea typeface="Meiryo"/>
              </a:rPr>
              <a:t>F</a:t>
            </a:r>
            <a:r>
              <a:rPr sz="1600" b="0" i="0" lang="ja-JP">
                <a:solidFill>
                  <a:srgbClr val="26303A"/>
                </a:solidFill>
                <a:latin typeface="Meiryo"/>
                <a:ea typeface="Meiryo"/>
              </a:rPr>
              <a:t> が改善すれば更新</a:t>
            </a:r>
          </a:p>
        </p:txBody>
      </p:sp>
      <p:cxnSp>
        <p:nvCxnSpPr>
          <p:cNvPr id="17" name="Connector 16"/>
          <p:cNvCxnSpPr/>
          <p:nvPr/>
        </p:nvCxnSpPr>
        <p:spPr>
          <a:xfrm>
            <a:off x="2281428" y="4261104"/>
            <a:ext cx="0" cy="128016"/>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785615" y="4636008"/>
            <a:ext cx="237745"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023360" y="3392424"/>
            <a:ext cx="0" cy="1243584"/>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803904" y="3392424"/>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96512" y="3831336"/>
            <a:ext cx="1005840" cy="365760"/>
          </a:xfrm>
          <a:prstGeom prst="rect">
            <a:avLst/>
          </a:prstGeom>
          <a:noFill/>
        </p:spPr>
        <p:txBody>
          <a:bodyPr wrap="square" anchor="ctr" lIns="18288" rIns="18288" tIns="58674" bIns="9144">
            <a:spAutoFit/>
          </a:bodyPr>
          <a:lstStyle/>
          <a:p>
            <a:pPr algn="l">
              <a:lnSpc>
                <a:spcPct val="105000"/>
              </a:lnSpc>
            </a:pPr>
            <a:r>
              <a:rPr sz="1500" b="0" i="0" lang="ja-JP">
                <a:solidFill>
                  <a:srgbClr val="6E7A88"/>
                </a:solidFill>
                <a:latin typeface="Meiryo"/>
                <a:ea typeface="Meiryo"/>
              </a:rPr>
              <a:t>反復</a:t>
            </a:r>
          </a:p>
        </p:txBody>
      </p:sp>
      <p:pic>
        <p:nvPicPr>
          <p:cNvPr id="22" name="Picture 21" descr="struct_ils.png"/>
          <p:cNvPicPr>
            <a:picLocks noChangeAspect="1"/>
          </p:cNvPicPr>
          <p:nvPr/>
        </p:nvPicPr>
        <p:blipFill>
          <a:blip r:embed="rId3"/>
          <a:stretch>
            <a:fillRect/>
          </a:stretch>
        </p:blipFill>
        <p:spPr>
          <a:xfrm>
            <a:off x="4312767" y="1755648"/>
            <a:ext cx="1536192" cy="1265822"/>
          </a:xfrm>
          <a:prstGeom prst="rect">
            <a:avLst/>
          </a:prstGeom>
        </p:spPr>
      </p:pic>
      <p:sp>
        <p:nvSpPr>
          <p:cNvPr id="23" name="TextBox 22"/>
          <p:cNvSpPr txBox="1"/>
          <p:nvPr/>
        </p:nvSpPr>
        <p:spPr>
          <a:xfrm>
            <a:off x="795528" y="4956048"/>
            <a:ext cx="4934559" cy="566928"/>
          </a:xfrm>
          <a:prstGeom prst="rect">
            <a:avLst/>
          </a:prstGeom>
          <a:noFill/>
        </p:spPr>
        <p:txBody>
          <a:bodyPr wrap="square" anchor="t" lIns="18288" rIns="18288" tIns="9144" bIns="9144">
            <a:spAutoFit/>
          </a:bodyPr>
          <a:lstStyle/>
          <a:p>
            <a:pPr marL="952500" indent="-952500">
              <a:lnSpc>
                <a:spcPct val="105000"/>
              </a:lnSpc>
            </a:pPr>
            <a:r>
              <a:rPr sz="1500" b="0" i="0" lang="ja-JP">
                <a:solidFill>
                  <a:srgbClr val="6E7A88"/>
                </a:solidFill>
                <a:latin typeface="Meiryo"/>
                <a:ea typeface="Meiryo"/>
              </a:rPr>
              <a:t>選定理由：局所探索と摂動が別の段にあり，</a:t>
            </a:r>
            <a:br/>
            <a:r>
              <a:rPr sz="1500" b="0" i="0" lang="ja-JP">
                <a:solidFill>
                  <a:srgbClr val="6E7A88"/>
                </a:solidFill>
                <a:latin typeface="Meiryo"/>
                <a:ea typeface="Meiryo"/>
              </a:rPr>
              <a:t>演算子を摂動に組み込める</a:t>
            </a:r>
          </a:p>
        </p:txBody>
      </p:sp>
      <p:sp>
        <p:nvSpPr>
          <p:cNvPr id="24" name="Rounded Rectangle 23"/>
          <p:cNvSpPr/>
          <p:nvPr/>
        </p:nvSpPr>
        <p:spPr>
          <a:xfrm>
            <a:off x="6233007" y="1207008"/>
            <a:ext cx="5391759" cy="4407408"/>
          </a:xfrm>
          <a:prstGeom prst="roundRect">
            <a:avLst>
              <a:gd name="adj" fmla="val 5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33007" y="1207008"/>
            <a:ext cx="5391759" cy="475488"/>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5887" y="1207008"/>
            <a:ext cx="5025999" cy="475488"/>
          </a:xfrm>
          <a:prstGeom prst="rect">
            <a:avLst/>
          </a:prstGeom>
          <a:noFill/>
        </p:spPr>
        <p:txBody>
          <a:bodyPr wrap="square" anchor="ctr" lIns="18288" rIns="18288" tIns="68580" bIns="9144">
            <a:spAutoFit/>
          </a:bodyPr>
          <a:lstStyle/>
          <a:p>
            <a:r>
              <a:rPr sz="1800" b="1" i="0" lang="ja-JP">
                <a:solidFill>
                  <a:srgbClr val="FFFFFF"/>
                </a:solidFill>
                <a:latin typeface="Meiryo"/>
                <a:ea typeface="Meiryo"/>
              </a:rPr>
              <a:t>多点探索（Memetic）</a:t>
            </a:r>
          </a:p>
        </p:txBody>
      </p:sp>
      <p:sp>
        <p:nvSpPr>
          <p:cNvPr id="27" name="Rounded Rectangle 26"/>
          <p:cNvSpPr/>
          <p:nvPr/>
        </p:nvSpPr>
        <p:spPr>
          <a:xfrm>
            <a:off x="6461607" y="1920240"/>
            <a:ext cx="2971800" cy="457200"/>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0" i="0" lang="ja-JP">
                <a:solidFill>
                  <a:srgbClr val="26303A"/>
                </a:solidFill>
                <a:latin typeface="Meiryo"/>
                <a:ea typeface="Meiryo"/>
              </a:rPr>
              <a:t>初期集団：</a:t>
            </a:r>
            <a:r>
              <a:rPr sz="1600" b="0" i="1" lang="ja-JP">
                <a:solidFill>
                  <a:srgbClr val="26303A"/>
                </a:solidFill>
                <a:latin typeface="Meiryo"/>
                <a:ea typeface="Meiryo"/>
              </a:rPr>
              <a:t>S</a:t>
            </a:r>
            <a:r>
              <a:rPr sz="1152" b="0" i="1" lang="ja-JP" baseline="-22000">
                <a:solidFill>
                  <a:srgbClr val="26303A"/>
                </a:solidFill>
                <a:latin typeface="Meiryo"/>
                <a:ea typeface="Meiryo"/>
              </a:rPr>
              <a:t>p</a:t>
            </a:r>
            <a:r>
              <a:rPr sz="1600" b="0" i="0" lang="ja-JP">
                <a:solidFill>
                  <a:srgbClr val="26303A"/>
                </a:solidFill>
                <a:latin typeface="Meiryo"/>
                <a:ea typeface="Meiryo"/>
              </a:rPr>
              <a:t>＋無作為な個体</a:t>
            </a:r>
          </a:p>
        </p:txBody>
      </p:sp>
      <p:sp>
        <p:nvSpPr>
          <p:cNvPr id="28" name="Rounded Rectangle 27"/>
          <p:cNvSpPr/>
          <p:nvPr/>
        </p:nvSpPr>
        <p:spPr>
          <a:xfrm>
            <a:off x="6461607" y="2542032"/>
            <a:ext cx="2971800" cy="457200"/>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0" i="0" lang="ja-JP">
                <a:solidFill>
                  <a:srgbClr val="26303A"/>
                </a:solidFill>
                <a:latin typeface="Meiryo"/>
                <a:ea typeface="Meiryo"/>
              </a:rPr>
              <a:t>選択</a:t>
            </a:r>
          </a:p>
        </p:txBody>
      </p:sp>
      <p:cxnSp>
        <p:nvCxnSpPr>
          <p:cNvPr id="29" name="Connector 28"/>
          <p:cNvCxnSpPr/>
          <p:nvPr/>
        </p:nvCxnSpPr>
        <p:spPr>
          <a:xfrm>
            <a:off x="7947507" y="2395728"/>
            <a:ext cx="0" cy="128016"/>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461607" y="3163824"/>
            <a:ext cx="2971800" cy="457200"/>
          </a:xfrm>
          <a:prstGeom prst="roundRect">
            <a:avLst>
              <a:gd name="adj" fmla="val 12000"/>
            </a:avLst>
          </a:prstGeom>
          <a:solidFill>
            <a:srgbClr val="D7E9DC"/>
          </a:solidFill>
          <a:ln w="20320">
            <a:solidFill>
              <a:srgbClr val="0F5C2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0F5C28"/>
                </a:solidFill>
                <a:latin typeface="Meiryo"/>
                <a:ea typeface="Meiryo"/>
              </a:rPr>
              <a:t>交叉：2 親を組み替え</a:t>
            </a:r>
          </a:p>
        </p:txBody>
      </p:sp>
      <p:cxnSp>
        <p:nvCxnSpPr>
          <p:cNvPr id="31" name="Connector 30"/>
          <p:cNvCxnSpPr/>
          <p:nvPr/>
        </p:nvCxnSpPr>
        <p:spPr>
          <a:xfrm>
            <a:off x="7947507" y="3017520"/>
            <a:ext cx="0" cy="128016"/>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461607" y="3785616"/>
            <a:ext cx="2971800" cy="457200"/>
          </a:xfrm>
          <a:prstGeom prst="roundRect">
            <a:avLst>
              <a:gd name="adj" fmla="val 12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0" i="0" lang="ja-JP">
                <a:solidFill>
                  <a:srgbClr val="26303A"/>
                </a:solidFill>
                <a:latin typeface="Meiryo"/>
                <a:ea typeface="Meiryo"/>
              </a:rPr>
              <a:t>突然変異</a:t>
            </a:r>
          </a:p>
        </p:txBody>
      </p:sp>
      <p:cxnSp>
        <p:nvCxnSpPr>
          <p:cNvPr id="33" name="Connector 32"/>
          <p:cNvCxnSpPr/>
          <p:nvPr/>
        </p:nvCxnSpPr>
        <p:spPr>
          <a:xfrm>
            <a:off x="7947507" y="3639312"/>
            <a:ext cx="0" cy="128016"/>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461607" y="4407408"/>
            <a:ext cx="2971800" cy="457200"/>
          </a:xfrm>
          <a:prstGeom prst="roundRect">
            <a:avLst>
              <a:gd name="adj" fmla="val 12000"/>
            </a:avLst>
          </a:prstGeom>
          <a:solidFill>
            <a:srgbClr val="DDE6E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0" i="0" lang="ja-JP">
                <a:solidFill>
                  <a:srgbClr val="26303A"/>
                </a:solidFill>
                <a:latin typeface="Meiryo"/>
                <a:ea typeface="Meiryo"/>
              </a:rPr>
              <a:t>局所探索：N5 近傍（各個体）</a:t>
            </a:r>
          </a:p>
        </p:txBody>
      </p:sp>
      <p:cxnSp>
        <p:nvCxnSpPr>
          <p:cNvPr id="35" name="Connector 34"/>
          <p:cNvCxnSpPr/>
          <p:nvPr/>
        </p:nvCxnSpPr>
        <p:spPr>
          <a:xfrm>
            <a:off x="7947507" y="4261104"/>
            <a:ext cx="0" cy="128016"/>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451695" y="4636008"/>
            <a:ext cx="237744" cy="0"/>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9689439" y="2770632"/>
            <a:ext cx="0" cy="1865376"/>
          </a:xfrm>
          <a:prstGeom prst="line">
            <a:avLst/>
          </a:prstGeom>
          <a:ln w="17780">
            <a:solidFill>
              <a:srgbClr val="6E7A88"/>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9469983" y="2770632"/>
            <a:ext cx="219456" cy="0"/>
          </a:xfrm>
          <a:prstGeom prst="line">
            <a:avLst/>
          </a:prstGeom>
          <a:ln w="17780">
            <a:solidFill>
              <a:srgbClr val="6E7A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762591" y="3520440"/>
            <a:ext cx="1005840" cy="365760"/>
          </a:xfrm>
          <a:prstGeom prst="rect">
            <a:avLst/>
          </a:prstGeom>
          <a:noFill/>
        </p:spPr>
        <p:txBody>
          <a:bodyPr wrap="square" anchor="ctr" lIns="18288" rIns="18288" tIns="58674" bIns="9144">
            <a:spAutoFit/>
          </a:bodyPr>
          <a:lstStyle/>
          <a:p>
            <a:pPr algn="l">
              <a:lnSpc>
                <a:spcPct val="105000"/>
              </a:lnSpc>
            </a:pPr>
            <a:r>
              <a:rPr sz="1500" b="0" i="0" lang="ja-JP">
                <a:solidFill>
                  <a:srgbClr val="6E7A88"/>
                </a:solidFill>
                <a:latin typeface="Meiryo"/>
                <a:ea typeface="Meiryo"/>
              </a:rPr>
              <a:t>世代交代</a:t>
            </a:r>
          </a:p>
        </p:txBody>
      </p:sp>
      <p:pic>
        <p:nvPicPr>
          <p:cNvPr id="40" name="Picture 39" descr="struct_mem.png"/>
          <p:cNvPicPr>
            <a:picLocks noChangeAspect="1"/>
          </p:cNvPicPr>
          <p:nvPr/>
        </p:nvPicPr>
        <p:blipFill>
          <a:blip r:embed="rId4"/>
          <a:stretch>
            <a:fillRect/>
          </a:stretch>
        </p:blipFill>
        <p:spPr>
          <a:xfrm>
            <a:off x="9978847" y="1755648"/>
            <a:ext cx="1536192" cy="1265822"/>
          </a:xfrm>
          <a:prstGeom prst="rect">
            <a:avLst/>
          </a:prstGeom>
        </p:spPr>
      </p:pic>
      <p:sp>
        <p:nvSpPr>
          <p:cNvPr id="41" name="TextBox 40"/>
          <p:cNvSpPr txBox="1"/>
          <p:nvPr/>
        </p:nvSpPr>
        <p:spPr>
          <a:xfrm>
            <a:off x="6461607" y="4956048"/>
            <a:ext cx="4934559" cy="566928"/>
          </a:xfrm>
          <a:prstGeom prst="rect">
            <a:avLst/>
          </a:prstGeom>
          <a:noFill/>
        </p:spPr>
        <p:txBody>
          <a:bodyPr wrap="square" anchor="t" lIns="18288" rIns="18288" tIns="9144" bIns="9144">
            <a:spAutoFit/>
          </a:bodyPr>
          <a:lstStyle/>
          <a:p>
            <a:pPr marL="952500" indent="-952500">
              <a:lnSpc>
                <a:spcPct val="105000"/>
              </a:lnSpc>
            </a:pPr>
            <a:r>
              <a:rPr sz="1500" b="0" i="0" lang="ja-JP">
                <a:solidFill>
                  <a:srgbClr val="6E7A88"/>
                </a:solidFill>
                <a:latin typeface="Meiryo"/>
                <a:ea typeface="Meiryo"/>
              </a:rPr>
              <a:t>選定理由：先行研究で標準的な，</a:t>
            </a:r>
            <a:br/>
            <a:r>
              <a:rPr sz="1500" b="0" i="0" lang="ja-JP">
                <a:solidFill>
                  <a:srgbClr val="6E7A88"/>
                </a:solidFill>
                <a:latin typeface="Meiryo"/>
                <a:ea typeface="Meiryo"/>
              </a:rPr>
              <a:t>GA に局所探索を組み込んだ構成</a:t>
            </a:r>
          </a:p>
        </p:txBody>
      </p:sp>
      <p:sp>
        <p:nvSpPr>
          <p:cNvPr id="42" name="Rounded Rectangle 41"/>
          <p:cNvSpPr/>
          <p:nvPr/>
        </p:nvSpPr>
        <p:spPr>
          <a:xfrm>
            <a:off x="566928" y="5797296"/>
            <a:ext cx="11057839" cy="548640"/>
          </a:xfrm>
          <a:prstGeom prst="roundRect">
            <a:avLst>
              <a:gd name="adj" fmla="val 12000"/>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7724" bIns="18288"/>
          <a:lstStyle/>
          <a:p>
            <a:pPr algn="ctr">
              <a:lnSpc>
                <a:spcPct val="100000"/>
              </a:lnSpc>
            </a:pPr>
            <a:r>
              <a:rPr sz="1800" b="1" i="0" lang="ja-JP">
                <a:solidFill>
                  <a:srgbClr val="FFFFFF"/>
                </a:solidFill>
                <a:latin typeface="Meiryo"/>
                <a:ea typeface="Meiryo"/>
              </a:rPr>
              <a:t>探索構造の差だけを比較するため，局所探索（N5 近傍）・目的関数 </a:t>
            </a:r>
            <a:r>
              <a:rPr sz="1800" b="1" i="1" lang="ja-JP">
                <a:solidFill>
                  <a:srgbClr val="FFFFFF"/>
                </a:solidFill>
                <a:latin typeface="Meiryo"/>
                <a:ea typeface="Meiryo"/>
              </a:rPr>
              <a:t>F</a:t>
            </a:r>
            <a:r>
              <a:rPr sz="1800" b="1" i="0" lang="ja-JP">
                <a:solidFill>
                  <a:srgbClr val="FFFFFF"/>
                </a:solidFill>
                <a:latin typeface="Meiryo"/>
                <a:ea typeface="Meiryo"/>
              </a:rPr>
              <a:t>・初期解 </a:t>
            </a:r>
            <a:r>
              <a:rPr sz="1800" b="1" i="1" lang="ja-JP">
                <a:solidFill>
                  <a:srgbClr val="FFFFFF"/>
                </a:solidFill>
                <a:latin typeface="Meiryo"/>
                <a:ea typeface="Meiryo"/>
              </a:rPr>
              <a:t>S</a:t>
            </a:r>
            <a:r>
              <a:rPr sz="1296" b="1" i="1" lang="ja-JP" baseline="-22000">
                <a:solidFill>
                  <a:srgbClr val="FFFFFF"/>
                </a:solidFill>
                <a:latin typeface="Meiryo"/>
                <a:ea typeface="Meiryo"/>
              </a:rPr>
              <a:t>p</a:t>
            </a:r>
            <a:r>
              <a:rPr sz="1800" b="1" i="0" lang="ja-JP">
                <a:solidFill>
                  <a:srgbClr val="FFFFFF"/>
                </a:solidFill>
                <a:latin typeface="Meiryo"/>
                <a:ea typeface="Meiryo"/>
              </a:rPr>
              <a:t> を両者で揃える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提案手法：path relinking（PR）による安定性誘導演算子</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2. 問題設定と実験計画</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13</a:t>
            </a:r>
          </a:p>
        </p:txBody>
      </p:sp>
      <p:sp>
        <p:nvSpPr>
          <p:cNvPr id="6" name="TextBox 5"/>
          <p:cNvSpPr txBox="1"/>
          <p:nvPr/>
        </p:nvSpPr>
        <p:spPr>
          <a:xfrm>
            <a:off x="566928" y="1207008"/>
            <a:ext cx="1234440" cy="438912"/>
          </a:xfrm>
          <a:prstGeom prst="rect">
            <a:avLst/>
          </a:prstGeom>
          <a:noFill/>
        </p:spPr>
        <p:txBody>
          <a:bodyPr wrap="square" anchor="ctr" lIns="18288" rIns="18288" tIns="58674" bIns="9144">
            <a:spAutoFit/>
          </a:bodyPr>
          <a:lstStyle/>
          <a:p>
            <a:pPr algn="ctr">
              <a:lnSpc>
                <a:spcPct val="105000"/>
              </a:lnSpc>
            </a:pPr>
            <a:r>
              <a:rPr sz="1500" b="1" i="0" lang="ja-JP">
                <a:solidFill>
                  <a:srgbClr val="6E7A88"/>
                </a:solidFill>
                <a:latin typeface="Meiryo"/>
                <a:ea typeface="Meiryo"/>
              </a:rPr>
              <a:t>通常の PR</a:t>
            </a:r>
          </a:p>
        </p:txBody>
      </p:sp>
      <p:sp>
        <p:nvSpPr>
          <p:cNvPr id="7" name="TextBox 6"/>
          <p:cNvSpPr txBox="1"/>
          <p:nvPr/>
        </p:nvSpPr>
        <p:spPr>
          <a:xfrm>
            <a:off x="1938528" y="1207008"/>
            <a:ext cx="9686239" cy="438912"/>
          </a:xfrm>
          <a:prstGeom prst="rect">
            <a:avLst/>
          </a:prstGeom>
          <a:noFill/>
        </p:spPr>
        <p:txBody>
          <a:bodyPr wrap="square" anchor="ctr" lIns="18288" rIns="18288" tIns="68580" bIns="9144">
            <a:spAutoFit/>
          </a:bodyPr>
          <a:lstStyle/>
          <a:p>
            <a:pPr algn="l">
              <a:lnSpc>
                <a:spcPct val="105000"/>
              </a:lnSpc>
            </a:pPr>
            <a:r>
              <a:rPr sz="1800" b="0" i="0" lang="ja-JP">
                <a:solidFill>
                  <a:srgbClr val="6E7A88"/>
                </a:solidFill>
                <a:latin typeface="Meiryo"/>
                <a:ea typeface="Meiryo"/>
              </a:rPr>
              <a:t>探索中に得た良い解どうしを結び，その間を探索する</a:t>
            </a:r>
          </a:p>
        </p:txBody>
      </p:sp>
      <p:sp>
        <p:nvSpPr>
          <p:cNvPr id="8" name="Rounded Rectangle 7"/>
          <p:cNvSpPr/>
          <p:nvPr/>
        </p:nvSpPr>
        <p:spPr>
          <a:xfrm>
            <a:off x="566928" y="1664208"/>
            <a:ext cx="1234440" cy="365760"/>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67818" bIns="18288"/>
          <a:lstStyle/>
          <a:p>
            <a:pPr algn="ctr">
              <a:lnSpc>
                <a:spcPct val="100000"/>
              </a:lnSpc>
            </a:pPr>
            <a:r>
              <a:rPr sz="1500" b="1" i="0" lang="ja-JP">
                <a:solidFill>
                  <a:srgbClr val="FFFFFF"/>
                </a:solidFill>
                <a:latin typeface="Meiryo"/>
                <a:ea typeface="Meiryo"/>
              </a:rPr>
              <a:t>本研究</a:t>
            </a:r>
          </a:p>
        </p:txBody>
      </p:sp>
      <p:sp>
        <p:nvSpPr>
          <p:cNvPr id="9" name="TextBox 8"/>
          <p:cNvSpPr txBox="1"/>
          <p:nvPr/>
        </p:nvSpPr>
        <p:spPr>
          <a:xfrm>
            <a:off x="1938528" y="1627632"/>
            <a:ext cx="9686239" cy="438912"/>
          </a:xfrm>
          <a:prstGeom prst="rect">
            <a:avLst/>
          </a:prstGeom>
          <a:noFill/>
        </p:spPr>
        <p:txBody>
          <a:bodyPr wrap="square" anchor="ctr" lIns="18288" rIns="18288" tIns="68580" bIns="9144">
            <a:spAutoFit/>
          </a:bodyPr>
          <a:lstStyle/>
          <a:p>
            <a:pPr algn="l">
              <a:lnSpc>
                <a:spcPct val="105000"/>
              </a:lnSpc>
            </a:pPr>
            <a:r>
              <a:rPr sz="1800" b="0" i="0" lang="ja-JP">
                <a:solidFill>
                  <a:srgbClr val="26303A"/>
                </a:solidFill>
                <a:latin typeface="Meiryo"/>
                <a:ea typeface="Meiryo"/>
              </a:rPr>
              <a:t>誘導解を </a:t>
            </a:r>
            <a:r>
              <a:rPr sz="1800" b="0" i="1" lang="ja-JP">
                <a:solidFill>
                  <a:srgbClr val="26303A"/>
                </a:solidFill>
                <a:latin typeface="Meiryo"/>
                <a:ea typeface="Meiryo"/>
              </a:rPr>
              <a:t>S</a:t>
            </a:r>
            <a:r>
              <a:rPr sz="1296" b="0" i="1" lang="ja-JP" baseline="-22000">
                <a:solidFill>
                  <a:srgbClr val="26303A"/>
                </a:solidFill>
                <a:latin typeface="Meiryo"/>
                <a:ea typeface="Meiryo"/>
              </a:rPr>
              <a:t>p</a:t>
            </a:r>
            <a:r>
              <a:rPr sz="1800" b="0" i="0" lang="ja-JP">
                <a:solidFill>
                  <a:srgbClr val="26303A"/>
                </a:solidFill>
                <a:latin typeface="Meiryo"/>
                <a:ea typeface="Meiryo"/>
              </a:rPr>
              <a:t> に</a:t>
            </a:r>
            <a:r>
              <a:rPr sz="1800" b="1" i="0" lang="ja-JP">
                <a:solidFill>
                  <a:srgbClr val="16385C"/>
                </a:solidFill>
                <a:latin typeface="Meiryo"/>
                <a:ea typeface="Meiryo"/>
              </a:rPr>
              <a:t>固定</a:t>
            </a:r>
            <a:r>
              <a:rPr sz="1800" b="0" i="0" lang="ja-JP">
                <a:solidFill>
                  <a:srgbClr val="26303A"/>
                </a:solidFill>
                <a:latin typeface="Meiryo"/>
                <a:ea typeface="Meiryo"/>
              </a:rPr>
              <a:t> → 解を </a:t>
            </a:r>
            <a:r>
              <a:rPr sz="1800" b="0" i="1" lang="ja-JP">
                <a:solidFill>
                  <a:srgbClr val="26303A"/>
                </a:solidFill>
                <a:latin typeface="Meiryo"/>
                <a:ea typeface="Meiryo"/>
              </a:rPr>
              <a:t>S</a:t>
            </a:r>
            <a:r>
              <a:rPr sz="1296" b="0" i="1" lang="ja-JP" baseline="-22000">
                <a:solidFill>
                  <a:srgbClr val="26303A"/>
                </a:solidFill>
                <a:latin typeface="Meiryo"/>
                <a:ea typeface="Meiryo"/>
              </a:rPr>
              <a:t>p</a:t>
            </a:r>
            <a:r>
              <a:rPr sz="1800" b="0" i="0" lang="ja-JP">
                <a:solidFill>
                  <a:srgbClr val="26303A"/>
                </a:solidFill>
                <a:latin typeface="Meiryo"/>
                <a:ea typeface="Meiryo"/>
              </a:rPr>
              <a:t> に近づける操作になる</a:t>
            </a:r>
          </a:p>
        </p:txBody>
      </p:sp>
      <p:pic>
        <p:nvPicPr>
          <p:cNvPr id="10" name="Picture 9" descr="concept_op.png"/>
          <p:cNvPicPr>
            <a:picLocks noChangeAspect="1"/>
          </p:cNvPicPr>
          <p:nvPr/>
        </p:nvPicPr>
        <p:blipFill>
          <a:blip r:embed="rId3"/>
          <a:stretch>
            <a:fillRect/>
          </a:stretch>
        </p:blipFill>
        <p:spPr>
          <a:xfrm>
            <a:off x="521207" y="2103120"/>
            <a:ext cx="5394960" cy="3549883"/>
          </a:xfrm>
          <a:prstGeom prst="rect">
            <a:avLst/>
          </a:prstGeom>
        </p:spPr>
      </p:pic>
      <p:sp>
        <p:nvSpPr>
          <p:cNvPr id="11" name="Rounded Rectangle 10"/>
          <p:cNvSpPr/>
          <p:nvPr/>
        </p:nvSpPr>
        <p:spPr>
          <a:xfrm>
            <a:off x="6236208" y="2103120"/>
            <a:ext cx="5388559" cy="3566160"/>
          </a:xfrm>
          <a:prstGeom prst="roundRect">
            <a:avLst>
              <a:gd name="adj" fmla="val 4000"/>
            </a:avLst>
          </a:prstGeom>
          <a:solidFill>
            <a:srgbClr val="F7FAFC"/>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176272"/>
            <a:ext cx="5022799" cy="365760"/>
          </a:xfrm>
          <a:prstGeom prst="rect">
            <a:avLst/>
          </a:prstGeom>
          <a:noFill/>
        </p:spPr>
        <p:txBody>
          <a:bodyPr wrap="square" anchor="ctr" lIns="18288" rIns="18288" tIns="61976" bIns="9144">
            <a:spAutoFit/>
          </a:bodyPr>
          <a:lstStyle/>
          <a:p>
            <a:pPr algn="l">
              <a:lnSpc>
                <a:spcPct val="105000"/>
              </a:lnSpc>
            </a:pPr>
            <a:r>
              <a:rPr sz="1600" b="1" i="0" lang="ja-JP">
                <a:solidFill>
                  <a:srgbClr val="16385C"/>
                </a:solidFill>
                <a:latin typeface="Meiryo"/>
                <a:ea typeface="Meiryo"/>
              </a:rPr>
              <a:t>例：ある機械の処理順序を </a:t>
            </a:r>
            <a:r>
              <a:rPr sz="1600" b="1" i="1" lang="ja-JP">
                <a:solidFill>
                  <a:srgbClr val="16385C"/>
                </a:solidFill>
                <a:latin typeface="Meiryo"/>
                <a:ea typeface="Meiryo"/>
              </a:rPr>
              <a:t>S</a:t>
            </a:r>
            <a:r>
              <a:rPr sz="1152" b="1" i="1" lang="ja-JP" baseline="-22000">
                <a:solidFill>
                  <a:srgbClr val="16385C"/>
                </a:solidFill>
                <a:latin typeface="Meiryo"/>
                <a:ea typeface="Meiryo"/>
              </a:rPr>
              <a:t>p</a:t>
            </a:r>
            <a:r>
              <a:rPr sz="1600" b="1" i="0" lang="ja-JP">
                <a:solidFill>
                  <a:srgbClr val="16385C"/>
                </a:solidFill>
                <a:latin typeface="Meiryo"/>
                <a:ea typeface="Meiryo"/>
              </a:rPr>
              <a:t> に近づける</a:t>
            </a:r>
          </a:p>
        </p:txBody>
      </p:sp>
      <p:sp>
        <p:nvSpPr>
          <p:cNvPr id="13" name="Rounded Rectangle 12"/>
          <p:cNvSpPr/>
          <p:nvPr/>
        </p:nvSpPr>
        <p:spPr>
          <a:xfrm>
            <a:off x="6345936" y="2578608"/>
            <a:ext cx="5169103" cy="530352"/>
          </a:xfrm>
          <a:prstGeom prst="roundRect">
            <a:avLst>
              <a:gd name="adj" fmla="val 10000"/>
            </a:avLst>
          </a:prstGeom>
          <a:solidFill>
            <a:srgbClr val="CF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2633472"/>
            <a:ext cx="1417320" cy="420624"/>
          </a:xfrm>
          <a:prstGeom prst="rect">
            <a:avLst/>
          </a:prstGeom>
          <a:noFill/>
        </p:spPr>
        <p:txBody>
          <a:bodyPr wrap="square" anchor="ctr" lIns="18288" rIns="18288" tIns="61976" bIns="9144">
            <a:spAutoFit/>
          </a:bodyPr>
          <a:lstStyle/>
          <a:p>
            <a:pPr algn="l">
              <a:lnSpc>
                <a:spcPct val="105000"/>
              </a:lnSpc>
            </a:pPr>
            <a:r>
              <a:rPr sz="1600" b="1" i="1" lang="ja-JP">
                <a:solidFill>
                  <a:srgbClr val="16385C"/>
                </a:solidFill>
                <a:latin typeface="Meiryo"/>
                <a:ea typeface="Meiryo"/>
              </a:rPr>
              <a:t>S</a:t>
            </a:r>
            <a:r>
              <a:rPr sz="1152" b="1" i="1" lang="ja-JP" baseline="-22000">
                <a:solidFill>
                  <a:srgbClr val="16385C"/>
                </a:solidFill>
                <a:latin typeface="Meiryo"/>
                <a:ea typeface="Meiryo"/>
              </a:rPr>
              <a:t>p</a:t>
            </a:r>
            <a:r>
              <a:rPr sz="1600" b="1" i="0" lang="ja-JP">
                <a:solidFill>
                  <a:srgbClr val="16385C"/>
                </a:solidFill>
                <a:latin typeface="Meiryo"/>
                <a:ea typeface="Meiryo"/>
              </a:rPr>
              <a:t>（誘導解）</a:t>
            </a:r>
          </a:p>
        </p:txBody>
      </p:sp>
      <p:sp>
        <p:nvSpPr>
          <p:cNvPr id="15" name="Rounded Rectangle 14"/>
          <p:cNvSpPr/>
          <p:nvPr/>
        </p:nvSpPr>
        <p:spPr>
          <a:xfrm>
            <a:off x="7836408" y="2633472"/>
            <a:ext cx="603504"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16" name="Rounded Rectangle 15"/>
          <p:cNvSpPr/>
          <p:nvPr/>
        </p:nvSpPr>
        <p:spPr>
          <a:xfrm>
            <a:off x="8513064" y="2633472"/>
            <a:ext cx="603504"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17" name="Rounded Rectangle 16"/>
          <p:cNvSpPr/>
          <p:nvPr/>
        </p:nvSpPr>
        <p:spPr>
          <a:xfrm>
            <a:off x="9189720" y="2633472"/>
            <a:ext cx="603504"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18" name="Rounded Rectangle 17"/>
          <p:cNvSpPr/>
          <p:nvPr/>
        </p:nvSpPr>
        <p:spPr>
          <a:xfrm>
            <a:off x="9866376" y="2633472"/>
            <a:ext cx="603504"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J4</a:t>
            </a:r>
          </a:p>
        </p:txBody>
      </p:sp>
      <p:sp>
        <p:nvSpPr>
          <p:cNvPr id="19" name="TextBox 18"/>
          <p:cNvSpPr txBox="1"/>
          <p:nvPr/>
        </p:nvSpPr>
        <p:spPr>
          <a:xfrm>
            <a:off x="10597896" y="2633472"/>
            <a:ext cx="868680" cy="420624"/>
          </a:xfrm>
          <a:prstGeom prst="rect">
            <a:avLst/>
          </a:prstGeom>
          <a:noFill/>
        </p:spPr>
        <p:txBody>
          <a:bodyPr wrap="square" anchor="ctr" lIns="18288" rIns="18288" tIns="61976" bIns="9144">
            <a:spAutoFit/>
          </a:bodyPr>
          <a:lstStyle/>
          <a:p>
            <a:pPr algn="l">
              <a:lnSpc>
                <a:spcPct val="105000"/>
              </a:lnSpc>
            </a:pPr>
            <a:r>
              <a:rPr sz="1600" b="0" i="1" lang="ja-JP">
                <a:solidFill>
                  <a:srgbClr val="26303A"/>
                </a:solidFill>
                <a:latin typeface="Meiryo"/>
                <a:ea typeface="Meiryo"/>
              </a:rPr>
              <a:t>D</a:t>
            </a:r>
            <a:r>
              <a:rPr sz="1600" b="0" i="0" lang="ja-JP">
                <a:solidFill>
                  <a:srgbClr val="26303A"/>
                </a:solidFill>
                <a:latin typeface="Meiryo"/>
                <a:ea typeface="Meiryo"/>
              </a:rPr>
              <a:t> = 0</a:t>
            </a:r>
          </a:p>
        </p:txBody>
      </p:sp>
      <p:sp>
        <p:nvSpPr>
          <p:cNvPr id="20" name="TextBox 19"/>
          <p:cNvSpPr txBox="1"/>
          <p:nvPr/>
        </p:nvSpPr>
        <p:spPr>
          <a:xfrm>
            <a:off x="6419088" y="3200400"/>
            <a:ext cx="1417320" cy="420624"/>
          </a:xfrm>
          <a:prstGeom prst="rect">
            <a:avLst/>
          </a:prstGeom>
          <a:noFill/>
        </p:spPr>
        <p:txBody>
          <a:bodyPr wrap="square" anchor="ctr" lIns="18288" rIns="18288" tIns="61976" bIns="9144">
            <a:spAutoFit/>
          </a:bodyPr>
          <a:lstStyle/>
          <a:p>
            <a:pPr algn="l">
              <a:lnSpc>
                <a:spcPct val="105000"/>
              </a:lnSpc>
            </a:pPr>
            <a:r>
              <a:rPr sz="1600" b="1" i="0" lang="ja-JP">
                <a:solidFill>
                  <a:srgbClr val="26303A"/>
                </a:solidFill>
                <a:latin typeface="Meiryo"/>
                <a:ea typeface="Meiryo"/>
              </a:rPr>
              <a:t>現在解</a:t>
            </a:r>
          </a:p>
        </p:txBody>
      </p:sp>
      <p:sp>
        <p:nvSpPr>
          <p:cNvPr id="21" name="Rounded Rectangle 20"/>
          <p:cNvSpPr/>
          <p:nvPr/>
        </p:nvSpPr>
        <p:spPr>
          <a:xfrm>
            <a:off x="7836408" y="3200400"/>
            <a:ext cx="603504"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22" name="Rounded Rectangle 21"/>
          <p:cNvSpPr/>
          <p:nvPr/>
        </p:nvSpPr>
        <p:spPr>
          <a:xfrm>
            <a:off x="8513064" y="3200400"/>
            <a:ext cx="603504" cy="420624"/>
          </a:xfrm>
          <a:prstGeom prst="roundRect">
            <a:avLst>
              <a:gd name="adj" fmla="val 10000"/>
            </a:avLst>
          </a:prstGeom>
          <a:solidFill>
            <a:srgbClr val="8A86A8"/>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J4</a:t>
            </a:r>
          </a:p>
        </p:txBody>
      </p:sp>
      <p:sp>
        <p:nvSpPr>
          <p:cNvPr id="23" name="Rounded Rectangle 22"/>
          <p:cNvSpPr/>
          <p:nvPr/>
        </p:nvSpPr>
        <p:spPr>
          <a:xfrm>
            <a:off x="9189720" y="3200400"/>
            <a:ext cx="603504"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24" name="Rounded Rectangle 23"/>
          <p:cNvSpPr/>
          <p:nvPr/>
        </p:nvSpPr>
        <p:spPr>
          <a:xfrm>
            <a:off x="9866376" y="3200400"/>
            <a:ext cx="603504"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25" name="TextBox 24"/>
          <p:cNvSpPr txBox="1"/>
          <p:nvPr/>
        </p:nvSpPr>
        <p:spPr>
          <a:xfrm>
            <a:off x="10597896" y="3200400"/>
            <a:ext cx="868680" cy="420624"/>
          </a:xfrm>
          <a:prstGeom prst="rect">
            <a:avLst/>
          </a:prstGeom>
          <a:noFill/>
        </p:spPr>
        <p:txBody>
          <a:bodyPr wrap="square" anchor="ctr" lIns="18288" rIns="18288" tIns="61976" bIns="9144">
            <a:spAutoFit/>
          </a:bodyPr>
          <a:lstStyle/>
          <a:p>
            <a:pPr algn="l">
              <a:lnSpc>
                <a:spcPct val="105000"/>
              </a:lnSpc>
            </a:pPr>
            <a:r>
              <a:rPr sz="1600" b="0" i="1" lang="ja-JP">
                <a:solidFill>
                  <a:srgbClr val="26303A"/>
                </a:solidFill>
                <a:latin typeface="Meiryo"/>
                <a:ea typeface="Meiryo"/>
              </a:rPr>
              <a:t>D</a:t>
            </a:r>
            <a:r>
              <a:rPr sz="1600" b="0" i="0" lang="ja-JP">
                <a:solidFill>
                  <a:srgbClr val="26303A"/>
                </a:solidFill>
                <a:latin typeface="Meiryo"/>
                <a:ea typeface="Meiryo"/>
              </a:rPr>
              <a:t> = 4</a:t>
            </a:r>
          </a:p>
        </p:txBody>
      </p:sp>
      <p:sp>
        <p:nvSpPr>
          <p:cNvPr id="26" name="TextBox 25"/>
          <p:cNvSpPr txBox="1"/>
          <p:nvPr/>
        </p:nvSpPr>
        <p:spPr>
          <a:xfrm>
            <a:off x="7333488" y="3621024"/>
            <a:ext cx="4199839" cy="310896"/>
          </a:xfrm>
          <a:prstGeom prst="rect">
            <a:avLst/>
          </a:prstGeom>
          <a:noFill/>
        </p:spPr>
        <p:txBody>
          <a:bodyPr wrap="square" anchor="ctr" lIns="18288" rIns="18288" tIns="58674" bIns="9144">
            <a:spAutoFit/>
          </a:bodyPr>
          <a:lstStyle/>
          <a:p>
            <a:pPr algn="l">
              <a:lnSpc>
                <a:spcPct val="105000"/>
              </a:lnSpc>
            </a:pPr>
            <a:r>
              <a:rPr sz="1500" b="0" i="0" lang="ja-JP">
                <a:solidFill>
                  <a:srgbClr val="B03A2E"/>
                </a:solidFill>
                <a:latin typeface="Meiryo"/>
                <a:ea typeface="Meiryo"/>
              </a:rPr>
              <a:t>↓ swap：J4 と J3 を入れ替え</a:t>
            </a:r>
          </a:p>
        </p:txBody>
      </p:sp>
      <p:sp>
        <p:nvSpPr>
          <p:cNvPr id="27" name="TextBox 26"/>
          <p:cNvSpPr txBox="1"/>
          <p:nvPr/>
        </p:nvSpPr>
        <p:spPr>
          <a:xfrm>
            <a:off x="6419088" y="3931920"/>
            <a:ext cx="1417320" cy="420624"/>
          </a:xfrm>
          <a:prstGeom prst="rect">
            <a:avLst/>
          </a:prstGeom>
          <a:noFill/>
        </p:spPr>
        <p:txBody>
          <a:bodyPr wrap="square" anchor="ctr" lIns="18288" rIns="18288" tIns="61976" bIns="9144">
            <a:spAutoFit/>
          </a:bodyPr>
          <a:lstStyle/>
          <a:p>
            <a:pPr algn="l">
              <a:lnSpc>
                <a:spcPct val="105000"/>
              </a:lnSpc>
            </a:pPr>
            <a:r>
              <a:rPr sz="1600" b="1" i="0" lang="ja-JP">
                <a:solidFill>
                  <a:srgbClr val="26303A"/>
                </a:solidFill>
                <a:latin typeface="Meiryo"/>
                <a:ea typeface="Meiryo"/>
              </a:rPr>
              <a:t>1 回目</a:t>
            </a:r>
          </a:p>
        </p:txBody>
      </p:sp>
      <p:sp>
        <p:nvSpPr>
          <p:cNvPr id="28" name="Rounded Rectangle 27"/>
          <p:cNvSpPr/>
          <p:nvPr/>
        </p:nvSpPr>
        <p:spPr>
          <a:xfrm>
            <a:off x="7836408" y="3931920"/>
            <a:ext cx="603504"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29" name="Rounded Rectangle 28"/>
          <p:cNvSpPr/>
          <p:nvPr/>
        </p:nvSpPr>
        <p:spPr>
          <a:xfrm>
            <a:off x="8513064" y="3931920"/>
            <a:ext cx="603504" cy="420624"/>
          </a:xfrm>
          <a:prstGeom prst="roundRect">
            <a:avLst>
              <a:gd name="adj" fmla="val 10000"/>
            </a:avLst>
          </a:prstGeom>
          <a:solidFill>
            <a:srgbClr val="6F9E7C"/>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30" name="Rounded Rectangle 29"/>
          <p:cNvSpPr/>
          <p:nvPr/>
        </p:nvSpPr>
        <p:spPr>
          <a:xfrm>
            <a:off x="9189720" y="3931920"/>
            <a:ext cx="603504" cy="420624"/>
          </a:xfrm>
          <a:prstGeom prst="roundRect">
            <a:avLst>
              <a:gd name="adj" fmla="val 10000"/>
            </a:avLst>
          </a:prstGeom>
          <a:solidFill>
            <a:srgbClr val="D98E45"/>
          </a:solidFill>
          <a:ln w="3048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31" name="Rounded Rectangle 30"/>
          <p:cNvSpPr/>
          <p:nvPr/>
        </p:nvSpPr>
        <p:spPr>
          <a:xfrm>
            <a:off x="9866376" y="3931920"/>
            <a:ext cx="603504"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J4</a:t>
            </a:r>
          </a:p>
        </p:txBody>
      </p:sp>
      <p:sp>
        <p:nvSpPr>
          <p:cNvPr id="32" name="TextBox 31"/>
          <p:cNvSpPr txBox="1"/>
          <p:nvPr/>
        </p:nvSpPr>
        <p:spPr>
          <a:xfrm>
            <a:off x="10597896" y="3931920"/>
            <a:ext cx="868680" cy="420624"/>
          </a:xfrm>
          <a:prstGeom prst="rect">
            <a:avLst/>
          </a:prstGeom>
          <a:noFill/>
        </p:spPr>
        <p:txBody>
          <a:bodyPr wrap="square" anchor="ctr" lIns="18288" rIns="18288" tIns="61976" bIns="9144">
            <a:spAutoFit/>
          </a:bodyPr>
          <a:lstStyle/>
          <a:p>
            <a:pPr algn="l">
              <a:lnSpc>
                <a:spcPct val="105000"/>
              </a:lnSpc>
            </a:pPr>
            <a:r>
              <a:rPr sz="1600" b="0" i="1" lang="ja-JP">
                <a:solidFill>
                  <a:srgbClr val="26303A"/>
                </a:solidFill>
                <a:latin typeface="Meiryo"/>
                <a:ea typeface="Meiryo"/>
              </a:rPr>
              <a:t>D</a:t>
            </a:r>
            <a:r>
              <a:rPr sz="1600" b="0" i="0" lang="ja-JP">
                <a:solidFill>
                  <a:srgbClr val="26303A"/>
                </a:solidFill>
                <a:latin typeface="Meiryo"/>
                <a:ea typeface="Meiryo"/>
              </a:rPr>
              <a:t> = 2</a:t>
            </a:r>
          </a:p>
        </p:txBody>
      </p:sp>
      <p:sp>
        <p:nvSpPr>
          <p:cNvPr id="33" name="TextBox 32"/>
          <p:cNvSpPr txBox="1"/>
          <p:nvPr/>
        </p:nvSpPr>
        <p:spPr>
          <a:xfrm>
            <a:off x="7333488" y="4352544"/>
            <a:ext cx="4199839" cy="310896"/>
          </a:xfrm>
          <a:prstGeom prst="rect">
            <a:avLst/>
          </a:prstGeom>
          <a:noFill/>
        </p:spPr>
        <p:txBody>
          <a:bodyPr wrap="square" anchor="ctr" lIns="18288" rIns="18288" tIns="58674" bIns="9144">
            <a:spAutoFit/>
          </a:bodyPr>
          <a:lstStyle/>
          <a:p>
            <a:pPr algn="l">
              <a:lnSpc>
                <a:spcPct val="105000"/>
              </a:lnSpc>
            </a:pPr>
            <a:r>
              <a:rPr sz="1500" b="0" i="0" lang="ja-JP">
                <a:solidFill>
                  <a:srgbClr val="B03A2E"/>
                </a:solidFill>
                <a:latin typeface="Meiryo"/>
                <a:ea typeface="Meiryo"/>
              </a:rPr>
              <a:t>↓ swap：J3 と J2 を入れ替え（</a:t>
            </a:r>
            <a:r>
              <a:rPr sz="1500" b="0" i="1" lang="ja-JP">
                <a:solidFill>
                  <a:srgbClr val="B03A2E"/>
                </a:solidFill>
                <a:latin typeface="Meiryo"/>
                <a:ea typeface="Meiryo"/>
              </a:rPr>
              <a:t>S</a:t>
            </a:r>
            <a:r>
              <a:rPr sz="1080" b="0" i="1" lang="ja-JP" baseline="-22000">
                <a:solidFill>
                  <a:srgbClr val="B03A2E"/>
                </a:solidFill>
                <a:latin typeface="Meiryo"/>
                <a:ea typeface="Meiryo"/>
              </a:rPr>
              <a:t>p</a:t>
            </a:r>
            <a:r>
              <a:rPr sz="1500" b="0" i="0" lang="ja-JP">
                <a:solidFill>
                  <a:srgbClr val="B03A2E"/>
                </a:solidFill>
                <a:latin typeface="Meiryo"/>
                <a:ea typeface="Meiryo"/>
              </a:rPr>
              <a:t> に到達）</a:t>
            </a:r>
          </a:p>
        </p:txBody>
      </p:sp>
      <p:sp>
        <p:nvSpPr>
          <p:cNvPr id="34" name="TextBox 33"/>
          <p:cNvSpPr txBox="1"/>
          <p:nvPr/>
        </p:nvSpPr>
        <p:spPr>
          <a:xfrm>
            <a:off x="6419088" y="4663440"/>
            <a:ext cx="1417320" cy="420624"/>
          </a:xfrm>
          <a:prstGeom prst="rect">
            <a:avLst/>
          </a:prstGeom>
          <a:noFill/>
        </p:spPr>
        <p:txBody>
          <a:bodyPr wrap="square" anchor="ctr" lIns="18288" rIns="18288" tIns="61976" bIns="9144">
            <a:spAutoFit/>
          </a:bodyPr>
          <a:lstStyle/>
          <a:p>
            <a:pPr algn="l">
              <a:lnSpc>
                <a:spcPct val="105000"/>
              </a:lnSpc>
            </a:pPr>
            <a:r>
              <a:rPr sz="1600" b="1" i="0" lang="ja-JP">
                <a:solidFill>
                  <a:srgbClr val="26303A"/>
                </a:solidFill>
                <a:latin typeface="Meiryo"/>
                <a:ea typeface="Meiryo"/>
              </a:rPr>
              <a:t>2 回目</a:t>
            </a:r>
          </a:p>
        </p:txBody>
      </p:sp>
      <p:sp>
        <p:nvSpPr>
          <p:cNvPr id="35" name="Rounded Rectangle 34"/>
          <p:cNvSpPr/>
          <p:nvPr/>
        </p:nvSpPr>
        <p:spPr>
          <a:xfrm>
            <a:off x="7836408" y="4663440"/>
            <a:ext cx="603504" cy="420624"/>
          </a:xfrm>
          <a:prstGeom prst="roundRect">
            <a:avLst>
              <a:gd name="adj" fmla="val 10000"/>
            </a:avLst>
          </a:prstGeom>
          <a:solidFill>
            <a:srgbClr val="3E61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J1</a:t>
            </a:r>
          </a:p>
        </p:txBody>
      </p:sp>
      <p:sp>
        <p:nvSpPr>
          <p:cNvPr id="36" name="Rounded Rectangle 35"/>
          <p:cNvSpPr/>
          <p:nvPr/>
        </p:nvSpPr>
        <p:spPr>
          <a:xfrm>
            <a:off x="8513064" y="4663440"/>
            <a:ext cx="603504" cy="420624"/>
          </a:xfrm>
          <a:prstGeom prst="roundRect">
            <a:avLst>
              <a:gd name="adj" fmla="val 10000"/>
            </a:avLst>
          </a:prstGeom>
          <a:solidFill>
            <a:srgbClr val="D98E4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J2</a:t>
            </a:r>
          </a:p>
        </p:txBody>
      </p:sp>
      <p:sp>
        <p:nvSpPr>
          <p:cNvPr id="37" name="Rounded Rectangle 36"/>
          <p:cNvSpPr/>
          <p:nvPr/>
        </p:nvSpPr>
        <p:spPr>
          <a:xfrm>
            <a:off x="9189720" y="4663440"/>
            <a:ext cx="603504" cy="420624"/>
          </a:xfrm>
          <a:prstGeom prst="roundRect">
            <a:avLst>
              <a:gd name="adj" fmla="val 10000"/>
            </a:avLst>
          </a:prstGeom>
          <a:solidFill>
            <a:srgbClr val="6F9E7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J3</a:t>
            </a:r>
          </a:p>
        </p:txBody>
      </p:sp>
      <p:sp>
        <p:nvSpPr>
          <p:cNvPr id="38" name="Rounded Rectangle 37"/>
          <p:cNvSpPr/>
          <p:nvPr/>
        </p:nvSpPr>
        <p:spPr>
          <a:xfrm>
            <a:off x="9866376" y="4663440"/>
            <a:ext cx="603504" cy="420624"/>
          </a:xfrm>
          <a:prstGeom prst="roundRect">
            <a:avLst>
              <a:gd name="adj" fmla="val 10000"/>
            </a:avLst>
          </a:prstGeom>
          <a:solidFill>
            <a:srgbClr val="8A86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1120" bIns="18288"/>
          <a:lstStyle/>
          <a:p>
            <a:pPr algn="ctr">
              <a:lnSpc>
                <a:spcPct val="100000"/>
              </a:lnSpc>
            </a:pPr>
            <a:r>
              <a:rPr sz="1600" b="1" i="0" lang="ja-JP">
                <a:solidFill>
                  <a:srgbClr val="FFFFFF"/>
                </a:solidFill>
                <a:latin typeface="Meiryo"/>
                <a:ea typeface="Meiryo"/>
              </a:rPr>
              <a:t>J4</a:t>
            </a:r>
          </a:p>
        </p:txBody>
      </p:sp>
      <p:sp>
        <p:nvSpPr>
          <p:cNvPr id="39" name="TextBox 38"/>
          <p:cNvSpPr txBox="1"/>
          <p:nvPr/>
        </p:nvSpPr>
        <p:spPr>
          <a:xfrm>
            <a:off x="10597896" y="4663440"/>
            <a:ext cx="868680" cy="420624"/>
          </a:xfrm>
          <a:prstGeom prst="rect">
            <a:avLst/>
          </a:prstGeom>
          <a:noFill/>
        </p:spPr>
        <p:txBody>
          <a:bodyPr wrap="square" anchor="ctr" lIns="18288" rIns="18288" tIns="61976" bIns="9144">
            <a:spAutoFit/>
          </a:bodyPr>
          <a:lstStyle/>
          <a:p>
            <a:pPr algn="l">
              <a:lnSpc>
                <a:spcPct val="105000"/>
              </a:lnSpc>
            </a:pPr>
            <a:r>
              <a:rPr sz="1600" b="0" i="1" lang="ja-JP">
                <a:solidFill>
                  <a:srgbClr val="26303A"/>
                </a:solidFill>
                <a:latin typeface="Meiryo"/>
                <a:ea typeface="Meiryo"/>
              </a:rPr>
              <a:t>D</a:t>
            </a:r>
            <a:r>
              <a:rPr sz="1600" b="0" i="0" lang="ja-JP">
                <a:solidFill>
                  <a:srgbClr val="26303A"/>
                </a:solidFill>
                <a:latin typeface="Meiryo"/>
                <a:ea typeface="Meiryo"/>
              </a:rPr>
              <a:t> = 0</a:t>
            </a:r>
          </a:p>
        </p:txBody>
      </p:sp>
      <p:sp>
        <p:nvSpPr>
          <p:cNvPr id="40" name="TextBox 39"/>
          <p:cNvSpPr txBox="1"/>
          <p:nvPr/>
        </p:nvSpPr>
        <p:spPr>
          <a:xfrm>
            <a:off x="6419088" y="5102351"/>
            <a:ext cx="5022799" cy="512064"/>
          </a:xfrm>
          <a:prstGeom prst="rect">
            <a:avLst/>
          </a:prstGeom>
          <a:noFill/>
        </p:spPr>
        <p:txBody>
          <a:bodyPr wrap="square" anchor="ctr" lIns="18288" rIns="18288" tIns="58674" bIns="9144">
            <a:spAutoFit/>
          </a:bodyPr>
          <a:lstStyle/>
          <a:p>
            <a:pPr algn="l">
              <a:lnSpc>
                <a:spcPct val="105000"/>
              </a:lnSpc>
            </a:pPr>
            <a:r>
              <a:rPr sz="1500" b="0" i="0" lang="ja-JP">
                <a:solidFill>
                  <a:srgbClr val="6E7A88"/>
                </a:solidFill>
                <a:latin typeface="Meiryo"/>
                <a:ea typeface="Meiryo"/>
              </a:rPr>
              <a:t>赤枠：</a:t>
            </a:r>
            <a:r>
              <a:rPr sz="1500" b="0" i="1" lang="ja-JP">
                <a:solidFill>
                  <a:srgbClr val="6E7A88"/>
                </a:solidFill>
                <a:latin typeface="Meiryo"/>
                <a:ea typeface="Meiryo"/>
              </a:rPr>
              <a:t>S</a:t>
            </a:r>
            <a:r>
              <a:rPr sz="1080" b="0" i="1" lang="ja-JP" baseline="-22000">
                <a:solidFill>
                  <a:srgbClr val="6E7A88"/>
                </a:solidFill>
                <a:latin typeface="Meiryo"/>
                <a:ea typeface="Meiryo"/>
              </a:rPr>
              <a:t>p</a:t>
            </a:r>
            <a:r>
              <a:rPr sz="1500" b="0" i="0" lang="ja-JP">
                <a:solidFill>
                  <a:srgbClr val="6E7A88"/>
                </a:solidFill>
                <a:latin typeface="Meiryo"/>
                <a:ea typeface="Meiryo"/>
              </a:rPr>
              <a:t> と順位が異なる作業（その数が </a:t>
            </a:r>
            <a:r>
              <a:rPr sz="1500" b="0" i="1" lang="ja-JP">
                <a:solidFill>
                  <a:srgbClr val="6E7A88"/>
                </a:solidFill>
                <a:latin typeface="Meiryo"/>
                <a:ea typeface="Meiryo"/>
              </a:rPr>
              <a:t>d</a:t>
            </a:r>
            <a:r>
              <a:rPr sz="1500" b="0" i="0" lang="ja-JP">
                <a:solidFill>
                  <a:srgbClr val="6E7A88"/>
                </a:solidFill>
                <a:latin typeface="Meiryo"/>
                <a:ea typeface="Meiryo"/>
              </a:rPr>
              <a:t>）</a:t>
            </a:r>
          </a:p>
          <a:p>
            <a:pPr algn="l">
              <a:lnSpc>
                <a:spcPct val="105000"/>
              </a:lnSpc>
            </a:pPr>
            <a:r>
              <a:rPr sz="1500" b="0" i="0" lang="ja-JP">
                <a:solidFill>
                  <a:srgbClr val="6E7A88"/>
                </a:solidFill>
                <a:latin typeface="Meiryo"/>
                <a:ea typeface="Meiryo"/>
              </a:rPr>
              <a:t>1 回の swap で 1 作業が </a:t>
            </a:r>
            <a:r>
              <a:rPr sz="1500" b="0" i="1" lang="ja-JP">
                <a:solidFill>
                  <a:srgbClr val="6E7A88"/>
                </a:solidFill>
                <a:latin typeface="Meiryo"/>
                <a:ea typeface="Meiryo"/>
              </a:rPr>
              <a:t>S</a:t>
            </a:r>
            <a:r>
              <a:rPr sz="1080" b="0" i="1" lang="ja-JP" baseline="-22000">
                <a:solidFill>
                  <a:srgbClr val="6E7A88"/>
                </a:solidFill>
                <a:latin typeface="Meiryo"/>
                <a:ea typeface="Meiryo"/>
              </a:rPr>
              <a:t>p</a:t>
            </a:r>
            <a:r>
              <a:rPr sz="1500" b="0" i="0" lang="ja-JP">
                <a:solidFill>
                  <a:srgbClr val="6E7A88"/>
                </a:solidFill>
                <a:latin typeface="Meiryo"/>
                <a:ea typeface="Meiryo"/>
              </a:rPr>
              <a:t> の順位に戻り，</a:t>
            </a:r>
            <a:r>
              <a:rPr sz="1500" b="0" i="1" lang="ja-JP">
                <a:solidFill>
                  <a:srgbClr val="6E7A88"/>
                </a:solidFill>
                <a:latin typeface="Meiryo"/>
                <a:ea typeface="Meiryo"/>
              </a:rPr>
              <a:t>D</a:t>
            </a:r>
            <a:r>
              <a:rPr sz="1500" b="0" i="0" lang="ja-JP">
                <a:solidFill>
                  <a:srgbClr val="6E7A88"/>
                </a:solidFill>
                <a:latin typeface="Meiryo"/>
                <a:ea typeface="Meiryo"/>
              </a:rPr>
              <a:t> が減る</a:t>
            </a:r>
          </a:p>
        </p:txBody>
      </p:sp>
      <p:sp>
        <p:nvSpPr>
          <p:cNvPr id="41" name="Rounded Rectangle 40"/>
          <p:cNvSpPr/>
          <p:nvPr/>
        </p:nvSpPr>
        <p:spPr>
          <a:xfrm>
            <a:off x="566928" y="5852159"/>
            <a:ext cx="11057839" cy="475488"/>
          </a:xfrm>
          <a:prstGeom prst="roundRect">
            <a:avLst>
              <a:gd name="adj" fmla="val 12000"/>
            </a:avLst>
          </a:prstGeom>
          <a:solidFill>
            <a:srgbClr val="EDF2F7"/>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5528" y="5852159"/>
            <a:ext cx="10600639" cy="475488"/>
          </a:xfrm>
          <a:prstGeom prst="rect">
            <a:avLst/>
          </a:prstGeom>
          <a:noFill/>
        </p:spPr>
        <p:txBody>
          <a:bodyPr wrap="square" anchor="ctr" lIns="18288" rIns="18288" tIns="68580" bIns="9144">
            <a:spAutoFit/>
          </a:bodyPr>
          <a:lstStyle/>
          <a:p>
            <a:r>
              <a:rPr sz="1800" b="1" i="0" lang="ja-JP">
                <a:solidFill>
                  <a:srgbClr val="16385C"/>
                </a:solidFill>
                <a:latin typeface="Meiryo"/>
                <a:ea typeface="Meiryo"/>
              </a:rPr>
              <a:t>組み込み方　</a:t>
            </a:r>
            <a:r>
              <a:rPr sz="1800" b="1" i="0" lang="ja-JP">
                <a:solidFill>
                  <a:srgbClr val="E06C00"/>
                </a:solidFill>
                <a:latin typeface="Meiryo"/>
                <a:ea typeface="Meiryo"/>
              </a:rPr>
              <a:t>ILS：</a:t>
            </a:r>
            <a:r>
              <a:rPr sz="1800" b="0" i="0" lang="ja-JP">
                <a:solidFill>
                  <a:srgbClr val="26303A"/>
                </a:solidFill>
                <a:latin typeface="Meiryo"/>
                <a:ea typeface="Meiryo"/>
              </a:rPr>
              <a:t>停滞時に摂動として発動　</a:t>
            </a:r>
            <a:r>
              <a:rPr sz="1800" b="1" i="0" lang="ja-JP">
                <a:solidFill>
                  <a:srgbClr val="0F5C28"/>
                </a:solidFill>
                <a:latin typeface="Meiryo"/>
                <a:ea typeface="Meiryo"/>
              </a:rPr>
              <a:t>Memetic：</a:t>
            </a:r>
            <a:r>
              <a:rPr sz="1800" b="0" i="0" lang="ja-JP">
                <a:solidFill>
                  <a:srgbClr val="26303A"/>
                </a:solidFill>
                <a:latin typeface="Meiryo"/>
                <a:ea typeface="Meiryo"/>
              </a:rPr>
              <a:t>各個体に確率的に改善操作として発動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比較する手法と仮説の判定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2. 問題設定と実験計画</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14</a:t>
            </a:r>
          </a:p>
        </p:txBody>
      </p:sp>
      <p:graphicFrame>
        <p:nvGraphicFramePr>
          <p:cNvPr id="6" name="Table 5"/>
          <p:cNvGraphicFramePr>
            <a:graphicFrameLocks noGrp="1"/>
          </p:cNvGraphicFramePr>
          <p:nvPr/>
        </p:nvGraphicFramePr>
        <p:xfrm>
          <a:off x="566928" y="1252728"/>
          <a:ext cx="11057838" cy="1645920"/>
        </p:xfrm>
        <a:graphic>
          <a:graphicData uri="http://schemas.openxmlformats.org/drawingml/2006/table">
            <a:tbl>
              <a:tblPr firstRow="0" bandRow="0">
                <a:tableStyleId>{5940675A-B579-460E-94D1-54222C63F5DA}</a:tableStyleId>
              </a:tblPr>
              <a:tblGrid>
                <a:gridCol w="2764459"/>
                <a:gridCol w="2948757"/>
                <a:gridCol w="2672311"/>
                <a:gridCol w="2672311"/>
              </a:tblGrid>
              <a:tr h="548640">
                <a:tc>
                  <a:txBody>
                    <a:bodyPr wrap="square"/>
                    <a:lstStyle/>
                    <a:p>
                      <a:pPr algn="l"/>
                      <a:r>
                        <a:rPr sz="1800" b="1" i="0" lang="ja-JP">
                          <a:solidFill>
                            <a:srgbClr val="FFFFFF"/>
                          </a:solidFill>
                          <a:latin typeface="Meiryo"/>
                          <a:ea typeface="Meiryo"/>
                        </a:rPr>
                        <a:t>探索構造</a:t>
                      </a:r>
                    </a:p>
                  </a:txBody>
                  <a:tcPr marL="82296" marR="54864" marT="77724" marB="18288" anchor="ctr">
                    <a:solidFill>
                      <a:srgbClr val="16385C"/>
                    </a:solidFill>
                  </a:tcPr>
                </a:tc>
                <a:tc>
                  <a:txBody>
                    <a:bodyPr wrap="square"/>
                    <a:lstStyle/>
                    <a:p>
                      <a:pPr algn="ctr"/>
                      <a:r>
                        <a:rPr sz="1800" b="1" i="0" lang="ja-JP">
                          <a:solidFill>
                            <a:srgbClr val="FFFFFF"/>
                          </a:solidFill>
                          <a:latin typeface="Meiryo"/>
                          <a:ea typeface="Meiryo"/>
                        </a:rPr>
                        <a:t>安定性誘導演算子なし</a:t>
                      </a:r>
                    </a:p>
                  </a:txBody>
                  <a:tcPr marL="82296" marR="54864" marT="77724" marB="18288" anchor="ctr">
                    <a:solidFill>
                      <a:srgbClr val="16385C"/>
                    </a:solidFill>
                  </a:tcPr>
                </a:tc>
                <a:tc>
                  <a:txBody>
                    <a:bodyPr wrap="square"/>
                    <a:lstStyle/>
                    <a:p>
                      <a:pPr algn="ctr"/>
                      <a:r>
                        <a:rPr sz="1800" b="1" i="0" lang="ja-JP">
                          <a:solidFill>
                            <a:srgbClr val="FFFFFF"/>
                          </a:solidFill>
                          <a:latin typeface="Meiryo"/>
                          <a:ea typeface="Meiryo"/>
                        </a:rPr>
                        <a:t>PR-</a:t>
                      </a:r>
                      <a:r>
                        <a:rPr sz="1800" b="1" i="1" lang="ja-JP">
                          <a:solidFill>
                            <a:srgbClr val="FFFFFF"/>
                          </a:solidFill>
                          <a:latin typeface="Meiryo"/>
                          <a:ea typeface="Meiryo"/>
                        </a:rPr>
                        <a:t>k</a:t>
                      </a:r>
                      <a:r>
                        <a:rPr sz="1800" b="1" i="0" lang="ja-JP">
                          <a:solidFill>
                            <a:srgbClr val="FFFFFF"/>
                          </a:solidFill>
                          <a:latin typeface="Meiryo"/>
                          <a:ea typeface="Meiryo"/>
                        </a:rPr>
                        <a:t> を組み込む</a:t>
                      </a:r>
                    </a:p>
                  </a:txBody>
                  <a:tcPr marL="82296" marR="54864" marT="77724" marB="18288" anchor="ctr">
                    <a:solidFill>
                      <a:srgbClr val="16385C"/>
                    </a:solidFill>
                  </a:tcPr>
                </a:tc>
                <a:tc>
                  <a:txBody>
                    <a:bodyPr wrap="square"/>
                    <a:lstStyle/>
                    <a:p>
                      <a:pPr algn="ctr"/>
                      <a:r>
                        <a:rPr sz="1800" b="1" i="0" lang="ja-JP">
                          <a:solidFill>
                            <a:srgbClr val="FFFFFF"/>
                          </a:solidFill>
                          <a:latin typeface="Meiryo"/>
                          <a:ea typeface="Meiryo"/>
                        </a:rPr>
                        <a:t>PR を組み込む</a:t>
                      </a:r>
                    </a:p>
                  </a:txBody>
                  <a:tcPr marL="82296" marR="54864" marT="77724" marB="18288" anchor="ctr">
                    <a:solidFill>
                      <a:srgbClr val="16385C"/>
                    </a:solidFill>
                  </a:tcPr>
                </a:tc>
              </a:tr>
              <a:tr h="548640">
                <a:tc>
                  <a:txBody>
                    <a:bodyPr wrap="square"/>
                    <a:lstStyle/>
                    <a:p>
                      <a:pPr algn="l"/>
                      <a:r>
                        <a:rPr sz="1800" b="1" i="0" lang="ja-JP">
                          <a:solidFill>
                            <a:srgbClr val="E06C00"/>
                          </a:solidFill>
                          <a:latin typeface="Meiryo"/>
                          <a:ea typeface="Meiryo"/>
                        </a:rPr>
                        <a:t>単点探索（ILS）</a:t>
                      </a:r>
                    </a:p>
                  </a:txBody>
                  <a:tcPr marL="82296" marR="54864" marT="77724" marB="18288" anchor="ctr">
                    <a:solidFill>
                      <a:srgbClr val="FFFFFF"/>
                    </a:solidFill>
                    <a:lnB w="9525" cap="flat">
                      <a:solidFill>
                        <a:srgbClr val="D6DEE7"/>
                      </a:solidFill>
                    </a:lnB>
                  </a:tcPr>
                </a:tc>
                <a:tc>
                  <a:txBody>
                    <a:bodyPr wrap="square"/>
                    <a:lstStyle/>
                    <a:p>
                      <a:pPr algn="ctr"/>
                      <a:r>
                        <a:rPr sz="1800" b="1" i="0" lang="ja-JP">
                          <a:solidFill>
                            <a:srgbClr val="E06C00"/>
                          </a:solidFill>
                          <a:latin typeface="Meiryo"/>
                          <a:ea typeface="Meiryo"/>
                        </a:rPr>
                        <a:t>ILS</a:t>
                      </a:r>
                    </a:p>
                  </a:txBody>
                  <a:tcPr marL="82296" marR="54864" marT="77724" marB="18288" anchor="ctr">
                    <a:solidFill>
                      <a:srgbClr val="FFFFFF"/>
                    </a:solidFill>
                    <a:lnB w="9525" cap="flat">
                      <a:solidFill>
                        <a:srgbClr val="D6DEE7"/>
                      </a:solidFill>
                    </a:lnB>
                  </a:tcPr>
                </a:tc>
                <a:tc>
                  <a:txBody>
                    <a:bodyPr wrap="square"/>
                    <a:lstStyle/>
                    <a:p>
                      <a:pPr algn="ctr"/>
                      <a:r>
                        <a:rPr sz="1800" b="1" i="0" lang="ja-JP">
                          <a:solidFill>
                            <a:srgbClr val="E06C00"/>
                          </a:solidFill>
                          <a:latin typeface="Meiryo"/>
                          <a:ea typeface="Meiryo"/>
                        </a:rPr>
                        <a:t>ILS＋PR-</a:t>
                      </a:r>
                      <a:r>
                        <a:rPr sz="1800" b="1" i="1" lang="ja-JP">
                          <a:solidFill>
                            <a:srgbClr val="E06C00"/>
                          </a:solidFill>
                          <a:latin typeface="Meiryo"/>
                          <a:ea typeface="Meiryo"/>
                        </a:rPr>
                        <a:t>k</a:t>
                      </a:r>
                    </a:p>
                  </a:txBody>
                  <a:tcPr marL="82296" marR="54864" marT="77724" marB="18288" anchor="ctr">
                    <a:solidFill>
                      <a:srgbClr val="FFFFFF"/>
                    </a:solidFill>
                    <a:lnB w="9525" cap="flat">
                      <a:solidFill>
                        <a:srgbClr val="D6DEE7"/>
                      </a:solidFill>
                    </a:lnB>
                  </a:tcPr>
                </a:tc>
                <a:tc>
                  <a:txBody>
                    <a:bodyPr wrap="square"/>
                    <a:lstStyle/>
                    <a:p>
                      <a:pPr algn="ctr"/>
                      <a:r>
                        <a:rPr sz="1800" b="1" i="0" lang="ja-JP">
                          <a:solidFill>
                            <a:srgbClr val="E06C00"/>
                          </a:solidFill>
                          <a:latin typeface="Meiryo"/>
                          <a:ea typeface="Meiryo"/>
                        </a:rPr>
                        <a:t>ILS＋PR</a:t>
                      </a:r>
                    </a:p>
                  </a:txBody>
                  <a:tcPr marL="82296" marR="54864" marT="77724" marB="18288" anchor="ctr">
                    <a:solidFill>
                      <a:srgbClr val="FFFFFF"/>
                    </a:solidFill>
                    <a:lnB w="9525" cap="flat">
                      <a:solidFill>
                        <a:srgbClr val="D6DEE7"/>
                      </a:solidFill>
                    </a:lnB>
                  </a:tcPr>
                </a:tc>
              </a:tr>
              <a:tr h="548640">
                <a:tc>
                  <a:txBody>
                    <a:bodyPr wrap="square"/>
                    <a:lstStyle/>
                    <a:p>
                      <a:pPr algn="l"/>
                      <a:r>
                        <a:rPr sz="1800" b="1" i="0" lang="ja-JP">
                          <a:solidFill>
                            <a:srgbClr val="0F5C28"/>
                          </a:solidFill>
                          <a:latin typeface="Meiryo"/>
                          <a:ea typeface="Meiryo"/>
                        </a:rPr>
                        <a:t>多点探索（Memetic）</a:t>
                      </a:r>
                    </a:p>
                  </a:txBody>
                  <a:tcPr marL="82296" marR="54864" marT="77724" marB="18288" anchor="ctr">
                    <a:solidFill>
                      <a:srgbClr val="F6F9FB"/>
                    </a:solidFill>
                    <a:lnB w="9525" cap="flat">
                      <a:solidFill>
                        <a:srgbClr val="D6DEE7"/>
                      </a:solidFill>
                    </a:lnB>
                  </a:tcPr>
                </a:tc>
                <a:tc>
                  <a:txBody>
                    <a:bodyPr wrap="square"/>
                    <a:lstStyle/>
                    <a:p>
                      <a:pPr algn="ctr"/>
                      <a:r>
                        <a:rPr sz="1800" b="1" i="0" lang="ja-JP">
                          <a:solidFill>
                            <a:srgbClr val="0F5C28"/>
                          </a:solidFill>
                          <a:latin typeface="Meiryo"/>
                          <a:ea typeface="Meiryo"/>
                        </a:rPr>
                        <a:t>Memetic</a:t>
                      </a:r>
                    </a:p>
                  </a:txBody>
                  <a:tcPr marL="82296" marR="54864" marT="77724" marB="18288" anchor="ctr">
                    <a:solidFill>
                      <a:srgbClr val="F6F9FB"/>
                    </a:solidFill>
                    <a:lnB w="9525" cap="flat">
                      <a:solidFill>
                        <a:srgbClr val="D6DEE7"/>
                      </a:solidFill>
                    </a:lnB>
                  </a:tcPr>
                </a:tc>
                <a:tc>
                  <a:txBody>
                    <a:bodyPr wrap="square"/>
                    <a:lstStyle/>
                    <a:p>
                      <a:pPr algn="ctr"/>
                      <a:r>
                        <a:rPr sz="1800" b="1" i="0" lang="ja-JP">
                          <a:solidFill>
                            <a:srgbClr val="0F5C28"/>
                          </a:solidFill>
                          <a:latin typeface="Meiryo"/>
                          <a:ea typeface="Meiryo"/>
                        </a:rPr>
                        <a:t>Memetic＋PR-</a:t>
                      </a:r>
                      <a:r>
                        <a:rPr sz="1800" b="1" i="1" lang="ja-JP">
                          <a:solidFill>
                            <a:srgbClr val="0F5C28"/>
                          </a:solidFill>
                          <a:latin typeface="Meiryo"/>
                          <a:ea typeface="Meiryo"/>
                        </a:rPr>
                        <a:t>k</a:t>
                      </a:r>
                    </a:p>
                  </a:txBody>
                  <a:tcPr marL="82296" marR="54864" marT="77724" marB="18288" anchor="ctr">
                    <a:solidFill>
                      <a:srgbClr val="F6F9FB"/>
                    </a:solidFill>
                    <a:lnB w="9525" cap="flat">
                      <a:solidFill>
                        <a:srgbClr val="D6DEE7"/>
                      </a:solidFill>
                    </a:lnB>
                  </a:tcPr>
                </a:tc>
                <a:tc>
                  <a:txBody>
                    <a:bodyPr wrap="square"/>
                    <a:lstStyle/>
                    <a:p>
                      <a:pPr algn="ctr"/>
                      <a:r>
                        <a:rPr sz="1800" b="1" i="0" lang="ja-JP">
                          <a:solidFill>
                            <a:srgbClr val="0F5C28"/>
                          </a:solidFill>
                          <a:latin typeface="Meiryo"/>
                          <a:ea typeface="Meiryo"/>
                        </a:rPr>
                        <a:t>Memetic＋PR</a:t>
                      </a:r>
                    </a:p>
                  </a:txBody>
                  <a:tcPr marL="82296" marR="54864" marT="77724" marB="18288" anchor="ctr">
                    <a:solidFill>
                      <a:srgbClr val="F6F9FB"/>
                    </a:solidFill>
                    <a:lnB w="9525" cap="flat">
                      <a:solidFill>
                        <a:srgbClr val="D6DEE7"/>
                      </a:solidFill>
                    </a:lnB>
                  </a:tcPr>
                </a:tc>
              </a:tr>
            </a:tbl>
          </a:graphicData>
        </a:graphic>
      </p:graphicFrame>
      <p:sp>
        <p:nvSpPr>
          <p:cNvPr id="7" name="Rounded Rectangle 6"/>
          <p:cNvSpPr/>
          <p:nvPr/>
        </p:nvSpPr>
        <p:spPr>
          <a:xfrm>
            <a:off x="3377107" y="2395728"/>
            <a:ext cx="8201939" cy="457199"/>
          </a:xfrm>
          <a:prstGeom prst="roundRect">
            <a:avLst>
              <a:gd name="adj" fmla="val 8000"/>
            </a:avLst>
          </a:prstGeom>
          <a:noFill/>
          <a:ln w="2794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377107" y="1847088"/>
            <a:ext cx="2857317" cy="1005839"/>
          </a:xfrm>
          <a:prstGeom prst="roundRect">
            <a:avLst>
              <a:gd name="adj" fmla="val 8000"/>
            </a:avLst>
          </a:prstGeom>
          <a:noFill/>
          <a:ln w="2794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3392424"/>
            <a:ext cx="1188720" cy="402336"/>
          </a:xfrm>
          <a:prstGeom prst="roundRect">
            <a:avLst>
              <a:gd name="adj" fmla="val 3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7724" bIns="18288"/>
          <a:lstStyle/>
          <a:p>
            <a:pPr algn="ctr">
              <a:lnSpc>
                <a:spcPct val="100000"/>
              </a:lnSpc>
            </a:pPr>
            <a:r>
              <a:rPr sz="1800" b="1" i="0" lang="ja-JP">
                <a:solidFill>
                  <a:srgbClr val="FFFFFF"/>
                </a:solidFill>
                <a:latin typeface="Meiryo"/>
                <a:ea typeface="Meiryo"/>
              </a:rPr>
              <a:t>仮説 1</a:t>
            </a:r>
          </a:p>
        </p:txBody>
      </p:sp>
      <p:sp>
        <p:nvSpPr>
          <p:cNvPr id="10" name="TextBox 9"/>
          <p:cNvSpPr txBox="1"/>
          <p:nvPr/>
        </p:nvSpPr>
        <p:spPr>
          <a:xfrm>
            <a:off x="1938528" y="3355848"/>
            <a:ext cx="9686239" cy="475488"/>
          </a:xfrm>
          <a:prstGeom prst="rect">
            <a:avLst/>
          </a:prstGeom>
          <a:noFill/>
        </p:spPr>
        <p:txBody>
          <a:bodyPr wrap="square" anchor="ctr" lIns="18288" rIns="18288" tIns="68580" bIns="9144">
            <a:spAutoFit/>
          </a:bodyPr>
          <a:lstStyle/>
          <a:p>
            <a:pPr algn="l">
              <a:lnSpc>
                <a:spcPct val="105000"/>
              </a:lnSpc>
            </a:pPr>
            <a:r>
              <a:rPr sz="1800" b="1" i="0" lang="ja-JP">
                <a:solidFill>
                  <a:srgbClr val="26303A"/>
                </a:solidFill>
                <a:latin typeface="Meiryo"/>
                <a:ea typeface="Meiryo"/>
              </a:rPr>
              <a:t>単点探索のほうが，多点探索より高安定 HV が大きい</a:t>
            </a:r>
          </a:p>
        </p:txBody>
      </p:sp>
      <p:sp>
        <p:nvSpPr>
          <p:cNvPr id="11" name="TextBox 10"/>
          <p:cNvSpPr txBox="1"/>
          <p:nvPr/>
        </p:nvSpPr>
        <p:spPr>
          <a:xfrm>
            <a:off x="1938528" y="3849624"/>
            <a:ext cx="9686239" cy="365760"/>
          </a:xfrm>
          <a:prstGeom prst="rect">
            <a:avLst/>
          </a:prstGeom>
          <a:noFill/>
        </p:spPr>
        <p:txBody>
          <a:bodyPr wrap="square" anchor="ctr" lIns="18288" rIns="18288" tIns="61976" bIns="9144">
            <a:spAutoFit/>
          </a:bodyPr>
          <a:lstStyle/>
          <a:p>
            <a:r>
              <a:rPr sz="1600" b="1" i="0" lang="ja-JP">
                <a:solidFill>
                  <a:srgbClr val="16385C"/>
                </a:solidFill>
                <a:latin typeface="Meiryo"/>
                <a:ea typeface="Meiryo"/>
              </a:rPr>
              <a:t>判定：</a:t>
            </a:r>
            <a:r>
              <a:rPr sz="1600" b="0" i="0" lang="ja-JP">
                <a:solidFill>
                  <a:srgbClr val="26303A"/>
                </a:solidFill>
                <a:latin typeface="Meiryo"/>
                <a:ea typeface="Meiryo"/>
              </a:rPr>
              <a:t>ILS が Memetic を全シナリオで有意に上回れば支持</a:t>
            </a:r>
          </a:p>
        </p:txBody>
      </p:sp>
      <p:sp>
        <p:nvSpPr>
          <p:cNvPr id="12" name="Rectangle 11"/>
          <p:cNvSpPr/>
          <p:nvPr/>
        </p:nvSpPr>
        <p:spPr>
          <a:xfrm>
            <a:off x="566928" y="4407407"/>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66928" y="4581144"/>
            <a:ext cx="1188720" cy="402336"/>
          </a:xfrm>
          <a:prstGeom prst="roundRect">
            <a:avLst>
              <a:gd name="adj" fmla="val 30000"/>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7724" bIns="18288"/>
          <a:lstStyle/>
          <a:p>
            <a:pPr algn="ctr">
              <a:lnSpc>
                <a:spcPct val="100000"/>
              </a:lnSpc>
            </a:pPr>
            <a:r>
              <a:rPr sz="1800" b="1" i="0" lang="ja-JP">
                <a:solidFill>
                  <a:srgbClr val="FFFFFF"/>
                </a:solidFill>
                <a:latin typeface="Meiryo"/>
                <a:ea typeface="Meiryo"/>
              </a:rPr>
              <a:t>仮説 2</a:t>
            </a:r>
          </a:p>
        </p:txBody>
      </p:sp>
      <p:sp>
        <p:nvSpPr>
          <p:cNvPr id="14" name="TextBox 13"/>
          <p:cNvSpPr txBox="1"/>
          <p:nvPr/>
        </p:nvSpPr>
        <p:spPr>
          <a:xfrm>
            <a:off x="1938528" y="4544568"/>
            <a:ext cx="9686239" cy="475488"/>
          </a:xfrm>
          <a:prstGeom prst="rect">
            <a:avLst/>
          </a:prstGeom>
          <a:noFill/>
        </p:spPr>
        <p:txBody>
          <a:bodyPr wrap="square" anchor="ctr" lIns="18288" rIns="18288" tIns="68580" bIns="9144">
            <a:spAutoFit/>
          </a:bodyPr>
          <a:lstStyle/>
          <a:p>
            <a:pPr algn="l">
              <a:lnSpc>
                <a:spcPct val="105000"/>
              </a:lnSpc>
            </a:pPr>
            <a:r>
              <a:rPr sz="1800" b="1" i="0" lang="ja-JP">
                <a:solidFill>
                  <a:srgbClr val="26303A"/>
                </a:solidFill>
                <a:latin typeface="Meiryo"/>
                <a:ea typeface="Meiryo"/>
              </a:rPr>
              <a:t>安定性誘導演算子を組み込めば，多点探索の高安定 HV は向上する</a:t>
            </a:r>
          </a:p>
        </p:txBody>
      </p:sp>
      <p:sp>
        <p:nvSpPr>
          <p:cNvPr id="15" name="TextBox 14"/>
          <p:cNvSpPr txBox="1"/>
          <p:nvPr/>
        </p:nvSpPr>
        <p:spPr>
          <a:xfrm>
            <a:off x="1938528" y="5038344"/>
            <a:ext cx="9686239" cy="365760"/>
          </a:xfrm>
          <a:prstGeom prst="rect">
            <a:avLst/>
          </a:prstGeom>
          <a:noFill/>
        </p:spPr>
        <p:txBody>
          <a:bodyPr wrap="square" anchor="ctr" lIns="18288" rIns="18288" tIns="61976" bIns="9144">
            <a:spAutoFit/>
          </a:bodyPr>
          <a:lstStyle/>
          <a:p>
            <a:r>
              <a:rPr sz="1600" b="1" i="0" lang="ja-JP">
                <a:solidFill>
                  <a:srgbClr val="16385C"/>
                </a:solidFill>
                <a:latin typeface="Meiryo"/>
                <a:ea typeface="Meiryo"/>
              </a:rPr>
              <a:t>判定：</a:t>
            </a:r>
            <a:r>
              <a:rPr sz="1600" b="0" i="0" lang="ja-JP">
                <a:solidFill>
                  <a:srgbClr val="26303A"/>
                </a:solidFill>
                <a:latin typeface="Meiryo"/>
                <a:ea typeface="Meiryo"/>
              </a:rPr>
              <a:t>Memetic＋PR-</a:t>
            </a:r>
            <a:r>
              <a:rPr sz="1600" b="0" i="1" lang="ja-JP">
                <a:solidFill>
                  <a:srgbClr val="26303A"/>
                </a:solidFill>
                <a:latin typeface="Meiryo"/>
                <a:ea typeface="Meiryo"/>
              </a:rPr>
              <a:t>k</a:t>
            </a:r>
            <a:r>
              <a:rPr sz="1600" b="0" i="0" lang="ja-JP">
                <a:solidFill>
                  <a:srgbClr val="26303A"/>
                </a:solidFill>
                <a:latin typeface="Meiryo"/>
                <a:ea typeface="Meiryo"/>
              </a:rPr>
              <a:t> と Memetic＋PR がそれぞれ Memetic を全シナリオで有意に上回れば支持</a:t>
            </a:r>
          </a:p>
        </p:txBody>
      </p:sp>
      <p:sp>
        <p:nvSpPr>
          <p:cNvPr id="16" name="Rectangle 15"/>
          <p:cNvSpPr/>
          <p:nvPr/>
        </p:nvSpPr>
        <p:spPr>
          <a:xfrm>
            <a:off x="566928" y="5596127"/>
            <a:ext cx="11057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5724144"/>
            <a:ext cx="11057839" cy="548640"/>
          </a:xfrm>
          <a:prstGeom prst="rect">
            <a:avLst/>
          </a:prstGeom>
          <a:noFill/>
        </p:spPr>
        <p:txBody>
          <a:bodyPr wrap="square" anchor="t" lIns="18288" rIns="18288" tIns="9144" bIns="9144">
            <a:spAutoFit/>
          </a:bodyPr>
          <a:lstStyle/>
          <a:p>
            <a:pPr>
              <a:spcBef>
                <a:spcPts val="0"/>
              </a:spcBef>
            </a:pPr>
            <a:r>
              <a:rPr sz="1500" b="1" i="0" lang="ja-JP">
                <a:solidFill>
                  <a:srgbClr val="6E7A88"/>
                </a:solidFill>
                <a:latin typeface="Meiryo"/>
                <a:ea typeface="Meiryo"/>
              </a:rPr>
              <a:t>検定：</a:t>
            </a:r>
            <a:r>
              <a:rPr sz="1500" b="0" i="0" lang="ja-JP">
                <a:solidFill>
                  <a:srgbClr val="6E7A88"/>
                </a:solidFill>
                <a:latin typeface="Meiryo"/>
                <a:ea typeface="Meiryo"/>
              </a:rPr>
              <a:t>両側 Mann–Whitney の </a:t>
            </a:r>
            <a:r>
              <a:rPr sz="1500" b="0" i="1" lang="ja-JP">
                <a:solidFill>
                  <a:srgbClr val="6E7A88"/>
                </a:solidFill>
                <a:latin typeface="Meiryo"/>
                <a:ea typeface="Meiryo"/>
              </a:rPr>
              <a:t>U</a:t>
            </a:r>
            <a:r>
              <a:rPr sz="1500" b="0" i="0" lang="ja-JP">
                <a:solidFill>
                  <a:srgbClr val="6E7A88"/>
                </a:solidFill>
                <a:latin typeface="Meiryo"/>
                <a:ea typeface="Meiryo"/>
              </a:rPr>
              <a:t> 検定．全シナリオにわたる同じ比較は Holm 法で補正</a:t>
            </a:r>
          </a:p>
          <a:p>
            <a:pPr>
              <a:spcBef>
                <a:spcPts val="200"/>
              </a:spcBef>
            </a:pPr>
            <a:r>
              <a:rPr sz="1500" b="1" i="0" lang="ja-JP">
                <a:solidFill>
                  <a:srgbClr val="6E7A88"/>
                </a:solidFill>
                <a:latin typeface="Meiryo"/>
                <a:ea typeface="Meiryo"/>
              </a:rPr>
              <a:t>効果量：</a:t>
            </a:r>
            <a:r>
              <a:rPr sz="1500" b="0" i="0" lang="ja-JP">
                <a:solidFill>
                  <a:srgbClr val="6E7A88"/>
                </a:solidFill>
                <a:latin typeface="Meiryo"/>
                <a:ea typeface="Meiryo"/>
              </a:rPr>
              <a:t>Cliff's </a:t>
            </a:r>
            <a:r>
              <a:rPr sz="1500" b="0" i="1" lang="ja-JP">
                <a:solidFill>
                  <a:srgbClr val="6E7A88"/>
                </a:solidFill>
                <a:latin typeface="Meiryo"/>
                <a:ea typeface="Meiryo"/>
              </a:rPr>
              <a:t>δ</a:t>
            </a:r>
            <a:r>
              <a:rPr sz="1500" b="0" i="0" lang="ja-JP">
                <a:solidFill>
                  <a:srgbClr val="6E7A88"/>
                </a:solidFill>
                <a:latin typeface="Meiryo"/>
                <a:ea typeface="Meiryo"/>
              </a:rPr>
              <a:t>．</a:t>
            </a:r>
            <a:r>
              <a:rPr sz="1500" b="0" i="1" lang="ja-JP">
                <a:solidFill>
                  <a:srgbClr val="6E7A88"/>
                </a:solidFill>
                <a:latin typeface="Meiryo"/>
                <a:ea typeface="Meiryo"/>
              </a:rPr>
              <a:t>|δ|</a:t>
            </a:r>
            <a:r>
              <a:rPr sz="1500" b="0" i="0" lang="ja-JP">
                <a:solidFill>
                  <a:srgbClr val="6E7A88"/>
                </a:solidFill>
                <a:latin typeface="Meiryo"/>
                <a:ea typeface="Meiryo"/>
              </a:rPr>
              <a:t> = 1.0 は，一方の全試行が他方の全試行を上回る完全分離</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問題設定と実験計画</a:t>
            </a:r>
          </a:p>
        </p:txBody>
      </p:sp>
      <p:sp>
        <p:nvSpPr>
          <p:cNvPr id="7" name="Rounded Rectangle 6"/>
          <p:cNvSpPr/>
          <p:nvPr/>
        </p:nvSpPr>
        <p:spPr>
          <a:xfrm>
            <a:off x="1737360" y="347472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3520439"/>
            <a:ext cx="914400" cy="868680"/>
          </a:xfrm>
          <a:prstGeom prst="rect">
            <a:avLst/>
          </a:prstGeom>
          <a:noFill/>
        </p:spPr>
        <p:txBody>
          <a:bodyPr wrap="square" anchor="ctr" lIns="18288" rIns="18288" tIns="141224" bIns="9144">
            <a:spAutoFit/>
          </a:bodyPr>
          <a:lstStyle/>
          <a:p>
            <a:r>
              <a:rPr sz="4000" b="1" i="0" lang="ja-JP">
                <a:solidFill>
                  <a:srgbClr val="FFFFFF"/>
                </a:solidFill>
                <a:latin typeface="Meiryo"/>
                <a:ea typeface="Meiryo"/>
              </a:rPr>
              <a:t>3</a:t>
            </a:r>
          </a:p>
        </p:txBody>
      </p:sp>
      <p:sp>
        <p:nvSpPr>
          <p:cNvPr id="9" name="TextBox 8"/>
          <p:cNvSpPr txBox="1"/>
          <p:nvPr/>
        </p:nvSpPr>
        <p:spPr>
          <a:xfrm>
            <a:off x="3017520" y="3520439"/>
            <a:ext cx="7162495" cy="868680"/>
          </a:xfrm>
          <a:prstGeom prst="rect">
            <a:avLst/>
          </a:prstGeom>
          <a:noFill/>
        </p:spPr>
        <p:txBody>
          <a:bodyPr wrap="square" anchor="ctr" lIns="18288" rIns="18288" tIns="94996" bIns="9144">
            <a:spAutoFit/>
          </a:bodyPr>
          <a:lstStyle/>
          <a:p>
            <a:r>
              <a:rPr sz="2600" b="1" i="0" lang="ja-JP">
                <a:solidFill>
                  <a:srgbClr val="FFFFFF"/>
                </a:solidFill>
                <a:latin typeface="Meiryo"/>
                <a:ea typeface="Meiryo"/>
              </a:rPr>
              <a:t>数値実験</a:t>
            </a:r>
          </a:p>
          <a:p>
            <a:pPr>
              <a:spcBef>
                <a:spcPts val="400"/>
              </a:spcBef>
            </a:pPr>
            <a:r>
              <a:rPr sz="1300" b="0" i="0" lang="ja-JP">
                <a:solidFill>
                  <a:srgbClr val="AFC2D8"/>
                </a:solidFill>
                <a:latin typeface="Meiryo"/>
                <a:ea typeface="Meiryo"/>
              </a:rPr>
              <a:t>実験設定・高安定 HV・追加の評価（全域 HV と AUC）</a:t>
            </a:r>
          </a:p>
        </p:txBody>
      </p:sp>
      <p:sp>
        <p:nvSpPr>
          <p:cNvPr id="10" name="TextBox 9"/>
          <p:cNvSpPr txBox="1"/>
          <p:nvPr/>
        </p:nvSpPr>
        <p:spPr>
          <a:xfrm>
            <a:off x="2011680" y="4572000"/>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結論</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AFC2D8"/>
                </a:solidFill>
                <a:latin typeface="Meiryo"/>
                <a:ea typeface="Meiryo"/>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実験設定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16</a:t>
            </a:r>
          </a:p>
        </p:txBody>
      </p:sp>
      <p:sp>
        <p:nvSpPr>
          <p:cNvPr id="6" name="TextBox 5"/>
          <p:cNvSpPr txBox="1"/>
          <p:nvPr/>
        </p:nvSpPr>
        <p:spPr>
          <a:xfrm>
            <a:off x="566928" y="1298448"/>
            <a:ext cx="11057839"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1" i="0" lang="ja-JP">
                <a:solidFill>
                  <a:srgbClr val="16385C"/>
                </a:solidFill>
                <a:latin typeface="Meiryo"/>
                <a:ea typeface="Meiryo"/>
              </a:rPr>
              <a:t>シナリオ</a:t>
            </a:r>
            <a:r>
              <a:rPr sz="1800" b="0" i="0" lang="ja-JP">
                <a:solidFill>
                  <a:srgbClr val="26303A"/>
                </a:solidFill>
                <a:latin typeface="Meiryo"/>
                <a:ea typeface="Meiryo"/>
              </a:rPr>
              <a:t>：5 問題で単一作業の遅延の発生時刻を変えて 8 つ（la36・ta21 は S・M・L）．各 10 試行</a:t>
            </a:r>
          </a:p>
          <a:p>
            <a:pPr marL="243596" indent="-243596">
              <a:lnSpc>
                <a:spcPct val="108000"/>
              </a:lnSpc>
              <a:spcBef>
                <a:spcPts val="1200"/>
              </a:spcBef>
            </a:pPr>
            <a:r>
              <a:rPr sz="1440" b="1" i="0" lang="ja-JP">
                <a:solidFill>
                  <a:srgbClr val="16385C"/>
                </a:solidFill>
                <a:latin typeface="Meiryo"/>
                <a:ea typeface="Meiryo"/>
              </a:rPr>
              <a:t>▪ </a:t>
            </a:r>
            <a:r>
              <a:rPr sz="1800" b="1" i="0" lang="ja-JP">
                <a:solidFill>
                  <a:srgbClr val="16385C"/>
                </a:solidFill>
                <a:latin typeface="Meiryo"/>
                <a:ea typeface="Meiryo"/>
              </a:rPr>
              <a:t>比較手法</a:t>
            </a:r>
            <a:r>
              <a:rPr sz="1800" b="0" i="0" lang="ja-JP">
                <a:solidFill>
                  <a:srgbClr val="26303A"/>
                </a:solidFill>
                <a:latin typeface="Meiryo"/>
                <a:ea typeface="Meiryo"/>
              </a:rPr>
              <a:t>：ILS・Memetic と，それぞれに PR-</a:t>
            </a:r>
            <a:r>
              <a:rPr sz="1800" b="0" i="1" lang="ja-JP">
                <a:solidFill>
                  <a:srgbClr val="26303A"/>
                </a:solidFill>
                <a:latin typeface="Meiryo"/>
                <a:ea typeface="Meiryo"/>
              </a:rPr>
              <a:t>k</a:t>
            </a:r>
            <a:r>
              <a:rPr sz="1800" b="0" i="0" lang="ja-JP">
                <a:solidFill>
                  <a:srgbClr val="26303A"/>
                </a:solidFill>
                <a:latin typeface="Meiryo"/>
                <a:ea typeface="Meiryo"/>
              </a:rPr>
              <a:t>／PR を組み込んだ 6 手法＋参考の GA</a:t>
            </a:r>
          </a:p>
          <a:p>
            <a:pPr marL="243596" indent="-243596">
              <a:lnSpc>
                <a:spcPct val="108000"/>
              </a:lnSpc>
              <a:spcBef>
                <a:spcPts val="1200"/>
              </a:spcBef>
            </a:pPr>
            <a:r>
              <a:rPr sz="1440" b="1" i="0" lang="ja-JP">
                <a:solidFill>
                  <a:srgbClr val="16385C"/>
                </a:solidFill>
                <a:latin typeface="Meiryo"/>
                <a:ea typeface="Meiryo"/>
              </a:rPr>
              <a:t>▪ </a:t>
            </a:r>
            <a:r>
              <a:rPr sz="1800" b="1" i="0" lang="ja-JP">
                <a:solidFill>
                  <a:srgbClr val="16385C"/>
                </a:solidFill>
                <a:latin typeface="Meiryo"/>
                <a:ea typeface="Meiryo"/>
              </a:rPr>
              <a:t>重み </a:t>
            </a:r>
            <a:r>
              <a:rPr sz="1800" b="1" i="1" lang="ja-JP">
                <a:solidFill>
                  <a:srgbClr val="16385C"/>
                </a:solidFill>
                <a:latin typeface="Meiryo"/>
                <a:ea typeface="Meiryo"/>
              </a:rPr>
              <a:t>λ</a:t>
            </a:r>
            <a:r>
              <a:rPr sz="1800" b="0" i="0" lang="ja-JP">
                <a:solidFill>
                  <a:srgbClr val="26303A"/>
                </a:solidFill>
                <a:latin typeface="Meiryo"/>
                <a:ea typeface="Meiryo"/>
              </a:rPr>
              <a:t>：生産効率重視から安定性重視まで 10 点で探索し，全ての重みの解を合わせて評価</a:t>
            </a:r>
          </a:p>
          <a:p>
            <a:pPr marL="243596" indent="-243596">
              <a:lnSpc>
                <a:spcPct val="108000"/>
              </a:lnSpc>
              <a:spcBef>
                <a:spcPts val="1200"/>
              </a:spcBef>
            </a:pPr>
            <a:r>
              <a:rPr sz="1440" b="1" i="0" lang="ja-JP">
                <a:solidFill>
                  <a:srgbClr val="16385C"/>
                </a:solidFill>
                <a:latin typeface="Meiryo"/>
                <a:ea typeface="Meiryo"/>
              </a:rPr>
              <a:t>▪ </a:t>
            </a:r>
            <a:r>
              <a:rPr sz="1800" b="1" i="0" lang="ja-JP">
                <a:solidFill>
                  <a:srgbClr val="16385C"/>
                </a:solidFill>
                <a:latin typeface="Meiryo"/>
                <a:ea typeface="Meiryo"/>
              </a:rPr>
              <a:t>高安定領域</a:t>
            </a:r>
            <a:r>
              <a:rPr sz="1800" b="0" i="0" lang="ja-JP">
                <a:solidFill>
                  <a:srgbClr val="26303A"/>
                </a:solidFill>
                <a:latin typeface="Meiryo"/>
                <a:ea typeface="Meiryo"/>
              </a:rPr>
              <a:t>：全手法の非劣解のうち，順序偏差 </a:t>
            </a:r>
            <a:r>
              <a:rPr sz="1800" b="0" i="1" lang="ja-JP">
                <a:solidFill>
                  <a:srgbClr val="26303A"/>
                </a:solidFill>
                <a:latin typeface="Meiryo"/>
                <a:ea typeface="Meiryo"/>
              </a:rPr>
              <a:t>D</a:t>
            </a:r>
            <a:r>
              <a:rPr sz="1800" b="0" i="0" lang="ja-JP">
                <a:solidFill>
                  <a:srgbClr val="26303A"/>
                </a:solidFill>
                <a:latin typeface="Meiryo"/>
                <a:ea typeface="Meiryo"/>
              </a:rPr>
              <a:t> が中央値より小さい範囲</a:t>
            </a:r>
          </a:p>
          <a:p>
            <a:pPr marL="243596" indent="-243596">
              <a:lnSpc>
                <a:spcPct val="108000"/>
              </a:lnSpc>
              <a:spcBef>
                <a:spcPts val="1200"/>
              </a:spcBef>
            </a:pPr>
            <a:r>
              <a:rPr sz="1440" b="1" i="0" lang="ja-JP">
                <a:solidFill>
                  <a:srgbClr val="16385C"/>
                </a:solidFill>
                <a:latin typeface="Meiryo"/>
                <a:ea typeface="Meiryo"/>
              </a:rPr>
              <a:t>▪ </a:t>
            </a:r>
            <a:r>
              <a:rPr sz="1800" b="1" i="0" lang="ja-JP">
                <a:solidFill>
                  <a:srgbClr val="16385C"/>
                </a:solidFill>
                <a:latin typeface="Meiryo"/>
                <a:ea typeface="Meiryo"/>
              </a:rPr>
              <a:t>妥当性</a:t>
            </a:r>
            <a:r>
              <a:rPr sz="1800" b="0" i="0" lang="ja-JP">
                <a:solidFill>
                  <a:srgbClr val="26303A"/>
                </a:solidFill>
                <a:latin typeface="Meiryo"/>
                <a:ea typeface="Meiryo"/>
              </a:rPr>
              <a:t>：高安定領域の境界・計算予算・パラメータを変えても，結論は変わらない</a:t>
            </a:r>
          </a:p>
        </p:txBody>
      </p:sp>
      <p:sp>
        <p:nvSpPr>
          <p:cNvPr id="7" name="TextBox 6"/>
          <p:cNvSpPr txBox="1"/>
          <p:nvPr/>
        </p:nvSpPr>
        <p:spPr>
          <a:xfrm>
            <a:off x="566928" y="3749039"/>
            <a:ext cx="11057839" cy="329184"/>
          </a:xfrm>
          <a:prstGeom prst="rect">
            <a:avLst/>
          </a:prstGeom>
          <a:noFill/>
        </p:spPr>
        <p:txBody>
          <a:bodyPr wrap="square" anchor="t" lIns="18288" rIns="18288" tIns="9144" bIns="9144">
            <a:spAutoFit/>
          </a:bodyPr>
          <a:lstStyle/>
          <a:p>
            <a:pPr algn="l">
              <a:lnSpc>
                <a:spcPct val="105000"/>
              </a:lnSpc>
            </a:pPr>
            <a:r>
              <a:rPr sz="1500" b="0" i="0" lang="ja-JP">
                <a:solidFill>
                  <a:srgbClr val="6E7A88"/>
                </a:solidFill>
                <a:latin typeface="Meiryo"/>
                <a:ea typeface="Meiryo"/>
              </a:rPr>
              <a:t>設定の詳細と妥当性の確認は予備スライドに掲載</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高安定 HV の比較：代表 2 シナリオの非劣解</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17</a:t>
            </a:r>
          </a:p>
        </p:txBody>
      </p:sp>
      <p:pic>
        <p:nvPicPr>
          <p:cNvPr id="6" name="Picture 5" descr="front_ta21.png"/>
          <p:cNvPicPr>
            <a:picLocks noChangeAspect="1"/>
          </p:cNvPicPr>
          <p:nvPr/>
        </p:nvPicPr>
        <p:blipFill>
          <a:blip r:embed="rId3"/>
          <a:stretch>
            <a:fillRect/>
          </a:stretch>
        </p:blipFill>
        <p:spPr>
          <a:xfrm>
            <a:off x="609447" y="1207008"/>
            <a:ext cx="10972800" cy="3840480"/>
          </a:xfrm>
          <a:prstGeom prst="rect">
            <a:avLst/>
          </a:prstGeom>
        </p:spPr>
      </p:pic>
      <p:sp>
        <p:nvSpPr>
          <p:cNvPr id="7" name="TextBox 6"/>
          <p:cNvSpPr txBox="1"/>
          <p:nvPr/>
        </p:nvSpPr>
        <p:spPr>
          <a:xfrm>
            <a:off x="566928" y="5276088"/>
            <a:ext cx="11057839"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0" i="0" lang="ja-JP">
                <a:solidFill>
                  <a:srgbClr val="26303A"/>
                </a:solidFill>
                <a:latin typeface="Meiryo"/>
                <a:ea typeface="Meiryo"/>
              </a:rPr>
              <a:t>(a) ta21S：Memetic は高安定領域に非劣解を持たない</a:t>
            </a:r>
          </a:p>
          <a:p>
            <a:pPr marL="243596" indent="-243596">
              <a:lnSpc>
                <a:spcPct val="108000"/>
              </a:lnSpc>
              <a:spcBef>
                <a:spcPts val="800"/>
              </a:spcBef>
            </a:pPr>
            <a:r>
              <a:rPr sz="1440" b="1" i="0" lang="ja-JP">
                <a:solidFill>
                  <a:srgbClr val="16385C"/>
                </a:solidFill>
                <a:latin typeface="Meiryo"/>
                <a:ea typeface="Meiryo"/>
              </a:rPr>
              <a:t>▪ </a:t>
            </a:r>
            <a:r>
              <a:rPr sz="1800" b="0" i="0" lang="ja-JP">
                <a:solidFill>
                  <a:srgbClr val="26303A"/>
                </a:solidFill>
                <a:latin typeface="Meiryo"/>
                <a:ea typeface="Meiryo"/>
              </a:rPr>
              <a:t>(b) ta21L：Memetic は高安定領域に入るが，</a:t>
            </a:r>
            <a:r>
              <a:rPr sz="1800" b="0" i="1" lang="ja-JP">
                <a:solidFill>
                  <a:srgbClr val="26303A"/>
                </a:solidFill>
                <a:latin typeface="Meiryo"/>
                <a:ea typeface="Meiryo"/>
              </a:rPr>
              <a:t>MS</a:t>
            </a:r>
            <a:r>
              <a:rPr sz="1800" b="0" i="0" lang="ja-JP">
                <a:solidFill>
                  <a:srgbClr val="26303A"/>
                </a:solidFill>
                <a:latin typeface="Meiryo"/>
                <a:ea typeface="Meiryo"/>
              </a:rPr>
              <a:t> で ILS に劣る</a:t>
            </a:r>
          </a:p>
          <a:p>
            <a:pPr marL="243596" indent="-243596">
              <a:lnSpc>
                <a:spcPct val="108000"/>
              </a:lnSpc>
              <a:spcBef>
                <a:spcPts val="800"/>
              </a:spcBef>
            </a:pPr>
            <a:r>
              <a:rPr sz="1440" b="1" i="0" lang="ja-JP">
                <a:solidFill>
                  <a:srgbClr val="16385C"/>
                </a:solidFill>
                <a:latin typeface="Meiryo"/>
                <a:ea typeface="Meiryo"/>
              </a:rPr>
              <a:t>▪ </a:t>
            </a:r>
            <a:r>
              <a:rPr sz="1800" b="0" i="0" lang="ja-JP">
                <a:solidFill>
                  <a:srgbClr val="26303A"/>
                </a:solidFill>
                <a:latin typeface="Meiryo"/>
                <a:ea typeface="Meiryo"/>
              </a:rPr>
              <a:t>どちらのシナリオでも，演算子を組み込むと両構造の Pareto フロント（点線）は高安定領域で重なる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高安定 HV の比較：全 8 シナリオ（仮説の判定）</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18</a:t>
            </a:r>
          </a:p>
        </p:txBody>
      </p:sp>
      <p:pic>
        <p:nvPicPr>
          <p:cNvPr id="6" name="Picture 5" descr="highstab_all8.png"/>
          <p:cNvPicPr>
            <a:picLocks noChangeAspect="1"/>
          </p:cNvPicPr>
          <p:nvPr/>
        </p:nvPicPr>
        <p:blipFill>
          <a:blip r:embed="rId3"/>
          <a:stretch>
            <a:fillRect/>
          </a:stretch>
        </p:blipFill>
        <p:spPr>
          <a:xfrm>
            <a:off x="609447" y="1207008"/>
            <a:ext cx="10972800" cy="3518611"/>
          </a:xfrm>
          <a:prstGeom prst="rect">
            <a:avLst/>
          </a:prstGeom>
        </p:spPr>
      </p:pic>
      <p:cxnSp>
        <p:nvCxnSpPr>
          <p:cNvPr id="7" name="Connector 6"/>
          <p:cNvCxnSpPr/>
          <p:nvPr/>
        </p:nvCxnSpPr>
        <p:spPr>
          <a:xfrm>
            <a:off x="1701241" y="2223820"/>
            <a:ext cx="0" cy="534010"/>
          </a:xfrm>
          <a:prstGeom prst="line">
            <a:avLst/>
          </a:prstGeom>
          <a:ln w="19050">
            <a:solidFill>
              <a:srgbClr val="16385C"/>
            </a:solidFill>
            <a:tailEnd type="triangle" w="med" len="med"/>
            <a:head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445209" y="2371953"/>
            <a:ext cx="658368" cy="237744"/>
          </a:xfrm>
          <a:prstGeom prst="roundRect">
            <a:avLst>
              <a:gd name="adj" fmla="val 6000"/>
            </a:avLst>
          </a:prstGeom>
          <a:solidFill>
            <a:srgbClr val="FFFFFF"/>
          </a:solidFill>
          <a:ln w="13970">
            <a:solidFill>
              <a:srgbClr val="16385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610" bIns="18288"/>
          <a:lstStyle/>
          <a:p>
            <a:pPr algn="ctr">
              <a:lnSpc>
                <a:spcPct val="100000"/>
              </a:lnSpc>
            </a:pPr>
            <a:r>
              <a:rPr sz="1100" b="1" i="0" lang="ja-JP">
                <a:solidFill>
                  <a:srgbClr val="16385C"/>
                </a:solidFill>
                <a:latin typeface="Meiryo"/>
                <a:ea typeface="Meiryo"/>
              </a:rPr>
              <a:t>仮説 1</a:t>
            </a:r>
          </a:p>
        </p:txBody>
      </p:sp>
      <p:cxnSp>
        <p:nvCxnSpPr>
          <p:cNvPr id="9" name="Connector 8"/>
          <p:cNvCxnSpPr/>
          <p:nvPr/>
        </p:nvCxnSpPr>
        <p:spPr>
          <a:xfrm flipV="1">
            <a:off x="2012137" y="2397556"/>
            <a:ext cx="526708" cy="405994"/>
          </a:xfrm>
          <a:prstGeom prst="line">
            <a:avLst/>
          </a:prstGeom>
          <a:ln w="20320">
            <a:solidFill>
              <a:srgbClr val="6A4C93"/>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401685" y="2593238"/>
            <a:ext cx="658368" cy="237744"/>
          </a:xfrm>
          <a:prstGeom prst="roundRect">
            <a:avLst>
              <a:gd name="adj" fmla="val 6000"/>
            </a:avLst>
          </a:prstGeom>
          <a:solidFill>
            <a:srgbClr val="FFFFFF"/>
          </a:solidFill>
          <a:ln w="13970">
            <a:solidFill>
              <a:srgbClr val="6A4C9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610" bIns="18288"/>
          <a:lstStyle/>
          <a:p>
            <a:pPr algn="ctr">
              <a:lnSpc>
                <a:spcPct val="100000"/>
              </a:lnSpc>
            </a:pPr>
            <a:r>
              <a:rPr sz="1100" b="1" i="0" lang="ja-JP">
                <a:solidFill>
                  <a:srgbClr val="6A4C93"/>
                </a:solidFill>
                <a:latin typeface="Meiryo"/>
                <a:ea typeface="Meiryo"/>
              </a:rPr>
              <a:t>仮説 2</a:t>
            </a:r>
          </a:p>
        </p:txBody>
      </p:sp>
      <p:sp>
        <p:nvSpPr>
          <p:cNvPr id="11" name="TextBox 10"/>
          <p:cNvSpPr txBox="1"/>
          <p:nvPr/>
        </p:nvSpPr>
        <p:spPr>
          <a:xfrm>
            <a:off x="566928" y="5228539"/>
            <a:ext cx="11057839"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1" i="0" lang="ja-JP">
                <a:solidFill>
                  <a:srgbClr val="16385C"/>
                </a:solidFill>
                <a:latin typeface="Meiryo"/>
                <a:ea typeface="Meiryo"/>
              </a:rPr>
              <a:t>仮説 1 を支持</a:t>
            </a:r>
            <a:r>
              <a:rPr sz="1800" b="0" i="0" lang="ja-JP">
                <a:solidFill>
                  <a:srgbClr val="26303A"/>
                </a:solidFill>
                <a:latin typeface="Meiryo"/>
                <a:ea typeface="Meiryo"/>
              </a:rPr>
              <a:t>：演算子なしで ILS &gt; Memetic（全シナリオで </a:t>
            </a:r>
            <a:r>
              <a:rPr sz="1800" b="0" i="1" lang="ja-JP">
                <a:solidFill>
                  <a:srgbClr val="26303A"/>
                </a:solidFill>
                <a:latin typeface="Meiryo"/>
                <a:ea typeface="Meiryo"/>
              </a:rPr>
              <a:t>p</a:t>
            </a:r>
            <a:r>
              <a:rPr sz="1800" b="0" i="0" lang="ja-JP">
                <a:solidFill>
                  <a:srgbClr val="26303A"/>
                </a:solidFill>
                <a:latin typeface="Meiryo"/>
                <a:ea typeface="Meiryo"/>
              </a:rPr>
              <a:t> &lt; 0.001，</a:t>
            </a:r>
            <a:r>
              <a:rPr sz="1800" b="0" i="1" lang="ja-JP">
                <a:solidFill>
                  <a:srgbClr val="26303A"/>
                </a:solidFill>
                <a:latin typeface="Meiryo"/>
                <a:ea typeface="Meiryo"/>
              </a:rPr>
              <a:t>|δ|</a:t>
            </a:r>
            <a:r>
              <a:rPr sz="1800" b="0" i="0" lang="ja-JP">
                <a:solidFill>
                  <a:srgbClr val="26303A"/>
                </a:solidFill>
                <a:latin typeface="Meiryo"/>
                <a:ea typeface="Meiryo"/>
              </a:rPr>
              <a:t> = 1.0）</a:t>
            </a:r>
          </a:p>
        </p:txBody>
      </p:sp>
      <p:sp>
        <p:nvSpPr>
          <p:cNvPr id="12" name="TextBox 11"/>
          <p:cNvSpPr txBox="1"/>
          <p:nvPr/>
        </p:nvSpPr>
        <p:spPr>
          <a:xfrm>
            <a:off x="566928" y="5731459"/>
            <a:ext cx="11057839"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1" i="0" lang="ja-JP">
                <a:solidFill>
                  <a:srgbClr val="6A4C93"/>
                </a:solidFill>
                <a:latin typeface="Meiryo"/>
                <a:ea typeface="Meiryo"/>
              </a:rPr>
              <a:t>仮説 2 を支持</a:t>
            </a:r>
            <a:r>
              <a:rPr sz="1800" b="0" i="0" lang="ja-JP">
                <a:solidFill>
                  <a:srgbClr val="26303A"/>
                </a:solidFill>
                <a:latin typeface="Meiryo"/>
                <a:ea typeface="Meiryo"/>
              </a:rPr>
              <a:t>：演算子を組み込んだ Memetic &gt; Memetic（全シナリオで </a:t>
            </a:r>
            <a:r>
              <a:rPr sz="1800" b="0" i="1" lang="ja-JP">
                <a:solidFill>
                  <a:srgbClr val="26303A"/>
                </a:solidFill>
                <a:latin typeface="Meiryo"/>
                <a:ea typeface="Meiryo"/>
              </a:rPr>
              <a:t>p</a:t>
            </a:r>
            <a:r>
              <a:rPr sz="1800" b="0" i="0" lang="ja-JP">
                <a:solidFill>
                  <a:srgbClr val="26303A"/>
                </a:solidFill>
                <a:latin typeface="Meiryo"/>
                <a:ea typeface="Meiryo"/>
              </a:rPr>
              <a:t> &lt; 0.001，</a:t>
            </a:r>
            <a:r>
              <a:rPr sz="1800" b="0" i="1" lang="ja-JP">
                <a:solidFill>
                  <a:srgbClr val="26303A"/>
                </a:solidFill>
                <a:latin typeface="Meiryo"/>
                <a:ea typeface="Meiryo"/>
              </a:rPr>
              <a:t>|δ|</a:t>
            </a:r>
            <a:r>
              <a:rPr sz="1800" b="0" i="0" lang="ja-JP">
                <a:solidFill>
                  <a:srgbClr val="26303A"/>
                </a:solidFill>
                <a:latin typeface="Meiryo"/>
                <a:ea typeface="Meiryo"/>
              </a:rPr>
              <a:t> = 1.0）</a:t>
            </a:r>
          </a:p>
        </p:txBody>
      </p:sp>
      <p:sp>
        <p:nvSpPr>
          <p:cNvPr id="13" name="TextBox 12"/>
          <p:cNvSpPr txBox="1"/>
          <p:nvPr/>
        </p:nvSpPr>
        <p:spPr>
          <a:xfrm>
            <a:off x="566928" y="4762195"/>
            <a:ext cx="11057839" cy="292608"/>
          </a:xfrm>
          <a:prstGeom prst="rect">
            <a:avLst/>
          </a:prstGeom>
          <a:noFill/>
        </p:spPr>
        <p:txBody>
          <a:bodyPr wrap="square" anchor="t" lIns="18288" rIns="18288" tIns="9144" bIns="9144">
            <a:spAutoFit/>
          </a:bodyPr>
          <a:lstStyle/>
          <a:p>
            <a:pPr algn="l" marL="255270" indent="-255270">
              <a:lnSpc>
                <a:spcPct val="105000"/>
              </a:lnSpc>
            </a:pPr>
            <a:r>
              <a:rPr sz="1500" b="0" i="0" lang="ja-JP">
                <a:solidFill>
                  <a:srgbClr val="6E7A88"/>
                </a:solidFill>
                <a:latin typeface="Meiryo"/>
                <a:ea typeface="Meiryo"/>
              </a:rPr>
              <a:t>※ 最良値：各シナリオでの，比較手法の中央値のうち最大の値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高安定 HV の比較：演算子の効果</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19</a:t>
            </a:r>
          </a:p>
        </p:txBody>
      </p:sp>
      <p:pic>
        <p:nvPicPr>
          <p:cNvPr id="6" name="Picture 5" descr="highstab_4.png"/>
          <p:cNvPicPr>
            <a:picLocks noChangeAspect="1"/>
          </p:cNvPicPr>
          <p:nvPr/>
        </p:nvPicPr>
        <p:blipFill>
          <a:blip r:embed="rId3"/>
          <a:stretch>
            <a:fillRect/>
          </a:stretch>
        </p:blipFill>
        <p:spPr>
          <a:xfrm>
            <a:off x="609447" y="1207008"/>
            <a:ext cx="10972800" cy="2421331"/>
          </a:xfrm>
          <a:prstGeom prst="rect">
            <a:avLst/>
          </a:prstGeom>
        </p:spPr>
      </p:pic>
      <p:sp>
        <p:nvSpPr>
          <p:cNvPr id="7" name="TextBox 6"/>
          <p:cNvSpPr txBox="1"/>
          <p:nvPr/>
        </p:nvSpPr>
        <p:spPr>
          <a:xfrm>
            <a:off x="566928" y="4085539"/>
            <a:ext cx="11057839"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1" i="0" lang="ja-JP">
                <a:solidFill>
                  <a:srgbClr val="16385C"/>
                </a:solidFill>
                <a:latin typeface="Meiryo"/>
                <a:ea typeface="Meiryo"/>
              </a:rPr>
              <a:t>Memetic</a:t>
            </a:r>
            <a:r>
              <a:rPr sz="1800" b="0" i="0" lang="ja-JP">
                <a:solidFill>
                  <a:srgbClr val="26303A"/>
                </a:solidFill>
                <a:latin typeface="Meiryo"/>
                <a:ea typeface="Meiryo"/>
              </a:rPr>
              <a:t>：演算子を組み込むと，最良値の 0〜48% から 90〜100% まで大幅に向上</a:t>
            </a:r>
          </a:p>
          <a:p>
            <a:pPr marL="880475" indent="-880475">
              <a:lnSpc>
                <a:spcPct val="108000"/>
              </a:lnSpc>
              <a:spcBef>
                <a:spcPts val="800"/>
              </a:spcBef>
            </a:pPr>
            <a:r>
              <a:rPr sz="1440" b="1" i="0" lang="ja-JP">
                <a:solidFill>
                  <a:srgbClr val="16385C"/>
                </a:solidFill>
                <a:latin typeface="Meiryo"/>
                <a:ea typeface="Meiryo"/>
              </a:rPr>
              <a:t>▪ </a:t>
            </a:r>
            <a:r>
              <a:rPr sz="1800" b="1" i="0" lang="ja-JP">
                <a:solidFill>
                  <a:srgbClr val="16385C"/>
                </a:solidFill>
                <a:latin typeface="Meiryo"/>
                <a:ea typeface="Meiryo"/>
              </a:rPr>
              <a:t>ILS</a:t>
            </a:r>
            <a:r>
              <a:rPr sz="1800" b="0" i="0" lang="ja-JP">
                <a:solidFill>
                  <a:srgbClr val="26303A"/>
                </a:solidFill>
                <a:latin typeface="Meiryo"/>
                <a:ea typeface="Meiryo"/>
              </a:rPr>
              <a:t>：演算子なしで，8 シナリオ中 6 つがすでに最良値の 98.5% 以上．</a:t>
            </a:r>
            <a:br/>
            <a:r>
              <a:rPr sz="1800" b="0" i="0" lang="ja-JP">
                <a:solidFill>
                  <a:srgbClr val="26303A"/>
                </a:solidFill>
                <a:latin typeface="Meiryo"/>
                <a:ea typeface="Meiryo"/>
              </a:rPr>
              <a:t>最良値に届いていなかった la36L・ta21L（</a:t>
            </a:r>
            <a:r>
              <a:rPr sz="1800" b="1" i="0" lang="ja-JP">
                <a:solidFill>
                  <a:srgbClr val="16385C"/>
                </a:solidFill>
                <a:latin typeface="Meiryo"/>
                <a:ea typeface="Meiryo"/>
              </a:rPr>
              <a:t>○</a:t>
            </a:r>
            <a:r>
              <a:rPr sz="1800" b="0" i="0" lang="ja-JP">
                <a:solidFill>
                  <a:srgbClr val="26303A"/>
                </a:solidFill>
                <a:latin typeface="Meiryo"/>
                <a:ea typeface="Meiryo"/>
              </a:rPr>
              <a:t>）だけ，演算子で有意に向上（94% → 100%）</a:t>
            </a:r>
          </a:p>
        </p:txBody>
      </p:sp>
      <p:sp>
        <p:nvSpPr>
          <p:cNvPr id="8" name="TextBox 7"/>
          <p:cNvSpPr txBox="1"/>
          <p:nvPr/>
        </p:nvSpPr>
        <p:spPr>
          <a:xfrm>
            <a:off x="566928" y="5255971"/>
            <a:ext cx="11057839" cy="384048"/>
          </a:xfrm>
          <a:prstGeom prst="rect">
            <a:avLst/>
          </a:prstGeom>
          <a:noFill/>
        </p:spPr>
        <p:txBody>
          <a:bodyPr wrap="square" anchor="ctr" lIns="18288" rIns="18288" tIns="68580" bIns="9144">
            <a:spAutoFit/>
          </a:bodyPr>
          <a:lstStyle/>
          <a:p>
            <a:pPr algn="l" marL="306324" indent="-306324">
              <a:lnSpc>
                <a:spcPct val="105000"/>
              </a:lnSpc>
            </a:pPr>
            <a:r>
              <a:rPr sz="1800" b="0" i="0" lang="ja-JP">
                <a:solidFill>
                  <a:srgbClr val="26303A"/>
                </a:solidFill>
                <a:latin typeface="Meiryo"/>
                <a:ea typeface="Meiryo"/>
              </a:rPr>
              <a:t>→ 演算子の効果は，</a:t>
            </a:r>
            <a:r>
              <a:rPr sz="1800" b="1" i="0" lang="ja-JP">
                <a:solidFill>
                  <a:srgbClr val="16385C"/>
                </a:solidFill>
                <a:latin typeface="Meiryo"/>
                <a:ea typeface="Meiryo"/>
              </a:rPr>
              <a:t>探索構造だけでは最良値に届かない場合に，その差を埋める形で現れる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追加の評価：全域 HV と AUC</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20</a:t>
            </a:r>
          </a:p>
        </p:txBody>
      </p:sp>
      <p:pic>
        <p:nvPicPr>
          <p:cNvPr id="6" name="Picture 5" descr="metric_auc.png"/>
          <p:cNvPicPr>
            <a:picLocks noChangeAspect="1"/>
          </p:cNvPicPr>
          <p:nvPr/>
        </p:nvPicPr>
        <p:blipFill>
          <a:blip r:embed="rId3"/>
          <a:stretch>
            <a:fillRect/>
          </a:stretch>
        </p:blipFill>
        <p:spPr>
          <a:xfrm>
            <a:off x="566928" y="1207008"/>
            <a:ext cx="5760720" cy="5017063"/>
          </a:xfrm>
          <a:prstGeom prst="rect">
            <a:avLst/>
          </a:prstGeom>
        </p:spPr>
      </p:pic>
      <p:sp>
        <p:nvSpPr>
          <p:cNvPr id="7" name="TextBox 6"/>
          <p:cNvSpPr txBox="1"/>
          <p:nvPr/>
        </p:nvSpPr>
        <p:spPr>
          <a:xfrm>
            <a:off x="6784848" y="1298448"/>
            <a:ext cx="4839919" cy="4925623"/>
          </a:xfrm>
          <a:prstGeom prst="rect">
            <a:avLst/>
          </a:prstGeom>
          <a:noFill/>
        </p:spPr>
        <p:txBody>
          <a:bodyPr wrap="square" anchor="t" lIns="18288" rIns="18288" tIns="9144" bIns="9144">
            <a:spAutoFit/>
          </a:bodyPr>
          <a:lstStyle/>
          <a:p>
            <a:pPr>
              <a:lnSpc>
                <a:spcPct val="108000"/>
              </a:lnSpc>
              <a:spcBef>
                <a:spcPts val="0"/>
              </a:spcBef>
            </a:pPr>
            <a:r>
              <a:rPr sz="1800" b="1" i="0" lang="ja-JP">
                <a:solidFill>
                  <a:srgbClr val="16385C"/>
                </a:solidFill>
                <a:latin typeface="Meiryo"/>
                <a:ea typeface="Meiryo"/>
              </a:rPr>
              <a:t>縦軸：全域 HV</a:t>
            </a:r>
          </a:p>
          <a:p>
            <a:pPr>
              <a:lnSpc>
                <a:spcPct val="108000"/>
              </a:lnSpc>
              <a:spcBef>
                <a:spcPts val="400"/>
              </a:spcBef>
            </a:pPr>
            <a:r>
              <a:rPr sz="1800" b="0" i="0" lang="ja-JP">
                <a:solidFill>
                  <a:srgbClr val="26303A"/>
                </a:solidFill>
                <a:latin typeface="Meiryo"/>
                <a:ea typeface="Meiryo"/>
              </a:rPr>
              <a:t>Pareto フロント全体の品質</a:t>
            </a:r>
          </a:p>
          <a:p>
            <a:pPr>
              <a:lnSpc>
                <a:spcPct val="108000"/>
              </a:lnSpc>
              <a:spcBef>
                <a:spcPts val="2200"/>
              </a:spcBef>
            </a:pPr>
            <a:r>
              <a:rPr sz="1800" b="1" i="0" lang="ja-JP">
                <a:solidFill>
                  <a:srgbClr val="16385C"/>
                </a:solidFill>
                <a:latin typeface="Meiryo"/>
                <a:ea typeface="Meiryo"/>
              </a:rPr>
              <a:t>横軸：計算時間（対数）</a:t>
            </a:r>
          </a:p>
          <a:p>
            <a:pPr>
              <a:lnSpc>
                <a:spcPct val="108000"/>
              </a:lnSpc>
              <a:spcBef>
                <a:spcPts val="400"/>
              </a:spcBef>
            </a:pPr>
            <a:r>
              <a:rPr sz="1800" b="0" i="0" lang="ja-JP">
                <a:solidFill>
                  <a:srgbClr val="26303A"/>
                </a:solidFill>
                <a:latin typeface="Meiryo"/>
                <a:ea typeface="Meiryo"/>
              </a:rPr>
              <a:t>立ち上がりの速さを重視する</a:t>
            </a:r>
          </a:p>
          <a:p>
            <a:pPr>
              <a:lnSpc>
                <a:spcPct val="108000"/>
              </a:lnSpc>
              <a:spcBef>
                <a:spcPts val="2200"/>
              </a:spcBef>
            </a:pPr>
            <a:r>
              <a:rPr sz="1800" b="1" i="0" lang="ja-JP">
                <a:solidFill>
                  <a:srgbClr val="16385C"/>
                </a:solidFill>
                <a:latin typeface="Meiryo"/>
                <a:ea typeface="Meiryo"/>
              </a:rPr>
              <a:t>曲線の下の面積：AUC（anytime 性能）</a:t>
            </a:r>
          </a:p>
          <a:p>
            <a:pPr>
              <a:lnSpc>
                <a:spcPct val="108000"/>
              </a:lnSpc>
              <a:spcBef>
                <a:spcPts val="400"/>
              </a:spcBef>
            </a:pPr>
            <a:r>
              <a:rPr sz="1800" b="0" i="0" lang="ja-JP">
                <a:solidFill>
                  <a:srgbClr val="26303A"/>
                </a:solidFill>
                <a:latin typeface="Meiryo"/>
                <a:ea typeface="Meiryo"/>
              </a:rPr>
              <a:t>どの時点で計算を打ち切っても，</a:t>
            </a:r>
            <a:br/>
            <a:r>
              <a:rPr sz="1800" b="0" i="0" lang="ja-JP">
                <a:solidFill>
                  <a:srgbClr val="26303A"/>
                </a:solidFill>
                <a:latin typeface="Meiryo"/>
                <a:ea typeface="Meiryo"/>
              </a:rPr>
              <a:t>品質の高いフロントが得られるか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全域 HV と AUC：代表 2 シナリオの推移</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21</a:t>
            </a:r>
          </a:p>
        </p:txBody>
      </p:sp>
      <p:pic>
        <p:nvPicPr>
          <p:cNvPr id="6" name="Picture 5" descr="anytime.png"/>
          <p:cNvPicPr>
            <a:picLocks noChangeAspect="1"/>
          </p:cNvPicPr>
          <p:nvPr/>
        </p:nvPicPr>
        <p:blipFill>
          <a:blip r:embed="rId3"/>
          <a:stretch>
            <a:fillRect/>
          </a:stretch>
        </p:blipFill>
        <p:spPr>
          <a:xfrm>
            <a:off x="609447" y="1207008"/>
            <a:ext cx="10972800" cy="4206240"/>
          </a:xfrm>
          <a:prstGeom prst="rect">
            <a:avLst/>
          </a:prstGeom>
        </p:spPr>
      </p:pic>
      <p:sp>
        <p:nvSpPr>
          <p:cNvPr id="7" name="TextBox 6"/>
          <p:cNvSpPr txBox="1"/>
          <p:nvPr/>
        </p:nvSpPr>
        <p:spPr>
          <a:xfrm>
            <a:off x="566928" y="5641848"/>
            <a:ext cx="11057839"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0" i="0" lang="ja-JP">
                <a:solidFill>
                  <a:srgbClr val="26303A"/>
                </a:solidFill>
                <a:latin typeface="Meiryo"/>
                <a:ea typeface="Meiryo"/>
              </a:rPr>
              <a:t>(a) ta21S：演算子を組み込んだ Memetic も ILS と同じ全域 HV に達するが，立ち上がりが遅い</a:t>
            </a:r>
          </a:p>
          <a:p>
            <a:pPr marL="243596" indent="-243596">
              <a:lnSpc>
                <a:spcPct val="108000"/>
              </a:lnSpc>
              <a:spcBef>
                <a:spcPts val="800"/>
              </a:spcBef>
            </a:pPr>
            <a:r>
              <a:rPr sz="1440" b="1" i="0" lang="ja-JP">
                <a:solidFill>
                  <a:srgbClr val="16385C"/>
                </a:solidFill>
                <a:latin typeface="Meiryo"/>
                <a:ea typeface="Meiryo"/>
              </a:rPr>
              <a:t>▪ </a:t>
            </a:r>
            <a:r>
              <a:rPr sz="1800" b="0" i="0" lang="ja-JP">
                <a:solidFill>
                  <a:srgbClr val="26303A"/>
                </a:solidFill>
                <a:latin typeface="Meiryo"/>
                <a:ea typeface="Meiryo"/>
              </a:rPr>
              <a:t>(b) la36L：Memetic 系は途中で ILS 系を追い越す．到達値は演算子を組み込んだ Memetic が最大</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全域 HV と AUC：全 8 シナリオ</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3. 数値実験</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22</a:t>
            </a:r>
          </a:p>
        </p:txBody>
      </p:sp>
      <p:sp>
        <p:nvSpPr>
          <p:cNvPr id="6" name="TextBox 5"/>
          <p:cNvSpPr txBox="1"/>
          <p:nvPr/>
        </p:nvSpPr>
        <p:spPr>
          <a:xfrm>
            <a:off x="566928" y="1207008"/>
            <a:ext cx="5257800" cy="384048"/>
          </a:xfrm>
          <a:prstGeom prst="rect">
            <a:avLst/>
          </a:prstGeom>
          <a:noFill/>
        </p:spPr>
        <p:txBody>
          <a:bodyPr wrap="square" anchor="ctr" lIns="18288" rIns="18288" tIns="68580" bIns="9144">
            <a:spAutoFit/>
          </a:bodyPr>
          <a:lstStyle/>
          <a:p>
            <a:pPr algn="l">
              <a:lnSpc>
                <a:spcPct val="105000"/>
              </a:lnSpc>
            </a:pPr>
            <a:r>
              <a:rPr sz="1800" b="1" i="0" lang="ja-JP">
                <a:solidFill>
                  <a:srgbClr val="16385C"/>
                </a:solidFill>
                <a:latin typeface="Meiryo"/>
                <a:ea typeface="Meiryo"/>
              </a:rPr>
              <a:t>最良に並ぶシナリオ数（/8）</a:t>
            </a:r>
          </a:p>
        </p:txBody>
      </p:sp>
      <p:graphicFrame>
        <p:nvGraphicFramePr>
          <p:cNvPr id="7" name="Table 6"/>
          <p:cNvGraphicFramePr>
            <a:graphicFrameLocks noGrp="1"/>
          </p:cNvGraphicFramePr>
          <p:nvPr/>
        </p:nvGraphicFramePr>
        <p:xfrm>
          <a:off x="566928" y="1664208"/>
          <a:ext cx="5257800" cy="4169656"/>
        </p:xfrm>
        <a:graphic>
          <a:graphicData uri="http://schemas.openxmlformats.org/drawingml/2006/table">
            <a:tbl>
              <a:tblPr firstRow="0" bandRow="0">
                <a:tableStyleId>{5940675A-B579-460E-94D1-54222C63F5DA}</a:tableStyleId>
              </a:tblPr>
              <a:tblGrid>
                <a:gridCol w="2103120"/>
                <a:gridCol w="1051560"/>
                <a:gridCol w="1234440"/>
                <a:gridCol w="868680"/>
              </a:tblGrid>
              <a:tr h="521207">
                <a:tc>
                  <a:txBody>
                    <a:bodyPr wrap="square"/>
                    <a:lstStyle/>
                    <a:p>
                      <a:pPr algn="l"/>
                      <a:r>
                        <a:rPr sz="1800" b="1" i="0" lang="ja-JP">
                          <a:solidFill>
                            <a:srgbClr val="FFFFFF"/>
                          </a:solidFill>
                          <a:latin typeface="Meiryo"/>
                          <a:ea typeface="Meiryo"/>
                        </a:rPr>
                        <a:t>手法</a:t>
                      </a:r>
                    </a:p>
                  </a:txBody>
                  <a:tcPr marL="82296" marR="54864" marT="77724" marB="18288" anchor="ctr">
                    <a:solidFill>
                      <a:srgbClr val="16385C"/>
                    </a:solidFill>
                  </a:tcPr>
                </a:tc>
                <a:tc>
                  <a:txBody>
                    <a:bodyPr wrap="square"/>
                    <a:lstStyle/>
                    <a:p>
                      <a:pPr algn="ctr"/>
                      <a:r>
                        <a:rPr sz="1800" b="1" i="0" lang="ja-JP">
                          <a:solidFill>
                            <a:srgbClr val="FFFFFF"/>
                          </a:solidFill>
                          <a:latin typeface="Meiryo"/>
                          <a:ea typeface="Meiryo"/>
                        </a:rPr>
                        <a:t>全域HV</a:t>
                      </a:r>
                    </a:p>
                  </a:txBody>
                  <a:tcPr marL="82296" marR="54864" marT="77724" marB="18288" anchor="ctr">
                    <a:solidFill>
                      <a:srgbClr val="16385C"/>
                    </a:solidFill>
                  </a:tcPr>
                </a:tc>
                <a:tc>
                  <a:txBody>
                    <a:bodyPr wrap="square"/>
                    <a:lstStyle/>
                    <a:p>
                      <a:pPr algn="ctr"/>
                      <a:r>
                        <a:rPr sz="1800" b="1" i="0" lang="ja-JP">
                          <a:solidFill>
                            <a:srgbClr val="FFFFFF"/>
                          </a:solidFill>
                          <a:latin typeface="Meiryo"/>
                          <a:ea typeface="Meiryo"/>
                        </a:rPr>
                        <a:t>高安定HV</a:t>
                      </a:r>
                    </a:p>
                  </a:txBody>
                  <a:tcPr marL="82296" marR="54864" marT="77724" marB="18288" anchor="ctr">
                    <a:solidFill>
                      <a:srgbClr val="16385C"/>
                    </a:solidFill>
                  </a:tcPr>
                </a:tc>
                <a:tc>
                  <a:txBody>
                    <a:bodyPr wrap="square"/>
                    <a:lstStyle/>
                    <a:p>
                      <a:pPr algn="ctr"/>
                      <a:r>
                        <a:rPr sz="1800" b="1" i="0" lang="ja-JP">
                          <a:solidFill>
                            <a:srgbClr val="FFFFFF"/>
                          </a:solidFill>
                          <a:latin typeface="Meiryo"/>
                          <a:ea typeface="Meiryo"/>
                        </a:rPr>
                        <a:t>AUC</a:t>
                      </a:r>
                    </a:p>
                  </a:txBody>
                  <a:tcPr marL="82296" marR="54864" marT="77724" marB="18288" anchor="ctr">
                    <a:solidFill>
                      <a:srgbClr val="16385C"/>
                    </a:solidFill>
                  </a:tcPr>
                </a:tc>
              </a:tr>
              <a:tr h="521207">
                <a:tc>
                  <a:txBody>
                    <a:bodyPr wrap="square"/>
                    <a:lstStyle/>
                    <a:p>
                      <a:pPr algn="l"/>
                      <a:r>
                        <a:rPr sz="1800" b="0" i="0" lang="ja-JP">
                          <a:solidFill>
                            <a:srgbClr val="26303A"/>
                          </a:solidFill>
                          <a:latin typeface="Meiryo"/>
                          <a:ea typeface="Meiryo"/>
                        </a:rPr>
                        <a:t>ILS</a:t>
                      </a:r>
                    </a:p>
                  </a:txBody>
                  <a:tcPr marL="82296" marR="54864" marT="77724" marB="18288" anchor="ctr">
                    <a:solidFill>
                      <a:srgbClr val="FFFFFF"/>
                    </a:solidFill>
                    <a:lnB w="9525" cap="flat">
                      <a:solidFill>
                        <a:srgbClr val="D6DEE7"/>
                      </a:solidFill>
                    </a:lnB>
                  </a:tcPr>
                </a:tc>
                <a:tc>
                  <a:txBody>
                    <a:bodyPr wrap="square"/>
                    <a:lstStyle/>
                    <a:p>
                      <a:pPr algn="ctr"/>
                      <a:r>
                        <a:rPr sz="1800" b="0" i="0" lang="ja-JP">
                          <a:solidFill>
                            <a:srgbClr val="26303A"/>
                          </a:solidFill>
                          <a:latin typeface="Meiryo"/>
                          <a:ea typeface="Meiryo"/>
                        </a:rPr>
                        <a:t>4</a:t>
                      </a:r>
                    </a:p>
                  </a:txBody>
                  <a:tcPr marL="82296" marR="54864" marT="77724" marB="18288" anchor="ctr">
                    <a:solidFill>
                      <a:srgbClr val="FFFFFF"/>
                    </a:solidFill>
                    <a:lnB w="9525" cap="flat">
                      <a:solidFill>
                        <a:srgbClr val="D6DEE7"/>
                      </a:solidFill>
                    </a:lnB>
                  </a:tcPr>
                </a:tc>
                <a:tc>
                  <a:txBody>
                    <a:bodyPr wrap="square"/>
                    <a:lstStyle/>
                    <a:p>
                      <a:pPr algn="ctr"/>
                      <a:r>
                        <a:rPr sz="1800" b="0" i="0" lang="ja-JP">
                          <a:solidFill>
                            <a:srgbClr val="26303A"/>
                          </a:solidFill>
                          <a:latin typeface="Meiryo"/>
                          <a:ea typeface="Meiryo"/>
                        </a:rPr>
                        <a:t>6</a:t>
                      </a:r>
                    </a:p>
                  </a:txBody>
                  <a:tcPr marL="82296" marR="54864" marT="77724" marB="18288" anchor="ctr">
                    <a:solidFill>
                      <a:srgbClr val="FFFFFF"/>
                    </a:solidFill>
                    <a:lnB w="9525" cap="flat">
                      <a:solidFill>
                        <a:srgbClr val="D6DEE7"/>
                      </a:solidFill>
                    </a:lnB>
                  </a:tcPr>
                </a:tc>
                <a:tc>
                  <a:txBody>
                    <a:bodyPr wrap="square"/>
                    <a:lstStyle/>
                    <a:p>
                      <a:pPr algn="ctr"/>
                      <a:r>
                        <a:rPr sz="1800" b="1" i="0" lang="ja-JP">
                          <a:solidFill>
                            <a:srgbClr val="16385C"/>
                          </a:solidFill>
                          <a:latin typeface="Meiryo"/>
                          <a:ea typeface="Meiryo"/>
                        </a:rPr>
                        <a:t>6</a:t>
                      </a:r>
                    </a:p>
                  </a:txBody>
                  <a:tcPr marL="82296" marR="54864" marT="77724" marB="18288" anchor="ctr">
                    <a:solidFill>
                      <a:srgbClr val="FFFFFF"/>
                    </a:solidFill>
                    <a:lnB w="9525" cap="flat">
                      <a:solidFill>
                        <a:srgbClr val="D6DEE7"/>
                      </a:solidFill>
                    </a:lnB>
                  </a:tcPr>
                </a:tc>
              </a:tr>
              <a:tr h="521207">
                <a:tc>
                  <a:txBody>
                    <a:bodyPr wrap="square"/>
                    <a:lstStyle/>
                    <a:p>
                      <a:pPr algn="l"/>
                      <a:r>
                        <a:rPr sz="1800" b="0" i="0" lang="ja-JP">
                          <a:solidFill>
                            <a:srgbClr val="26303A"/>
                          </a:solidFill>
                          <a:latin typeface="Meiryo"/>
                          <a:ea typeface="Meiryo"/>
                        </a:rPr>
                        <a:t>ILS+PR-</a:t>
                      </a:r>
                      <a:r>
                        <a:rPr sz="1800" b="0" i="1" lang="ja-JP">
                          <a:solidFill>
                            <a:srgbClr val="26303A"/>
                          </a:solidFill>
                          <a:latin typeface="Meiryo"/>
                          <a:ea typeface="Meiryo"/>
                        </a:rPr>
                        <a:t>k</a:t>
                      </a:r>
                    </a:p>
                  </a:txBody>
                  <a:tcPr marL="82296" marR="54864" marT="77724" marB="18288" anchor="ctr">
                    <a:solidFill>
                      <a:srgbClr val="F6F9FB"/>
                    </a:solidFill>
                    <a:lnB w="9525" cap="flat">
                      <a:solidFill>
                        <a:srgbClr val="D6DEE7"/>
                      </a:solidFill>
                    </a:lnB>
                  </a:tcPr>
                </a:tc>
                <a:tc>
                  <a:txBody>
                    <a:bodyPr wrap="square"/>
                    <a:lstStyle/>
                    <a:p>
                      <a:pPr algn="ctr"/>
                      <a:r>
                        <a:rPr sz="1800" b="0" i="0" lang="ja-JP">
                          <a:solidFill>
                            <a:srgbClr val="26303A"/>
                          </a:solidFill>
                          <a:latin typeface="Meiryo"/>
                          <a:ea typeface="Meiryo"/>
                        </a:rPr>
                        <a:t>4</a:t>
                      </a:r>
                    </a:p>
                  </a:txBody>
                  <a:tcPr marL="82296" marR="54864" marT="77724" marB="18288" anchor="ctr">
                    <a:solidFill>
                      <a:srgbClr val="F6F9FB"/>
                    </a:solidFill>
                    <a:lnB w="9525" cap="flat">
                      <a:solidFill>
                        <a:srgbClr val="D6DEE7"/>
                      </a:solidFill>
                    </a:lnB>
                  </a:tcPr>
                </a:tc>
                <a:tc>
                  <a:txBody>
                    <a:bodyPr wrap="square"/>
                    <a:lstStyle/>
                    <a:p>
                      <a:pPr algn="ctr"/>
                      <a:r>
                        <a:rPr sz="1800" b="1" i="0" lang="ja-JP">
                          <a:solidFill>
                            <a:srgbClr val="16385C"/>
                          </a:solidFill>
                          <a:latin typeface="Meiryo"/>
                          <a:ea typeface="Meiryo"/>
                        </a:rPr>
                        <a:t>8</a:t>
                      </a:r>
                    </a:p>
                  </a:txBody>
                  <a:tcPr marL="82296" marR="54864" marT="77724" marB="18288" anchor="ctr">
                    <a:solidFill>
                      <a:srgbClr val="F6F9FB"/>
                    </a:solidFill>
                    <a:lnB w="9525" cap="flat">
                      <a:solidFill>
                        <a:srgbClr val="D6DEE7"/>
                      </a:solidFill>
                    </a:lnB>
                  </a:tcPr>
                </a:tc>
                <a:tc>
                  <a:txBody>
                    <a:bodyPr wrap="square"/>
                    <a:lstStyle/>
                    <a:p>
                      <a:pPr algn="ctr"/>
                      <a:r>
                        <a:rPr sz="1800" b="1" i="0" lang="ja-JP">
                          <a:solidFill>
                            <a:srgbClr val="16385C"/>
                          </a:solidFill>
                          <a:latin typeface="Meiryo"/>
                          <a:ea typeface="Meiryo"/>
                        </a:rPr>
                        <a:t>6</a:t>
                      </a:r>
                    </a:p>
                  </a:txBody>
                  <a:tcPr marL="82296" marR="54864" marT="77724" marB="18288" anchor="ctr">
                    <a:solidFill>
                      <a:srgbClr val="F6F9FB"/>
                    </a:solidFill>
                    <a:lnB w="9525" cap="flat">
                      <a:solidFill>
                        <a:srgbClr val="D6DEE7"/>
                      </a:solidFill>
                    </a:lnB>
                  </a:tcPr>
                </a:tc>
              </a:tr>
              <a:tr h="521207">
                <a:tc>
                  <a:txBody>
                    <a:bodyPr wrap="square"/>
                    <a:lstStyle/>
                    <a:p>
                      <a:pPr algn="l"/>
                      <a:r>
                        <a:rPr sz="1800" b="0" i="0" lang="ja-JP">
                          <a:solidFill>
                            <a:srgbClr val="26303A"/>
                          </a:solidFill>
                          <a:latin typeface="Meiryo"/>
                          <a:ea typeface="Meiryo"/>
                        </a:rPr>
                        <a:t>ILS+PR</a:t>
                      </a:r>
                    </a:p>
                  </a:txBody>
                  <a:tcPr marL="82296" marR="54864" marT="77724" marB="18288" anchor="ctr">
                    <a:solidFill>
                      <a:srgbClr val="FFFFFF"/>
                    </a:solidFill>
                    <a:lnB w="9525" cap="flat">
                      <a:solidFill>
                        <a:srgbClr val="D6DEE7"/>
                      </a:solidFill>
                    </a:lnB>
                  </a:tcPr>
                </a:tc>
                <a:tc>
                  <a:txBody>
                    <a:bodyPr wrap="square"/>
                    <a:lstStyle/>
                    <a:p>
                      <a:pPr algn="ctr"/>
                      <a:r>
                        <a:rPr sz="1800" b="0" i="0" lang="ja-JP">
                          <a:solidFill>
                            <a:srgbClr val="26303A"/>
                          </a:solidFill>
                          <a:latin typeface="Meiryo"/>
                          <a:ea typeface="Meiryo"/>
                        </a:rPr>
                        <a:t>4</a:t>
                      </a:r>
                    </a:p>
                  </a:txBody>
                  <a:tcPr marL="82296" marR="54864" marT="77724" marB="18288" anchor="ctr">
                    <a:solidFill>
                      <a:srgbClr val="FFFFFF"/>
                    </a:solidFill>
                    <a:lnB w="9525" cap="flat">
                      <a:solidFill>
                        <a:srgbClr val="D6DEE7"/>
                      </a:solidFill>
                    </a:lnB>
                  </a:tcPr>
                </a:tc>
                <a:tc>
                  <a:txBody>
                    <a:bodyPr wrap="square"/>
                    <a:lstStyle/>
                    <a:p>
                      <a:pPr algn="ctr"/>
                      <a:r>
                        <a:rPr sz="1800" b="1" i="0" lang="ja-JP">
                          <a:solidFill>
                            <a:srgbClr val="16385C"/>
                          </a:solidFill>
                          <a:latin typeface="Meiryo"/>
                          <a:ea typeface="Meiryo"/>
                        </a:rPr>
                        <a:t>8</a:t>
                      </a:r>
                    </a:p>
                  </a:txBody>
                  <a:tcPr marL="82296" marR="54864" marT="77724" marB="18288" anchor="ctr">
                    <a:solidFill>
                      <a:srgbClr val="FFFFFF"/>
                    </a:solidFill>
                    <a:lnB w="9525" cap="flat">
                      <a:solidFill>
                        <a:srgbClr val="D6DEE7"/>
                      </a:solidFill>
                    </a:lnB>
                  </a:tcPr>
                </a:tc>
                <a:tc>
                  <a:txBody>
                    <a:bodyPr wrap="square"/>
                    <a:lstStyle/>
                    <a:p>
                      <a:pPr algn="ctr"/>
                      <a:r>
                        <a:rPr sz="1800" b="1" i="0" lang="ja-JP">
                          <a:solidFill>
                            <a:srgbClr val="16385C"/>
                          </a:solidFill>
                          <a:latin typeface="Meiryo"/>
                          <a:ea typeface="Meiryo"/>
                        </a:rPr>
                        <a:t>6</a:t>
                      </a:r>
                    </a:p>
                  </a:txBody>
                  <a:tcPr marL="82296" marR="54864" marT="77724" marB="18288" anchor="ctr">
                    <a:solidFill>
                      <a:srgbClr val="FFFFFF"/>
                    </a:solidFill>
                    <a:lnB w="9525" cap="flat">
                      <a:solidFill>
                        <a:srgbClr val="D6DEE7"/>
                      </a:solidFill>
                    </a:lnB>
                  </a:tcPr>
                </a:tc>
              </a:tr>
              <a:tr h="521207">
                <a:tc>
                  <a:txBody>
                    <a:bodyPr wrap="square"/>
                    <a:lstStyle/>
                    <a:p>
                      <a:pPr algn="l"/>
                      <a:r>
                        <a:rPr sz="1800" b="0" i="0" lang="ja-JP">
                          <a:solidFill>
                            <a:srgbClr val="26303A"/>
                          </a:solidFill>
                          <a:latin typeface="Meiryo"/>
                          <a:ea typeface="Meiryo"/>
                        </a:rPr>
                        <a:t>GA</a:t>
                      </a:r>
                    </a:p>
                  </a:txBody>
                  <a:tcPr marL="82296" marR="54864" marT="77724" marB="18288" anchor="ctr">
                    <a:solidFill>
                      <a:srgbClr val="F6F9FB"/>
                    </a:solidFill>
                    <a:lnB w="9525" cap="flat">
                      <a:solidFill>
                        <a:srgbClr val="D6DEE7"/>
                      </a:solidFill>
                    </a:lnB>
                  </a:tcPr>
                </a:tc>
                <a:tc>
                  <a:txBody>
                    <a:bodyPr wrap="square"/>
                    <a:lstStyle/>
                    <a:p>
                      <a:pPr algn="ctr"/>
                      <a:r>
                        <a:rPr sz="1800" b="0" i="0" lang="ja-JP">
                          <a:solidFill>
                            <a:srgbClr val="26303A"/>
                          </a:solidFill>
                          <a:latin typeface="Meiryo"/>
                          <a:ea typeface="Meiryo"/>
                        </a:rPr>
                        <a:t>0</a:t>
                      </a:r>
                    </a:p>
                  </a:txBody>
                  <a:tcPr marL="82296" marR="54864" marT="77724" marB="18288" anchor="ctr">
                    <a:solidFill>
                      <a:srgbClr val="F6F9FB"/>
                    </a:solidFill>
                    <a:lnB w="9525" cap="flat">
                      <a:solidFill>
                        <a:srgbClr val="D6DEE7"/>
                      </a:solidFill>
                    </a:lnB>
                  </a:tcPr>
                </a:tc>
                <a:tc>
                  <a:txBody>
                    <a:bodyPr wrap="square"/>
                    <a:lstStyle/>
                    <a:p>
                      <a:pPr algn="ctr"/>
                      <a:r>
                        <a:rPr sz="1800" b="0" i="0" lang="ja-JP">
                          <a:solidFill>
                            <a:srgbClr val="26303A"/>
                          </a:solidFill>
                          <a:latin typeface="Meiryo"/>
                          <a:ea typeface="Meiryo"/>
                        </a:rPr>
                        <a:t>0</a:t>
                      </a:r>
                    </a:p>
                  </a:txBody>
                  <a:tcPr marL="82296" marR="54864" marT="77724" marB="18288" anchor="ctr">
                    <a:solidFill>
                      <a:srgbClr val="F6F9FB"/>
                    </a:solidFill>
                    <a:lnB w="9525" cap="flat">
                      <a:solidFill>
                        <a:srgbClr val="D6DEE7"/>
                      </a:solidFill>
                    </a:lnB>
                  </a:tcPr>
                </a:tc>
                <a:tc>
                  <a:txBody>
                    <a:bodyPr wrap="square"/>
                    <a:lstStyle/>
                    <a:p>
                      <a:pPr algn="ctr"/>
                      <a:r>
                        <a:rPr sz="1800" b="0" i="0" lang="ja-JP">
                          <a:solidFill>
                            <a:srgbClr val="26303A"/>
                          </a:solidFill>
                          <a:latin typeface="Meiryo"/>
                          <a:ea typeface="Meiryo"/>
                        </a:rPr>
                        <a:t>0</a:t>
                      </a:r>
                    </a:p>
                  </a:txBody>
                  <a:tcPr marL="82296" marR="54864" marT="77724" marB="18288" anchor="ctr">
                    <a:solidFill>
                      <a:srgbClr val="F6F9FB"/>
                    </a:solidFill>
                    <a:lnB w="9525" cap="flat">
                      <a:solidFill>
                        <a:srgbClr val="D6DEE7"/>
                      </a:solidFill>
                    </a:lnB>
                  </a:tcPr>
                </a:tc>
              </a:tr>
              <a:tr h="521207">
                <a:tc>
                  <a:txBody>
                    <a:bodyPr wrap="square"/>
                    <a:lstStyle/>
                    <a:p>
                      <a:pPr algn="l"/>
                      <a:r>
                        <a:rPr sz="1800" b="0" i="0" lang="ja-JP">
                          <a:solidFill>
                            <a:srgbClr val="26303A"/>
                          </a:solidFill>
                          <a:latin typeface="Meiryo"/>
                          <a:ea typeface="Meiryo"/>
                        </a:rPr>
                        <a:t>Memetic</a:t>
                      </a:r>
                    </a:p>
                  </a:txBody>
                  <a:tcPr marL="82296" marR="54864" marT="77724" marB="18288" anchor="ctr">
                    <a:solidFill>
                      <a:srgbClr val="FFFFFF"/>
                    </a:solidFill>
                    <a:lnB w="9525" cap="flat">
                      <a:solidFill>
                        <a:srgbClr val="D6DEE7"/>
                      </a:solidFill>
                    </a:lnB>
                  </a:tcPr>
                </a:tc>
                <a:tc>
                  <a:txBody>
                    <a:bodyPr wrap="square"/>
                    <a:lstStyle/>
                    <a:p>
                      <a:pPr algn="ctr"/>
                      <a:r>
                        <a:rPr sz="1800" b="0" i="0" lang="ja-JP">
                          <a:solidFill>
                            <a:srgbClr val="26303A"/>
                          </a:solidFill>
                          <a:latin typeface="Meiryo"/>
                          <a:ea typeface="Meiryo"/>
                        </a:rPr>
                        <a:t>1</a:t>
                      </a:r>
                    </a:p>
                  </a:txBody>
                  <a:tcPr marL="82296" marR="54864" marT="77724" marB="18288" anchor="ctr">
                    <a:solidFill>
                      <a:srgbClr val="FFFFFF"/>
                    </a:solidFill>
                    <a:lnB w="9525" cap="flat">
                      <a:solidFill>
                        <a:srgbClr val="D6DEE7"/>
                      </a:solidFill>
                    </a:lnB>
                  </a:tcPr>
                </a:tc>
                <a:tc>
                  <a:txBody>
                    <a:bodyPr wrap="square"/>
                    <a:lstStyle/>
                    <a:p>
                      <a:pPr algn="ctr"/>
                      <a:r>
                        <a:rPr sz="1800" b="0" i="0" lang="ja-JP">
                          <a:solidFill>
                            <a:srgbClr val="26303A"/>
                          </a:solidFill>
                          <a:latin typeface="Meiryo"/>
                          <a:ea typeface="Meiryo"/>
                        </a:rPr>
                        <a:t>0</a:t>
                      </a:r>
                    </a:p>
                  </a:txBody>
                  <a:tcPr marL="82296" marR="54864" marT="77724" marB="18288" anchor="ctr">
                    <a:solidFill>
                      <a:srgbClr val="FFFFFF"/>
                    </a:solidFill>
                    <a:lnB w="9525" cap="flat">
                      <a:solidFill>
                        <a:srgbClr val="D6DEE7"/>
                      </a:solidFill>
                    </a:lnB>
                  </a:tcPr>
                </a:tc>
                <a:tc>
                  <a:txBody>
                    <a:bodyPr wrap="square"/>
                    <a:lstStyle/>
                    <a:p>
                      <a:pPr algn="ctr"/>
                      <a:r>
                        <a:rPr sz="1800" b="0" i="0" lang="ja-JP">
                          <a:solidFill>
                            <a:srgbClr val="26303A"/>
                          </a:solidFill>
                          <a:latin typeface="Meiryo"/>
                          <a:ea typeface="Meiryo"/>
                        </a:rPr>
                        <a:t>2</a:t>
                      </a:r>
                    </a:p>
                  </a:txBody>
                  <a:tcPr marL="82296" marR="54864" marT="77724" marB="18288" anchor="ctr">
                    <a:solidFill>
                      <a:srgbClr val="FFFFFF"/>
                    </a:solidFill>
                    <a:lnB w="9525" cap="flat">
                      <a:solidFill>
                        <a:srgbClr val="D6DEE7"/>
                      </a:solidFill>
                    </a:lnB>
                  </a:tcPr>
                </a:tc>
              </a:tr>
              <a:tr h="521207">
                <a:tc>
                  <a:txBody>
                    <a:bodyPr wrap="square"/>
                    <a:lstStyle/>
                    <a:p>
                      <a:pPr algn="l"/>
                      <a:r>
                        <a:rPr sz="1800" b="0" i="0" lang="ja-JP">
                          <a:solidFill>
                            <a:srgbClr val="26303A"/>
                          </a:solidFill>
                          <a:latin typeface="Meiryo"/>
                          <a:ea typeface="Meiryo"/>
                        </a:rPr>
                        <a:t>Memetic+PR-</a:t>
                      </a:r>
                      <a:r>
                        <a:rPr sz="1800" b="0" i="1" lang="ja-JP">
                          <a:solidFill>
                            <a:srgbClr val="26303A"/>
                          </a:solidFill>
                          <a:latin typeface="Meiryo"/>
                          <a:ea typeface="Meiryo"/>
                        </a:rPr>
                        <a:t>k</a:t>
                      </a:r>
                    </a:p>
                  </a:txBody>
                  <a:tcPr marL="82296" marR="54864" marT="77724" marB="18288" anchor="ctr">
                    <a:solidFill>
                      <a:srgbClr val="F6F9FB"/>
                    </a:solidFill>
                    <a:lnB w="9525" cap="flat">
                      <a:solidFill>
                        <a:srgbClr val="D6DEE7"/>
                      </a:solidFill>
                    </a:lnB>
                  </a:tcPr>
                </a:tc>
                <a:tc>
                  <a:txBody>
                    <a:bodyPr wrap="square"/>
                    <a:lstStyle/>
                    <a:p>
                      <a:pPr algn="ctr"/>
                      <a:r>
                        <a:rPr sz="1800" b="1" i="0" lang="ja-JP">
                          <a:solidFill>
                            <a:srgbClr val="16385C"/>
                          </a:solidFill>
                          <a:latin typeface="Meiryo"/>
                          <a:ea typeface="Meiryo"/>
                        </a:rPr>
                        <a:t>7</a:t>
                      </a:r>
                    </a:p>
                  </a:txBody>
                  <a:tcPr marL="82296" marR="54864" marT="77724" marB="18288" anchor="ctr">
                    <a:solidFill>
                      <a:srgbClr val="F6F9FB"/>
                    </a:solidFill>
                    <a:lnB w="9525" cap="flat">
                      <a:solidFill>
                        <a:srgbClr val="D6DEE7"/>
                      </a:solidFill>
                    </a:lnB>
                  </a:tcPr>
                </a:tc>
                <a:tc>
                  <a:txBody>
                    <a:bodyPr wrap="square"/>
                    <a:lstStyle/>
                    <a:p>
                      <a:pPr algn="ctr"/>
                      <a:r>
                        <a:rPr sz="1800" b="1" i="0" lang="ja-JP">
                          <a:solidFill>
                            <a:srgbClr val="16385C"/>
                          </a:solidFill>
                          <a:latin typeface="Meiryo"/>
                          <a:ea typeface="Meiryo"/>
                        </a:rPr>
                        <a:t>7</a:t>
                      </a:r>
                    </a:p>
                  </a:txBody>
                  <a:tcPr marL="82296" marR="54864" marT="77724" marB="18288" anchor="ctr">
                    <a:solidFill>
                      <a:srgbClr val="F6F9FB"/>
                    </a:solidFill>
                    <a:lnB w="9525" cap="flat">
                      <a:solidFill>
                        <a:srgbClr val="D6DEE7"/>
                      </a:solidFill>
                    </a:lnB>
                  </a:tcPr>
                </a:tc>
                <a:tc>
                  <a:txBody>
                    <a:bodyPr wrap="square"/>
                    <a:lstStyle/>
                    <a:p>
                      <a:pPr algn="ctr"/>
                      <a:r>
                        <a:rPr sz="1800" b="0" i="0" lang="ja-JP">
                          <a:solidFill>
                            <a:srgbClr val="26303A"/>
                          </a:solidFill>
                          <a:latin typeface="Meiryo"/>
                          <a:ea typeface="Meiryo"/>
                        </a:rPr>
                        <a:t>1</a:t>
                      </a:r>
                    </a:p>
                  </a:txBody>
                  <a:tcPr marL="82296" marR="54864" marT="77724" marB="18288" anchor="ctr">
                    <a:solidFill>
                      <a:srgbClr val="F6F9FB"/>
                    </a:solidFill>
                    <a:lnB w="9525" cap="flat">
                      <a:solidFill>
                        <a:srgbClr val="D6DEE7"/>
                      </a:solidFill>
                    </a:lnB>
                  </a:tcPr>
                </a:tc>
              </a:tr>
              <a:tr h="521207">
                <a:tc>
                  <a:txBody>
                    <a:bodyPr wrap="square"/>
                    <a:lstStyle/>
                    <a:p>
                      <a:pPr algn="l"/>
                      <a:r>
                        <a:rPr sz="1800" b="0" i="0" lang="ja-JP">
                          <a:solidFill>
                            <a:srgbClr val="26303A"/>
                          </a:solidFill>
                          <a:latin typeface="Meiryo"/>
                          <a:ea typeface="Meiryo"/>
                        </a:rPr>
                        <a:t>Memetic+PR</a:t>
                      </a:r>
                    </a:p>
                  </a:txBody>
                  <a:tcPr marL="82296" marR="54864" marT="77724" marB="18288" anchor="ctr">
                    <a:solidFill>
                      <a:srgbClr val="FFFFFF"/>
                    </a:solidFill>
                    <a:lnB w="9525" cap="flat">
                      <a:solidFill>
                        <a:srgbClr val="D6DEE7"/>
                      </a:solidFill>
                    </a:lnB>
                  </a:tcPr>
                </a:tc>
                <a:tc>
                  <a:txBody>
                    <a:bodyPr wrap="square"/>
                    <a:lstStyle/>
                    <a:p>
                      <a:pPr algn="ctr"/>
                      <a:r>
                        <a:rPr sz="1800" b="1" i="0" lang="ja-JP">
                          <a:solidFill>
                            <a:srgbClr val="16385C"/>
                          </a:solidFill>
                          <a:latin typeface="Meiryo"/>
                          <a:ea typeface="Meiryo"/>
                        </a:rPr>
                        <a:t>7</a:t>
                      </a:r>
                    </a:p>
                  </a:txBody>
                  <a:tcPr marL="82296" marR="54864" marT="77724" marB="18288" anchor="ctr">
                    <a:solidFill>
                      <a:srgbClr val="FFFFFF"/>
                    </a:solidFill>
                    <a:lnB w="9525" cap="flat">
                      <a:solidFill>
                        <a:srgbClr val="D6DEE7"/>
                      </a:solidFill>
                    </a:lnB>
                  </a:tcPr>
                </a:tc>
                <a:tc>
                  <a:txBody>
                    <a:bodyPr wrap="square"/>
                    <a:lstStyle/>
                    <a:p>
                      <a:pPr algn="ctr"/>
                      <a:r>
                        <a:rPr sz="1800" b="1" i="0" lang="ja-JP">
                          <a:solidFill>
                            <a:srgbClr val="16385C"/>
                          </a:solidFill>
                          <a:latin typeface="Meiryo"/>
                          <a:ea typeface="Meiryo"/>
                        </a:rPr>
                        <a:t>7</a:t>
                      </a:r>
                    </a:p>
                  </a:txBody>
                  <a:tcPr marL="82296" marR="54864" marT="77724" marB="18288" anchor="ctr">
                    <a:solidFill>
                      <a:srgbClr val="FFFFFF"/>
                    </a:solidFill>
                    <a:lnB w="9525" cap="flat">
                      <a:solidFill>
                        <a:srgbClr val="D6DEE7"/>
                      </a:solidFill>
                    </a:lnB>
                  </a:tcPr>
                </a:tc>
                <a:tc>
                  <a:txBody>
                    <a:bodyPr wrap="square"/>
                    <a:lstStyle/>
                    <a:p>
                      <a:pPr algn="ctr"/>
                      <a:r>
                        <a:rPr sz="1800" b="0" i="0" lang="ja-JP">
                          <a:solidFill>
                            <a:srgbClr val="26303A"/>
                          </a:solidFill>
                          <a:latin typeface="Meiryo"/>
                          <a:ea typeface="Meiryo"/>
                        </a:rPr>
                        <a:t>0</a:t>
                      </a:r>
                    </a:p>
                  </a:txBody>
                  <a:tcPr marL="82296" marR="54864" marT="77724" marB="18288" anchor="ctr">
                    <a:solidFill>
                      <a:srgbClr val="FFFFFF"/>
                    </a:solidFill>
                    <a:lnB w="9525" cap="flat">
                      <a:solidFill>
                        <a:srgbClr val="D6DEE7"/>
                      </a:solidFill>
                    </a:lnB>
                  </a:tcPr>
                </a:tc>
              </a:tr>
            </a:tbl>
          </a:graphicData>
        </a:graphic>
      </p:graphicFrame>
      <p:sp>
        <p:nvSpPr>
          <p:cNvPr id="8" name="TextBox 7"/>
          <p:cNvSpPr txBox="1"/>
          <p:nvPr/>
        </p:nvSpPr>
        <p:spPr>
          <a:xfrm>
            <a:off x="566928" y="5907024"/>
            <a:ext cx="5257800" cy="329184"/>
          </a:xfrm>
          <a:prstGeom prst="rect">
            <a:avLst/>
          </a:prstGeom>
          <a:noFill/>
        </p:spPr>
        <p:txBody>
          <a:bodyPr wrap="square" anchor="t" lIns="18288" rIns="18288" tIns="9144" bIns="9144">
            <a:spAutoFit/>
          </a:bodyPr>
          <a:lstStyle/>
          <a:p>
            <a:pPr algn="l">
              <a:lnSpc>
                <a:spcPct val="105000"/>
              </a:lnSpc>
            </a:pPr>
            <a:r>
              <a:rPr sz="1500" b="0" i="0" lang="ja-JP">
                <a:solidFill>
                  <a:srgbClr val="6E7A88"/>
                </a:solidFill>
                <a:latin typeface="Meiryo"/>
                <a:ea typeface="Meiryo"/>
              </a:rPr>
              <a:t>最良に並ぶ：中央値が最良手法の中央値から 2% 以内</a:t>
            </a:r>
          </a:p>
        </p:txBody>
      </p:sp>
      <p:sp>
        <p:nvSpPr>
          <p:cNvPr id="9" name="TextBox 8"/>
          <p:cNvSpPr txBox="1"/>
          <p:nvPr/>
        </p:nvSpPr>
        <p:spPr>
          <a:xfrm>
            <a:off x="6281928" y="1207008"/>
            <a:ext cx="5342839" cy="384048"/>
          </a:xfrm>
          <a:prstGeom prst="rect">
            <a:avLst/>
          </a:prstGeom>
          <a:noFill/>
        </p:spPr>
        <p:txBody>
          <a:bodyPr wrap="square" anchor="ctr" lIns="18288" rIns="18288" tIns="68580" bIns="9144">
            <a:spAutoFit/>
          </a:bodyPr>
          <a:lstStyle/>
          <a:p>
            <a:pPr algn="l">
              <a:lnSpc>
                <a:spcPct val="105000"/>
              </a:lnSpc>
            </a:pPr>
            <a:r>
              <a:rPr sz="1800" b="1" i="0" lang="ja-JP">
                <a:solidFill>
                  <a:srgbClr val="16385C"/>
                </a:solidFill>
                <a:latin typeface="Meiryo"/>
                <a:ea typeface="Meiryo"/>
              </a:rPr>
              <a:t>全域 HV</a:t>
            </a:r>
          </a:p>
        </p:txBody>
      </p:sp>
      <p:sp>
        <p:nvSpPr>
          <p:cNvPr id="10" name="TextBox 9"/>
          <p:cNvSpPr txBox="1"/>
          <p:nvPr/>
        </p:nvSpPr>
        <p:spPr>
          <a:xfrm>
            <a:off x="6281928" y="1664208"/>
            <a:ext cx="5342839" cy="1737360"/>
          </a:xfrm>
          <a:prstGeom prst="rect">
            <a:avLst/>
          </a:prstGeom>
          <a:noFill/>
        </p:spPr>
        <p:txBody>
          <a:bodyPr wrap="square" anchor="t" lIns="18288" rIns="18288" tIns="9144" bIns="9144">
            <a:spAutoFit/>
          </a:bodyPr>
          <a:lstStyle/>
          <a:p>
            <a:pPr algn="l">
              <a:lnSpc>
                <a:spcPct val="112000"/>
              </a:lnSpc>
            </a:pPr>
            <a:r>
              <a:rPr sz="1800" b="0" i="0" lang="ja-JP">
                <a:solidFill>
                  <a:srgbClr val="26303A"/>
                </a:solidFill>
                <a:latin typeface="Meiryo"/>
                <a:ea typeface="Meiryo"/>
              </a:rPr>
              <a:t>Memetic＋演算子は 7 シナリオで最良に並ぶ</a:t>
            </a:r>
          </a:p>
          <a:p>
            <a:pPr algn="l">
              <a:lnSpc>
                <a:spcPct val="112000"/>
              </a:lnSpc>
            </a:pPr>
            <a:r>
              <a:rPr sz="1800" b="0" i="0" lang="ja-JP">
                <a:solidFill>
                  <a:srgbClr val="26303A"/>
                </a:solidFill>
                <a:latin typeface="Meiryo"/>
                <a:ea typeface="Meiryo"/>
              </a:rPr>
              <a:t>ILS 系は 4 シナリオで最良に並ぶ</a:t>
            </a:r>
          </a:p>
          <a:p>
            <a:pPr algn="l" marL="306324" indent="-306324">
              <a:lnSpc>
                <a:spcPct val="112000"/>
              </a:lnSpc>
            </a:pPr>
            <a:r>
              <a:rPr sz="1800" b="0" i="0" lang="ja-JP">
                <a:solidFill>
                  <a:srgbClr val="26303A"/>
                </a:solidFill>
                <a:latin typeface="Meiryo"/>
                <a:ea typeface="Meiryo"/>
              </a:rPr>
              <a:t>→ </a:t>
            </a:r>
            <a:r>
              <a:rPr sz="1800" b="1" i="0" lang="ja-JP">
                <a:solidFill>
                  <a:srgbClr val="16385C"/>
                </a:solidFill>
                <a:latin typeface="Meiryo"/>
                <a:ea typeface="Meiryo"/>
              </a:rPr>
              <a:t>演算子は Memetic の全域 HV を</a:t>
            </a:r>
            <a:br/>
            <a:r>
              <a:rPr sz="1800" b="1" i="0" lang="ja-JP">
                <a:solidFill>
                  <a:srgbClr val="16385C"/>
                </a:solidFill>
                <a:latin typeface="Meiryo"/>
                <a:ea typeface="Meiryo"/>
              </a:rPr>
              <a:t>押し上げるが，ILS ではほぼ変わらない</a:t>
            </a:r>
          </a:p>
        </p:txBody>
      </p:sp>
      <p:sp>
        <p:nvSpPr>
          <p:cNvPr id="11" name="Rectangle 10"/>
          <p:cNvSpPr/>
          <p:nvPr/>
        </p:nvSpPr>
        <p:spPr>
          <a:xfrm>
            <a:off x="6281928" y="3447288"/>
            <a:ext cx="5342839" cy="10972"/>
          </a:xfrm>
          <a:prstGeom prst="rect">
            <a:avLst/>
          </a:prstGeom>
          <a:solidFill>
            <a:srgbClr val="D6D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81928" y="3630168"/>
            <a:ext cx="5342839" cy="384048"/>
          </a:xfrm>
          <a:prstGeom prst="rect">
            <a:avLst/>
          </a:prstGeom>
          <a:noFill/>
        </p:spPr>
        <p:txBody>
          <a:bodyPr wrap="square" anchor="ctr" lIns="18288" rIns="18288" tIns="68580" bIns="9144">
            <a:spAutoFit/>
          </a:bodyPr>
          <a:lstStyle/>
          <a:p>
            <a:pPr algn="l">
              <a:lnSpc>
                <a:spcPct val="105000"/>
              </a:lnSpc>
            </a:pPr>
            <a:r>
              <a:rPr sz="1800" b="1" i="0" lang="ja-JP">
                <a:solidFill>
                  <a:srgbClr val="16385C"/>
                </a:solidFill>
                <a:latin typeface="Meiryo"/>
                <a:ea typeface="Meiryo"/>
              </a:rPr>
              <a:t>AUC</a:t>
            </a:r>
          </a:p>
        </p:txBody>
      </p:sp>
      <p:sp>
        <p:nvSpPr>
          <p:cNvPr id="13" name="TextBox 12"/>
          <p:cNvSpPr txBox="1"/>
          <p:nvPr/>
        </p:nvSpPr>
        <p:spPr>
          <a:xfrm>
            <a:off x="6281928" y="4087368"/>
            <a:ext cx="5342839" cy="1737360"/>
          </a:xfrm>
          <a:prstGeom prst="rect">
            <a:avLst/>
          </a:prstGeom>
          <a:noFill/>
        </p:spPr>
        <p:txBody>
          <a:bodyPr wrap="square" anchor="t" lIns="18288" rIns="18288" tIns="9144" bIns="9144">
            <a:spAutoFit/>
          </a:bodyPr>
          <a:lstStyle/>
          <a:p>
            <a:pPr algn="l">
              <a:lnSpc>
                <a:spcPct val="112000"/>
              </a:lnSpc>
            </a:pPr>
            <a:r>
              <a:rPr sz="1800" b="0" i="0" lang="ja-JP">
                <a:solidFill>
                  <a:srgbClr val="26303A"/>
                </a:solidFill>
                <a:latin typeface="Meiryo"/>
                <a:ea typeface="Meiryo"/>
              </a:rPr>
              <a:t>ILS 系は 6 シナリオで最良に並ぶ</a:t>
            </a:r>
          </a:p>
          <a:p>
            <a:pPr algn="l">
              <a:lnSpc>
                <a:spcPct val="112000"/>
              </a:lnSpc>
            </a:pPr>
            <a:r>
              <a:rPr sz="1800" b="0" i="0" lang="ja-JP">
                <a:solidFill>
                  <a:srgbClr val="26303A"/>
                </a:solidFill>
                <a:latin typeface="Meiryo"/>
                <a:ea typeface="Meiryo"/>
              </a:rPr>
              <a:t>Memetic では演算子が各個体に発動して</a:t>
            </a:r>
          </a:p>
          <a:p>
            <a:pPr algn="l">
              <a:lnSpc>
                <a:spcPct val="112000"/>
              </a:lnSpc>
            </a:pPr>
            <a:r>
              <a:rPr sz="1800" b="0" i="0" lang="ja-JP">
                <a:solidFill>
                  <a:srgbClr val="26303A"/>
                </a:solidFill>
                <a:latin typeface="Meiryo"/>
                <a:ea typeface="Meiryo"/>
              </a:rPr>
              <a:t>計算時間が増え，PR は AUC を</a:t>
            </a:r>
          </a:p>
          <a:p>
            <a:pPr algn="l">
              <a:lnSpc>
                <a:spcPct val="112000"/>
              </a:lnSpc>
            </a:pPr>
            <a:r>
              <a:rPr sz="1800" b="0" i="0" lang="ja-JP">
                <a:solidFill>
                  <a:srgbClr val="26303A"/>
                </a:solidFill>
                <a:latin typeface="Meiryo"/>
                <a:ea typeface="Meiryo"/>
              </a:rPr>
              <a:t>5 シナリオで 7〜26% 下げる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011680" y="1417319"/>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1</a:t>
            </a:r>
          </a:p>
        </p:txBody>
      </p:sp>
      <p:sp>
        <p:nvSpPr>
          <p:cNvPr id="4" name="TextBox 3"/>
          <p:cNvSpPr txBox="1"/>
          <p:nvPr/>
        </p:nvSpPr>
        <p:spPr>
          <a:xfrm>
            <a:off x="3017520" y="1417319"/>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研究背景と仮説</a:t>
            </a:r>
          </a:p>
        </p:txBody>
      </p:sp>
      <p:sp>
        <p:nvSpPr>
          <p:cNvPr id="5" name="TextBox 4"/>
          <p:cNvSpPr txBox="1"/>
          <p:nvPr/>
        </p:nvSpPr>
        <p:spPr>
          <a:xfrm>
            <a:off x="2011680" y="2468879"/>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2</a:t>
            </a:r>
          </a:p>
        </p:txBody>
      </p:sp>
      <p:sp>
        <p:nvSpPr>
          <p:cNvPr id="6" name="TextBox 5"/>
          <p:cNvSpPr txBox="1"/>
          <p:nvPr/>
        </p:nvSpPr>
        <p:spPr>
          <a:xfrm>
            <a:off x="3017520" y="2468879"/>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問題設定と実験計画</a:t>
            </a:r>
          </a:p>
        </p:txBody>
      </p:sp>
      <p:sp>
        <p:nvSpPr>
          <p:cNvPr id="7" name="TextBox 6"/>
          <p:cNvSpPr txBox="1"/>
          <p:nvPr/>
        </p:nvSpPr>
        <p:spPr>
          <a:xfrm>
            <a:off x="2011680" y="3520439"/>
            <a:ext cx="914400" cy="868680"/>
          </a:xfrm>
          <a:prstGeom prst="rect">
            <a:avLst/>
          </a:prstGeom>
          <a:noFill/>
        </p:spPr>
        <p:txBody>
          <a:bodyPr wrap="square" anchor="ctr" lIns="18288" rIns="18288" tIns="108204" bIns="9144">
            <a:spAutoFit/>
          </a:bodyPr>
          <a:lstStyle/>
          <a:p>
            <a:r>
              <a:rPr sz="3000" b="1" i="0" lang="ja-JP">
                <a:solidFill>
                  <a:srgbClr val="3E618C"/>
                </a:solidFill>
                <a:latin typeface="Meiryo"/>
                <a:ea typeface="Meiryo"/>
              </a:rPr>
              <a:t>3</a:t>
            </a:r>
          </a:p>
        </p:txBody>
      </p:sp>
      <p:sp>
        <p:nvSpPr>
          <p:cNvPr id="8" name="TextBox 7"/>
          <p:cNvSpPr txBox="1"/>
          <p:nvPr/>
        </p:nvSpPr>
        <p:spPr>
          <a:xfrm>
            <a:off x="3017520" y="3520439"/>
            <a:ext cx="7162495" cy="868680"/>
          </a:xfrm>
          <a:prstGeom prst="rect">
            <a:avLst/>
          </a:prstGeom>
          <a:noFill/>
        </p:spPr>
        <p:txBody>
          <a:bodyPr wrap="square" anchor="ctr" lIns="18288" rIns="18288" tIns="75184" bIns="9144">
            <a:spAutoFit/>
          </a:bodyPr>
          <a:lstStyle/>
          <a:p>
            <a:r>
              <a:rPr sz="2000" b="0" i="0" lang="ja-JP">
                <a:solidFill>
                  <a:srgbClr val="3E618C"/>
                </a:solidFill>
                <a:latin typeface="Meiryo"/>
                <a:ea typeface="Meiryo"/>
              </a:rPr>
              <a:t>数値実験</a:t>
            </a:r>
          </a:p>
        </p:txBody>
      </p:sp>
      <p:sp>
        <p:nvSpPr>
          <p:cNvPr id="9" name="Rounded Rectangle 8"/>
          <p:cNvSpPr/>
          <p:nvPr/>
        </p:nvSpPr>
        <p:spPr>
          <a:xfrm>
            <a:off x="1737360" y="4526280"/>
            <a:ext cx="8716975" cy="960120"/>
          </a:xfrm>
          <a:prstGeom prst="roundRect">
            <a:avLst>
              <a:gd name="adj" fmla="val 12000"/>
            </a:avLst>
          </a:prstGeom>
          <a:solidFill>
            <a:srgbClr val="3E618C">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4572000"/>
            <a:ext cx="914400" cy="868680"/>
          </a:xfrm>
          <a:prstGeom prst="rect">
            <a:avLst/>
          </a:prstGeom>
          <a:noFill/>
        </p:spPr>
        <p:txBody>
          <a:bodyPr wrap="square" anchor="ctr" lIns="18288" rIns="18288" tIns="141224" bIns="9144">
            <a:spAutoFit/>
          </a:bodyPr>
          <a:lstStyle/>
          <a:p>
            <a:r>
              <a:rPr sz="4000" b="1" i="0" lang="ja-JP">
                <a:solidFill>
                  <a:srgbClr val="FFFFFF"/>
                </a:solidFill>
                <a:latin typeface="Meiryo"/>
                <a:ea typeface="Meiryo"/>
              </a:rPr>
              <a:t>4</a:t>
            </a:r>
          </a:p>
        </p:txBody>
      </p:sp>
      <p:sp>
        <p:nvSpPr>
          <p:cNvPr id="11" name="TextBox 10"/>
          <p:cNvSpPr txBox="1"/>
          <p:nvPr/>
        </p:nvSpPr>
        <p:spPr>
          <a:xfrm>
            <a:off x="3017520" y="4572000"/>
            <a:ext cx="7162495" cy="868680"/>
          </a:xfrm>
          <a:prstGeom prst="rect">
            <a:avLst/>
          </a:prstGeom>
          <a:noFill/>
        </p:spPr>
        <p:txBody>
          <a:bodyPr wrap="square" anchor="ctr" lIns="18288" rIns="18288" tIns="94996" bIns="9144">
            <a:spAutoFit/>
          </a:bodyPr>
          <a:lstStyle/>
          <a:p>
            <a:r>
              <a:rPr sz="2600" b="1" i="0" lang="ja-JP">
                <a:solidFill>
                  <a:srgbClr val="FFFFFF"/>
                </a:solidFill>
                <a:latin typeface="Meiryo"/>
                <a:ea typeface="Meiryo"/>
              </a:rPr>
              <a:t>結論</a:t>
            </a:r>
          </a:p>
          <a:p>
            <a:pPr>
              <a:spcBef>
                <a:spcPts val="400"/>
              </a:spcBef>
            </a:pPr>
            <a:r>
              <a:rPr sz="1300" b="0" i="0" lang="ja-JP">
                <a:solidFill>
                  <a:srgbClr val="AFC2D8"/>
                </a:solidFill>
                <a:latin typeface="Meiryo"/>
                <a:ea typeface="Meiryo"/>
              </a:rPr>
              <a:t>まとめ・限界と今後の課題</a:t>
            </a:r>
          </a:p>
        </p:txBody>
      </p:sp>
      <p:sp>
        <p:nvSpPr>
          <p:cNvPr id="12" name="TextBox 11"/>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AFC2D8"/>
                </a:solidFill>
                <a:latin typeface="Meiryo"/>
                <a:ea typeface="Meiryo"/>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まとめ</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4. 結論</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24</a:t>
            </a:r>
          </a:p>
        </p:txBody>
      </p:sp>
      <p:sp>
        <p:nvSpPr>
          <p:cNvPr id="6" name="Rounded Rectangle 5"/>
          <p:cNvSpPr/>
          <p:nvPr/>
        </p:nvSpPr>
        <p:spPr>
          <a:xfrm>
            <a:off x="566928" y="1252728"/>
            <a:ext cx="11057839" cy="1697736"/>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49808" y="1845564"/>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7724" bIns="18288"/>
          <a:lstStyle/>
          <a:p>
            <a:pPr algn="ctr">
              <a:lnSpc>
                <a:spcPct val="100000"/>
              </a:lnSpc>
            </a:pPr>
            <a:r>
              <a:rPr sz="1800" b="1" i="0" lang="ja-JP">
                <a:solidFill>
                  <a:srgbClr val="FFFFFF"/>
                </a:solidFill>
                <a:latin typeface="Meiryo"/>
                <a:ea typeface="Meiryo"/>
              </a:rPr>
              <a:t>1</a:t>
            </a:r>
          </a:p>
        </p:txBody>
      </p:sp>
      <p:sp>
        <p:nvSpPr>
          <p:cNvPr id="8" name="TextBox 7"/>
          <p:cNvSpPr txBox="1"/>
          <p:nvPr/>
        </p:nvSpPr>
        <p:spPr>
          <a:xfrm>
            <a:off x="1389888" y="1325880"/>
            <a:ext cx="1554480" cy="1551432"/>
          </a:xfrm>
          <a:prstGeom prst="rect">
            <a:avLst/>
          </a:prstGeom>
          <a:noFill/>
        </p:spPr>
        <p:txBody>
          <a:bodyPr wrap="square" anchor="ctr" lIns="18288" rIns="18288" tIns="68580" bIns="9144">
            <a:spAutoFit/>
          </a:bodyPr>
          <a:lstStyle/>
          <a:p>
            <a:pPr algn="l">
              <a:lnSpc>
                <a:spcPct val="105000"/>
              </a:lnSpc>
            </a:pPr>
            <a:r>
              <a:rPr sz="1800" b="1" i="0" lang="ja-JP">
                <a:solidFill>
                  <a:srgbClr val="16385C"/>
                </a:solidFill>
                <a:latin typeface="Meiryo"/>
                <a:ea typeface="Meiryo"/>
              </a:rPr>
              <a:t>仮説 1 を支持</a:t>
            </a:r>
          </a:p>
        </p:txBody>
      </p:sp>
      <p:sp>
        <p:nvSpPr>
          <p:cNvPr id="9" name="TextBox 8"/>
          <p:cNvSpPr txBox="1"/>
          <p:nvPr/>
        </p:nvSpPr>
        <p:spPr>
          <a:xfrm>
            <a:off x="2990088" y="1307592"/>
            <a:ext cx="8451799" cy="1588008"/>
          </a:xfrm>
          <a:prstGeom prst="rect">
            <a:avLst/>
          </a:prstGeom>
          <a:noFill/>
        </p:spPr>
        <p:txBody>
          <a:bodyPr wrap="square" anchor="ctr" lIns="18288" rIns="18288" tIns="68580" bIns="9144">
            <a:spAutoFit/>
          </a:bodyPr>
          <a:lstStyle/>
          <a:p>
            <a:pPr algn="l">
              <a:lnSpc>
                <a:spcPct val="112000"/>
              </a:lnSpc>
            </a:pPr>
            <a:r>
              <a:rPr sz="1800" b="0" i="0" lang="ja-JP">
                <a:solidFill>
                  <a:srgbClr val="26303A"/>
                </a:solidFill>
                <a:latin typeface="Meiryo"/>
                <a:ea typeface="Meiryo"/>
              </a:rPr>
              <a:t>高安定 HV は</a:t>
            </a:r>
            <a:r>
              <a:rPr sz="1800" b="1" i="0" lang="ja-JP">
                <a:solidFill>
                  <a:srgbClr val="26303A"/>
                </a:solidFill>
                <a:latin typeface="Meiryo"/>
                <a:ea typeface="Meiryo"/>
              </a:rPr>
              <a:t>単点探索（ILS）</a:t>
            </a:r>
            <a:r>
              <a:rPr sz="1800" b="0" i="0" lang="ja-JP">
                <a:solidFill>
                  <a:srgbClr val="26303A"/>
                </a:solidFill>
                <a:latin typeface="Meiryo"/>
                <a:ea typeface="Meiryo"/>
              </a:rPr>
              <a:t>が多点探索（Memetic）を上回る</a:t>
            </a:r>
          </a:p>
          <a:p>
            <a:pPr algn="l" marL="306324" indent="-306324">
              <a:lnSpc>
                <a:spcPct val="112000"/>
              </a:lnSpc>
            </a:pPr>
            <a:r>
              <a:rPr sz="1800" b="0" i="0" lang="ja-JP">
                <a:solidFill>
                  <a:srgbClr val="26303A"/>
                </a:solidFill>
                <a:latin typeface="Meiryo"/>
                <a:ea typeface="Meiryo"/>
              </a:rPr>
              <a:t>→ スケジュール変更コストが無視できない現場では，</a:t>
            </a:r>
            <a:br/>
            <a:r>
              <a:rPr sz="1800" b="0" i="0" lang="ja-JP">
                <a:solidFill>
                  <a:srgbClr val="26303A"/>
                </a:solidFill>
                <a:latin typeface="Meiryo"/>
                <a:ea typeface="Meiryo"/>
              </a:rPr>
              <a:t>多点探索より</a:t>
            </a:r>
            <a:r>
              <a:rPr sz="1800" b="1" i="0" lang="ja-JP">
                <a:solidFill>
                  <a:srgbClr val="26303A"/>
                </a:solidFill>
                <a:latin typeface="Meiryo"/>
                <a:ea typeface="Meiryo"/>
              </a:rPr>
              <a:t>単点探索</a:t>
            </a:r>
            <a:r>
              <a:rPr sz="1800" b="0" i="0" lang="ja-JP">
                <a:solidFill>
                  <a:srgbClr val="26303A"/>
                </a:solidFill>
                <a:latin typeface="Meiryo"/>
                <a:ea typeface="Meiryo"/>
              </a:rPr>
              <a:t>のほうが適する</a:t>
            </a:r>
          </a:p>
        </p:txBody>
      </p:sp>
      <p:sp>
        <p:nvSpPr>
          <p:cNvPr id="10" name="Rounded Rectangle 9"/>
          <p:cNvSpPr/>
          <p:nvPr/>
        </p:nvSpPr>
        <p:spPr>
          <a:xfrm>
            <a:off x="566928" y="3105912"/>
            <a:ext cx="11057839" cy="1697736"/>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49808" y="3698748"/>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7724" bIns="18288"/>
          <a:lstStyle/>
          <a:p>
            <a:pPr algn="ctr">
              <a:lnSpc>
                <a:spcPct val="100000"/>
              </a:lnSpc>
            </a:pPr>
            <a:r>
              <a:rPr sz="1800" b="1" i="0" lang="ja-JP">
                <a:solidFill>
                  <a:srgbClr val="FFFFFF"/>
                </a:solidFill>
                <a:latin typeface="Meiryo"/>
                <a:ea typeface="Meiryo"/>
              </a:rPr>
              <a:t>2</a:t>
            </a:r>
          </a:p>
        </p:txBody>
      </p:sp>
      <p:sp>
        <p:nvSpPr>
          <p:cNvPr id="12" name="TextBox 11"/>
          <p:cNvSpPr txBox="1"/>
          <p:nvPr/>
        </p:nvSpPr>
        <p:spPr>
          <a:xfrm>
            <a:off x="1389888" y="3179064"/>
            <a:ext cx="1554480" cy="1551432"/>
          </a:xfrm>
          <a:prstGeom prst="rect">
            <a:avLst/>
          </a:prstGeom>
          <a:noFill/>
        </p:spPr>
        <p:txBody>
          <a:bodyPr wrap="square" anchor="ctr" lIns="18288" rIns="18288" tIns="68580" bIns="9144">
            <a:spAutoFit/>
          </a:bodyPr>
          <a:lstStyle/>
          <a:p>
            <a:pPr algn="l">
              <a:lnSpc>
                <a:spcPct val="105000"/>
              </a:lnSpc>
            </a:pPr>
            <a:r>
              <a:rPr sz="1800" b="1" i="0" lang="ja-JP">
                <a:solidFill>
                  <a:srgbClr val="16385C"/>
                </a:solidFill>
                <a:latin typeface="Meiryo"/>
                <a:ea typeface="Meiryo"/>
              </a:rPr>
              <a:t>仮説 2 を支持</a:t>
            </a:r>
          </a:p>
        </p:txBody>
      </p:sp>
      <p:sp>
        <p:nvSpPr>
          <p:cNvPr id="13" name="TextBox 12"/>
          <p:cNvSpPr txBox="1"/>
          <p:nvPr/>
        </p:nvSpPr>
        <p:spPr>
          <a:xfrm>
            <a:off x="2990088" y="3160776"/>
            <a:ext cx="8451799" cy="1588008"/>
          </a:xfrm>
          <a:prstGeom prst="rect">
            <a:avLst/>
          </a:prstGeom>
          <a:noFill/>
        </p:spPr>
        <p:txBody>
          <a:bodyPr wrap="square" anchor="ctr" lIns="18288" rIns="18288" tIns="68580" bIns="9144">
            <a:spAutoFit/>
          </a:bodyPr>
          <a:lstStyle/>
          <a:p>
            <a:pPr algn="l">
              <a:lnSpc>
                <a:spcPct val="112000"/>
              </a:lnSpc>
            </a:pPr>
            <a:r>
              <a:rPr sz="1800" b="0" i="0" lang="ja-JP">
                <a:solidFill>
                  <a:srgbClr val="26303A"/>
                </a:solidFill>
                <a:latin typeface="Meiryo"/>
                <a:ea typeface="Meiryo"/>
              </a:rPr>
              <a:t>安定性誘導演算子は，</a:t>
            </a:r>
            <a:r>
              <a:rPr sz="1800" b="1" i="0" lang="ja-JP">
                <a:solidFill>
                  <a:srgbClr val="26303A"/>
                </a:solidFill>
                <a:latin typeface="Meiryo"/>
                <a:ea typeface="Meiryo"/>
              </a:rPr>
              <a:t>多点探索の高安定 HV を単点探索と同程度まで向上</a:t>
            </a:r>
            <a:r>
              <a:rPr sz="1800" b="0" i="0" lang="ja-JP">
                <a:solidFill>
                  <a:srgbClr val="26303A"/>
                </a:solidFill>
                <a:latin typeface="Meiryo"/>
                <a:ea typeface="Meiryo"/>
              </a:rPr>
              <a:t>させる</a:t>
            </a:r>
          </a:p>
          <a:p>
            <a:pPr algn="l" marL="306324" indent="-306324">
              <a:lnSpc>
                <a:spcPct val="112000"/>
              </a:lnSpc>
            </a:pPr>
            <a:r>
              <a:rPr sz="1800" b="0" i="0" lang="ja-JP">
                <a:solidFill>
                  <a:srgbClr val="26303A"/>
                </a:solidFill>
                <a:latin typeface="Meiryo"/>
                <a:ea typeface="Meiryo"/>
              </a:rPr>
              <a:t>→ 多点探索でも，安定性誘導演算子を組み込めば，</a:t>
            </a:r>
            <a:br/>
            <a:r>
              <a:rPr sz="1800" b="0" i="0" lang="ja-JP">
                <a:solidFill>
                  <a:srgbClr val="26303A"/>
                </a:solidFill>
                <a:latin typeface="Meiryo"/>
                <a:ea typeface="Meiryo"/>
              </a:rPr>
              <a:t>単点探索と同程度の質で安定性の高い解を得られる</a:t>
            </a:r>
          </a:p>
        </p:txBody>
      </p:sp>
      <p:sp>
        <p:nvSpPr>
          <p:cNvPr id="14" name="Rounded Rectangle 13"/>
          <p:cNvSpPr/>
          <p:nvPr/>
        </p:nvSpPr>
        <p:spPr>
          <a:xfrm>
            <a:off x="566928" y="4959096"/>
            <a:ext cx="11057839" cy="1368552"/>
          </a:xfrm>
          <a:prstGeom prst="roundRect">
            <a:avLst>
              <a:gd name="adj" fmla="val 6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49808" y="5387340"/>
            <a:ext cx="512064" cy="512064"/>
          </a:xfrm>
          <a:prstGeom prst="roundRect">
            <a:avLst>
              <a:gd name="adj" fmla="val 50000"/>
            </a:avLst>
          </a:prstGeom>
          <a:solidFill>
            <a:srgbClr val="163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77724" bIns="18288"/>
          <a:lstStyle/>
          <a:p>
            <a:pPr algn="ctr">
              <a:lnSpc>
                <a:spcPct val="100000"/>
              </a:lnSpc>
            </a:pPr>
            <a:r>
              <a:rPr sz="1800" b="1" i="0" lang="ja-JP">
                <a:solidFill>
                  <a:srgbClr val="FFFFFF"/>
                </a:solidFill>
                <a:latin typeface="Meiryo"/>
                <a:ea typeface="Meiryo"/>
              </a:rPr>
              <a:t>3</a:t>
            </a:r>
          </a:p>
        </p:txBody>
      </p:sp>
      <p:sp>
        <p:nvSpPr>
          <p:cNvPr id="16" name="TextBox 15"/>
          <p:cNvSpPr txBox="1"/>
          <p:nvPr/>
        </p:nvSpPr>
        <p:spPr>
          <a:xfrm>
            <a:off x="1389888" y="5032248"/>
            <a:ext cx="1554480" cy="1222248"/>
          </a:xfrm>
          <a:prstGeom prst="rect">
            <a:avLst/>
          </a:prstGeom>
          <a:noFill/>
        </p:spPr>
        <p:txBody>
          <a:bodyPr wrap="square" anchor="ctr" lIns="18288" rIns="18288" tIns="68580" bIns="9144">
            <a:spAutoFit/>
          </a:bodyPr>
          <a:lstStyle/>
          <a:p>
            <a:pPr algn="l">
              <a:lnSpc>
                <a:spcPct val="105000"/>
              </a:lnSpc>
            </a:pPr>
            <a:r>
              <a:rPr sz="1800" b="1" i="0" lang="ja-JP">
                <a:solidFill>
                  <a:srgbClr val="16385C"/>
                </a:solidFill>
                <a:latin typeface="Meiryo"/>
                <a:ea typeface="Meiryo"/>
              </a:rPr>
              <a:t>手法の選び方</a:t>
            </a:r>
          </a:p>
        </p:txBody>
      </p:sp>
      <p:sp>
        <p:nvSpPr>
          <p:cNvPr id="17" name="TextBox 16"/>
          <p:cNvSpPr txBox="1"/>
          <p:nvPr/>
        </p:nvSpPr>
        <p:spPr>
          <a:xfrm>
            <a:off x="2990088" y="5013960"/>
            <a:ext cx="8451799" cy="1258823"/>
          </a:xfrm>
          <a:prstGeom prst="rect">
            <a:avLst/>
          </a:prstGeom>
          <a:noFill/>
        </p:spPr>
        <p:txBody>
          <a:bodyPr wrap="square" anchor="ctr" lIns="18288" rIns="18288" tIns="68580" bIns="9144">
            <a:spAutoFit/>
          </a:bodyPr>
          <a:lstStyle/>
          <a:p>
            <a:pPr algn="l">
              <a:lnSpc>
                <a:spcPct val="112000"/>
              </a:lnSpc>
            </a:pPr>
            <a:r>
              <a:rPr sz="1800" b="0" i="0" lang="ja-JP">
                <a:solidFill>
                  <a:srgbClr val="26303A"/>
                </a:solidFill>
                <a:latin typeface="Meiryo"/>
                <a:ea typeface="Meiryo"/>
              </a:rPr>
              <a:t>Pareto フロント全体の品質を重視する場合は </a:t>
            </a:r>
            <a:r>
              <a:rPr sz="1800" b="1" i="0" lang="ja-JP">
                <a:solidFill>
                  <a:srgbClr val="26303A"/>
                </a:solidFill>
                <a:latin typeface="Meiryo"/>
                <a:ea typeface="Meiryo"/>
              </a:rPr>
              <a:t>多点探索＋安定性誘導演算子</a:t>
            </a:r>
          </a:p>
          <a:p>
            <a:pPr algn="l">
              <a:lnSpc>
                <a:spcPct val="112000"/>
              </a:lnSpc>
            </a:pPr>
            <a:r>
              <a:rPr sz="1800" b="0" i="0" lang="ja-JP">
                <a:solidFill>
                  <a:srgbClr val="26303A"/>
                </a:solidFill>
                <a:latin typeface="Meiryo"/>
                <a:ea typeface="Meiryo"/>
              </a:rPr>
              <a:t>短い計算時間で解を得る場合は </a:t>
            </a:r>
            <a:r>
              <a:rPr sz="1800" b="1" i="0" lang="ja-JP">
                <a:solidFill>
                  <a:srgbClr val="26303A"/>
                </a:solidFill>
                <a:latin typeface="Meiryo"/>
                <a:ea typeface="Meiryo"/>
              </a:rPr>
              <a:t>単点探索</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限界と今後の課題</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4. 結論</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25</a:t>
            </a:r>
          </a:p>
        </p:txBody>
      </p:sp>
      <p:sp>
        <p:nvSpPr>
          <p:cNvPr id="6" name="TextBox 5"/>
          <p:cNvSpPr txBox="1"/>
          <p:nvPr/>
        </p:nvSpPr>
        <p:spPr>
          <a:xfrm>
            <a:off x="566928" y="1207008"/>
            <a:ext cx="11057839" cy="384048"/>
          </a:xfrm>
          <a:prstGeom prst="rect">
            <a:avLst/>
          </a:prstGeom>
          <a:noFill/>
        </p:spPr>
        <p:txBody>
          <a:bodyPr wrap="square" anchor="ctr" lIns="18288" rIns="18288" tIns="68580" bIns="9144">
            <a:spAutoFit/>
          </a:bodyPr>
          <a:lstStyle/>
          <a:p>
            <a:pPr algn="l">
              <a:lnSpc>
                <a:spcPct val="105000"/>
              </a:lnSpc>
            </a:pPr>
            <a:r>
              <a:rPr sz="1800" b="1" i="0" lang="ja-JP">
                <a:solidFill>
                  <a:srgbClr val="16385C"/>
                </a:solidFill>
                <a:latin typeface="Meiryo"/>
                <a:ea typeface="Meiryo"/>
              </a:rPr>
              <a:t>限界</a:t>
            </a:r>
          </a:p>
        </p:txBody>
      </p:sp>
      <p:sp>
        <p:nvSpPr>
          <p:cNvPr id="7" name="TextBox 6"/>
          <p:cNvSpPr txBox="1"/>
          <p:nvPr/>
        </p:nvSpPr>
        <p:spPr>
          <a:xfrm>
            <a:off x="749808" y="1636776"/>
            <a:ext cx="10874959" cy="457200"/>
          </a:xfrm>
          <a:prstGeom prst="rect">
            <a:avLst/>
          </a:prstGeom>
          <a:noFill/>
        </p:spPr>
        <p:txBody>
          <a:bodyPr wrap="square" anchor="t" lIns="18288" rIns="18288" tIns="9144" bIns="9144">
            <a:spAutoFit/>
          </a:bodyPr>
          <a:lstStyle/>
          <a:p>
            <a:pPr>
              <a:lnSpc>
                <a:spcPct val="108000"/>
              </a:lnSpc>
              <a:spcBef>
                <a:spcPts val="0"/>
              </a:spcBef>
            </a:pPr>
            <a:r>
              <a:rPr sz="1440" b="1" i="0" lang="ja-JP">
                <a:solidFill>
                  <a:srgbClr val="16385C"/>
                </a:solidFill>
                <a:latin typeface="Meiryo"/>
                <a:ea typeface="Meiryo"/>
              </a:rPr>
              <a:t/>
            </a:r>
            <a:r>
              <a:rPr sz="1800" b="0" i="0" lang="ja-JP">
                <a:solidFill>
                  <a:srgbClr val="26303A"/>
                </a:solidFill>
                <a:latin typeface="Meiryo"/>
                <a:ea typeface="Meiryo"/>
              </a:rPr>
              <a:t>(i) </a:t>
            </a:r>
            <a:r>
              <a:rPr sz="1800" b="0" i="1" lang="ja-JP">
                <a:solidFill>
                  <a:srgbClr val="26303A"/>
                </a:solidFill>
                <a:latin typeface="Meiryo"/>
                <a:ea typeface="Meiryo"/>
              </a:rPr>
              <a:t>p</a:t>
            </a:r>
            <a:r>
              <a:rPr sz="1800" b="0" i="0" lang="ja-JP">
                <a:solidFill>
                  <a:srgbClr val="26303A"/>
                </a:solidFill>
                <a:latin typeface="Meiryo"/>
                <a:ea typeface="Meiryo"/>
              </a:rPr>
              <a:t> が有意水準に近い比較は，</a:t>
            </a:r>
            <a:r>
              <a:rPr sz="1800" b="0" i="1" lang="ja-JP">
                <a:solidFill>
                  <a:srgbClr val="26303A"/>
                </a:solidFill>
                <a:latin typeface="Meiryo"/>
                <a:ea typeface="Meiryo"/>
              </a:rPr>
              <a:t>n</a:t>
            </a:r>
            <a:r>
              <a:rPr sz="1800" b="0" i="0" lang="ja-JP">
                <a:solidFill>
                  <a:srgbClr val="26303A"/>
                </a:solidFill>
                <a:latin typeface="Meiryo"/>
                <a:ea typeface="Meiryo"/>
              </a:rPr>
              <a:t> = 10 では決着していない</a:t>
            </a:r>
          </a:p>
          <a:p>
            <a:pPr>
              <a:lnSpc>
                <a:spcPct val="108000"/>
              </a:lnSpc>
              <a:spcBef>
                <a:spcPts val="400"/>
              </a:spcBef>
            </a:pPr>
            <a:r>
              <a:rPr sz="1440" b="1" i="0" lang="ja-JP">
                <a:solidFill>
                  <a:srgbClr val="16385C"/>
                </a:solidFill>
                <a:latin typeface="Meiryo"/>
                <a:ea typeface="Meiryo"/>
              </a:rPr>
              <a:t/>
            </a:r>
            <a:r>
              <a:rPr sz="1800" b="0" i="0" lang="ja-JP">
                <a:solidFill>
                  <a:srgbClr val="26303A"/>
                </a:solidFill>
                <a:latin typeface="Meiryo"/>
                <a:ea typeface="Meiryo"/>
              </a:rPr>
              <a:t>(ii) 安定性を開始時刻偏差で測る場合の妥当性は検証していない</a:t>
            </a:r>
          </a:p>
          <a:p>
            <a:pPr>
              <a:lnSpc>
                <a:spcPct val="108000"/>
              </a:lnSpc>
              <a:spcBef>
                <a:spcPts val="400"/>
              </a:spcBef>
            </a:pPr>
            <a:r>
              <a:rPr sz="1440" b="1" i="0" lang="ja-JP">
                <a:solidFill>
                  <a:srgbClr val="16385C"/>
                </a:solidFill>
                <a:latin typeface="Meiryo"/>
                <a:ea typeface="Meiryo"/>
              </a:rPr>
              <a:t/>
            </a:r>
            <a:r>
              <a:rPr sz="1800" b="0" i="0" lang="ja-JP">
                <a:solidFill>
                  <a:srgbClr val="26303A"/>
                </a:solidFill>
                <a:latin typeface="Meiryo"/>
                <a:ea typeface="Meiryo"/>
              </a:rPr>
              <a:t>(iii) 外乱は単一作業の遅延に限る</a:t>
            </a:r>
          </a:p>
          <a:p>
            <a:pPr>
              <a:lnSpc>
                <a:spcPct val="108000"/>
              </a:lnSpc>
              <a:spcBef>
                <a:spcPts val="400"/>
              </a:spcBef>
            </a:pPr>
            <a:r>
              <a:rPr sz="1440" b="1" i="0" lang="ja-JP">
                <a:solidFill>
                  <a:srgbClr val="16385C"/>
                </a:solidFill>
                <a:latin typeface="Meiryo"/>
                <a:ea typeface="Meiryo"/>
              </a:rPr>
              <a:t/>
            </a:r>
            <a:r>
              <a:rPr sz="1800" b="0" i="0" lang="ja-JP">
                <a:solidFill>
                  <a:srgbClr val="26303A"/>
                </a:solidFill>
                <a:latin typeface="Meiryo"/>
                <a:ea typeface="Meiryo"/>
              </a:rPr>
              <a:t>(iv) 初期スケジュール </a:t>
            </a:r>
            <a:r>
              <a:rPr sz="1800" b="0" i="1" lang="ja-JP">
                <a:solidFill>
                  <a:srgbClr val="26303A"/>
                </a:solidFill>
                <a:latin typeface="Meiryo"/>
                <a:ea typeface="Meiryo"/>
              </a:rPr>
              <a:t>S</a:t>
            </a:r>
            <a:r>
              <a:rPr sz="1296" b="0" i="1" lang="ja-JP" baseline="-22000">
                <a:solidFill>
                  <a:srgbClr val="26303A"/>
                </a:solidFill>
                <a:latin typeface="Meiryo"/>
                <a:ea typeface="Meiryo"/>
              </a:rPr>
              <a:t>p</a:t>
            </a:r>
            <a:r>
              <a:rPr sz="1800" b="0" i="0" lang="ja-JP">
                <a:solidFill>
                  <a:srgbClr val="26303A"/>
                </a:solidFill>
                <a:latin typeface="Meiryo"/>
                <a:ea typeface="Meiryo"/>
              </a:rPr>
              <a:t> の最適化の程度が結果に与える影響は検証していない</a:t>
            </a:r>
          </a:p>
          <a:p>
            <a:pPr>
              <a:lnSpc>
                <a:spcPct val="108000"/>
              </a:lnSpc>
              <a:spcBef>
                <a:spcPts val="400"/>
              </a:spcBef>
            </a:pPr>
            <a:r>
              <a:rPr sz="1440" b="1" i="0" lang="ja-JP">
                <a:solidFill>
                  <a:srgbClr val="16385C"/>
                </a:solidFill>
                <a:latin typeface="Meiryo"/>
                <a:ea typeface="Meiryo"/>
              </a:rPr>
              <a:t/>
            </a:r>
            <a:r>
              <a:rPr sz="1800" b="0" i="0" lang="ja-JP">
                <a:solidFill>
                  <a:srgbClr val="26303A"/>
                </a:solidFill>
                <a:latin typeface="Meiryo"/>
                <a:ea typeface="Meiryo"/>
              </a:rPr>
              <a:t>(v) 各探索構造の代表は 1 手法ずつである</a:t>
            </a:r>
          </a:p>
        </p:txBody>
      </p:sp>
      <p:sp>
        <p:nvSpPr>
          <p:cNvPr id="8" name="TextBox 7"/>
          <p:cNvSpPr txBox="1"/>
          <p:nvPr/>
        </p:nvSpPr>
        <p:spPr>
          <a:xfrm>
            <a:off x="566928" y="3657600"/>
            <a:ext cx="11057839" cy="384048"/>
          </a:xfrm>
          <a:prstGeom prst="rect">
            <a:avLst/>
          </a:prstGeom>
          <a:noFill/>
        </p:spPr>
        <p:txBody>
          <a:bodyPr wrap="square" anchor="ctr" lIns="18288" rIns="18288" tIns="68580" bIns="9144">
            <a:spAutoFit/>
          </a:bodyPr>
          <a:lstStyle/>
          <a:p>
            <a:pPr algn="l">
              <a:lnSpc>
                <a:spcPct val="105000"/>
              </a:lnSpc>
            </a:pPr>
            <a:r>
              <a:rPr sz="1800" b="1" i="0" lang="ja-JP">
                <a:solidFill>
                  <a:srgbClr val="16385C"/>
                </a:solidFill>
                <a:latin typeface="Meiryo"/>
                <a:ea typeface="Meiryo"/>
              </a:rPr>
              <a:t>今後の課題</a:t>
            </a:r>
          </a:p>
        </p:txBody>
      </p:sp>
      <p:sp>
        <p:nvSpPr>
          <p:cNvPr id="9" name="TextBox 8"/>
          <p:cNvSpPr txBox="1"/>
          <p:nvPr/>
        </p:nvSpPr>
        <p:spPr>
          <a:xfrm>
            <a:off x="749808" y="4087368"/>
            <a:ext cx="10874959" cy="457200"/>
          </a:xfrm>
          <a:prstGeom prst="rect">
            <a:avLst/>
          </a:prstGeom>
          <a:noFill/>
        </p:spPr>
        <p:txBody>
          <a:bodyPr wrap="square" anchor="t" lIns="18288" rIns="18288" tIns="9144" bIns="9144">
            <a:spAutoFit/>
          </a:bodyPr>
          <a:lstStyle/>
          <a:p>
            <a:pPr marL="243596" indent="-243596">
              <a:lnSpc>
                <a:spcPct val="108000"/>
              </a:lnSpc>
              <a:spcBef>
                <a:spcPts val="0"/>
              </a:spcBef>
            </a:pPr>
            <a:r>
              <a:rPr sz="1440" b="1" i="0" lang="ja-JP">
                <a:solidFill>
                  <a:srgbClr val="16385C"/>
                </a:solidFill>
                <a:latin typeface="Meiryo"/>
                <a:ea typeface="Meiryo"/>
              </a:rPr>
              <a:t>▪ </a:t>
            </a:r>
            <a:r>
              <a:rPr sz="1800" b="0" i="0" lang="ja-JP">
                <a:solidFill>
                  <a:srgbClr val="26303A"/>
                </a:solidFill>
                <a:latin typeface="Meiryo"/>
                <a:ea typeface="Meiryo"/>
              </a:rPr>
              <a:t>上記の条件を変えた再検証</a:t>
            </a:r>
          </a:p>
          <a:p>
            <a:pPr marL="243596" indent="-243596">
              <a:lnSpc>
                <a:spcPct val="108000"/>
              </a:lnSpc>
              <a:spcBef>
                <a:spcPts val="400"/>
              </a:spcBef>
            </a:pPr>
            <a:r>
              <a:rPr sz="1440" b="1" i="0" lang="ja-JP">
                <a:solidFill>
                  <a:srgbClr val="16385C"/>
                </a:solidFill>
                <a:latin typeface="Meiryo"/>
                <a:ea typeface="Meiryo"/>
              </a:rPr>
              <a:t>▪ </a:t>
            </a:r>
            <a:r>
              <a:rPr sz="1800" b="0" i="0" lang="ja-JP">
                <a:solidFill>
                  <a:srgbClr val="26303A"/>
                </a:solidFill>
                <a:latin typeface="Meiryo"/>
                <a:ea typeface="Meiryo"/>
              </a:rPr>
              <a:t>再スケジュールの範囲を限定するアプローチと安定性誘導演算子の統合</a:t>
            </a:r>
          </a:p>
          <a:p>
            <a:pPr marL="243596" indent="-243596">
              <a:lnSpc>
                <a:spcPct val="108000"/>
              </a:lnSpc>
              <a:spcBef>
                <a:spcPts val="400"/>
              </a:spcBef>
            </a:pPr>
            <a:r>
              <a:rPr sz="1440" b="1" i="0" lang="ja-JP">
                <a:solidFill>
                  <a:srgbClr val="16385C"/>
                </a:solidFill>
                <a:latin typeface="Meiryo"/>
                <a:ea typeface="Meiryo"/>
              </a:rPr>
              <a:t>▪ </a:t>
            </a:r>
            <a:r>
              <a:rPr sz="1800" b="0" i="0" lang="ja-JP">
                <a:solidFill>
                  <a:srgbClr val="26303A"/>
                </a:solidFill>
                <a:latin typeface="Meiryo"/>
                <a:ea typeface="Meiryo"/>
              </a:rPr>
              <a:t>安定性を交叉自体に持たせる方式の検証</a:t>
            </a:r>
          </a:p>
          <a:p>
            <a:pPr marL="243596" indent="-243596">
              <a:lnSpc>
                <a:spcPct val="108000"/>
              </a:lnSpc>
              <a:spcBef>
                <a:spcPts val="400"/>
              </a:spcBef>
            </a:pPr>
            <a:r>
              <a:rPr sz="1440" b="1" i="0" lang="ja-JP">
                <a:solidFill>
                  <a:srgbClr val="16385C"/>
                </a:solidFill>
                <a:latin typeface="Meiryo"/>
                <a:ea typeface="Meiryo"/>
              </a:rPr>
              <a:t>▪ </a:t>
            </a:r>
            <a:r>
              <a:rPr sz="1800" b="0" i="0" lang="ja-JP">
                <a:solidFill>
                  <a:srgbClr val="26303A"/>
                </a:solidFill>
                <a:latin typeface="Meiryo"/>
                <a:ea typeface="Meiryo"/>
              </a:rPr>
              <a:t>Pareto 支配に基づく手法（NSGA-II 等）での再検証</a:t>
            </a:r>
          </a:p>
        </p:txBody>
      </p:sp>
      <p:sp>
        <p:nvSpPr>
          <p:cNvPr id="10" name="TextBox 9"/>
          <p:cNvSpPr txBox="1"/>
          <p:nvPr/>
        </p:nvSpPr>
        <p:spPr>
          <a:xfrm>
            <a:off x="566928" y="5760720"/>
            <a:ext cx="11057839" cy="566928"/>
          </a:xfrm>
          <a:prstGeom prst="rect">
            <a:avLst/>
          </a:prstGeom>
          <a:noFill/>
        </p:spPr>
        <p:txBody>
          <a:bodyPr wrap="square" anchor="b" lIns="18288" rIns="18288" tIns="9144" bIns="9144">
            <a:spAutoFit/>
          </a:bodyPr>
          <a:lstStyle/>
          <a:p>
            <a:pPr algn="l">
              <a:lnSpc>
                <a:spcPct val="105000"/>
              </a:lnSpc>
            </a:pPr>
            <a:r>
              <a:rPr sz="1500" b="0" i="0" lang="ja-JP">
                <a:solidFill>
                  <a:srgbClr val="6E7A88"/>
                </a:solidFill>
                <a:latin typeface="Meiryo"/>
                <a:ea typeface="Meiryo"/>
              </a:rPr>
              <a:t>データ：各シナリオの定義と，試行ごとの値・検定は公開リポジトリに収録</a:t>
            </a:r>
            <a:br/>
            <a:r>
              <a:rPr sz="1500" b="0" i="0" lang="ja-JP">
                <a:solidFill>
                  <a:srgbClr val="6E7A88"/>
                </a:solidFill>
                <a:latin typeface="Meiryo"/>
                <a:ea typeface="Meiryo"/>
              </a:rPr>
              <a:t>https://github.com/kitotakumi/stability_scheduling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31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51560" y="2651760"/>
            <a:ext cx="9144000" cy="914400"/>
          </a:xfrm>
          <a:prstGeom prst="rect">
            <a:avLst/>
          </a:prstGeom>
          <a:noFill/>
        </p:spPr>
        <p:txBody>
          <a:bodyPr wrap="square" anchor="t" lIns="18288" rIns="18288" tIns="9144" bIns="9144">
            <a:spAutoFit/>
          </a:bodyPr>
          <a:lstStyle/>
          <a:p>
            <a:pPr algn="l">
              <a:lnSpc>
                <a:spcPct val="105000"/>
              </a:lnSpc>
            </a:pPr>
            <a:r>
              <a:rPr sz="3000" b="1" i="0" lang="ja-JP">
                <a:solidFill>
                  <a:srgbClr val="FFFFFF"/>
                </a:solidFill>
                <a:latin typeface="Meiryo"/>
                <a:ea typeface="Meiryo"/>
              </a:rPr>
              <a:t>予備スライド</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［予備］実験設定の詳細</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27</a:t>
            </a:r>
          </a:p>
        </p:txBody>
      </p:sp>
      <p:graphicFrame>
        <p:nvGraphicFramePr>
          <p:cNvPr id="6" name="Table 5"/>
          <p:cNvGraphicFramePr>
            <a:graphicFrameLocks noGrp="1"/>
          </p:cNvGraphicFramePr>
          <p:nvPr/>
        </p:nvGraphicFramePr>
        <p:xfrm>
          <a:off x="566928" y="1371600"/>
          <a:ext cx="11057838" cy="3017520"/>
        </p:xfrm>
        <a:graphic>
          <a:graphicData uri="http://schemas.openxmlformats.org/drawingml/2006/table">
            <a:tbl>
              <a:tblPr firstRow="0" bandRow="0">
                <a:tableStyleId>{5940675A-B579-460E-94D1-54222C63F5DA}</a:tableStyleId>
              </a:tblPr>
              <a:tblGrid>
                <a:gridCol w="2103641"/>
                <a:gridCol w="8954197"/>
              </a:tblGrid>
              <a:tr h="301752">
                <a:tc>
                  <a:txBody>
                    <a:bodyPr wrap="square"/>
                    <a:lstStyle/>
                    <a:p>
                      <a:pPr algn="l"/>
                      <a:r>
                        <a:rPr sz="1300" b="1" i="0" lang="ja-JP">
                          <a:solidFill>
                            <a:srgbClr val="FFFFFF"/>
                          </a:solidFill>
                          <a:latin typeface="Meiryo"/>
                          <a:ea typeface="Meiryo"/>
                        </a:rPr>
                        <a:t>項目</a:t>
                      </a:r>
                    </a:p>
                  </a:txBody>
                  <a:tcPr marL="82296" marR="54864" marT="61214" marB="18288" anchor="ctr">
                    <a:solidFill>
                      <a:srgbClr val="16385C"/>
                    </a:solidFill>
                  </a:tcPr>
                </a:tc>
                <a:tc>
                  <a:txBody>
                    <a:bodyPr wrap="square"/>
                    <a:lstStyle/>
                    <a:p>
                      <a:pPr algn="l"/>
                      <a:r>
                        <a:rPr sz="1300" b="1" i="0" lang="ja-JP">
                          <a:solidFill>
                            <a:srgbClr val="FFFFFF"/>
                          </a:solidFill>
                          <a:latin typeface="Meiryo"/>
                          <a:ea typeface="Meiryo"/>
                        </a:rPr>
                        <a:t>設定</a:t>
                      </a:r>
                    </a:p>
                  </a:txBody>
                  <a:tcPr marL="82296" marR="54864" marT="61214" marB="18288" anchor="ctr">
                    <a:solidFill>
                      <a:srgbClr val="16385C"/>
                    </a:solidFill>
                  </a:tcPr>
                </a:tc>
              </a:tr>
              <a:tr h="301752">
                <a:tc>
                  <a:txBody>
                    <a:bodyPr wrap="square"/>
                    <a:lstStyle/>
                    <a:p>
                      <a:pPr algn="l"/>
                      <a:r>
                        <a:rPr sz="1300" b="0" i="0" lang="ja-JP">
                          <a:solidFill>
                            <a:srgbClr val="26303A"/>
                          </a:solidFill>
                          <a:latin typeface="Meiryo"/>
                          <a:ea typeface="Meiryo"/>
                        </a:rPr>
                        <a:t>比較手法</a:t>
                      </a:r>
                    </a:p>
                  </a:txBody>
                  <a:tcPr marL="82296" marR="54864" marT="61214" marB="18288" anchor="ctr">
                    <a:solidFill>
                      <a:srgbClr val="FFFFFF"/>
                    </a:solidFill>
                    <a:lnB w="9525" cap="flat">
                      <a:solidFill>
                        <a:srgbClr val="D6DEE7"/>
                      </a:solidFill>
                    </a:lnB>
                  </a:tcPr>
                </a:tc>
                <a:tc>
                  <a:txBody>
                    <a:bodyPr wrap="square"/>
                    <a:lstStyle/>
                    <a:p>
                      <a:pPr algn="l"/>
                      <a:r>
                        <a:rPr sz="1300" b="0" i="0" lang="ja-JP">
                          <a:solidFill>
                            <a:srgbClr val="26303A"/>
                          </a:solidFill>
                          <a:latin typeface="Meiryo"/>
                          <a:ea typeface="Meiryo"/>
                        </a:rPr>
                        <a:t>ILS・Memetic と，それぞれに PR-</a:t>
                      </a:r>
                      <a:r>
                        <a:rPr sz="1300" b="0" i="1" lang="ja-JP">
                          <a:solidFill>
                            <a:srgbClr val="26303A"/>
                          </a:solidFill>
                          <a:latin typeface="Meiryo"/>
                          <a:ea typeface="Meiryo"/>
                        </a:rPr>
                        <a:t>k</a:t>
                      </a:r>
                      <a:r>
                        <a:rPr sz="1300" b="0" i="0" lang="ja-JP">
                          <a:solidFill>
                            <a:srgbClr val="26303A"/>
                          </a:solidFill>
                          <a:latin typeface="Meiryo"/>
                          <a:ea typeface="Meiryo"/>
                        </a:rPr>
                        <a:t>／PR を組み込んだ 6 手法＋参考の GA（局所探索なし）</a:t>
                      </a:r>
                    </a:p>
                  </a:txBody>
                  <a:tcPr marL="82296" marR="54864" marT="61214" marB="18288" anchor="ctr">
                    <a:solidFill>
                      <a:srgbClr val="FFFFFF"/>
                    </a:solidFill>
                    <a:lnB w="9525" cap="flat">
                      <a:solidFill>
                        <a:srgbClr val="D6DEE7"/>
                      </a:solidFill>
                    </a:lnB>
                  </a:tcPr>
                </a:tc>
              </a:tr>
              <a:tr h="301752">
                <a:tc>
                  <a:txBody>
                    <a:bodyPr wrap="square"/>
                    <a:lstStyle/>
                    <a:p>
                      <a:pPr algn="l"/>
                      <a:r>
                        <a:rPr sz="1300" b="0" i="0" lang="ja-JP">
                          <a:solidFill>
                            <a:srgbClr val="26303A"/>
                          </a:solidFill>
                          <a:latin typeface="Meiryo"/>
                          <a:ea typeface="Meiryo"/>
                        </a:rPr>
                        <a:t>問題・外乱</a:t>
                      </a:r>
                    </a:p>
                  </a:txBody>
                  <a:tcPr marL="82296" marR="54864" marT="61214" marB="18288" anchor="ctr">
                    <a:solidFill>
                      <a:srgbClr val="F6F9FB"/>
                    </a:solidFill>
                    <a:lnB w="9525" cap="flat">
                      <a:solidFill>
                        <a:srgbClr val="D6DEE7"/>
                      </a:solidFill>
                    </a:lnB>
                  </a:tcPr>
                </a:tc>
                <a:tc>
                  <a:txBody>
                    <a:bodyPr wrap="square"/>
                    <a:lstStyle/>
                    <a:p>
                      <a:pPr algn="l"/>
                      <a:r>
                        <a:rPr sz="1300" b="0" i="0" lang="ja-JP">
                          <a:solidFill>
                            <a:srgbClr val="26303A"/>
                          </a:solidFill>
                          <a:latin typeface="Meiryo"/>
                          <a:ea typeface="Meiryo"/>
                        </a:rPr>
                        <a:t>mt10・la21・la36・la40・ta21 に単一作業の完了遅延（</a:t>
                      </a:r>
                      <a:r>
                        <a:rPr sz="1300" b="0" i="1" lang="ja-JP">
                          <a:solidFill>
                            <a:srgbClr val="26303A"/>
                          </a:solidFill>
                          <a:latin typeface="Meiryo"/>
                          <a:ea typeface="Meiryo"/>
                        </a:rPr>
                        <a:t>Δ</a:t>
                      </a:r>
                      <a:r>
                        <a:rPr sz="1300" b="0" i="0" lang="ja-JP">
                          <a:solidFill>
                            <a:srgbClr val="26303A"/>
                          </a:solidFill>
                          <a:latin typeface="Meiryo"/>
                          <a:ea typeface="Meiryo"/>
                        </a:rPr>
                        <a:t> = 60〜148，対象作業の処理時間の約 0.9〜1.5 倍）</a:t>
                      </a:r>
                    </a:p>
                  </a:txBody>
                  <a:tcPr marL="82296" marR="54864" marT="61214" marB="18288" anchor="ctr">
                    <a:solidFill>
                      <a:srgbClr val="F6F9FB"/>
                    </a:solidFill>
                    <a:lnB w="9525" cap="flat">
                      <a:solidFill>
                        <a:srgbClr val="D6DEE7"/>
                      </a:solidFill>
                    </a:lnB>
                  </a:tcPr>
                </a:tc>
              </a:tr>
              <a:tr h="301752">
                <a:tc>
                  <a:txBody>
                    <a:bodyPr wrap="square"/>
                    <a:lstStyle/>
                    <a:p>
                      <a:pPr algn="l"/>
                      <a:r>
                        <a:rPr sz="1300" b="0" i="0" lang="ja-JP">
                          <a:solidFill>
                            <a:srgbClr val="26303A"/>
                          </a:solidFill>
                          <a:latin typeface="Meiryo"/>
                          <a:ea typeface="Meiryo"/>
                        </a:rPr>
                        <a:t>シナリオ</a:t>
                      </a:r>
                    </a:p>
                  </a:txBody>
                  <a:tcPr marL="82296" marR="54864" marT="61214" marB="18288" anchor="ctr">
                    <a:solidFill>
                      <a:srgbClr val="FFFFFF"/>
                    </a:solidFill>
                    <a:lnB w="9525" cap="flat">
                      <a:solidFill>
                        <a:srgbClr val="D6DEE7"/>
                      </a:solidFill>
                    </a:lnB>
                  </a:tcPr>
                </a:tc>
                <a:tc>
                  <a:txBody>
                    <a:bodyPr wrap="square"/>
                    <a:lstStyle/>
                    <a:p>
                      <a:pPr algn="l"/>
                      <a:r>
                        <a:rPr sz="1300" b="0" i="0" lang="ja-JP">
                          <a:solidFill>
                            <a:srgbClr val="26303A"/>
                          </a:solidFill>
                          <a:latin typeface="Meiryo"/>
                          <a:ea typeface="Meiryo"/>
                        </a:rPr>
                        <a:t>8 つ：la36S・la36M・la36L，ta21S・ta21L，mt10，la21，la40</a:t>
                      </a:r>
                    </a:p>
                    <a:p>
                      <a:pPr algn="l"/>
                      <a:r>
                        <a:rPr sz="1300" b="0" i="0" lang="ja-JP">
                          <a:solidFill>
                            <a:srgbClr val="26303A"/>
                          </a:solidFill>
                          <a:latin typeface="Meiryo"/>
                          <a:ea typeface="Meiryo"/>
                        </a:rPr>
                        <a:t>la36 と ta21 は同一問題・同一 </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 のまま遅延の発生時刻を変え，対象作業が少ない順に S・M・L</a:t>
                      </a:r>
                    </a:p>
                  </a:txBody>
                  <a:tcPr marL="82296" marR="54864" marT="61214" marB="18288" anchor="ctr">
                    <a:solidFill>
                      <a:srgbClr val="FFFFFF"/>
                    </a:solidFill>
                    <a:lnB w="9525" cap="flat">
                      <a:solidFill>
                        <a:srgbClr val="D6DEE7"/>
                      </a:solidFill>
                    </a:lnB>
                  </a:tcPr>
                </a:tc>
              </a:tr>
              <a:tr h="301752">
                <a:tc>
                  <a:txBody>
                    <a:bodyPr wrap="square"/>
                    <a:lstStyle/>
                    <a:p>
                      <a:pPr algn="l"/>
                      <a:r>
                        <a:rPr sz="1300" b="0" i="0" lang="ja-JP">
                          <a:solidFill>
                            <a:srgbClr val="26303A"/>
                          </a:solidFill>
                          <a:latin typeface="Meiryo"/>
                          <a:ea typeface="Meiryo"/>
                        </a:rPr>
                        <a:t>初期スケジュール </a:t>
                      </a:r>
                      <a:r>
                        <a:rPr sz="1300" b="0" i="1" lang="ja-JP">
                          <a:solidFill>
                            <a:srgbClr val="26303A"/>
                          </a:solidFill>
                          <a:latin typeface="Meiryo"/>
                          <a:ea typeface="Meiryo"/>
                        </a:rPr>
                        <a:t>S</a:t>
                      </a:r>
                      <a:r>
                        <a:rPr sz="936" b="0" i="1" lang="ja-JP" baseline="-22000">
                          <a:solidFill>
                            <a:srgbClr val="26303A"/>
                          </a:solidFill>
                          <a:latin typeface="Meiryo"/>
                          <a:ea typeface="Meiryo"/>
                        </a:rPr>
                        <a:t>p</a:t>
                      </a:r>
                    </a:p>
                  </a:txBody>
                  <a:tcPr marL="82296" marR="54864" marT="61214" marB="18288" anchor="ctr">
                    <a:solidFill>
                      <a:srgbClr val="F6F9FB"/>
                    </a:solidFill>
                    <a:lnB w="9525" cap="flat">
                      <a:solidFill>
                        <a:srgbClr val="D6DEE7"/>
                      </a:solidFill>
                    </a:lnB>
                  </a:tcPr>
                </a:tc>
                <a:tc>
                  <a:txBody>
                    <a:bodyPr wrap="square"/>
                    <a:lstStyle/>
                    <a:p>
                      <a:pPr algn="l"/>
                      <a:r>
                        <a:rPr sz="1300" b="0" i="0" lang="ja-JP">
                          <a:solidFill>
                            <a:srgbClr val="26303A"/>
                          </a:solidFill>
                          <a:latin typeface="Meiryo"/>
                          <a:ea typeface="Meiryo"/>
                        </a:rPr>
                        <a:t>500 世代の GA で生成</a:t>
                      </a:r>
                    </a:p>
                  </a:txBody>
                  <a:tcPr marL="82296" marR="54864" marT="61214" marB="18288" anchor="ctr">
                    <a:solidFill>
                      <a:srgbClr val="F6F9FB"/>
                    </a:solidFill>
                    <a:lnB w="9525" cap="flat">
                      <a:solidFill>
                        <a:srgbClr val="D6DEE7"/>
                      </a:solidFill>
                    </a:lnB>
                  </a:tcPr>
                </a:tc>
              </a:tr>
              <a:tr h="301752">
                <a:tc>
                  <a:txBody>
                    <a:bodyPr wrap="square"/>
                    <a:lstStyle/>
                    <a:p>
                      <a:pPr algn="l"/>
                      <a:r>
                        <a:rPr sz="1300" b="0" i="0" lang="ja-JP">
                          <a:solidFill>
                            <a:srgbClr val="26303A"/>
                          </a:solidFill>
                          <a:latin typeface="Meiryo"/>
                          <a:ea typeface="Meiryo"/>
                        </a:rPr>
                        <a:t>重み </a:t>
                      </a:r>
                      <a:r>
                        <a:rPr sz="1300" b="0" i="1" lang="ja-JP">
                          <a:solidFill>
                            <a:srgbClr val="26303A"/>
                          </a:solidFill>
                          <a:latin typeface="Meiryo"/>
                          <a:ea typeface="Meiryo"/>
                        </a:rPr>
                        <a:t>λ</a:t>
                      </a:r>
                    </a:p>
                  </a:txBody>
                  <a:tcPr marL="82296" marR="54864" marT="61214" marB="18288" anchor="ctr">
                    <a:solidFill>
                      <a:srgbClr val="FFFFFF"/>
                    </a:solidFill>
                    <a:lnB w="9525" cap="flat">
                      <a:solidFill>
                        <a:srgbClr val="D6DEE7"/>
                      </a:solidFill>
                    </a:lnB>
                  </a:tcPr>
                </a:tc>
                <a:tc>
                  <a:txBody>
                    <a:bodyPr wrap="square"/>
                    <a:lstStyle/>
                    <a:p>
                      <a:pPr algn="l"/>
                      <a:r>
                        <a:rPr sz="1300" b="0" i="0" lang="ja-JP">
                          <a:solidFill>
                            <a:srgbClr val="26303A"/>
                          </a:solidFill>
                          <a:latin typeface="Meiryo"/>
                          <a:ea typeface="Meiryo"/>
                        </a:rPr>
                        <a:t>0, 0.1, …, 0.9 の 10 点（</a:t>
                      </a:r>
                      <a:r>
                        <a:rPr sz="1300" b="0" i="1" lang="ja-JP">
                          <a:solidFill>
                            <a:srgbClr val="26303A"/>
                          </a:solidFill>
                          <a:latin typeface="Meiryo"/>
                          <a:ea typeface="Meiryo"/>
                        </a:rPr>
                        <a:t>λ</a:t>
                      </a:r>
                      <a:r>
                        <a:rPr sz="1300" b="0" i="0" lang="ja-JP">
                          <a:solidFill>
                            <a:srgbClr val="26303A"/>
                          </a:solidFill>
                          <a:latin typeface="Meiryo"/>
                          <a:ea typeface="Meiryo"/>
                        </a:rPr>
                        <a:t> = 1.0 は </a:t>
                      </a:r>
                      <a:r>
                        <a:rPr sz="1300" b="0" i="1" lang="ja-JP">
                          <a:solidFill>
                            <a:srgbClr val="26303A"/>
                          </a:solidFill>
                          <a:latin typeface="Meiryo"/>
                          <a:ea typeface="Meiryo"/>
                        </a:rPr>
                        <a:t>D</a:t>
                      </a:r>
                      <a:r>
                        <a:rPr sz="1300" b="0" i="0" lang="ja-JP">
                          <a:solidFill>
                            <a:srgbClr val="26303A"/>
                          </a:solidFill>
                          <a:latin typeface="Meiryo"/>
                          <a:ea typeface="Meiryo"/>
                        </a:rPr>
                        <a:t> = 0 の自明解に縮退するため除外）</a:t>
                      </a:r>
                    </a:p>
                  </a:txBody>
                  <a:tcPr marL="82296" marR="54864" marT="61214" marB="18288" anchor="ctr">
                    <a:solidFill>
                      <a:srgbClr val="FFFFFF"/>
                    </a:solidFill>
                    <a:lnB w="9525" cap="flat">
                      <a:solidFill>
                        <a:srgbClr val="D6DEE7"/>
                      </a:solidFill>
                    </a:lnB>
                  </a:tcPr>
                </a:tc>
              </a:tr>
              <a:tr h="301752">
                <a:tc>
                  <a:txBody>
                    <a:bodyPr wrap="square"/>
                    <a:lstStyle/>
                    <a:p>
                      <a:pPr algn="l"/>
                      <a:r>
                        <a:rPr sz="1300" b="0" i="0" lang="ja-JP">
                          <a:solidFill>
                            <a:srgbClr val="26303A"/>
                          </a:solidFill>
                          <a:latin typeface="Meiryo"/>
                          <a:ea typeface="Meiryo"/>
                        </a:rPr>
                        <a:t>計算予算</a:t>
                      </a:r>
                    </a:p>
                  </a:txBody>
                  <a:tcPr marL="82296" marR="54864" marT="61214" marB="18288" anchor="ctr">
                    <a:solidFill>
                      <a:srgbClr val="F6F9FB"/>
                    </a:solidFill>
                    <a:lnB w="9525" cap="flat">
                      <a:solidFill>
                        <a:srgbClr val="D6DEE7"/>
                      </a:solidFill>
                    </a:lnB>
                  </a:tcPr>
                </a:tc>
                <a:tc>
                  <a:txBody>
                    <a:bodyPr wrap="square"/>
                    <a:lstStyle/>
                    <a:p>
                      <a:pPr algn="l"/>
                      <a:r>
                        <a:rPr sz="1300" b="0" i="0" lang="ja-JP">
                          <a:solidFill>
                            <a:srgbClr val="26303A"/>
                          </a:solidFill>
                          <a:latin typeface="Meiryo"/>
                          <a:ea typeface="Meiryo"/>
                        </a:rPr>
                        <a:t>ILS 系 3000 反復，GA・Memetic 系 500 世代</a:t>
                      </a:r>
                    </a:p>
                  </a:txBody>
                  <a:tcPr marL="82296" marR="54864" marT="61214" marB="18288" anchor="ctr">
                    <a:solidFill>
                      <a:srgbClr val="F6F9FB"/>
                    </a:solidFill>
                    <a:lnB w="9525" cap="flat">
                      <a:solidFill>
                        <a:srgbClr val="D6DEE7"/>
                      </a:solidFill>
                    </a:lnB>
                  </a:tcPr>
                </a:tc>
              </a:tr>
              <a:tr h="301752">
                <a:tc>
                  <a:txBody>
                    <a:bodyPr wrap="square"/>
                    <a:lstStyle/>
                    <a:p>
                      <a:pPr algn="l"/>
                      <a:r>
                        <a:rPr sz="1300" b="0" i="0" lang="ja-JP">
                          <a:solidFill>
                            <a:srgbClr val="26303A"/>
                          </a:solidFill>
                          <a:latin typeface="Meiryo"/>
                          <a:ea typeface="Meiryo"/>
                        </a:rPr>
                        <a:t>高安定領域の境界</a:t>
                      </a:r>
                    </a:p>
                  </a:txBody>
                  <a:tcPr marL="82296" marR="54864" marT="61214" marB="18288" anchor="ctr">
                    <a:solidFill>
                      <a:srgbClr val="FFFFFF"/>
                    </a:solidFill>
                    <a:lnB w="9525" cap="flat">
                      <a:solidFill>
                        <a:srgbClr val="D6DEE7"/>
                      </a:solidFill>
                    </a:lnB>
                  </a:tcPr>
                </a:tc>
                <a:tc>
                  <a:txBody>
                    <a:bodyPr wrap="square"/>
                    <a:lstStyle/>
                    <a:p>
                      <a:pPr algn="l"/>
                      <a:r>
                        <a:rPr sz="1300" b="0" i="1" lang="ja-JP">
                          <a:solidFill>
                            <a:srgbClr val="26303A"/>
                          </a:solidFill>
                          <a:latin typeface="Meiryo"/>
                          <a:ea typeface="Meiryo"/>
                        </a:rPr>
                        <a:t>D</a:t>
                      </a:r>
                      <a:r>
                        <a:rPr sz="1300" b="0" i="0" lang="ja-JP">
                          <a:solidFill>
                            <a:srgbClr val="26303A"/>
                          </a:solidFill>
                          <a:latin typeface="Meiryo"/>
                          <a:ea typeface="Meiryo"/>
                        </a:rPr>
                        <a:t> &lt; </a:t>
                      </a:r>
                      <a:r>
                        <a:rPr sz="1300" b="0" i="1" lang="ja-JP">
                          <a:solidFill>
                            <a:srgbClr val="26303A"/>
                          </a:solidFill>
                          <a:latin typeface="Meiryo"/>
                          <a:ea typeface="Meiryo"/>
                        </a:rPr>
                        <a:t>P</a:t>
                      </a:r>
                      <a:r>
                        <a:rPr sz="936" b="0" i="1" lang="ja-JP" baseline="-22000">
                          <a:solidFill>
                            <a:srgbClr val="26303A"/>
                          </a:solidFill>
                          <a:latin typeface="Meiryo"/>
                          <a:ea typeface="Meiryo"/>
                        </a:rPr>
                        <a:t>θ</a:t>
                      </a:r>
                      <a:r>
                        <a:rPr sz="1300" b="0" i="0" lang="ja-JP">
                          <a:solidFill>
                            <a:srgbClr val="26303A"/>
                          </a:solidFill>
                          <a:latin typeface="Meiryo"/>
                          <a:ea typeface="Meiryo"/>
                        </a:rPr>
                        <a:t>．</a:t>
                      </a:r>
                      <a:r>
                        <a:rPr sz="1300" b="0" i="1" lang="ja-JP">
                          <a:solidFill>
                            <a:srgbClr val="26303A"/>
                          </a:solidFill>
                          <a:latin typeface="Meiryo"/>
                          <a:ea typeface="Meiryo"/>
                        </a:rPr>
                        <a:t>P</a:t>
                      </a:r>
                      <a:r>
                        <a:rPr sz="936" b="0" i="1" lang="ja-JP" baseline="-22000">
                          <a:solidFill>
                            <a:srgbClr val="26303A"/>
                          </a:solidFill>
                          <a:latin typeface="Meiryo"/>
                          <a:ea typeface="Meiryo"/>
                        </a:rPr>
                        <a:t>θ</a:t>
                      </a:r>
                      <a:r>
                        <a:rPr sz="1300" b="0" i="0" lang="ja-JP">
                          <a:solidFill>
                            <a:srgbClr val="26303A"/>
                          </a:solidFill>
                          <a:latin typeface="Meiryo"/>
                          <a:ea typeface="Meiryo"/>
                        </a:rPr>
                        <a:t> は全手法・全試行の非劣解の </a:t>
                      </a:r>
                      <a:r>
                        <a:rPr sz="1300" b="0" i="1" lang="ja-JP">
                          <a:solidFill>
                            <a:srgbClr val="26303A"/>
                          </a:solidFill>
                          <a:latin typeface="Meiryo"/>
                          <a:ea typeface="Meiryo"/>
                        </a:rPr>
                        <a:t>D</a:t>
                      </a:r>
                      <a:r>
                        <a:rPr sz="1300" b="0" i="0" lang="ja-JP">
                          <a:solidFill>
                            <a:srgbClr val="26303A"/>
                          </a:solidFill>
                          <a:latin typeface="Meiryo"/>
                          <a:ea typeface="Meiryo"/>
                        </a:rPr>
                        <a:t> の </a:t>
                      </a:r>
                      <a:r>
                        <a:rPr sz="1300" b="0" i="1" lang="ja-JP">
                          <a:solidFill>
                            <a:srgbClr val="26303A"/>
                          </a:solidFill>
                          <a:latin typeface="Meiryo"/>
                          <a:ea typeface="Meiryo"/>
                        </a:rPr>
                        <a:t>θ</a:t>
                      </a:r>
                      <a:r>
                        <a:rPr sz="1300" b="0" i="0" lang="ja-JP">
                          <a:solidFill>
                            <a:srgbClr val="26303A"/>
                          </a:solidFill>
                          <a:latin typeface="Meiryo"/>
                          <a:ea typeface="Meiryo"/>
                        </a:rPr>
                        <a:t> パーセンタイルで，</a:t>
                      </a:r>
                      <a:r>
                        <a:rPr sz="1300" b="0" i="1" lang="ja-JP">
                          <a:solidFill>
                            <a:srgbClr val="26303A"/>
                          </a:solidFill>
                          <a:latin typeface="Meiryo"/>
                          <a:ea typeface="Meiryo"/>
                        </a:rPr>
                        <a:t>θ</a:t>
                      </a:r>
                      <a:r>
                        <a:rPr sz="1300" b="0" i="0" lang="ja-JP">
                          <a:solidFill>
                            <a:srgbClr val="26303A"/>
                          </a:solidFill>
                          <a:latin typeface="Meiryo"/>
                          <a:ea typeface="Meiryo"/>
                        </a:rPr>
                        <a:t> = 50（中央値）</a:t>
                      </a:r>
                    </a:p>
                  </a:txBody>
                  <a:tcPr marL="82296" marR="54864" marT="61214" marB="18288" anchor="ctr">
                    <a:solidFill>
                      <a:srgbClr val="FFFFFF"/>
                    </a:solidFill>
                    <a:lnB w="9525" cap="flat">
                      <a:solidFill>
                        <a:srgbClr val="D6DEE7"/>
                      </a:solidFill>
                    </a:lnB>
                  </a:tcPr>
                </a:tc>
              </a:tr>
              <a:tr h="301752">
                <a:tc>
                  <a:txBody>
                    <a:bodyPr wrap="square"/>
                    <a:lstStyle/>
                    <a:p>
                      <a:pPr algn="l"/>
                      <a:r>
                        <a:rPr sz="1300" b="0" i="0" lang="ja-JP">
                          <a:solidFill>
                            <a:srgbClr val="26303A"/>
                          </a:solidFill>
                          <a:latin typeface="Meiryo"/>
                          <a:ea typeface="Meiryo"/>
                        </a:rPr>
                        <a:t>HV の算出</a:t>
                      </a:r>
                    </a:p>
                  </a:txBody>
                  <a:tcPr marL="82296" marR="54864" marT="61214" marB="18288" anchor="ctr">
                    <a:solidFill>
                      <a:srgbClr val="F6F9FB"/>
                    </a:solidFill>
                    <a:lnB w="9525" cap="flat">
                      <a:solidFill>
                        <a:srgbClr val="D6DEE7"/>
                      </a:solidFill>
                    </a:lnB>
                  </a:tcPr>
                </a:tc>
                <a:tc>
                  <a:txBody>
                    <a:bodyPr wrap="square"/>
                    <a:lstStyle/>
                    <a:p>
                      <a:pPr algn="l"/>
                      <a:r>
                        <a:rPr sz="1300" b="0" i="0" lang="ja-JP">
                          <a:solidFill>
                            <a:srgbClr val="26303A"/>
                          </a:solidFill>
                          <a:latin typeface="Meiryo"/>
                          <a:ea typeface="Meiryo"/>
                        </a:rPr>
                        <a:t>全ての重み </a:t>
                      </a:r>
                      <a:r>
                        <a:rPr sz="1300" b="0" i="1" lang="ja-JP">
                          <a:solidFill>
                            <a:srgbClr val="26303A"/>
                          </a:solidFill>
                          <a:latin typeface="Meiryo"/>
                          <a:ea typeface="Meiryo"/>
                        </a:rPr>
                        <a:t>λ</a:t>
                      </a:r>
                      <a:r>
                        <a:rPr sz="1300" b="0" i="0" lang="ja-JP">
                          <a:solidFill>
                            <a:srgbClr val="26303A"/>
                          </a:solidFill>
                          <a:latin typeface="Meiryo"/>
                          <a:ea typeface="Meiryo"/>
                        </a:rPr>
                        <a:t> の解を合わせて算出．</a:t>
                      </a:r>
                      <a:r>
                        <a:rPr sz="1300" b="0" i="1" lang="ja-JP">
                          <a:solidFill>
                            <a:srgbClr val="26303A"/>
                          </a:solidFill>
                          <a:latin typeface="Meiryo"/>
                          <a:ea typeface="Meiryo"/>
                        </a:rPr>
                        <a:t>D</a:t>
                      </a:r>
                      <a:r>
                        <a:rPr sz="1300" b="0" i="0" lang="ja-JP">
                          <a:solidFill>
                            <a:srgbClr val="26303A"/>
                          </a:solidFill>
                          <a:latin typeface="Meiryo"/>
                          <a:ea typeface="Meiryo"/>
                        </a:rPr>
                        <a:t> = 0 の解（</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）は全手法が探索せずに得るため除く</a:t>
                      </a:r>
                    </a:p>
                  </a:txBody>
                  <a:tcPr marL="82296" marR="54864" marT="61214" marB="18288" anchor="ctr">
                    <a:solidFill>
                      <a:srgbClr val="F6F9FB"/>
                    </a:solidFill>
                    <a:lnB w="9525" cap="flat">
                      <a:solidFill>
                        <a:srgbClr val="D6DEE7"/>
                      </a:solidFill>
                    </a:lnB>
                  </a:tcPr>
                </a:tc>
              </a:tr>
              <a:tr h="301752">
                <a:tc>
                  <a:txBody>
                    <a:bodyPr wrap="square"/>
                    <a:lstStyle/>
                    <a:p>
                      <a:pPr algn="l"/>
                      <a:r>
                        <a:rPr sz="1300" b="0" i="0" lang="ja-JP">
                          <a:solidFill>
                            <a:srgbClr val="26303A"/>
                          </a:solidFill>
                          <a:latin typeface="Meiryo"/>
                          <a:ea typeface="Meiryo"/>
                        </a:rPr>
                        <a:t>試行</a:t>
                      </a:r>
                    </a:p>
                  </a:txBody>
                  <a:tcPr marL="82296" marR="54864" marT="61214" marB="18288" anchor="ctr">
                    <a:solidFill>
                      <a:srgbClr val="FFFFFF"/>
                    </a:solidFill>
                    <a:lnB w="9525" cap="flat">
                      <a:solidFill>
                        <a:srgbClr val="D6DEE7"/>
                      </a:solidFill>
                    </a:lnB>
                  </a:tcPr>
                </a:tc>
                <a:tc>
                  <a:txBody>
                    <a:bodyPr wrap="square"/>
                    <a:lstStyle/>
                    <a:p>
                      <a:pPr algn="l"/>
                      <a:r>
                        <a:rPr sz="1300" b="0" i="0" lang="ja-JP">
                          <a:solidFill>
                            <a:srgbClr val="26303A"/>
                          </a:solidFill>
                          <a:latin typeface="Meiryo"/>
                          <a:ea typeface="Meiryo"/>
                        </a:rPr>
                        <a:t>各条件 10 試行（全乱数シード固定）</a:t>
                      </a:r>
                    </a:p>
                  </a:txBody>
                  <a:tcPr marL="82296" marR="54864" marT="61214" marB="18288" anchor="ctr">
                    <a:solidFill>
                      <a:srgbClr val="FFFFFF"/>
                    </a:solidFill>
                    <a:lnB w="9525" cap="flat">
                      <a:solidFill>
                        <a:srgbClr val="D6DEE7"/>
                      </a:solidFill>
                    </a:lnB>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［予備］問題設定の根拠</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28</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marL="202996" indent="-202996">
              <a:lnSpc>
                <a:spcPct val="108000"/>
              </a:lnSpc>
              <a:spcBef>
                <a:spcPts val="0"/>
              </a:spcBef>
            </a:pPr>
            <a:r>
              <a:rPr sz="1200" b="1" i="0" lang="ja-JP">
                <a:solidFill>
                  <a:srgbClr val="16385C"/>
                </a:solidFill>
                <a:latin typeface="Meiryo"/>
                <a:ea typeface="Meiryo"/>
              </a:rPr>
              <a:t>▪ </a:t>
            </a:r>
            <a:r>
              <a:rPr sz="1500" b="1" i="0" lang="ja-JP">
                <a:solidFill>
                  <a:srgbClr val="16385C"/>
                </a:solidFill>
                <a:latin typeface="Meiryo"/>
                <a:ea typeface="Meiryo"/>
              </a:rPr>
              <a:t>外乱を単一の作業遅延に限る理由</a:t>
            </a:r>
            <a:r>
              <a:rPr sz="1500" b="0" i="0" lang="ja-JP">
                <a:solidFill>
                  <a:srgbClr val="26303A"/>
                </a:solidFill>
                <a:latin typeface="Meiryo"/>
                <a:ea typeface="Meiryo"/>
              </a:rPr>
              <a:t>：作業遅延は作業集合を変えず，処理順序の再調整だけで対処できる．修正スケジュールを高安定領域に保つという前提が，最も素直に成り立つ外乱である</a:t>
            </a:r>
          </a:p>
          <a:p>
            <a:pPr marL="202996" indent="-202996">
              <a:lnSpc>
                <a:spcPct val="108000"/>
              </a:lnSpc>
              <a:spcBef>
                <a:spcPts val="1600"/>
              </a:spcBef>
            </a:pPr>
            <a:r>
              <a:rPr sz="1200" b="1" i="0" lang="ja-JP">
                <a:solidFill>
                  <a:srgbClr val="16385C"/>
                </a:solidFill>
                <a:latin typeface="Meiryo"/>
                <a:ea typeface="Meiryo"/>
              </a:rPr>
              <a:t>▪ </a:t>
            </a:r>
            <a:r>
              <a:rPr sz="1500" b="1" i="0" lang="ja-JP">
                <a:solidFill>
                  <a:srgbClr val="16385C"/>
                </a:solidFill>
                <a:latin typeface="Meiryo"/>
                <a:ea typeface="Meiryo"/>
              </a:rPr>
              <a:t>再スケジューリング時刻 </a:t>
            </a:r>
            <a:r>
              <a:rPr sz="1500" b="1" i="1" lang="ja-JP">
                <a:solidFill>
                  <a:srgbClr val="16385C"/>
                </a:solidFill>
                <a:latin typeface="Meiryo"/>
                <a:ea typeface="Meiryo"/>
              </a:rPr>
              <a:t>t</a:t>
            </a:r>
            <a:r>
              <a:rPr sz="1080" b="1" i="1" lang="ja-JP" baseline="-22000">
                <a:solidFill>
                  <a:srgbClr val="16385C"/>
                </a:solidFill>
                <a:latin typeface="Meiryo"/>
                <a:ea typeface="Meiryo"/>
              </a:rPr>
              <a:t>r</a:t>
            </a:r>
            <a:r>
              <a:rPr sz="1500" b="0" i="0" lang="ja-JP">
                <a:solidFill>
                  <a:srgbClr val="26303A"/>
                </a:solidFill>
                <a:latin typeface="Meiryo"/>
                <a:ea typeface="Meiryo"/>
              </a:rPr>
              <a:t>：遅延の解消時刻．遅延の発生から </a:t>
            </a:r>
            <a:r>
              <a:rPr sz="1500" b="0" i="1" lang="ja-JP">
                <a:solidFill>
                  <a:srgbClr val="26303A"/>
                </a:solidFill>
                <a:latin typeface="Meiryo"/>
                <a:ea typeface="Meiryo"/>
              </a:rPr>
              <a:t>t</a:t>
            </a:r>
            <a:r>
              <a:rPr sz="1080" b="0" i="1" lang="ja-JP" baseline="-22000">
                <a:solidFill>
                  <a:srgbClr val="26303A"/>
                </a:solidFill>
                <a:latin typeface="Meiryo"/>
                <a:ea typeface="Meiryo"/>
              </a:rPr>
              <a:t>r</a:t>
            </a:r>
            <a:r>
              <a:rPr sz="1500" b="0" i="0" lang="ja-JP">
                <a:solidFill>
                  <a:srgbClr val="26303A"/>
                </a:solidFill>
                <a:latin typeface="Meiryo"/>
                <a:ea typeface="Meiryo"/>
              </a:rPr>
              <a:t> までは，機械上の順序を </a:t>
            </a:r>
            <a:r>
              <a:rPr sz="1500" b="0" i="1" lang="ja-JP">
                <a:solidFill>
                  <a:srgbClr val="26303A"/>
                </a:solidFill>
                <a:latin typeface="Meiryo"/>
                <a:ea typeface="Meiryo"/>
              </a:rPr>
              <a:t>S</a:t>
            </a:r>
            <a:r>
              <a:rPr sz="1080" b="0" i="1" lang="ja-JP" baseline="-22000">
                <a:solidFill>
                  <a:srgbClr val="26303A"/>
                </a:solidFill>
                <a:latin typeface="Meiryo"/>
                <a:ea typeface="Meiryo"/>
              </a:rPr>
              <a:t>p</a:t>
            </a:r>
            <a:r>
              <a:rPr sz="1500" b="0" i="0" lang="ja-JP">
                <a:solidFill>
                  <a:srgbClr val="26303A"/>
                </a:solidFill>
                <a:latin typeface="Meiryo"/>
                <a:ea typeface="Meiryo"/>
              </a:rPr>
              <a:t> から変えずに遅延を吸収して実行を続ける（right-shift）．この間に開始した作業はもう変更できないため凍結し，</a:t>
            </a:r>
            <a:r>
              <a:rPr sz="1500" b="0" i="1" lang="ja-JP">
                <a:solidFill>
                  <a:srgbClr val="26303A"/>
                </a:solidFill>
                <a:latin typeface="Meiryo"/>
                <a:ea typeface="Meiryo"/>
              </a:rPr>
              <a:t>t</a:t>
            </a:r>
            <a:r>
              <a:rPr sz="1080" b="0" i="1" lang="ja-JP" baseline="-22000">
                <a:solidFill>
                  <a:srgbClr val="26303A"/>
                </a:solidFill>
                <a:latin typeface="Meiryo"/>
                <a:ea typeface="Meiryo"/>
              </a:rPr>
              <a:t>r</a:t>
            </a:r>
            <a:r>
              <a:rPr sz="1500" b="0" i="0" lang="ja-JP">
                <a:solidFill>
                  <a:srgbClr val="26303A"/>
                </a:solidFill>
                <a:latin typeface="Meiryo"/>
                <a:ea typeface="Meiryo"/>
              </a:rPr>
              <a:t> 以降の作業の機械ごとの処理順序だけを決定変数とする</a:t>
            </a:r>
          </a:p>
          <a:p>
            <a:pPr marL="202996" indent="-202996">
              <a:lnSpc>
                <a:spcPct val="108000"/>
              </a:lnSpc>
              <a:spcBef>
                <a:spcPts val="1600"/>
              </a:spcBef>
            </a:pPr>
            <a:r>
              <a:rPr sz="1200" b="1" i="0" lang="ja-JP">
                <a:solidFill>
                  <a:srgbClr val="16385C"/>
                </a:solidFill>
                <a:latin typeface="Meiryo"/>
                <a:ea typeface="Meiryo"/>
              </a:rPr>
              <a:t>▪ </a:t>
            </a:r>
            <a:r>
              <a:rPr sz="1500" b="1" i="0" lang="ja-JP">
                <a:solidFill>
                  <a:srgbClr val="16385C"/>
                </a:solidFill>
                <a:latin typeface="Meiryo"/>
                <a:ea typeface="Meiryo"/>
              </a:rPr>
              <a:t>安定性を順序偏差で測る理由</a:t>
            </a:r>
            <a:r>
              <a:rPr sz="1500" b="0" i="0" lang="ja-JP">
                <a:solidFill>
                  <a:srgbClr val="26303A"/>
                </a:solidFill>
                <a:latin typeface="Meiryo"/>
                <a:ea typeface="Meiryo"/>
              </a:rPr>
              <a:t>：変更量の測り方は，開始時刻偏差と順序偏差の二系統に大別される（Sun ら (2026) は前者の開始時刻の絶対偏差和を採る）．本研究は，探索で用いる操作（N5 近傍と安定性誘導演算子の swap 移動）がいずれも順列操作であること，および </a:t>
            </a:r>
            <a:r>
              <a:rPr sz="1500" b="0" i="1" lang="ja-JP">
                <a:solidFill>
                  <a:srgbClr val="26303A"/>
                </a:solidFill>
                <a:latin typeface="Meiryo"/>
                <a:ea typeface="Meiryo"/>
              </a:rPr>
              <a:t>MS</a:t>
            </a:r>
            <a:r>
              <a:rPr sz="1500" b="0" i="0" lang="ja-JP">
                <a:solidFill>
                  <a:srgbClr val="26303A"/>
                </a:solidFill>
                <a:latin typeface="Meiryo"/>
                <a:ea typeface="Meiryo"/>
              </a:rPr>
              <a:t> との独立性が高いことから，順序偏差を採る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［予備］重み付き和によるスカラー化</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29</a:t>
            </a:r>
          </a:p>
        </p:txBody>
      </p:sp>
      <p:pic>
        <p:nvPicPr>
          <p:cNvPr id="6" name="Picture 5" descr="eq_talk_F.png"/>
          <p:cNvPicPr>
            <a:picLocks noChangeAspect="1"/>
          </p:cNvPicPr>
          <p:nvPr/>
        </p:nvPicPr>
        <p:blipFill>
          <a:blip r:embed="rId2"/>
          <a:stretch>
            <a:fillRect/>
          </a:stretch>
        </p:blipFill>
        <p:spPr>
          <a:xfrm>
            <a:off x="3693261" y="1325880"/>
            <a:ext cx="4805172" cy="548640"/>
          </a:xfrm>
          <a:prstGeom prst="rect">
            <a:avLst/>
          </a:prstGeom>
        </p:spPr>
      </p:pic>
      <p:sp>
        <p:nvSpPr>
          <p:cNvPr id="7" name="TextBox 6"/>
          <p:cNvSpPr txBox="1"/>
          <p:nvPr/>
        </p:nvSpPr>
        <p:spPr>
          <a:xfrm>
            <a:off x="10984687" y="1463040"/>
            <a:ext cx="640080" cy="274320"/>
          </a:xfrm>
          <a:prstGeom prst="rect">
            <a:avLst/>
          </a:prstGeom>
          <a:noFill/>
        </p:spPr>
        <p:txBody>
          <a:bodyPr wrap="square" anchor="t" lIns="18288" rIns="18288" tIns="9144" bIns="9144">
            <a:spAutoFit/>
          </a:bodyPr>
          <a:lstStyle/>
          <a:p>
            <a:pPr algn="r"/>
            <a:r>
              <a:rPr sz="1500" b="0" i="0" lang="ja-JP">
                <a:solidFill>
                  <a:srgbClr val="26303A"/>
                </a:solidFill>
                <a:latin typeface="Meiryo"/>
                <a:ea typeface="Meiryo"/>
              </a:rPr>
              <a:t>(2)</a:t>
            </a:r>
          </a:p>
        </p:txBody>
      </p:sp>
      <p:sp>
        <p:nvSpPr>
          <p:cNvPr id="8" name="TextBox 7"/>
          <p:cNvSpPr txBox="1"/>
          <p:nvPr/>
        </p:nvSpPr>
        <p:spPr>
          <a:xfrm>
            <a:off x="566928" y="2011680"/>
            <a:ext cx="11057839" cy="365760"/>
          </a:xfrm>
          <a:prstGeom prst="rect">
            <a:avLst/>
          </a:prstGeom>
          <a:noFill/>
        </p:spPr>
        <p:txBody>
          <a:bodyPr wrap="square" anchor="t" lIns="18288" rIns="18288" tIns="9144" bIns="9144">
            <a:spAutoFit/>
          </a:bodyPr>
          <a:lstStyle/>
          <a:p>
            <a:pPr algn="ctr">
              <a:lnSpc>
                <a:spcPct val="105000"/>
              </a:lnSpc>
            </a:pPr>
            <a:r>
              <a:rPr sz="1250" b="0" i="1" lang="ja-JP">
                <a:solidFill>
                  <a:srgbClr val="6E7A88"/>
                </a:solidFill>
                <a:latin typeface="Meiryo"/>
                <a:ea typeface="Meiryo"/>
              </a:rPr>
              <a:t>D</a:t>
            </a:r>
            <a:r>
              <a:rPr sz="1250" b="0" i="0" lang="ja-JP">
                <a:solidFill>
                  <a:srgbClr val="6E7A88"/>
                </a:solidFill>
                <a:latin typeface="Meiryo"/>
                <a:ea typeface="Meiryo"/>
              </a:rPr>
              <a:t>，</a:t>
            </a:r>
            <a:r>
              <a:rPr sz="1250" b="0" i="1" lang="ja-JP">
                <a:solidFill>
                  <a:srgbClr val="6E7A88"/>
                </a:solidFill>
                <a:latin typeface="Meiryo"/>
                <a:ea typeface="Meiryo"/>
              </a:rPr>
              <a:t>MS</a:t>
            </a:r>
            <a:r>
              <a:rPr sz="1250" b="0" i="0" lang="ja-JP">
                <a:solidFill>
                  <a:srgbClr val="6E7A88"/>
                </a:solidFill>
                <a:latin typeface="Meiryo"/>
                <a:ea typeface="Meiryo"/>
              </a:rPr>
              <a:t> は min-max 正規化値．</a:t>
            </a:r>
            <a:r>
              <a:rPr sz="1250" b="0" i="1" lang="ja-JP">
                <a:solidFill>
                  <a:srgbClr val="6E7A88"/>
                </a:solidFill>
                <a:latin typeface="Meiryo"/>
                <a:ea typeface="Meiryo"/>
              </a:rPr>
              <a:t>λ</a:t>
            </a:r>
            <a:r>
              <a:rPr sz="1250" b="0" i="0" lang="ja-JP">
                <a:solidFill>
                  <a:srgbClr val="6E7A88"/>
                </a:solidFill>
                <a:latin typeface="Meiryo"/>
                <a:ea typeface="Meiryo"/>
              </a:rPr>
              <a:t> = 0, 0.1, …, 0.9 の 10 点で探索を独立に行う（</a:t>
            </a:r>
            <a:r>
              <a:rPr sz="1250" b="0" i="1" lang="ja-JP">
                <a:solidFill>
                  <a:srgbClr val="6E7A88"/>
                </a:solidFill>
                <a:latin typeface="Meiryo"/>
                <a:ea typeface="Meiryo"/>
              </a:rPr>
              <a:t>λ</a:t>
            </a:r>
            <a:r>
              <a:rPr sz="1250" b="0" i="0" lang="ja-JP">
                <a:solidFill>
                  <a:srgbClr val="6E7A88"/>
                </a:solidFill>
                <a:latin typeface="Meiryo"/>
                <a:ea typeface="Meiryo"/>
              </a:rPr>
              <a:t> = 1.0 は </a:t>
            </a:r>
            <a:r>
              <a:rPr sz="1250" b="0" i="1" lang="ja-JP">
                <a:solidFill>
                  <a:srgbClr val="6E7A88"/>
                </a:solidFill>
                <a:latin typeface="Meiryo"/>
                <a:ea typeface="Meiryo"/>
              </a:rPr>
              <a:t>D</a:t>
            </a:r>
            <a:r>
              <a:rPr sz="1250" b="0" i="0" lang="ja-JP">
                <a:solidFill>
                  <a:srgbClr val="6E7A88"/>
                </a:solidFill>
                <a:latin typeface="Meiryo"/>
                <a:ea typeface="Meiryo"/>
              </a:rPr>
              <a:t> = 0 の自明解に縮退するため除く）</a:t>
            </a:r>
          </a:p>
        </p:txBody>
      </p:sp>
      <p:sp>
        <p:nvSpPr>
          <p:cNvPr id="9" name="TextBox 8"/>
          <p:cNvSpPr txBox="1"/>
          <p:nvPr/>
        </p:nvSpPr>
        <p:spPr>
          <a:xfrm>
            <a:off x="566928" y="2606040"/>
            <a:ext cx="11057839" cy="457200"/>
          </a:xfrm>
          <a:prstGeom prst="rect">
            <a:avLst/>
          </a:prstGeom>
          <a:noFill/>
        </p:spPr>
        <p:txBody>
          <a:bodyPr wrap="square" anchor="t" lIns="18288" rIns="18288" tIns="9144" bIns="9144">
            <a:spAutoFit/>
          </a:bodyPr>
          <a:lstStyle/>
          <a:p>
            <a:pPr marL="196230" indent="-196230">
              <a:lnSpc>
                <a:spcPct val="108000"/>
              </a:lnSpc>
              <a:spcBef>
                <a:spcPts val="0"/>
              </a:spcBef>
            </a:pPr>
            <a:r>
              <a:rPr sz="1160" b="1" i="0" lang="ja-JP">
                <a:solidFill>
                  <a:srgbClr val="16385C"/>
                </a:solidFill>
                <a:latin typeface="Meiryo"/>
                <a:ea typeface="Meiryo"/>
              </a:rPr>
              <a:t>▪ </a:t>
            </a:r>
            <a:r>
              <a:rPr sz="1450" b="1" i="0" lang="ja-JP">
                <a:solidFill>
                  <a:srgbClr val="16385C"/>
                </a:solidFill>
                <a:latin typeface="Meiryo"/>
                <a:ea typeface="Meiryo"/>
              </a:rPr>
              <a:t>運用との対応</a:t>
            </a:r>
            <a:r>
              <a:rPr sz="1450" b="0" i="0" lang="ja-JP">
                <a:solidFill>
                  <a:srgbClr val="26303A"/>
                </a:solidFill>
                <a:latin typeface="Meiryo"/>
                <a:ea typeface="Meiryo"/>
              </a:rPr>
              <a:t>：生産効率と安定性の優先度は，意思決定者が事前に重みとして与える．1 点ぶんの探索は，重みが定まった状態で再スケジューリングを 1 回行う実運用に対応する</a:t>
            </a:r>
          </a:p>
          <a:p>
            <a:pPr marL="196230" indent="-196230">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先行研究との対応</a:t>
            </a:r>
            <a:r>
              <a:rPr sz="1450" b="0" i="0" lang="ja-JP">
                <a:solidFill>
                  <a:srgbClr val="26303A"/>
                </a:solidFill>
                <a:latin typeface="Meiryo"/>
                <a:ea typeface="Meiryo"/>
              </a:rPr>
              <a:t>：Rangsaritratsamee ら (2004)・Zhang ら (2013)・Fattahi &amp; Fallahi (2010) も，生産効率と安定性を重みで 1 つのスカラーにまとめる</a:t>
            </a:r>
          </a:p>
          <a:p>
            <a:pPr marL="196230" indent="-196230">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統制比較の共通基盤</a:t>
            </a:r>
            <a:r>
              <a:rPr sz="1450" b="0" i="0" lang="ja-JP">
                <a:solidFill>
                  <a:srgbClr val="26303A"/>
                </a:solidFill>
                <a:latin typeface="Meiryo"/>
                <a:ea typeface="Meiryo"/>
              </a:rPr>
              <a:t>：単点探索と多点探索に同じ目的 </a:t>
            </a:r>
            <a:r>
              <a:rPr sz="1450" b="0" i="1" lang="ja-JP">
                <a:solidFill>
                  <a:srgbClr val="26303A"/>
                </a:solidFill>
                <a:latin typeface="Meiryo"/>
                <a:ea typeface="Meiryo"/>
              </a:rPr>
              <a:t>F</a:t>
            </a:r>
            <a:r>
              <a:rPr sz="1450" b="0" i="0" lang="ja-JP">
                <a:solidFill>
                  <a:srgbClr val="26303A"/>
                </a:solidFill>
                <a:latin typeface="Meiryo"/>
                <a:ea typeface="Meiryo"/>
              </a:rPr>
              <a:t> を共有させ，同じ安定性誘導演算子を変更なしで組み込める → 構造間で条件を揃えて比較できる</a:t>
            </a:r>
          </a:p>
          <a:p>
            <a:pPr marL="196230" indent="-196230">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評価との対応</a:t>
            </a:r>
            <a:r>
              <a:rPr sz="1450" b="0" i="0" lang="ja-JP">
                <a:solidFill>
                  <a:srgbClr val="26303A"/>
                </a:solidFill>
                <a:latin typeface="Meiryo"/>
                <a:ea typeface="Meiryo"/>
              </a:rPr>
              <a:t>：各重みの探索を時間で追えば立ち上がりの速さ（AUC）が，全重みの解を合わせれば Pareto フロント全体の HV が，同じ実験から測れる</a:t>
            </a:r>
          </a:p>
          <a:p>
            <a:pPr marL="196230" indent="-196230">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限界</a:t>
            </a:r>
            <a:r>
              <a:rPr sz="1450" b="0" i="0" lang="ja-JP">
                <a:solidFill>
                  <a:srgbClr val="26303A"/>
                </a:solidFill>
                <a:latin typeface="Meiryo"/>
                <a:ea typeface="Meiryo"/>
              </a:rPr>
              <a:t>：重み付き和は非凸な Pareto フロントの凹部に届かない．ただし全手法が同じスカラー化を共有し，探索中に訪問した凹部の解も記録するため，構造差の比較への影響は限定的．Pareto 支配に基づく手法（NSGA-II 等）での再検証は今後の課題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［予備］評価指標の詳細</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30</a:t>
            </a:r>
          </a:p>
        </p:txBody>
      </p:sp>
      <p:graphicFrame>
        <p:nvGraphicFramePr>
          <p:cNvPr id="6" name="Table 5"/>
          <p:cNvGraphicFramePr>
            <a:graphicFrameLocks noGrp="1"/>
          </p:cNvGraphicFramePr>
          <p:nvPr/>
        </p:nvGraphicFramePr>
        <p:xfrm>
          <a:off x="566928" y="1371600"/>
          <a:ext cx="11057838" cy="1901952"/>
        </p:xfrm>
        <a:graphic>
          <a:graphicData uri="http://schemas.openxmlformats.org/drawingml/2006/table">
            <a:tbl>
              <a:tblPr firstRow="0" bandRow="0">
                <a:tableStyleId>{5940675A-B579-460E-94D1-54222C63F5DA}</a:tableStyleId>
              </a:tblPr>
              <a:tblGrid>
                <a:gridCol w="1827742"/>
                <a:gridCol w="3107161"/>
                <a:gridCol w="2741613"/>
                <a:gridCol w="3381322"/>
              </a:tblGrid>
              <a:tr h="475488">
                <a:tc>
                  <a:txBody>
                    <a:bodyPr wrap="square"/>
                    <a:lstStyle/>
                    <a:p>
                      <a:pPr algn="l"/>
                      <a:r>
                        <a:rPr sz="1500" b="1" i="0" lang="ja-JP">
                          <a:solidFill>
                            <a:srgbClr val="FFFFFF"/>
                          </a:solidFill>
                          <a:latin typeface="Meiryo"/>
                          <a:ea typeface="Meiryo"/>
                        </a:rPr>
                        <a:t>項目</a:t>
                      </a:r>
                    </a:p>
                  </a:txBody>
                  <a:tcPr marL="82296" marR="54864" marT="67818" marB="18288" anchor="ctr">
                    <a:solidFill>
                      <a:srgbClr val="16385C"/>
                    </a:solidFill>
                  </a:tcPr>
                </a:tc>
                <a:tc>
                  <a:txBody>
                    <a:bodyPr wrap="square"/>
                    <a:lstStyle/>
                    <a:p>
                      <a:pPr algn="ctr"/>
                      <a:r>
                        <a:rPr sz="1500" b="1" i="0" lang="ja-JP">
                          <a:solidFill>
                            <a:srgbClr val="FFFFFF"/>
                          </a:solidFill>
                          <a:latin typeface="Meiryo"/>
                          <a:ea typeface="Meiryo"/>
                        </a:rPr>
                        <a:t>全域 HV</a:t>
                      </a:r>
                    </a:p>
                  </a:txBody>
                  <a:tcPr marL="82296" marR="54864" marT="67818" marB="18288" anchor="ctr">
                    <a:solidFill>
                      <a:srgbClr val="16385C"/>
                    </a:solidFill>
                  </a:tcPr>
                </a:tc>
                <a:tc>
                  <a:txBody>
                    <a:bodyPr wrap="square"/>
                    <a:lstStyle/>
                    <a:p>
                      <a:pPr algn="ctr"/>
                      <a:r>
                        <a:rPr sz="1500" b="1" i="0" lang="ja-JP">
                          <a:solidFill>
                            <a:srgbClr val="FFFFFF"/>
                          </a:solidFill>
                          <a:latin typeface="Meiryo"/>
                          <a:ea typeface="Meiryo"/>
                        </a:rPr>
                        <a:t>高安定 HV</a:t>
                      </a:r>
                    </a:p>
                  </a:txBody>
                  <a:tcPr marL="82296" marR="54864" marT="67818" marB="18288" anchor="ctr">
                    <a:solidFill>
                      <a:srgbClr val="16385C"/>
                    </a:solidFill>
                  </a:tcPr>
                </a:tc>
                <a:tc>
                  <a:txBody>
                    <a:bodyPr wrap="square"/>
                    <a:lstStyle/>
                    <a:p>
                      <a:pPr algn="ctr"/>
                      <a:r>
                        <a:rPr sz="1500" b="1" i="0" lang="ja-JP">
                          <a:solidFill>
                            <a:srgbClr val="FFFFFF"/>
                          </a:solidFill>
                          <a:latin typeface="Meiryo"/>
                          <a:ea typeface="Meiryo"/>
                        </a:rPr>
                        <a:t>AUC</a:t>
                      </a:r>
                    </a:p>
                  </a:txBody>
                  <a:tcPr marL="82296" marR="54864" marT="67818" marB="18288" anchor="ctr">
                    <a:solidFill>
                      <a:srgbClr val="16385C"/>
                    </a:solidFill>
                  </a:tcPr>
                </a:tc>
              </a:tr>
              <a:tr h="475488">
                <a:tc>
                  <a:txBody>
                    <a:bodyPr wrap="square"/>
                    <a:lstStyle/>
                    <a:p>
                      <a:pPr algn="l"/>
                      <a:r>
                        <a:rPr sz="1500" b="0" i="0" lang="ja-JP">
                          <a:solidFill>
                            <a:srgbClr val="26303A"/>
                          </a:solidFill>
                          <a:latin typeface="Meiryo"/>
                          <a:ea typeface="Meiryo"/>
                        </a:rPr>
                        <a:t>対象の解</a:t>
                      </a:r>
                    </a:p>
                  </a:txBody>
                  <a:tcPr marL="82296" marR="54864" marT="6781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全ての重み </a:t>
                      </a:r>
                      <a:r>
                        <a:rPr sz="1500" b="0" i="1" lang="ja-JP">
                          <a:solidFill>
                            <a:srgbClr val="26303A"/>
                          </a:solidFill>
                          <a:latin typeface="Meiryo"/>
                          <a:ea typeface="Meiryo"/>
                        </a:rPr>
                        <a:t>λ</a:t>
                      </a:r>
                      <a:r>
                        <a:rPr sz="1500" b="0" i="0" lang="ja-JP">
                          <a:solidFill>
                            <a:srgbClr val="26303A"/>
                          </a:solidFill>
                          <a:latin typeface="Meiryo"/>
                          <a:ea typeface="Meiryo"/>
                        </a:rPr>
                        <a:t> の解を合わせる</a:t>
                      </a:r>
                    </a:p>
                  </a:txBody>
                  <a:tcPr marL="82296" marR="54864" marT="6781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同左</a:t>
                      </a:r>
                    </a:p>
                  </a:txBody>
                  <a:tcPr marL="82296" marR="54864" marT="6781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重み </a:t>
                      </a:r>
                      <a:r>
                        <a:rPr sz="1500" b="0" i="1" lang="ja-JP">
                          <a:solidFill>
                            <a:srgbClr val="26303A"/>
                          </a:solidFill>
                          <a:latin typeface="Meiryo"/>
                          <a:ea typeface="Meiryo"/>
                        </a:rPr>
                        <a:t>λ</a:t>
                      </a:r>
                      <a:r>
                        <a:rPr sz="1500" b="0" i="0" lang="ja-JP">
                          <a:solidFill>
                            <a:srgbClr val="26303A"/>
                          </a:solidFill>
                          <a:latin typeface="Meiryo"/>
                          <a:ea typeface="Meiryo"/>
                        </a:rPr>
                        <a:t> ごと</a:t>
                      </a:r>
                    </a:p>
                  </a:txBody>
                  <a:tcPr marL="82296" marR="54864" marT="67818" marB="18288" anchor="ctr">
                    <a:solidFill>
                      <a:srgbClr val="FFFFFF"/>
                    </a:solidFill>
                    <a:lnB w="9525" cap="flat">
                      <a:solidFill>
                        <a:srgbClr val="D6DEE7"/>
                      </a:solidFill>
                    </a:lnB>
                  </a:tcPr>
                </a:tc>
              </a:tr>
              <a:tr h="475488">
                <a:tc>
                  <a:txBody>
                    <a:bodyPr wrap="square"/>
                    <a:lstStyle/>
                    <a:p>
                      <a:pPr algn="l"/>
                      <a:r>
                        <a:rPr sz="1500" b="0" i="1" lang="ja-JP">
                          <a:solidFill>
                            <a:srgbClr val="26303A"/>
                          </a:solidFill>
                          <a:latin typeface="Meiryo"/>
                          <a:ea typeface="Meiryo"/>
                        </a:rPr>
                        <a:t>D</a:t>
                      </a:r>
                      <a:r>
                        <a:rPr sz="1500" b="0" i="0" lang="ja-JP">
                          <a:solidFill>
                            <a:srgbClr val="26303A"/>
                          </a:solidFill>
                          <a:latin typeface="Meiryo"/>
                          <a:ea typeface="Meiryo"/>
                        </a:rPr>
                        <a:t> の範囲</a:t>
                      </a:r>
                    </a:p>
                  </a:txBody>
                  <a:tcPr marL="82296" marR="54864" marT="67818" marB="18288" anchor="ctr">
                    <a:solidFill>
                      <a:srgbClr val="F6F9FB"/>
                    </a:solidFill>
                    <a:lnB w="9525" cap="flat">
                      <a:solidFill>
                        <a:srgbClr val="D6DEE7"/>
                      </a:solidFill>
                    </a:lnB>
                  </a:tcPr>
                </a:tc>
                <a:tc>
                  <a:txBody>
                    <a:bodyPr wrap="square"/>
                    <a:lstStyle/>
                    <a:p>
                      <a:pPr algn="ctr"/>
                      <a:r>
                        <a:rPr sz="1500" b="0" i="0" lang="ja-JP">
                          <a:solidFill>
                            <a:srgbClr val="26303A"/>
                          </a:solidFill>
                          <a:latin typeface="Meiryo"/>
                          <a:ea typeface="Meiryo"/>
                        </a:rPr>
                        <a:t>全域</a:t>
                      </a:r>
                    </a:p>
                  </a:txBody>
                  <a:tcPr marL="82296" marR="54864" marT="67818" marB="18288" anchor="ctr">
                    <a:solidFill>
                      <a:srgbClr val="F6F9FB"/>
                    </a:solidFill>
                    <a:lnB w="9525" cap="flat">
                      <a:solidFill>
                        <a:srgbClr val="D6DEE7"/>
                      </a:solidFill>
                    </a:lnB>
                  </a:tcPr>
                </a:tc>
                <a:tc>
                  <a:txBody>
                    <a:bodyPr wrap="square"/>
                    <a:lstStyle/>
                    <a:p>
                      <a:pPr algn="ctr"/>
                      <a:r>
                        <a:rPr sz="1500" b="0" i="1" lang="ja-JP">
                          <a:solidFill>
                            <a:srgbClr val="26303A"/>
                          </a:solidFill>
                          <a:latin typeface="Meiryo"/>
                          <a:ea typeface="Meiryo"/>
                        </a:rPr>
                        <a:t>D</a:t>
                      </a:r>
                      <a:r>
                        <a:rPr sz="1500" b="0" i="0" lang="ja-JP">
                          <a:solidFill>
                            <a:srgbClr val="26303A"/>
                          </a:solidFill>
                          <a:latin typeface="Meiryo"/>
                          <a:ea typeface="Meiryo"/>
                        </a:rPr>
                        <a:t> &lt; </a:t>
                      </a:r>
                      <a:r>
                        <a:rPr sz="1500" b="0" i="1" lang="ja-JP">
                          <a:solidFill>
                            <a:srgbClr val="26303A"/>
                          </a:solidFill>
                          <a:latin typeface="Meiryo"/>
                          <a:ea typeface="Meiryo"/>
                        </a:rPr>
                        <a:t>P</a:t>
                      </a:r>
                      <a:r>
                        <a:rPr sz="1080" b="0" i="1" lang="ja-JP" baseline="-22000">
                          <a:solidFill>
                            <a:srgbClr val="26303A"/>
                          </a:solidFill>
                          <a:latin typeface="Meiryo"/>
                          <a:ea typeface="Meiryo"/>
                        </a:rPr>
                        <a:t>θ</a:t>
                      </a:r>
                      <a:r>
                        <a:rPr sz="1500" b="0" i="0" lang="ja-JP">
                          <a:solidFill>
                            <a:srgbClr val="26303A"/>
                          </a:solidFill>
                          <a:latin typeface="Meiryo"/>
                          <a:ea typeface="Meiryo"/>
                        </a:rPr>
                        <a:t>（</a:t>
                      </a:r>
                      <a:r>
                        <a:rPr sz="1500" b="0" i="1" lang="ja-JP">
                          <a:solidFill>
                            <a:srgbClr val="26303A"/>
                          </a:solidFill>
                          <a:latin typeface="Meiryo"/>
                          <a:ea typeface="Meiryo"/>
                        </a:rPr>
                        <a:t>θ</a:t>
                      </a:r>
                      <a:r>
                        <a:rPr sz="1500" b="0" i="0" lang="ja-JP">
                          <a:solidFill>
                            <a:srgbClr val="26303A"/>
                          </a:solidFill>
                          <a:latin typeface="Meiryo"/>
                          <a:ea typeface="Meiryo"/>
                        </a:rPr>
                        <a:t> = 50）</a:t>
                      </a:r>
                    </a:p>
                  </a:txBody>
                  <a:tcPr marL="82296" marR="54864" marT="67818" marB="18288" anchor="ctr">
                    <a:solidFill>
                      <a:srgbClr val="F6F9FB"/>
                    </a:solidFill>
                    <a:lnB w="9525" cap="flat">
                      <a:solidFill>
                        <a:srgbClr val="D6DEE7"/>
                      </a:solidFill>
                    </a:lnB>
                  </a:tcPr>
                </a:tc>
                <a:tc>
                  <a:txBody>
                    <a:bodyPr wrap="square"/>
                    <a:lstStyle/>
                    <a:p>
                      <a:pPr algn="ctr"/>
                      <a:r>
                        <a:rPr sz="1500" b="0" i="0" lang="ja-JP">
                          <a:solidFill>
                            <a:srgbClr val="26303A"/>
                          </a:solidFill>
                          <a:latin typeface="Meiryo"/>
                          <a:ea typeface="Meiryo"/>
                        </a:rPr>
                        <a:t>全域</a:t>
                      </a:r>
                    </a:p>
                  </a:txBody>
                  <a:tcPr marL="82296" marR="54864" marT="67818" marB="18288" anchor="ctr">
                    <a:solidFill>
                      <a:srgbClr val="F6F9FB"/>
                    </a:solidFill>
                    <a:lnB w="9525" cap="flat">
                      <a:solidFill>
                        <a:srgbClr val="D6DEE7"/>
                      </a:solidFill>
                    </a:lnB>
                  </a:tcPr>
                </a:tc>
              </a:tr>
              <a:tr h="475488">
                <a:tc>
                  <a:txBody>
                    <a:bodyPr wrap="square"/>
                    <a:lstStyle/>
                    <a:p>
                      <a:pPr algn="l"/>
                      <a:r>
                        <a:rPr sz="1500" b="0" i="0" lang="ja-JP">
                          <a:solidFill>
                            <a:srgbClr val="26303A"/>
                          </a:solidFill>
                          <a:latin typeface="Meiryo"/>
                          <a:ea typeface="Meiryo"/>
                        </a:rPr>
                        <a:t>値</a:t>
                      </a:r>
                    </a:p>
                  </a:txBody>
                  <a:tcPr marL="82296" marR="54864" marT="6781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計算終了時の HV</a:t>
                      </a:r>
                    </a:p>
                  </a:txBody>
                  <a:tcPr marL="82296" marR="54864" marT="6781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計算終了時の HV</a:t>
                      </a:r>
                    </a:p>
                  </a:txBody>
                  <a:tcPr marL="82296" marR="54864" marT="67818" marB="18288" anchor="ctr">
                    <a:solidFill>
                      <a:srgbClr val="FFFFFF"/>
                    </a:solidFill>
                    <a:lnB w="9525" cap="flat">
                      <a:solidFill>
                        <a:srgbClr val="D6DEE7"/>
                      </a:solidFill>
                    </a:lnB>
                  </a:tcPr>
                </a:tc>
                <a:tc>
                  <a:txBody>
                    <a:bodyPr wrap="square"/>
                    <a:lstStyle/>
                    <a:p>
                      <a:pPr algn="ctr"/>
                      <a:r>
                        <a:rPr sz="1500" b="0" i="0" lang="ja-JP">
                          <a:solidFill>
                            <a:srgbClr val="26303A"/>
                          </a:solidFill>
                          <a:latin typeface="Meiryo"/>
                          <a:ea typeface="Meiryo"/>
                        </a:rPr>
                        <a:t>HV の推移を対数時間で平均し，</a:t>
                      </a:r>
                    </a:p>
                    <a:p>
                      <a:pPr algn="ctr"/>
                      <a:r>
                        <a:rPr sz="1500" b="0" i="0" lang="ja-JP">
                          <a:solidFill>
                            <a:srgbClr val="26303A"/>
                          </a:solidFill>
                          <a:latin typeface="Meiryo"/>
                          <a:ea typeface="Meiryo"/>
                        </a:rPr>
                        <a:t>全ての重みで平均</a:t>
                      </a:r>
                    </a:p>
                  </a:txBody>
                  <a:tcPr marL="82296" marR="54864" marT="67818" marB="18288" anchor="ctr">
                    <a:solidFill>
                      <a:srgbClr val="FFFFFF"/>
                    </a:solidFill>
                    <a:lnB w="9525" cap="flat">
                      <a:solidFill>
                        <a:srgbClr val="D6DEE7"/>
                      </a:solidFill>
                    </a:lnB>
                  </a:tcPr>
                </a:tc>
              </a:tr>
            </a:tbl>
          </a:graphicData>
        </a:graphic>
      </p:graphicFrame>
      <p:sp>
        <p:nvSpPr>
          <p:cNvPr id="7" name="TextBox 6"/>
          <p:cNvSpPr txBox="1"/>
          <p:nvPr/>
        </p:nvSpPr>
        <p:spPr>
          <a:xfrm>
            <a:off x="566928" y="3639312"/>
            <a:ext cx="11057839" cy="457200"/>
          </a:xfrm>
          <a:prstGeom prst="rect">
            <a:avLst/>
          </a:prstGeom>
          <a:noFill/>
        </p:spPr>
        <p:txBody>
          <a:bodyPr wrap="square" anchor="t" lIns="18288" rIns="18288" tIns="9144" bIns="9144">
            <a:spAutoFit/>
          </a:bodyPr>
          <a:lstStyle/>
          <a:p>
            <a:pPr marL="202996" indent="-202996">
              <a:lnSpc>
                <a:spcPct val="108000"/>
              </a:lnSpc>
              <a:spcBef>
                <a:spcPts val="0"/>
              </a:spcBef>
            </a:pPr>
            <a:r>
              <a:rPr sz="1200" b="1" i="0" lang="ja-JP">
                <a:solidFill>
                  <a:srgbClr val="16385C"/>
                </a:solidFill>
                <a:latin typeface="Meiryo"/>
                <a:ea typeface="Meiryo"/>
              </a:rPr>
              <a:t>▪ </a:t>
            </a:r>
            <a:r>
              <a:rPr sz="1500" b="1" i="0" lang="ja-JP">
                <a:solidFill>
                  <a:srgbClr val="16385C"/>
                </a:solidFill>
                <a:latin typeface="Meiryo"/>
                <a:ea typeface="Meiryo"/>
              </a:rPr>
              <a:t>共通</a:t>
            </a:r>
            <a:r>
              <a:rPr sz="1500" b="0" i="0" lang="ja-JP">
                <a:solidFill>
                  <a:srgbClr val="26303A"/>
                </a:solidFill>
                <a:latin typeface="Meiryo"/>
                <a:ea typeface="Meiryo"/>
              </a:rPr>
              <a:t>：各シナリオで [0, 1]² に正規化し，参照点 (1.1, 1.1) で算出する．</a:t>
            </a:r>
            <a:r>
              <a:rPr sz="1500" b="0" i="1" lang="ja-JP">
                <a:solidFill>
                  <a:srgbClr val="26303A"/>
                </a:solidFill>
                <a:latin typeface="Meiryo"/>
                <a:ea typeface="Meiryo"/>
              </a:rPr>
              <a:t>D</a:t>
            </a:r>
            <a:r>
              <a:rPr sz="1500" b="0" i="0" lang="ja-JP">
                <a:solidFill>
                  <a:srgbClr val="26303A"/>
                </a:solidFill>
                <a:latin typeface="Meiryo"/>
                <a:ea typeface="Meiryo"/>
              </a:rPr>
              <a:t> = 0 の解（</a:t>
            </a:r>
            <a:r>
              <a:rPr sz="1500" b="0" i="1" lang="ja-JP">
                <a:solidFill>
                  <a:srgbClr val="26303A"/>
                </a:solidFill>
                <a:latin typeface="Meiryo"/>
                <a:ea typeface="Meiryo"/>
              </a:rPr>
              <a:t>S</a:t>
            </a:r>
            <a:r>
              <a:rPr sz="1080" b="0" i="1" lang="ja-JP" baseline="-22000">
                <a:solidFill>
                  <a:srgbClr val="26303A"/>
                </a:solidFill>
                <a:latin typeface="Meiryo"/>
                <a:ea typeface="Meiryo"/>
              </a:rPr>
              <a:t>p</a:t>
            </a:r>
            <a:r>
              <a:rPr sz="1500" b="0" i="0" lang="ja-JP">
                <a:solidFill>
                  <a:srgbClr val="26303A"/>
                </a:solidFill>
                <a:latin typeface="Meiryo"/>
                <a:ea typeface="Meiryo"/>
              </a:rPr>
              <a:t>）は除く</a:t>
            </a:r>
          </a:p>
          <a:p>
            <a:pPr marL="202996" indent="-202996">
              <a:lnSpc>
                <a:spcPct val="108000"/>
              </a:lnSpc>
              <a:spcBef>
                <a:spcPts val="1400"/>
              </a:spcBef>
            </a:pPr>
            <a:r>
              <a:rPr sz="1200" b="1" i="0" lang="ja-JP">
                <a:solidFill>
                  <a:srgbClr val="16385C"/>
                </a:solidFill>
                <a:latin typeface="Meiryo"/>
                <a:ea typeface="Meiryo"/>
              </a:rPr>
              <a:t>▪ </a:t>
            </a:r>
            <a:r>
              <a:rPr sz="1500" b="1" i="1" lang="ja-JP">
                <a:solidFill>
                  <a:srgbClr val="16385C"/>
                </a:solidFill>
                <a:latin typeface="Meiryo"/>
                <a:ea typeface="Meiryo"/>
              </a:rPr>
              <a:t>P</a:t>
            </a:r>
            <a:r>
              <a:rPr sz="1080" b="1" i="1" lang="ja-JP" baseline="-22000">
                <a:solidFill>
                  <a:srgbClr val="16385C"/>
                </a:solidFill>
                <a:latin typeface="Meiryo"/>
                <a:ea typeface="Meiryo"/>
              </a:rPr>
              <a:t>θ</a:t>
            </a:r>
            <a:r>
              <a:rPr sz="1500" b="0" i="0" lang="ja-JP">
                <a:solidFill>
                  <a:srgbClr val="26303A"/>
                </a:solidFill>
                <a:latin typeface="Meiryo"/>
                <a:ea typeface="Meiryo"/>
              </a:rPr>
              <a:t>：全手法・全試行の非劣解の </a:t>
            </a:r>
            <a:r>
              <a:rPr sz="1500" b="0" i="1" lang="ja-JP">
                <a:solidFill>
                  <a:srgbClr val="26303A"/>
                </a:solidFill>
                <a:latin typeface="Meiryo"/>
                <a:ea typeface="Meiryo"/>
              </a:rPr>
              <a:t>D</a:t>
            </a:r>
            <a:r>
              <a:rPr sz="1500" b="0" i="0" lang="ja-JP">
                <a:solidFill>
                  <a:srgbClr val="26303A"/>
                </a:solidFill>
                <a:latin typeface="Meiryo"/>
                <a:ea typeface="Meiryo"/>
              </a:rPr>
              <a:t> の </a:t>
            </a:r>
            <a:r>
              <a:rPr sz="1500" b="0" i="1" lang="ja-JP">
                <a:solidFill>
                  <a:srgbClr val="26303A"/>
                </a:solidFill>
                <a:latin typeface="Meiryo"/>
                <a:ea typeface="Meiryo"/>
              </a:rPr>
              <a:t>θ</a:t>
            </a:r>
            <a:r>
              <a:rPr sz="1500" b="0" i="0" lang="ja-JP">
                <a:solidFill>
                  <a:srgbClr val="26303A"/>
                </a:solidFill>
                <a:latin typeface="Meiryo"/>
                <a:ea typeface="Meiryo"/>
              </a:rPr>
              <a:t> パーセンタイル</a:t>
            </a:r>
          </a:p>
          <a:p>
            <a:pPr marL="202996" indent="-202996">
              <a:lnSpc>
                <a:spcPct val="108000"/>
              </a:lnSpc>
              <a:spcBef>
                <a:spcPts val="1400"/>
              </a:spcBef>
            </a:pPr>
            <a:r>
              <a:rPr sz="1200" b="1" i="0" lang="ja-JP">
                <a:solidFill>
                  <a:srgbClr val="16385C"/>
                </a:solidFill>
                <a:latin typeface="Meiryo"/>
                <a:ea typeface="Meiryo"/>
              </a:rPr>
              <a:t>▪ </a:t>
            </a:r>
            <a:r>
              <a:rPr sz="1500" b="1" i="0" lang="ja-JP">
                <a:solidFill>
                  <a:srgbClr val="16385C"/>
                </a:solidFill>
                <a:latin typeface="Meiryo"/>
                <a:ea typeface="Meiryo"/>
              </a:rPr>
              <a:t>AUC</a:t>
            </a:r>
            <a:r>
              <a:rPr sz="1500" b="0" i="0" lang="ja-JP">
                <a:solidFill>
                  <a:srgbClr val="26303A"/>
                </a:solidFill>
                <a:latin typeface="Meiryo"/>
                <a:ea typeface="Meiryo"/>
              </a:rPr>
              <a:t>：時間窓は各重みで全手法共通</a:t>
            </a:r>
          </a:p>
          <a:p>
            <a:pPr>
              <a:lnSpc>
                <a:spcPct val="108000"/>
              </a:lnSpc>
              <a:spcBef>
                <a:spcPts val="300"/>
              </a:spcBef>
            </a:pPr>
            <a:r>
              <a:rPr sz="1275" b="0" i="0" lang="ja-JP">
                <a:solidFill>
                  <a:srgbClr val="6E7A88"/>
                </a:solidFill>
                <a:latin typeface="Meiryo"/>
                <a:ea typeface="Meiryo"/>
              </a:rPr>
              <a:t>　－ </a:t>
            </a:r>
            <a:r>
              <a:rPr sz="1350" b="0" i="0" lang="ja-JP">
                <a:solidFill>
                  <a:srgbClr val="26303A"/>
                </a:solidFill>
                <a:latin typeface="Meiryo"/>
                <a:ea typeface="Meiryo"/>
              </a:rPr>
              <a:t>本編の全域 HV の推移の図は全ての重みの解を合わせた曲線なので，AUC はその面積とは一致しない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［予備］なぜ ILS と Memetic か</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31</a:t>
            </a:r>
          </a:p>
        </p:txBody>
      </p:sp>
      <p:sp>
        <p:nvSpPr>
          <p:cNvPr id="6" name="Rounded Rectangle 5"/>
          <p:cNvSpPr/>
          <p:nvPr/>
        </p:nvSpPr>
        <p:spPr>
          <a:xfrm>
            <a:off x="566928"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25880"/>
            <a:ext cx="5346039" cy="502920"/>
          </a:xfrm>
          <a:prstGeom prst="rect">
            <a:avLst/>
          </a:prstGeom>
          <a:solidFill>
            <a:srgbClr val="E06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325880"/>
            <a:ext cx="4980279" cy="502920"/>
          </a:xfrm>
          <a:prstGeom prst="rect">
            <a:avLst/>
          </a:prstGeom>
          <a:noFill/>
        </p:spPr>
        <p:txBody>
          <a:bodyPr wrap="square" anchor="ctr" lIns="18288" rIns="18288" tIns="57023" bIns="9144">
            <a:spAutoFit/>
          </a:bodyPr>
          <a:lstStyle/>
          <a:p>
            <a:pPr algn="l">
              <a:lnSpc>
                <a:spcPct val="105000"/>
              </a:lnSpc>
            </a:pPr>
            <a:r>
              <a:rPr sz="1450" b="1" i="0" lang="ja-JP">
                <a:solidFill>
                  <a:srgbClr val="FFFFFF"/>
                </a:solidFill>
                <a:latin typeface="Meiryo"/>
                <a:ea typeface="Meiryo"/>
              </a:rPr>
              <a:t>単点探索の代表：ILS（反復局所探索）</a:t>
            </a:r>
          </a:p>
        </p:txBody>
      </p:sp>
      <p:sp>
        <p:nvSpPr>
          <p:cNvPr id="9" name="TextBox 8"/>
          <p:cNvSpPr txBox="1"/>
          <p:nvPr/>
        </p:nvSpPr>
        <p:spPr>
          <a:xfrm>
            <a:off x="749808" y="1965960"/>
            <a:ext cx="4980279" cy="457200"/>
          </a:xfrm>
          <a:prstGeom prst="rect">
            <a:avLst/>
          </a:prstGeom>
          <a:noFill/>
        </p:spPr>
        <p:txBody>
          <a:bodyPr wrap="square" anchor="t" lIns="18288" rIns="18288" tIns="9144" bIns="9144">
            <a:spAutoFit/>
          </a:bodyPr>
          <a:lstStyle/>
          <a:p>
            <a:pPr marL="175930" indent="-175930">
              <a:lnSpc>
                <a:spcPct val="108000"/>
              </a:lnSpc>
              <a:spcBef>
                <a:spcPts val="0"/>
              </a:spcBef>
            </a:pPr>
            <a:r>
              <a:rPr sz="1040" b="1" i="0" lang="ja-JP">
                <a:solidFill>
                  <a:srgbClr val="16385C"/>
                </a:solidFill>
                <a:latin typeface="Meiryo"/>
                <a:ea typeface="Meiryo"/>
              </a:rPr>
              <a:t>▪ </a:t>
            </a:r>
            <a:r>
              <a:rPr sz="1300" b="0" i="0" lang="ja-JP">
                <a:solidFill>
                  <a:srgbClr val="26303A"/>
                </a:solidFill>
                <a:latin typeface="Meiryo"/>
                <a:ea typeface="Meiryo"/>
              </a:rPr>
              <a:t>摂動 → 局所探索 → 受理判定を反復し，1 つの解を改善する枠組み</a:t>
            </a:r>
          </a:p>
          <a:p>
            <a:pPr marL="175930" indent="-175930">
              <a:lnSpc>
                <a:spcPct val="108000"/>
              </a:lnSpc>
              <a:spcBef>
                <a:spcPts val="1000"/>
              </a:spcBef>
            </a:pPr>
            <a:r>
              <a:rPr sz="1040" b="1" i="0" lang="ja-JP">
                <a:solidFill>
                  <a:srgbClr val="16385C"/>
                </a:solidFill>
                <a:latin typeface="Meiryo"/>
                <a:ea typeface="Meiryo"/>
              </a:rPr>
              <a:t>▪ </a:t>
            </a:r>
            <a:r>
              <a:rPr sz="1300" b="1" i="0" lang="ja-JP">
                <a:solidFill>
                  <a:srgbClr val="16385C"/>
                </a:solidFill>
                <a:latin typeface="Meiryo"/>
                <a:ea typeface="Meiryo"/>
              </a:rPr>
              <a:t>局所探索と摂動が独立した段に分かれている</a:t>
            </a:r>
            <a:r>
              <a:rPr sz="1300" b="0" i="0" lang="ja-JP">
                <a:solidFill>
                  <a:srgbClr val="26303A"/>
                </a:solidFill>
                <a:latin typeface="Meiryo"/>
                <a:ea typeface="Meiryo"/>
              </a:rPr>
              <a:t>ため，摂動の強度（現在解から一度にどれだけ離すか）を明示的に設定でき，安定性誘導演算子も局所探索・受理判定を変えずに摂動の段へ組み込める</a:t>
            </a:r>
          </a:p>
          <a:p>
            <a:pPr marL="175930" indent="-175930">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他の単点探索は局所最適からの脱出を別の形で行う：SA は悪化解の確率的な受理，タブーサーチは再訪の禁止</a:t>
            </a:r>
          </a:p>
          <a:p>
            <a:pPr marL="175930" indent="-175930">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設定：初期解 </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．insert 摂動は 2〜5 手を停滞度に応じて巡回．best の </a:t>
            </a:r>
            <a:r>
              <a:rPr sz="1300" b="0" i="1" lang="ja-JP">
                <a:solidFill>
                  <a:srgbClr val="26303A"/>
                </a:solidFill>
                <a:latin typeface="Meiryo"/>
                <a:ea typeface="Meiryo"/>
              </a:rPr>
              <a:t>F</a:t>
            </a:r>
            <a:r>
              <a:rPr sz="1300" b="0" i="0" lang="ja-JP">
                <a:solidFill>
                  <a:srgbClr val="26303A"/>
                </a:solidFill>
                <a:latin typeface="Meiryo"/>
                <a:ea typeface="Meiryo"/>
              </a:rPr>
              <a:t> を厳密に改善したときのみ現在解を更新</a:t>
            </a:r>
          </a:p>
        </p:txBody>
      </p:sp>
      <p:sp>
        <p:nvSpPr>
          <p:cNvPr id="10" name="Rounded Rectangle 9"/>
          <p:cNvSpPr/>
          <p:nvPr/>
        </p:nvSpPr>
        <p:spPr>
          <a:xfrm>
            <a:off x="6278727" y="1325880"/>
            <a:ext cx="5346039" cy="4983480"/>
          </a:xfrm>
          <a:prstGeom prst="roundRect">
            <a:avLst>
              <a:gd name="adj" fmla="val 4000"/>
            </a:avLst>
          </a:prstGeom>
          <a:solidFill>
            <a:srgbClr val="FFFFFF"/>
          </a:solidFill>
          <a:ln w="13970">
            <a:solidFill>
              <a:srgbClr val="C9D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8727" y="1325880"/>
            <a:ext cx="5346039" cy="502920"/>
          </a:xfrm>
          <a:prstGeom prst="rect">
            <a:avLst/>
          </a:prstGeom>
          <a:solidFill>
            <a:srgbClr val="0F5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1607" y="1325880"/>
            <a:ext cx="4980279" cy="502920"/>
          </a:xfrm>
          <a:prstGeom prst="rect">
            <a:avLst/>
          </a:prstGeom>
          <a:noFill/>
        </p:spPr>
        <p:txBody>
          <a:bodyPr wrap="square" anchor="ctr" lIns="18288" rIns="18288" tIns="57023" bIns="9144">
            <a:spAutoFit/>
          </a:bodyPr>
          <a:lstStyle/>
          <a:p>
            <a:pPr algn="l">
              <a:lnSpc>
                <a:spcPct val="105000"/>
              </a:lnSpc>
            </a:pPr>
            <a:r>
              <a:rPr sz="1450" b="1" i="0" lang="ja-JP">
                <a:solidFill>
                  <a:srgbClr val="FFFFFF"/>
                </a:solidFill>
                <a:latin typeface="Meiryo"/>
                <a:ea typeface="Meiryo"/>
              </a:rPr>
              <a:t>多点探索の代表：Memetic（GA＋局所探索）</a:t>
            </a:r>
          </a:p>
        </p:txBody>
      </p:sp>
      <p:sp>
        <p:nvSpPr>
          <p:cNvPr id="13" name="TextBox 12"/>
          <p:cNvSpPr txBox="1"/>
          <p:nvPr/>
        </p:nvSpPr>
        <p:spPr>
          <a:xfrm>
            <a:off x="6461607" y="1965960"/>
            <a:ext cx="4980279" cy="457200"/>
          </a:xfrm>
          <a:prstGeom prst="rect">
            <a:avLst/>
          </a:prstGeom>
          <a:noFill/>
        </p:spPr>
        <p:txBody>
          <a:bodyPr wrap="square" anchor="t" lIns="18288" rIns="18288" tIns="9144" bIns="9144">
            <a:spAutoFit/>
          </a:bodyPr>
          <a:lstStyle/>
          <a:p>
            <a:pPr marL="175930" indent="-175930">
              <a:lnSpc>
                <a:spcPct val="108000"/>
              </a:lnSpc>
              <a:spcBef>
                <a:spcPts val="0"/>
              </a:spcBef>
            </a:pPr>
            <a:r>
              <a:rPr sz="1040" b="1" i="0" lang="ja-JP">
                <a:solidFill>
                  <a:srgbClr val="16385C"/>
                </a:solidFill>
                <a:latin typeface="Meiryo"/>
                <a:ea typeface="Meiryo"/>
              </a:rPr>
              <a:t>▪ </a:t>
            </a:r>
            <a:r>
              <a:rPr sz="1300" b="0" i="0" lang="ja-JP">
                <a:solidFill>
                  <a:srgbClr val="26303A"/>
                </a:solidFill>
                <a:latin typeface="Meiryo"/>
                <a:ea typeface="Meiryo"/>
              </a:rPr>
              <a:t>先行研究（Rangsaritratsamee ら 2004，Fattahi &amp; Fallahi 2010）で用いられる，</a:t>
            </a:r>
            <a:r>
              <a:rPr sz="1300" b="1" i="0" lang="ja-JP">
                <a:solidFill>
                  <a:srgbClr val="16385C"/>
                </a:solidFill>
                <a:latin typeface="Meiryo"/>
                <a:ea typeface="Meiryo"/>
              </a:rPr>
              <a:t>GA に局所探索を組み込んだ標準的な構成</a:t>
            </a:r>
          </a:p>
          <a:p>
            <a:pPr marL="175930" indent="-175930">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GA：operation-based 表現，GT 法でデコード，エリート保存付きトーナメント選択，PPX 交叉，逆位突然変異</a:t>
            </a:r>
          </a:p>
          <a:p>
            <a:pPr marL="175930" indent="-175930">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各個体に N5 局所探索を適用し，改善解を染色体に書き戻す Lamarckian 型．初期集団に </a:t>
            </a:r>
            <a:r>
              <a:rPr sz="1300" b="0" i="1" lang="ja-JP">
                <a:solidFill>
                  <a:srgbClr val="26303A"/>
                </a:solidFill>
                <a:latin typeface="Meiryo"/>
                <a:ea typeface="Meiryo"/>
              </a:rPr>
              <a:t>S</a:t>
            </a:r>
            <a:r>
              <a:rPr sz="936" b="0" i="1" lang="ja-JP" baseline="-22000">
                <a:solidFill>
                  <a:srgbClr val="26303A"/>
                </a:solidFill>
                <a:latin typeface="Meiryo"/>
                <a:ea typeface="Meiryo"/>
              </a:rPr>
              <a:t>p</a:t>
            </a:r>
            <a:r>
              <a:rPr sz="1300" b="0" i="0" lang="ja-JP">
                <a:solidFill>
                  <a:srgbClr val="26303A"/>
                </a:solidFill>
                <a:latin typeface="Meiryo"/>
                <a:ea typeface="Meiryo"/>
              </a:rPr>
              <a:t> を 1 個体含める</a:t>
            </a:r>
          </a:p>
          <a:p>
            <a:pPr marL="175930" indent="-175930">
              <a:lnSpc>
                <a:spcPct val="108000"/>
              </a:lnSpc>
              <a:spcBef>
                <a:spcPts val="1000"/>
              </a:spcBef>
            </a:pPr>
            <a:r>
              <a:rPr sz="1040" b="1" i="0" lang="ja-JP">
                <a:solidFill>
                  <a:srgbClr val="16385C"/>
                </a:solidFill>
                <a:latin typeface="Meiryo"/>
                <a:ea typeface="Meiryo"/>
              </a:rPr>
              <a:t>▪ </a:t>
            </a:r>
            <a:r>
              <a:rPr sz="1300" b="0" i="0" lang="ja-JP">
                <a:solidFill>
                  <a:srgbClr val="26303A"/>
                </a:solidFill>
                <a:latin typeface="Meiryo"/>
                <a:ea typeface="Meiryo"/>
              </a:rPr>
              <a:t>局所探索をもたない素の GA は参考として比較する</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［予備］安定性誘導演算子の設計</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32</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marL="196230" indent="-196230">
              <a:lnSpc>
                <a:spcPct val="108000"/>
              </a:lnSpc>
              <a:spcBef>
                <a:spcPts val="0"/>
              </a:spcBef>
            </a:pPr>
            <a:r>
              <a:rPr sz="1160" b="1" i="0" lang="ja-JP">
                <a:solidFill>
                  <a:srgbClr val="16385C"/>
                </a:solidFill>
                <a:latin typeface="Meiryo"/>
                <a:ea typeface="Meiryo"/>
              </a:rPr>
              <a:t>▪ </a:t>
            </a:r>
            <a:r>
              <a:rPr sz="1450" b="1" i="0" lang="ja-JP">
                <a:solidFill>
                  <a:srgbClr val="16385C"/>
                </a:solidFill>
                <a:latin typeface="Meiryo"/>
                <a:ea typeface="Meiryo"/>
              </a:rPr>
              <a:t>誘導解を </a:t>
            </a:r>
            <a:r>
              <a:rPr sz="1450" b="1" i="1" lang="ja-JP">
                <a:solidFill>
                  <a:srgbClr val="16385C"/>
                </a:solidFill>
                <a:latin typeface="Meiryo"/>
                <a:ea typeface="Meiryo"/>
              </a:rPr>
              <a:t>S</a:t>
            </a:r>
            <a:r>
              <a:rPr sz="1044" b="1" i="1" lang="ja-JP" baseline="-22000">
                <a:solidFill>
                  <a:srgbClr val="16385C"/>
                </a:solidFill>
                <a:latin typeface="Meiryo"/>
                <a:ea typeface="Meiryo"/>
              </a:rPr>
              <a:t>p</a:t>
            </a:r>
            <a:r>
              <a:rPr sz="1450" b="1" i="0" lang="ja-JP">
                <a:solidFill>
                  <a:srgbClr val="16385C"/>
                </a:solidFill>
                <a:latin typeface="Meiryo"/>
                <a:ea typeface="Meiryo"/>
              </a:rPr>
              <a:t> に固定する理由</a:t>
            </a:r>
            <a:r>
              <a:rPr sz="1450" b="0" i="0" lang="ja-JP">
                <a:solidFill>
                  <a:srgbClr val="26303A"/>
                </a:solidFill>
                <a:latin typeface="Meiryo"/>
                <a:ea typeface="Meiryo"/>
              </a:rPr>
              <a:t>：(a) </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は順序偏差 </a:t>
            </a:r>
            <a:r>
              <a:rPr sz="1450" b="0" i="1" lang="ja-JP">
                <a:solidFill>
                  <a:srgbClr val="26303A"/>
                </a:solidFill>
                <a:latin typeface="Meiryo"/>
                <a:ea typeface="Meiryo"/>
              </a:rPr>
              <a:t>D</a:t>
            </a:r>
            <a:r>
              <a:rPr sz="1450" b="0" i="0" lang="ja-JP">
                <a:solidFill>
                  <a:srgbClr val="26303A"/>
                </a:solidFill>
                <a:latin typeface="Meiryo"/>
                <a:ea typeface="Meiryo"/>
              </a:rPr>
              <a:t> を最小にする解なので，PR を「</a:t>
            </a:r>
            <a:r>
              <a:rPr sz="1450" b="0" i="1" lang="ja-JP">
                <a:solidFill>
                  <a:srgbClr val="26303A"/>
                </a:solidFill>
                <a:latin typeface="Meiryo"/>
                <a:ea typeface="Meiryo"/>
              </a:rPr>
              <a:t>D</a:t>
            </a:r>
            <a:r>
              <a:rPr sz="1450" b="0" i="0" lang="ja-JP">
                <a:solidFill>
                  <a:srgbClr val="26303A"/>
                </a:solidFill>
                <a:latin typeface="Meiryo"/>
                <a:ea typeface="Meiryo"/>
              </a:rPr>
              <a:t> を最小にする解へ向かう移動」と一意に解釈できる．(b) </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へ向かう経路上には </a:t>
            </a:r>
            <a:r>
              <a:rPr sz="1450" b="0" i="1" lang="ja-JP">
                <a:solidFill>
                  <a:srgbClr val="26303A"/>
                </a:solidFill>
                <a:latin typeface="Meiryo"/>
                <a:ea typeface="Meiryo"/>
              </a:rPr>
              <a:t>D</a:t>
            </a:r>
            <a:r>
              <a:rPr sz="1450" b="0" i="0" lang="ja-JP">
                <a:solidFill>
                  <a:srgbClr val="26303A"/>
                </a:solidFill>
                <a:latin typeface="Meiryo"/>
                <a:ea typeface="Meiryo"/>
              </a:rPr>
              <a:t> が小さく </a:t>
            </a:r>
            <a:r>
              <a:rPr sz="1450" b="0" i="1" lang="ja-JP">
                <a:solidFill>
                  <a:srgbClr val="26303A"/>
                </a:solidFill>
                <a:latin typeface="Meiryo"/>
                <a:ea typeface="Meiryo"/>
              </a:rPr>
              <a:t>MS</a:t>
            </a:r>
            <a:r>
              <a:rPr sz="1450" b="0" i="0" lang="ja-JP">
                <a:solidFill>
                  <a:srgbClr val="26303A"/>
                </a:solidFill>
                <a:latin typeface="Meiryo"/>
                <a:ea typeface="Meiryo"/>
              </a:rPr>
              <a:t> の劣化も小さい解が現れると期待でき，それが高安定領域の非劣解になる</a:t>
            </a:r>
          </a:p>
          <a:p>
            <a:pPr marL="196230" indent="-196230">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PR-</a:t>
            </a:r>
            <a:r>
              <a:rPr sz="1450" b="1" i="1" lang="ja-JP">
                <a:solidFill>
                  <a:srgbClr val="16385C"/>
                </a:solidFill>
                <a:latin typeface="Meiryo"/>
                <a:ea typeface="Meiryo"/>
              </a:rPr>
              <a:t>k</a:t>
            </a:r>
            <a:r>
              <a:rPr sz="1450" b="1" i="0" lang="ja-JP">
                <a:solidFill>
                  <a:srgbClr val="16385C"/>
                </a:solidFill>
                <a:latin typeface="Meiryo"/>
                <a:ea typeface="Meiryo"/>
              </a:rPr>
              <a:t> で </a:t>
            </a:r>
            <a:r>
              <a:rPr sz="1450" b="1" i="1" lang="ja-JP">
                <a:solidFill>
                  <a:srgbClr val="16385C"/>
                </a:solidFill>
                <a:latin typeface="Meiryo"/>
                <a:ea typeface="Meiryo"/>
              </a:rPr>
              <a:t>k</a:t>
            </a:r>
            <a:r>
              <a:rPr sz="1450" b="1" i="0" lang="ja-JP">
                <a:solidFill>
                  <a:srgbClr val="16385C"/>
                </a:solidFill>
                <a:latin typeface="Meiryo"/>
                <a:ea typeface="Meiryo"/>
              </a:rPr>
              <a:t> を変える理由</a:t>
            </a:r>
            <a:r>
              <a:rPr sz="1450" b="0" i="0" lang="ja-JP">
                <a:solidFill>
                  <a:srgbClr val="26303A"/>
                </a:solidFill>
                <a:latin typeface="Meiryo"/>
                <a:ea typeface="Meiryo"/>
              </a:rPr>
              <a:t>：</a:t>
            </a:r>
            <a:r>
              <a:rPr sz="1450" b="0" i="1" lang="ja-JP">
                <a:solidFill>
                  <a:srgbClr val="26303A"/>
                </a:solidFill>
                <a:latin typeface="Meiryo"/>
                <a:ea typeface="Meiryo"/>
              </a:rPr>
              <a:t>k</a:t>
            </a:r>
            <a:r>
              <a:rPr sz="1450" b="0" i="0" lang="ja-JP">
                <a:solidFill>
                  <a:srgbClr val="26303A"/>
                </a:solidFill>
                <a:latin typeface="Meiryo"/>
                <a:ea typeface="Meiryo"/>
              </a:rPr>
              <a:t> が </a:t>
            </a:r>
            <a:r>
              <a:rPr sz="1450" b="0" i="1" lang="ja-JP">
                <a:solidFill>
                  <a:srgbClr val="26303A"/>
                </a:solidFill>
                <a:latin typeface="Meiryo"/>
                <a:ea typeface="Meiryo"/>
              </a:rPr>
              <a:t>d</a:t>
            </a:r>
            <a:r>
              <a:rPr sz="1450" b="0" i="0" lang="ja-JP">
                <a:solidFill>
                  <a:srgbClr val="26303A"/>
                </a:solidFill>
                <a:latin typeface="Meiryo"/>
                <a:ea typeface="Meiryo"/>
              </a:rPr>
              <a:t> に等しければ </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まで戻り，小さければ現在解の近くに留まる．</a:t>
            </a:r>
            <a:r>
              <a:rPr sz="1450" b="0" i="1" lang="ja-JP">
                <a:solidFill>
                  <a:srgbClr val="26303A"/>
                </a:solidFill>
                <a:latin typeface="Meiryo"/>
                <a:ea typeface="Meiryo"/>
              </a:rPr>
              <a:t>k</a:t>
            </a:r>
            <a:r>
              <a:rPr sz="1450" b="0" i="0" lang="ja-JP">
                <a:solidFill>
                  <a:srgbClr val="26303A"/>
                </a:solidFill>
                <a:latin typeface="Meiryo"/>
                <a:ea typeface="Meiryo"/>
              </a:rPr>
              <a:t> を変えて繰り返すことで，現在解と </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の間の広い範囲に解を得る</a:t>
            </a:r>
          </a:p>
          <a:p>
            <a:pPr marL="196230" indent="-196230">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組み込み方</a:t>
            </a:r>
            <a:r>
              <a:rPr sz="1450" b="0" i="0" lang="ja-JP">
                <a:solidFill>
                  <a:srgbClr val="26303A"/>
                </a:solidFill>
                <a:latin typeface="Meiryo"/>
                <a:ea typeface="Meiryo"/>
              </a:rPr>
              <a:t>：両構造に「</a:t>
            </a:r>
            <a:r>
              <a:rPr sz="1450" b="0" i="1" lang="ja-JP">
                <a:solidFill>
                  <a:srgbClr val="26303A"/>
                </a:solidFill>
                <a:latin typeface="Meiryo"/>
                <a:ea typeface="Meiryo"/>
              </a:rPr>
              <a:t>S</a:t>
            </a:r>
            <a:r>
              <a:rPr sz="1044" b="0" i="1" lang="ja-JP" baseline="-22000">
                <a:solidFill>
                  <a:srgbClr val="26303A"/>
                </a:solidFill>
                <a:latin typeface="Meiryo"/>
                <a:ea typeface="Meiryo"/>
              </a:rPr>
              <a:t>p</a:t>
            </a:r>
            <a:r>
              <a:rPr sz="1450" b="0" i="0" lang="ja-JP">
                <a:solidFill>
                  <a:srgbClr val="26303A"/>
                </a:solidFill>
                <a:latin typeface="Meiryo"/>
                <a:ea typeface="Meiryo"/>
              </a:rPr>
              <a:t> に近づける swap 移動」という核を共有させ，発動の契機と返し方は各構造の標準的な組み込み方に合わせる．ILS は停滞時に摂動として発動し，</a:t>
            </a:r>
            <a:r>
              <a:rPr sz="1450" b="0" i="1" lang="ja-JP">
                <a:solidFill>
                  <a:srgbClr val="26303A"/>
                </a:solidFill>
                <a:latin typeface="Meiryo"/>
                <a:ea typeface="Meiryo"/>
              </a:rPr>
              <a:t>k</a:t>
            </a:r>
            <a:r>
              <a:rPr sz="1450" b="0" i="0" lang="ja-JP">
                <a:solidFill>
                  <a:srgbClr val="26303A"/>
                </a:solidFill>
                <a:latin typeface="Meiryo"/>
                <a:ea typeface="Meiryo"/>
              </a:rPr>
              <a:t> を 1 から </a:t>
            </a:r>
            <a:r>
              <a:rPr sz="1450" b="0" i="1" lang="ja-JP">
                <a:solidFill>
                  <a:srgbClr val="26303A"/>
                </a:solidFill>
                <a:latin typeface="Meiryo"/>
                <a:ea typeface="Meiryo"/>
              </a:rPr>
              <a:t>d</a:t>
            </a:r>
            <a:r>
              <a:rPr sz="1450" b="0" i="0" lang="ja-JP">
                <a:solidFill>
                  <a:srgbClr val="26303A"/>
                </a:solidFill>
                <a:latin typeface="Meiryo"/>
                <a:ea typeface="Meiryo"/>
              </a:rPr>
              <a:t> まで 1 ずつ増やして，上限に達するか best が改善したら 1 に戻す．Memetic は局所探索の後に個体ごとに確率的に適用し（</a:t>
            </a:r>
            <a:r>
              <a:rPr sz="1450" b="0" i="1" lang="ja-JP">
                <a:solidFill>
                  <a:srgbClr val="26303A"/>
                </a:solidFill>
                <a:latin typeface="Meiryo"/>
                <a:ea typeface="Meiryo"/>
              </a:rPr>
              <a:t>k</a:t>
            </a:r>
            <a:r>
              <a:rPr sz="1450" b="0" i="0" lang="ja-JP">
                <a:solidFill>
                  <a:srgbClr val="26303A"/>
                </a:solidFill>
                <a:latin typeface="Meiryo"/>
                <a:ea typeface="Meiryo"/>
              </a:rPr>
              <a:t> は 1〜</a:t>
            </a:r>
            <a:r>
              <a:rPr sz="1450" b="0" i="1" lang="ja-JP">
                <a:solidFill>
                  <a:srgbClr val="26303A"/>
                </a:solidFill>
                <a:latin typeface="Meiryo"/>
                <a:ea typeface="Meiryo"/>
              </a:rPr>
              <a:t>d</a:t>
            </a:r>
            <a:r>
              <a:rPr sz="1450" b="0" i="0" lang="ja-JP">
                <a:solidFill>
                  <a:srgbClr val="26303A"/>
                </a:solidFill>
                <a:latin typeface="Meiryo"/>
                <a:ea typeface="Meiryo"/>
              </a:rPr>
              <a:t> から一様に選ぶ），N5 で再最適化して無条件に集団へ戻す（採否はトーナメント選択に委ねる）</a:t>
            </a:r>
          </a:p>
          <a:p>
            <a:pPr>
              <a:lnSpc>
                <a:spcPct val="108000"/>
              </a:lnSpc>
              <a:spcBef>
                <a:spcPts val="300"/>
              </a:spcBef>
            </a:pPr>
            <a:r>
              <a:rPr sz="1232" b="0" i="0" lang="ja-JP">
                <a:solidFill>
                  <a:srgbClr val="6E7A88"/>
                </a:solidFill>
                <a:latin typeface="Meiryo"/>
                <a:ea typeface="Meiryo"/>
              </a:rPr>
              <a:t>　－ </a:t>
            </a:r>
            <a:r>
              <a:rPr sz="1305" b="0" i="0" lang="ja-JP">
                <a:solidFill>
                  <a:srgbClr val="26303A"/>
                </a:solidFill>
                <a:latin typeface="Meiryo"/>
                <a:ea typeface="Meiryo"/>
              </a:rPr>
              <a:t>組み込み方が同じ ILS 系でも，最良値に届いていなかった la36L・ta21L だけで効果が現れる → 非対称は組み込み方の違いでは説明できない</a:t>
            </a:r>
          </a:p>
          <a:p>
            <a:pPr marL="196230" indent="-196230">
              <a:lnSpc>
                <a:spcPct val="108000"/>
              </a:lnSpc>
              <a:spcBef>
                <a:spcPts val="1400"/>
              </a:spcBef>
            </a:pPr>
            <a:r>
              <a:rPr sz="1160" b="1" i="0" lang="ja-JP">
                <a:solidFill>
                  <a:srgbClr val="16385C"/>
                </a:solidFill>
                <a:latin typeface="Meiryo"/>
                <a:ea typeface="Meiryo"/>
              </a:rPr>
              <a:t>▪ </a:t>
            </a:r>
            <a:r>
              <a:rPr sz="1450" b="1" i="0" lang="ja-JP">
                <a:solidFill>
                  <a:srgbClr val="16385C"/>
                </a:solidFill>
                <a:latin typeface="Meiryo"/>
                <a:ea typeface="Meiryo"/>
              </a:rPr>
              <a:t>入れ替える作業の選び方</a:t>
            </a:r>
            <a:r>
              <a:rPr sz="1450" b="0" i="0" lang="ja-JP">
                <a:solidFill>
                  <a:srgbClr val="26303A"/>
                </a:solidFill>
                <a:latin typeface="Meiryo"/>
                <a:ea typeface="Meiryo"/>
              </a:rPr>
              <a:t>：実行可能な候補からランダムに選び，評価回数を </a:t>
            </a:r>
            <a:r>
              <a:rPr sz="1450" b="0" i="1" lang="ja-JP">
                <a:solidFill>
                  <a:srgbClr val="26303A"/>
                </a:solidFill>
                <a:latin typeface="Meiryo"/>
                <a:ea typeface="Meiryo"/>
              </a:rPr>
              <a:t>O(d)</a:t>
            </a:r>
            <a:r>
              <a:rPr sz="1450" b="0" i="0" lang="ja-JP">
                <a:solidFill>
                  <a:srgbClr val="26303A"/>
                </a:solidFill>
                <a:latin typeface="Meiryo"/>
                <a:ea typeface="Meiryo"/>
              </a:rPr>
              <a:t> に抑える．全候補を評価する best 選択は </a:t>
            </a:r>
            <a:r>
              <a:rPr sz="1450" b="0" i="1" lang="ja-JP">
                <a:solidFill>
                  <a:srgbClr val="26303A"/>
                </a:solidFill>
                <a:latin typeface="Meiryo"/>
                <a:ea typeface="Meiryo"/>
              </a:rPr>
              <a:t>O(d</a:t>
            </a:r>
            <a:r>
              <a:rPr sz="1044" b="0" i="1" lang="ja-JP" baseline="30000">
                <a:solidFill>
                  <a:srgbClr val="26303A"/>
                </a:solidFill>
                <a:latin typeface="Meiryo"/>
                <a:ea typeface="Meiryo"/>
              </a:rPr>
              <a:t>2</a:t>
            </a:r>
            <a:r>
              <a:rPr sz="1450" b="0" i="1" lang="ja-JP">
                <a:solidFill>
                  <a:srgbClr val="26303A"/>
                </a:solidFill>
                <a:latin typeface="Meiryo"/>
                <a:ea typeface="Meiryo"/>
              </a:rPr>
              <a:t>)</a:t>
            </a:r>
            <a:r>
              <a:rPr sz="1450" b="0" i="0" lang="ja-JP">
                <a:solidFill>
                  <a:srgbClr val="26303A"/>
                </a:solidFill>
                <a:latin typeface="Meiryo"/>
                <a:ea typeface="Meiryo"/>
              </a:rPr>
              <a:t> で，予備実験では全域 HV が約 +1% 増えるのに対し，最大で約 8 倍の時間を要したため採らない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［予備］手法のパラメータ</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33</a:t>
            </a:r>
          </a:p>
        </p:txBody>
      </p:sp>
      <p:graphicFrame>
        <p:nvGraphicFramePr>
          <p:cNvPr id="6" name="Table 5"/>
          <p:cNvGraphicFramePr>
            <a:graphicFrameLocks noGrp="1"/>
          </p:cNvGraphicFramePr>
          <p:nvPr/>
        </p:nvGraphicFramePr>
        <p:xfrm>
          <a:off x="566928" y="1371600"/>
          <a:ext cx="11057838" cy="2414016"/>
        </p:xfrm>
        <a:graphic>
          <a:graphicData uri="http://schemas.openxmlformats.org/drawingml/2006/table">
            <a:tbl>
              <a:tblPr firstRow="0" bandRow="0">
                <a:tableStyleId>{5940675A-B579-460E-94D1-54222C63F5DA}</a:tableStyleId>
              </a:tblPr>
              <a:tblGrid>
                <a:gridCol w="2376064"/>
                <a:gridCol w="8681774"/>
              </a:tblGrid>
              <a:tr h="301752">
                <a:tc>
                  <a:txBody>
                    <a:bodyPr wrap="square"/>
                    <a:lstStyle/>
                    <a:p>
                      <a:pPr algn="l"/>
                      <a:r>
                        <a:rPr sz="1350" b="1" i="0" lang="ja-JP">
                          <a:solidFill>
                            <a:srgbClr val="FFFFFF"/>
                          </a:solidFill>
                          <a:latin typeface="Meiryo"/>
                          <a:ea typeface="Meiryo"/>
                        </a:rPr>
                        <a:t>項目</a:t>
                      </a:r>
                    </a:p>
                  </a:txBody>
                  <a:tcPr marL="82296" marR="54864" marT="62865" marB="18288" anchor="ctr">
                    <a:solidFill>
                      <a:srgbClr val="16385C"/>
                    </a:solidFill>
                  </a:tcPr>
                </a:tc>
                <a:tc>
                  <a:txBody>
                    <a:bodyPr wrap="square"/>
                    <a:lstStyle/>
                    <a:p>
                      <a:pPr algn="l"/>
                      <a:r>
                        <a:rPr sz="1350" b="1" i="0" lang="ja-JP">
                          <a:solidFill>
                            <a:srgbClr val="FFFFFF"/>
                          </a:solidFill>
                          <a:latin typeface="Meiryo"/>
                          <a:ea typeface="Meiryo"/>
                        </a:rPr>
                        <a:t>設定</a:t>
                      </a:r>
                    </a:p>
                  </a:txBody>
                  <a:tcPr marL="82296" marR="54864" marT="62865" marB="18288" anchor="ctr">
                    <a:solidFill>
                      <a:srgbClr val="16385C"/>
                    </a:solidFill>
                  </a:tcPr>
                </a:tc>
              </a:tr>
              <a:tr h="301752">
                <a:tc>
                  <a:txBody>
                    <a:bodyPr wrap="square"/>
                    <a:lstStyle/>
                    <a:p>
                      <a:pPr algn="l"/>
                      <a:r>
                        <a:rPr sz="1350" b="0" i="0" lang="ja-JP">
                          <a:solidFill>
                            <a:srgbClr val="26303A"/>
                          </a:solidFill>
                          <a:latin typeface="Meiryo"/>
                          <a:ea typeface="Meiryo"/>
                        </a:rPr>
                        <a:t>GA・Memetic 系</a:t>
                      </a:r>
                    </a:p>
                  </a:txBody>
                  <a:tcPr marL="82296" marR="54864" marT="62865" marB="18288" anchor="ctr">
                    <a:solidFill>
                      <a:srgbClr val="FFFFFF"/>
                    </a:solidFill>
                    <a:lnB w="9525" cap="flat">
                      <a:solidFill>
                        <a:srgbClr val="D6DEE7"/>
                      </a:solidFill>
                    </a:lnB>
                  </a:tcPr>
                </a:tc>
                <a:tc>
                  <a:txBody>
                    <a:bodyPr wrap="square"/>
                    <a:lstStyle/>
                    <a:p>
                      <a:pPr algn="l"/>
                      <a:r>
                        <a:rPr sz="1350" b="0" i="0" lang="ja-JP">
                          <a:solidFill>
                            <a:srgbClr val="26303A"/>
                          </a:solidFill>
                          <a:latin typeface="Meiryo"/>
                          <a:ea typeface="Meiryo"/>
                        </a:rPr>
                        <a:t>交叉率 0.85，突然変異率 0.1，集団 50（</a:t>
                      </a:r>
                      <a:r>
                        <a:rPr sz="1350" b="0" i="1" lang="ja-JP">
                          <a:solidFill>
                            <a:srgbClr val="26303A"/>
                          </a:solidFill>
                          <a:latin typeface="Meiryo"/>
                          <a:ea typeface="Meiryo"/>
                        </a:rPr>
                        <a:t>S</a:t>
                      </a:r>
                      <a:r>
                        <a:rPr sz="971" b="0" i="1" lang="ja-JP" baseline="-22000">
                          <a:solidFill>
                            <a:srgbClr val="26303A"/>
                          </a:solidFill>
                          <a:latin typeface="Meiryo"/>
                          <a:ea typeface="Meiryo"/>
                        </a:rPr>
                        <a:t>p</a:t>
                      </a:r>
                      <a:r>
                        <a:rPr sz="1350" b="0" i="0" lang="ja-JP">
                          <a:solidFill>
                            <a:srgbClr val="26303A"/>
                          </a:solidFill>
                          <a:latin typeface="Meiryo"/>
                          <a:ea typeface="Meiryo"/>
                        </a:rPr>
                        <a:t> 以外の 49 個体は無作為生成）．operation-based 表現，GT 法でデコード</a:t>
                      </a:r>
                    </a:p>
                  </a:txBody>
                  <a:tcPr marL="82296" marR="54864" marT="62865" marB="18288" anchor="ctr">
                    <a:solidFill>
                      <a:srgbClr val="FFFFFF"/>
                    </a:solidFill>
                    <a:lnB w="9525" cap="flat">
                      <a:solidFill>
                        <a:srgbClr val="D6DEE7"/>
                      </a:solidFill>
                    </a:lnB>
                  </a:tcPr>
                </a:tc>
              </a:tr>
              <a:tr h="301752">
                <a:tc>
                  <a:txBody>
                    <a:bodyPr wrap="square"/>
                    <a:lstStyle/>
                    <a:p>
                      <a:pPr algn="l"/>
                      <a:r>
                        <a:rPr sz="1350" b="0" i="0" lang="ja-JP">
                          <a:solidFill>
                            <a:srgbClr val="26303A"/>
                          </a:solidFill>
                          <a:latin typeface="Meiryo"/>
                          <a:ea typeface="Meiryo"/>
                        </a:rPr>
                        <a:t>ILS 系</a:t>
                      </a:r>
                    </a:p>
                  </a:txBody>
                  <a:tcPr marL="82296" marR="54864" marT="62865" marB="18288" anchor="ctr">
                    <a:solidFill>
                      <a:srgbClr val="F6F9FB"/>
                    </a:solidFill>
                    <a:lnB w="9525" cap="flat">
                      <a:solidFill>
                        <a:srgbClr val="D6DEE7"/>
                      </a:solidFill>
                    </a:lnB>
                  </a:tcPr>
                </a:tc>
                <a:tc>
                  <a:txBody>
                    <a:bodyPr wrap="square"/>
                    <a:lstStyle/>
                    <a:p>
                      <a:pPr algn="l"/>
                      <a:r>
                        <a:rPr sz="1350" b="0" i="0" lang="ja-JP">
                          <a:solidFill>
                            <a:srgbClr val="26303A"/>
                          </a:solidFill>
                          <a:latin typeface="Meiryo"/>
                          <a:ea typeface="Meiryo"/>
                        </a:rPr>
                        <a:t>insert 摂動 2〜5 手を巡回．局所探索は N5 近傍（クリティカルブロック端の隣接 swap）</a:t>
                      </a:r>
                    </a:p>
                  </a:txBody>
                  <a:tcPr marL="82296" marR="54864" marT="62865" marB="18288" anchor="ctr">
                    <a:solidFill>
                      <a:srgbClr val="F6F9FB"/>
                    </a:solidFill>
                    <a:lnB w="9525" cap="flat">
                      <a:solidFill>
                        <a:srgbClr val="D6DEE7"/>
                      </a:solidFill>
                    </a:lnB>
                  </a:tcPr>
                </a:tc>
              </a:tr>
              <a:tr h="301752">
                <a:tc>
                  <a:txBody>
                    <a:bodyPr wrap="square"/>
                    <a:lstStyle/>
                    <a:p>
                      <a:pPr algn="l"/>
                      <a:r>
                        <a:rPr sz="1350" b="0" i="0" lang="ja-JP">
                          <a:solidFill>
                            <a:srgbClr val="26303A"/>
                          </a:solidFill>
                          <a:latin typeface="Meiryo"/>
                          <a:ea typeface="Meiryo"/>
                        </a:rPr>
                        <a:t>演算子（Memetic 系）</a:t>
                      </a:r>
                    </a:p>
                  </a:txBody>
                  <a:tcPr marL="82296" marR="54864" marT="62865" marB="18288" anchor="ctr">
                    <a:solidFill>
                      <a:srgbClr val="FFFFFF"/>
                    </a:solidFill>
                    <a:lnB w="9525" cap="flat">
                      <a:solidFill>
                        <a:srgbClr val="D6DEE7"/>
                      </a:solidFill>
                    </a:lnB>
                  </a:tcPr>
                </a:tc>
                <a:tc>
                  <a:txBody>
                    <a:bodyPr wrap="square"/>
                    <a:lstStyle/>
                    <a:p>
                      <a:pPr algn="l"/>
                      <a:r>
                        <a:rPr sz="1350" b="0" i="0" lang="ja-JP">
                          <a:solidFill>
                            <a:srgbClr val="26303A"/>
                          </a:solidFill>
                          <a:latin typeface="Meiryo"/>
                          <a:ea typeface="Meiryo"/>
                        </a:rPr>
                        <a:t>各個体に確率 0.3 で発動．PR は経路上の上位 3 中間解を局所探索して最良を返す</a:t>
                      </a:r>
                    </a:p>
                  </a:txBody>
                  <a:tcPr marL="82296" marR="54864" marT="62865" marB="18288" anchor="ctr">
                    <a:solidFill>
                      <a:srgbClr val="FFFFFF"/>
                    </a:solidFill>
                    <a:lnB w="9525" cap="flat">
                      <a:solidFill>
                        <a:srgbClr val="D6DEE7"/>
                      </a:solidFill>
                    </a:lnB>
                  </a:tcPr>
                </a:tc>
              </a:tr>
              <a:tr h="301752">
                <a:tc>
                  <a:txBody>
                    <a:bodyPr wrap="square"/>
                    <a:lstStyle/>
                    <a:p>
                      <a:pPr algn="l"/>
                      <a:r>
                        <a:rPr sz="1350" b="0" i="0" lang="ja-JP">
                          <a:solidFill>
                            <a:srgbClr val="26303A"/>
                          </a:solidFill>
                          <a:latin typeface="Meiryo"/>
                          <a:ea typeface="Meiryo"/>
                        </a:rPr>
                        <a:t>演算子（ILS 系）</a:t>
                      </a:r>
                    </a:p>
                  </a:txBody>
                  <a:tcPr marL="82296" marR="54864" marT="62865" marB="18288" anchor="ctr">
                    <a:solidFill>
                      <a:srgbClr val="F6F9FB"/>
                    </a:solidFill>
                    <a:lnB w="9525" cap="flat">
                      <a:solidFill>
                        <a:srgbClr val="D6DEE7"/>
                      </a:solidFill>
                    </a:lnB>
                  </a:tcPr>
                </a:tc>
                <a:tc>
                  <a:txBody>
                    <a:bodyPr wrap="square"/>
                    <a:lstStyle/>
                    <a:p>
                      <a:pPr algn="l"/>
                      <a:r>
                        <a:rPr sz="1350" b="0" i="0" lang="ja-JP">
                          <a:solidFill>
                            <a:srgbClr val="26303A"/>
                          </a:solidFill>
                          <a:latin typeface="Meiryo"/>
                          <a:ea typeface="Meiryo"/>
                        </a:rPr>
                        <a:t>無改善 400 反復で初回，以降 10 反復ごとに発動．PR は経路上の最良 1 解を返す</a:t>
                      </a:r>
                    </a:p>
                  </a:txBody>
                  <a:tcPr marL="82296" marR="54864" marT="62865" marB="18288" anchor="ctr">
                    <a:solidFill>
                      <a:srgbClr val="F6F9FB"/>
                    </a:solidFill>
                    <a:lnB w="9525" cap="flat">
                      <a:solidFill>
                        <a:srgbClr val="D6DEE7"/>
                      </a:solidFill>
                    </a:lnB>
                  </a:tcPr>
                </a:tc>
              </a:tr>
              <a:tr h="301752">
                <a:tc>
                  <a:txBody>
                    <a:bodyPr wrap="square"/>
                    <a:lstStyle/>
                    <a:p>
                      <a:pPr algn="l"/>
                      <a:r>
                        <a:rPr sz="1350" b="0" i="0" lang="ja-JP">
                          <a:solidFill>
                            <a:srgbClr val="26303A"/>
                          </a:solidFill>
                          <a:latin typeface="Meiryo"/>
                          <a:ea typeface="Meiryo"/>
                        </a:rPr>
                        <a:t>PR-</a:t>
                      </a:r>
                      <a:r>
                        <a:rPr sz="1350" b="0" i="1" lang="ja-JP">
                          <a:solidFill>
                            <a:srgbClr val="26303A"/>
                          </a:solidFill>
                          <a:latin typeface="Meiryo"/>
                          <a:ea typeface="Meiryo"/>
                        </a:rPr>
                        <a:t>k</a:t>
                      </a:r>
                      <a:r>
                        <a:rPr sz="1350" b="0" i="0" lang="ja-JP">
                          <a:solidFill>
                            <a:srgbClr val="26303A"/>
                          </a:solidFill>
                          <a:latin typeface="Meiryo"/>
                          <a:ea typeface="Meiryo"/>
                        </a:rPr>
                        <a:t> の深さ </a:t>
                      </a:r>
                      <a:r>
                        <a:rPr sz="1350" b="0" i="1" lang="ja-JP">
                          <a:solidFill>
                            <a:srgbClr val="26303A"/>
                          </a:solidFill>
                          <a:latin typeface="Meiryo"/>
                          <a:ea typeface="Meiryo"/>
                        </a:rPr>
                        <a:t>k</a:t>
                      </a:r>
                    </a:p>
                  </a:txBody>
                  <a:tcPr marL="82296" marR="54864" marT="62865" marB="18288" anchor="ctr">
                    <a:solidFill>
                      <a:srgbClr val="FFFFFF"/>
                    </a:solidFill>
                    <a:lnB w="9525" cap="flat">
                      <a:solidFill>
                        <a:srgbClr val="D6DEE7"/>
                      </a:solidFill>
                    </a:lnB>
                  </a:tcPr>
                </a:tc>
                <a:tc>
                  <a:txBody>
                    <a:bodyPr wrap="square"/>
                    <a:lstStyle/>
                    <a:p>
                      <a:pPr algn="l"/>
                      <a:r>
                        <a:rPr sz="1350" b="0" i="0" lang="ja-JP">
                          <a:solidFill>
                            <a:srgbClr val="26303A"/>
                          </a:solidFill>
                          <a:latin typeface="Meiryo"/>
                          <a:ea typeface="Meiryo"/>
                        </a:rPr>
                        <a:t>1 から </a:t>
                      </a:r>
                      <a:r>
                        <a:rPr sz="1350" b="0" i="1" lang="ja-JP">
                          <a:solidFill>
                            <a:srgbClr val="26303A"/>
                          </a:solidFill>
                          <a:latin typeface="Meiryo"/>
                          <a:ea typeface="Meiryo"/>
                        </a:rPr>
                        <a:t>S</a:t>
                      </a:r>
                      <a:r>
                        <a:rPr sz="971" b="0" i="1" lang="ja-JP" baseline="-22000">
                          <a:solidFill>
                            <a:srgbClr val="26303A"/>
                          </a:solidFill>
                          <a:latin typeface="Meiryo"/>
                          <a:ea typeface="Meiryo"/>
                        </a:rPr>
                        <a:t>p</a:t>
                      </a:r>
                      <a:r>
                        <a:rPr sz="1350" b="0" i="0" lang="ja-JP">
                          <a:solidFill>
                            <a:srgbClr val="26303A"/>
                          </a:solidFill>
                          <a:latin typeface="Meiryo"/>
                          <a:ea typeface="Meiryo"/>
                        </a:rPr>
                        <a:t> と処理順位が異なる作業数 </a:t>
                      </a:r>
                      <a:r>
                        <a:rPr sz="1350" b="0" i="1" lang="ja-JP">
                          <a:solidFill>
                            <a:srgbClr val="26303A"/>
                          </a:solidFill>
                          <a:latin typeface="Meiryo"/>
                          <a:ea typeface="Meiryo"/>
                        </a:rPr>
                        <a:t>d</a:t>
                      </a:r>
                      <a:r>
                        <a:rPr sz="1350" b="0" i="0" lang="ja-JP">
                          <a:solidFill>
                            <a:srgbClr val="26303A"/>
                          </a:solidFill>
                          <a:latin typeface="Meiryo"/>
                          <a:ea typeface="Meiryo"/>
                        </a:rPr>
                        <a:t> までの範囲で発動ごとに変える</a:t>
                      </a:r>
                    </a:p>
                  </a:txBody>
                  <a:tcPr marL="82296" marR="54864" marT="62865" marB="18288" anchor="ctr">
                    <a:solidFill>
                      <a:srgbClr val="FFFFFF"/>
                    </a:solidFill>
                    <a:lnB w="9525" cap="flat">
                      <a:solidFill>
                        <a:srgbClr val="D6DEE7"/>
                      </a:solidFill>
                    </a:lnB>
                  </a:tcPr>
                </a:tc>
              </a:tr>
              <a:tr h="301752">
                <a:tc>
                  <a:txBody>
                    <a:bodyPr wrap="square"/>
                    <a:lstStyle/>
                    <a:p>
                      <a:pPr algn="l"/>
                      <a:r>
                        <a:rPr sz="1350" b="0" i="0" lang="ja-JP">
                          <a:solidFill>
                            <a:srgbClr val="26303A"/>
                          </a:solidFill>
                          <a:latin typeface="Meiryo"/>
                          <a:ea typeface="Meiryo"/>
                        </a:rPr>
                        <a:t>記録</a:t>
                      </a:r>
                    </a:p>
                  </a:txBody>
                  <a:tcPr marL="82296" marR="54864" marT="62865" marB="18288" anchor="ctr">
                    <a:solidFill>
                      <a:srgbClr val="F6F9FB"/>
                    </a:solidFill>
                    <a:lnB w="9525" cap="flat">
                      <a:solidFill>
                        <a:srgbClr val="D6DEE7"/>
                      </a:solidFill>
                    </a:lnB>
                  </a:tcPr>
                </a:tc>
                <a:tc>
                  <a:txBody>
                    <a:bodyPr wrap="square"/>
                    <a:lstStyle/>
                    <a:p>
                      <a:pPr algn="l"/>
                      <a:r>
                        <a:rPr sz="1350" b="0" i="0" lang="ja-JP">
                          <a:solidFill>
                            <a:srgbClr val="26303A"/>
                          </a:solidFill>
                          <a:latin typeface="Meiryo"/>
                          <a:ea typeface="Meiryo"/>
                        </a:rPr>
                        <a:t>選択の前に生成した全解から非劣解を保存（両構造で記録点を揃える）</a:t>
                      </a:r>
                    </a:p>
                  </a:txBody>
                  <a:tcPr marL="82296" marR="54864" marT="62865" marB="18288" anchor="ctr">
                    <a:solidFill>
                      <a:srgbClr val="F6F9FB"/>
                    </a:solidFill>
                    <a:lnB w="9525" cap="flat">
                      <a:solidFill>
                        <a:srgbClr val="D6DEE7"/>
                      </a:solidFill>
                    </a:lnB>
                  </a:tcPr>
                </a:tc>
              </a:tr>
              <a:tr h="301752">
                <a:tc>
                  <a:txBody>
                    <a:bodyPr wrap="square"/>
                    <a:lstStyle/>
                    <a:p>
                      <a:pPr algn="l"/>
                      <a:r>
                        <a:rPr sz="1350" b="0" i="0" lang="ja-JP">
                          <a:solidFill>
                            <a:srgbClr val="26303A"/>
                          </a:solidFill>
                          <a:latin typeface="Meiryo"/>
                          <a:ea typeface="Meiryo"/>
                        </a:rPr>
                        <a:t>環境</a:t>
                      </a:r>
                    </a:p>
                  </a:txBody>
                  <a:tcPr marL="82296" marR="54864" marT="62865" marB="18288" anchor="ctr">
                    <a:solidFill>
                      <a:srgbClr val="FFFFFF"/>
                    </a:solidFill>
                    <a:lnB w="9525" cap="flat">
                      <a:solidFill>
                        <a:srgbClr val="D6DEE7"/>
                      </a:solidFill>
                    </a:lnB>
                  </a:tcPr>
                </a:tc>
                <a:tc>
                  <a:txBody>
                    <a:bodyPr wrap="square"/>
                    <a:lstStyle/>
                    <a:p>
                      <a:pPr algn="l"/>
                      <a:r>
                        <a:rPr sz="1350" b="0" i="0" lang="ja-JP">
                          <a:solidFill>
                            <a:srgbClr val="26303A"/>
                          </a:solidFill>
                          <a:latin typeface="Meiryo"/>
                          <a:ea typeface="Meiryo"/>
                        </a:rPr>
                        <a:t>AMD Ryzen 5 7530U，Python 3.12（NumPy・DEAP・SciPy）</a:t>
                      </a:r>
                    </a:p>
                  </a:txBody>
                  <a:tcPr marL="82296" marR="54864" marT="62865" marB="18288" anchor="ctr">
                    <a:solidFill>
                      <a:srgbClr val="FFFFFF"/>
                    </a:solidFill>
                    <a:lnB w="9525" cap="flat">
                      <a:solidFill>
                        <a:srgbClr val="D6DEE7"/>
                      </a:solidFill>
                    </a:lnB>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［予備］頑健性と計算時間</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34</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marL="202996" indent="-202996">
              <a:lnSpc>
                <a:spcPct val="108000"/>
              </a:lnSpc>
              <a:spcBef>
                <a:spcPts val="0"/>
              </a:spcBef>
            </a:pPr>
            <a:r>
              <a:rPr sz="1200" b="1" i="0" lang="ja-JP">
                <a:solidFill>
                  <a:srgbClr val="16385C"/>
                </a:solidFill>
                <a:latin typeface="Meiryo"/>
                <a:ea typeface="Meiryo"/>
              </a:rPr>
              <a:t>▪ </a:t>
            </a:r>
            <a:r>
              <a:rPr sz="1500" b="1" i="0" lang="ja-JP">
                <a:solidFill>
                  <a:srgbClr val="16385C"/>
                </a:solidFill>
                <a:latin typeface="Meiryo"/>
                <a:ea typeface="Meiryo"/>
              </a:rPr>
              <a:t>高安定領域の境界</a:t>
            </a:r>
            <a:r>
              <a:rPr sz="1500" b="0" i="0" lang="ja-JP">
                <a:solidFill>
                  <a:srgbClr val="26303A"/>
                </a:solidFill>
                <a:latin typeface="Meiryo"/>
                <a:ea typeface="Meiryo"/>
              </a:rPr>
              <a:t>：</a:t>
            </a:r>
            <a:r>
              <a:rPr sz="1500" b="0" i="1" lang="ja-JP">
                <a:solidFill>
                  <a:srgbClr val="26303A"/>
                </a:solidFill>
                <a:latin typeface="Meiryo"/>
                <a:ea typeface="Meiryo"/>
              </a:rPr>
              <a:t>θ</a:t>
            </a:r>
            <a:r>
              <a:rPr sz="1500" b="0" i="0" lang="ja-JP">
                <a:solidFill>
                  <a:srgbClr val="26303A"/>
                </a:solidFill>
                <a:latin typeface="Meiryo"/>
                <a:ea typeface="Meiryo"/>
              </a:rPr>
              <a:t> を 50 から 33〜67 に変えても，仮説 1・仮説 2 の結論は変わらない（全シナリオで完全分離）</a:t>
            </a:r>
          </a:p>
          <a:p>
            <a:pPr marL="202996" indent="-202996">
              <a:lnSpc>
                <a:spcPct val="108000"/>
              </a:lnSpc>
              <a:spcBef>
                <a:spcPts val="1400"/>
              </a:spcBef>
            </a:pPr>
            <a:r>
              <a:rPr sz="1200" b="1" i="0" lang="ja-JP">
                <a:solidFill>
                  <a:srgbClr val="16385C"/>
                </a:solidFill>
                <a:latin typeface="Meiryo"/>
                <a:ea typeface="Meiryo"/>
              </a:rPr>
              <a:t>▪ </a:t>
            </a:r>
            <a:r>
              <a:rPr sz="1500" b="1" i="0" lang="ja-JP">
                <a:solidFill>
                  <a:srgbClr val="16385C"/>
                </a:solidFill>
                <a:latin typeface="Meiryo"/>
                <a:ea typeface="Meiryo"/>
              </a:rPr>
              <a:t>計算時間</a:t>
            </a:r>
            <a:r>
              <a:rPr sz="1500" b="0" i="0" lang="ja-JP">
                <a:solidFill>
                  <a:srgbClr val="26303A"/>
                </a:solidFill>
                <a:latin typeface="Meiryo"/>
                <a:ea typeface="Meiryo"/>
              </a:rPr>
              <a:t>：壁時計は Memetic+PR が ILS の 4.8〜9.4 倍．ただし中央値の試行は，全手法とも予算の 7 割以内で最終の全域 HV の 99% に達する → 全域 HV の差は計算予算の不足によらない</a:t>
            </a:r>
          </a:p>
          <a:p>
            <a:pPr marL="202996" indent="-202996">
              <a:lnSpc>
                <a:spcPct val="108000"/>
              </a:lnSpc>
              <a:spcBef>
                <a:spcPts val="1400"/>
              </a:spcBef>
            </a:pPr>
            <a:r>
              <a:rPr sz="1200" b="1" i="0" lang="ja-JP">
                <a:solidFill>
                  <a:srgbClr val="16385C"/>
                </a:solidFill>
                <a:latin typeface="Meiryo"/>
                <a:ea typeface="Meiryo"/>
              </a:rPr>
              <a:t>▪ </a:t>
            </a:r>
            <a:r>
              <a:rPr sz="1500" b="1" i="0" lang="ja-JP">
                <a:solidFill>
                  <a:srgbClr val="16385C"/>
                </a:solidFill>
                <a:latin typeface="Meiryo"/>
                <a:ea typeface="Meiryo"/>
              </a:rPr>
              <a:t>PR か PR-</a:t>
            </a:r>
            <a:r>
              <a:rPr sz="1500" b="1" i="1" lang="ja-JP">
                <a:solidFill>
                  <a:srgbClr val="16385C"/>
                </a:solidFill>
                <a:latin typeface="Meiryo"/>
                <a:ea typeface="Meiryo"/>
              </a:rPr>
              <a:t>k</a:t>
            </a:r>
            <a:r>
              <a:rPr sz="1500" b="1" i="0" lang="ja-JP">
                <a:solidFill>
                  <a:srgbClr val="16385C"/>
                </a:solidFill>
                <a:latin typeface="Meiryo"/>
                <a:ea typeface="Meiryo"/>
              </a:rPr>
              <a:t> か</a:t>
            </a:r>
            <a:r>
              <a:rPr sz="1500" b="0" i="0" lang="ja-JP">
                <a:solidFill>
                  <a:srgbClr val="26303A"/>
                </a:solidFill>
                <a:latin typeface="Meiryo"/>
                <a:ea typeface="Meiryo"/>
              </a:rPr>
              <a:t>：ILS ではどちらを組み込んでも 3 指標とも差は 2% 以内．Memetic では全域 HV・高安定 HV は PR がわずかに上回り（有意差は各 2 シナリオ），AUC は 1 回の計算が軽い PR-</a:t>
            </a:r>
            <a:r>
              <a:rPr sz="1500" b="0" i="1" lang="ja-JP">
                <a:solidFill>
                  <a:srgbClr val="26303A"/>
                </a:solidFill>
                <a:latin typeface="Meiryo"/>
                <a:ea typeface="Meiryo"/>
              </a:rPr>
              <a:t>k</a:t>
            </a:r>
            <a:r>
              <a:rPr sz="1500" b="0" i="0" lang="ja-JP">
                <a:solidFill>
                  <a:srgbClr val="26303A"/>
                </a:solidFill>
                <a:latin typeface="Meiryo"/>
                <a:ea typeface="Meiryo"/>
              </a:rPr>
              <a:t> が 8 シナリオ中 6 つで有意に上回る</a:t>
            </a:r>
          </a:p>
          <a:p>
            <a:pPr marL="202996" indent="-202996">
              <a:lnSpc>
                <a:spcPct val="108000"/>
              </a:lnSpc>
              <a:spcBef>
                <a:spcPts val="1400"/>
              </a:spcBef>
            </a:pPr>
            <a:r>
              <a:rPr sz="1200" b="1" i="0" lang="ja-JP">
                <a:solidFill>
                  <a:srgbClr val="16385C"/>
                </a:solidFill>
                <a:latin typeface="Meiryo"/>
                <a:ea typeface="Meiryo"/>
              </a:rPr>
              <a:t>▪ </a:t>
            </a:r>
            <a:r>
              <a:rPr sz="1500" b="1" i="0" lang="ja-JP">
                <a:solidFill>
                  <a:srgbClr val="16385C"/>
                </a:solidFill>
                <a:latin typeface="Meiryo"/>
                <a:ea typeface="Meiryo"/>
              </a:rPr>
              <a:t>ILS で演算子により有意に向上した 2 シナリオ</a:t>
            </a:r>
            <a:r>
              <a:rPr sz="1500" b="0" i="0" lang="ja-JP">
                <a:solidFill>
                  <a:srgbClr val="26303A"/>
                </a:solidFill>
                <a:latin typeface="Meiryo"/>
                <a:ea typeface="Meiryo"/>
              </a:rPr>
              <a:t>：la36L・ta21L で </a:t>
            </a:r>
            <a:r>
              <a:rPr sz="1500" b="0" i="1" lang="ja-JP">
                <a:solidFill>
                  <a:srgbClr val="26303A"/>
                </a:solidFill>
                <a:latin typeface="Meiryo"/>
                <a:ea typeface="Meiryo"/>
              </a:rPr>
              <a:t>p</a:t>
            </a:r>
            <a:r>
              <a:rPr sz="1500" b="0" i="0" lang="ja-JP">
                <a:solidFill>
                  <a:srgbClr val="26303A"/>
                </a:solidFill>
                <a:latin typeface="Meiryo"/>
                <a:ea typeface="Meiryo"/>
              </a:rPr>
              <a:t> &lt; 0.05．Holm 補正後に残るのは ta21L のみ（la36L は </a:t>
            </a:r>
            <a:r>
              <a:rPr sz="1500" b="0" i="1" lang="ja-JP">
                <a:solidFill>
                  <a:srgbClr val="26303A"/>
                </a:solidFill>
                <a:latin typeface="Meiryo"/>
                <a:ea typeface="Meiryo"/>
              </a:rPr>
              <a:t>p</a:t>
            </a:r>
            <a:r>
              <a:rPr sz="1080" b="0" i="1" lang="ja-JP" baseline="-22000">
                <a:solidFill>
                  <a:srgbClr val="26303A"/>
                </a:solidFill>
                <a:latin typeface="Meiryo"/>
                <a:ea typeface="Meiryo"/>
              </a:rPr>
              <a:t>adj</a:t>
            </a:r>
            <a:r>
              <a:rPr sz="1500" b="0" i="0" lang="ja-JP">
                <a:solidFill>
                  <a:srgbClr val="26303A"/>
                </a:solidFill>
                <a:latin typeface="Meiryo"/>
                <a:ea typeface="Meiryo"/>
              </a:rPr>
              <a:t> = 0.091）．中央値の向上は 6.3〜6.5%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66928" y="310896"/>
            <a:ext cx="11057839" cy="603504"/>
          </a:xfrm>
          <a:prstGeom prst="rect">
            <a:avLst/>
          </a:prstGeom>
          <a:noFill/>
        </p:spPr>
        <p:txBody>
          <a:bodyPr wrap="square" anchor="ctr" lIns="18288" rIns="18288" tIns="9144" bIns="9144">
            <a:spAutoFit/>
          </a:bodyPr>
          <a:lstStyle/>
          <a:p>
            <a:r>
              <a:rPr sz="2800" b="1" i="0" lang="ja-JP">
                <a:solidFill>
                  <a:srgbClr val="16385C"/>
                </a:solidFill>
                <a:latin typeface="Meiryo"/>
                <a:ea typeface="Meiryo"/>
              </a:rPr>
              <a:t>［予備］対照実験とパラメータ感度</a:t>
            </a:r>
          </a:p>
        </p:txBody>
      </p:sp>
      <p:cxnSp>
        <p:nvCxnSpPr>
          <p:cNvPr id="3" name="Connector 2"/>
          <p:cNvCxnSpPr/>
          <p:nvPr/>
        </p:nvCxnSpPr>
        <p:spPr>
          <a:xfrm>
            <a:off x="566928" y="969264"/>
            <a:ext cx="11057839" cy="0"/>
          </a:xfrm>
          <a:prstGeom prst="bentConnector3">
            <a:avLst/>
          </a:prstGeom>
          <a:ln w="15875">
            <a:solidFill>
              <a:srgbClr val="16385C"/>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566928" y="6473952"/>
            <a:ext cx="8229600" cy="274320"/>
          </a:xfrm>
          <a:prstGeom prst="rect">
            <a:avLst/>
          </a:prstGeom>
          <a:noFill/>
        </p:spPr>
        <p:txBody>
          <a:bodyPr wrap="square" anchor="t" lIns="18288" rIns="18288" tIns="9144" bIns="9144">
            <a:spAutoFit/>
          </a:bodyPr>
          <a:lstStyle/>
          <a:p>
            <a:r>
              <a:rPr sz="900" b="0" i="0" lang="ja-JP">
                <a:solidFill>
                  <a:srgbClr val="6E7A88"/>
                </a:solidFill>
                <a:latin typeface="Meiryo"/>
                <a:ea typeface="Meiryo"/>
              </a:rPr>
              <a:t>予備</a:t>
            </a:r>
          </a:p>
        </p:txBody>
      </p:sp>
      <p:sp>
        <p:nvSpPr>
          <p:cNvPr id="5" name="TextBox 4"/>
          <p:cNvSpPr txBox="1"/>
          <p:nvPr/>
        </p:nvSpPr>
        <p:spPr>
          <a:xfrm>
            <a:off x="10527487" y="6473952"/>
            <a:ext cx="1097280" cy="274320"/>
          </a:xfrm>
          <a:prstGeom prst="rect">
            <a:avLst/>
          </a:prstGeom>
          <a:noFill/>
        </p:spPr>
        <p:txBody>
          <a:bodyPr wrap="square" anchor="t" lIns="18288" rIns="18288" tIns="9144" bIns="9144">
            <a:spAutoFit/>
          </a:bodyPr>
          <a:lstStyle/>
          <a:p>
            <a:pPr algn="r"/>
            <a:r>
              <a:rPr sz="1000" b="0" i="0" lang="ja-JP">
                <a:solidFill>
                  <a:srgbClr val="6E7A88"/>
                </a:solidFill>
                <a:latin typeface="Meiryo"/>
                <a:ea typeface="Meiryo"/>
              </a:rPr>
              <a:t>35</a:t>
            </a:r>
          </a:p>
        </p:txBody>
      </p:sp>
      <p:sp>
        <p:nvSpPr>
          <p:cNvPr id="6" name="TextBox 5"/>
          <p:cNvSpPr txBox="1"/>
          <p:nvPr/>
        </p:nvSpPr>
        <p:spPr>
          <a:xfrm>
            <a:off x="566928" y="1371600"/>
            <a:ext cx="11057839" cy="457200"/>
          </a:xfrm>
          <a:prstGeom prst="rect">
            <a:avLst/>
          </a:prstGeom>
          <a:noFill/>
        </p:spPr>
        <p:txBody>
          <a:bodyPr wrap="square" anchor="t" lIns="18288" rIns="18288" tIns="9144" bIns="9144">
            <a:spAutoFit/>
          </a:bodyPr>
          <a:lstStyle/>
          <a:p>
            <a:pPr marL="202996" indent="-202996">
              <a:lnSpc>
                <a:spcPct val="108000"/>
              </a:lnSpc>
              <a:spcBef>
                <a:spcPts val="0"/>
              </a:spcBef>
            </a:pPr>
            <a:r>
              <a:rPr sz="1200" b="1" i="0" lang="ja-JP">
                <a:solidFill>
                  <a:srgbClr val="16385C"/>
                </a:solidFill>
                <a:latin typeface="Meiryo"/>
                <a:ea typeface="Meiryo"/>
              </a:rPr>
              <a:t>▪ </a:t>
            </a:r>
            <a:r>
              <a:rPr sz="1500" b="1" i="0" lang="ja-JP">
                <a:solidFill>
                  <a:srgbClr val="16385C"/>
                </a:solidFill>
                <a:latin typeface="Meiryo"/>
                <a:ea typeface="Meiryo"/>
              </a:rPr>
              <a:t>ランダム方向の対照実験</a:t>
            </a:r>
            <a:r>
              <a:rPr sz="1500" b="0" i="0" lang="ja-JP">
                <a:solidFill>
                  <a:srgbClr val="26303A"/>
                </a:solidFill>
                <a:latin typeface="Meiryo"/>
                <a:ea typeface="Meiryo"/>
              </a:rPr>
              <a:t>：Memetic に組み込んだ演算子による向上が，摂動一般の効果か，</a:t>
            </a:r>
            <a:r>
              <a:rPr sz="1500" b="0" i="1" lang="ja-JP">
                <a:solidFill>
                  <a:srgbClr val="26303A"/>
                </a:solidFill>
                <a:latin typeface="Meiryo"/>
                <a:ea typeface="Meiryo"/>
              </a:rPr>
              <a:t>S</a:t>
            </a:r>
            <a:r>
              <a:rPr sz="1080" b="0" i="1" lang="ja-JP" baseline="-22000">
                <a:solidFill>
                  <a:srgbClr val="26303A"/>
                </a:solidFill>
                <a:latin typeface="Meiryo"/>
                <a:ea typeface="Meiryo"/>
              </a:rPr>
              <a:t>p</a:t>
            </a:r>
            <a:r>
              <a:rPr sz="1500" b="0" i="0" lang="ja-JP">
                <a:solidFill>
                  <a:srgbClr val="26303A"/>
                </a:solidFill>
                <a:latin typeface="Meiryo"/>
                <a:ea typeface="Meiryo"/>
              </a:rPr>
              <a:t> に近づける方向に固有の効果かを確かめるため，強度を揃えて方向だけをランダム化した対照を 2 シナリオ（mt10・la36S）で実行した</a:t>
            </a:r>
          </a:p>
          <a:p>
            <a:pPr>
              <a:lnSpc>
                <a:spcPct val="108000"/>
              </a:lnSpc>
              <a:spcBef>
                <a:spcPts val="300"/>
              </a:spcBef>
            </a:pPr>
            <a:r>
              <a:rPr sz="1275" b="0" i="0" lang="ja-JP">
                <a:solidFill>
                  <a:srgbClr val="6E7A88"/>
                </a:solidFill>
                <a:latin typeface="Meiryo"/>
                <a:ea typeface="Meiryo"/>
              </a:rPr>
              <a:t>　－ </a:t>
            </a:r>
            <a:r>
              <a:rPr sz="1350" b="0" i="0" lang="ja-JP">
                <a:solidFill>
                  <a:srgbClr val="26303A"/>
                </a:solidFill>
                <a:latin typeface="Meiryo"/>
                <a:ea typeface="Meiryo"/>
              </a:rPr>
              <a:t>ランダム方向は向上幅の 7 割前後しか再現せず，高安定 HV では演算子に完全分離で及ばない</a:t>
            </a:r>
          </a:p>
          <a:p>
            <a:pPr>
              <a:lnSpc>
                <a:spcPct val="108000"/>
              </a:lnSpc>
              <a:spcBef>
                <a:spcPts val="300"/>
              </a:spcBef>
            </a:pPr>
            <a:r>
              <a:rPr sz="1275" b="0" i="0" lang="ja-JP">
                <a:solidFill>
                  <a:srgbClr val="6E7A88"/>
                </a:solidFill>
                <a:latin typeface="Meiryo"/>
                <a:ea typeface="Meiryo"/>
              </a:rPr>
              <a:t>　－ </a:t>
            </a:r>
            <a:r>
              <a:rPr sz="1350" b="0" i="0" lang="ja-JP">
                <a:solidFill>
                  <a:srgbClr val="26303A"/>
                </a:solidFill>
                <a:latin typeface="Meiryo"/>
                <a:ea typeface="Meiryo"/>
              </a:rPr>
              <a:t>同じ高安定 HV に達するには，1.7〜2.4 倍の時間を要する</a:t>
            </a:r>
          </a:p>
          <a:p>
            <a:pPr marL="202996" indent="-202996">
              <a:lnSpc>
                <a:spcPct val="108000"/>
              </a:lnSpc>
              <a:spcBef>
                <a:spcPts val="1600"/>
              </a:spcBef>
            </a:pPr>
            <a:r>
              <a:rPr sz="1200" b="1" i="0" lang="ja-JP">
                <a:solidFill>
                  <a:srgbClr val="16385C"/>
                </a:solidFill>
                <a:latin typeface="Meiryo"/>
                <a:ea typeface="Meiryo"/>
              </a:rPr>
              <a:t>▪ </a:t>
            </a:r>
            <a:r>
              <a:rPr sz="1500" b="1" i="0" lang="ja-JP">
                <a:solidFill>
                  <a:srgbClr val="16385C"/>
                </a:solidFill>
                <a:latin typeface="Meiryo"/>
                <a:ea typeface="Meiryo"/>
              </a:rPr>
              <a:t>パラメータ感度</a:t>
            </a:r>
            <a:r>
              <a:rPr sz="1500" b="0" i="0" lang="ja-JP">
                <a:solidFill>
                  <a:srgbClr val="26303A"/>
                </a:solidFill>
                <a:latin typeface="Meiryo"/>
                <a:ea typeface="Meiryo"/>
              </a:rPr>
              <a:t>：手法パラメータは標準値で固定した．挙動を定める 11 軸（ベースの探索構造側を含む）を 2 シナリオで一要因ずつ上下に振ったが，全域 HV の変化は +0.5〜2% で，手法間の差（+7〜54%）より一桁小さい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