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89404"/>
            <a:ext cx="2286000" cy="393192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89404"/>
            <a:ext cx="1773936" cy="3931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製造現場では，機械故障や作業遅延などにより，スケジュール通りに作業を実行できないことがある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2089404"/>
            <a:ext cx="3474720" cy="1874519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089404"/>
            <a:ext cx="2962656" cy="187451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4375404"/>
            <a:ext cx="34747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4375404"/>
            <a:ext cx="2962656" cy="1645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6E7A88"/>
                </a:solidFill>
                <a:latin typeface="Meiryo"/>
                <a:ea typeface="Meiryo"/>
              </a:rPr>
              <a:t>外乱に対してロバストなスケジュールを事前に作成する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33488" y="4375404"/>
            <a:ext cx="4291279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19" y="4375404"/>
            <a:ext cx="3779215" cy="1645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089404"/>
            <a:ext cx="4291279" cy="1874519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436047" y="1915668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19" y="2089404"/>
            <a:ext cx="3779215" cy="187451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880360" y="3026664"/>
            <a:ext cx="448056" cy="0"/>
          </a:xfrm>
          <a:prstGeom prst="line">
            <a:avLst/>
          </a:prstGeom>
          <a:ln w="3048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80360" y="5198364"/>
            <a:ext cx="448056" cy="0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858000" y="3026664"/>
            <a:ext cx="448055" cy="2171700"/>
          </a:xfrm>
          <a:prstGeom prst="bentConnector3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858000" y="3026664"/>
            <a:ext cx="448055" cy="0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46750" y="2606039"/>
            <a:ext cx="0" cy="1298449"/>
          </a:xfrm>
          <a:prstGeom prst="line">
            <a:avLst/>
          </a:prstGeom>
          <a:ln w="17780">
            <a:solidFill>
              <a:srgbClr val="6E7A8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272430" y="2404872"/>
            <a:ext cx="54864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546750" y="4837176"/>
            <a:ext cx="0" cy="1298448"/>
          </a:xfrm>
          <a:prstGeom prst="line">
            <a:avLst/>
          </a:prstGeom>
          <a:ln w="17780">
            <a:solidFill>
              <a:srgbClr val="6E7A8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272430" y="4636008"/>
            <a:ext cx="54864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6007608" y="3131820"/>
            <a:ext cx="320040" cy="133045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73368" y="1965960"/>
            <a:ext cx="5251399" cy="20574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74536" y="2057400"/>
            <a:ext cx="4849063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  <a:p>
            <a:pPr>
              <a:lnSpc>
                <a:spcPct val="105000"/>
              </a:lnSpc>
            </a:pPr>
            <a:r>
              <a:rPr sz="1300" b="1" i="0">
                <a:solidFill>
                  <a:srgbClr val="B03A2E"/>
                </a:solidFill>
                <a:latin typeface="Meiryo"/>
                <a:ea typeface="Meiryo"/>
              </a:rPr>
              <a:t>（スケジュール変更コスト）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574536" y="2807208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67647" y="2807208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574536" y="3392424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067647" y="3392424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下流工程・外注先への
予定変更の波及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999067" y="4069080"/>
            <a:ext cx="0" cy="448056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373368" y="4562856"/>
            <a:ext cx="5251399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73368" y="4617720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74536" y="5065776"/>
            <a:ext cx="2195931" cy="1069848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574536" y="5065776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65976" y="5413248"/>
            <a:ext cx="2013051" cy="72237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70467" y="5065776"/>
            <a:ext cx="457200" cy="10698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227667" y="5065776"/>
            <a:ext cx="2195931" cy="1069848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227667" y="5065776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19107" y="5413248"/>
            <a:ext cx="2013051" cy="72237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691640"/>
            <a:ext cx="5342839" cy="431236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  <a:p>
            <a:pPr>
              <a:lnSpc>
                <a:spcPct val="108000"/>
              </a:lnSpc>
              <a:spcBef>
                <a:spcPts val="1800"/>
              </a:spcBef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136" y="3291840"/>
            <a:ext cx="4391343" cy="288950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51295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215" y="3291840"/>
            <a:ext cx="4391343" cy="288950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6199632"/>
            <a:ext cx="11057839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主眼は最先端手法との性能競争ではなく，条件を統制して探索構造と演算子の関係を切り分けること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8600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402336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4169663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66344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16636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初期解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pic>
        <p:nvPicPr>
          <p:cNvPr id="8" name="Picture 7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356774"/>
            <a:ext cx="4023360" cy="26473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864608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64608" y="1737360"/>
            <a:ext cx="3242919" cy="384048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1768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単点探索（ILS）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1768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1768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76188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01768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BE4CC"/>
          </a:solidFill>
          <a:ln w="20320">
            <a:solidFill>
              <a:srgbClr val="E0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06C00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76188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01768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76188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01768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76188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68896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406640" y="3611880"/>
            <a:ext cx="0" cy="113385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187184" y="3611880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479792" y="3995928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選定理由：局所探索と摂動が別の段にあり，演算子を摂動に組み込める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1847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81847" y="1737360"/>
            <a:ext cx="3242919" cy="384048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19007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多点探索（Memetic）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19007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＋無作為な個体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19007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選択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93427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519007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7E9DC"/>
          </a:solidFill>
          <a:ln w="20320">
            <a:solidFill>
              <a:srgbClr val="0F5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F5C28"/>
                </a:solidFill>
                <a:latin typeface="Meiryo"/>
                <a:ea typeface="Meiryo"/>
              </a:rPr>
              <a:t>交叉：2 親を組み替え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593427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519007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593427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519007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593427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686135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923879" y="3044952"/>
            <a:ext cx="0" cy="1700784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0704423" y="3044952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0997031" y="3712463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64727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選定理由：先行研究で標準的な，GA に局所探索を組み込んだ構成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760720"/>
            <a:ext cx="11057839" cy="502920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探索構造の差だけを比較するため，局所探索（N5 近傍）・目的関数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・初期解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 を両者で揃える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提案手法：安定性誘導演算子（PR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の誘導解を初期スケジュール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でたどる経路上の解を返す操作にする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37944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通常の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7" y="1801368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探索中に得た良い解どうしを結び，その間を探索する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221992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2185416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誘導解を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固定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→ 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に近づける操作になる</a:t>
            </a:r>
          </a:p>
        </p:txBody>
      </p:sp>
      <p:pic>
        <p:nvPicPr>
          <p:cNvPr id="12" name="Picture 11" descr="concept_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660904"/>
            <a:ext cx="5532120" cy="364013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373368" y="1691640"/>
            <a:ext cx="5251399" cy="37947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1764792"/>
            <a:ext cx="479419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0528" y="2148840"/>
            <a:ext cx="4977079" cy="54864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2212848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36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4967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9911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5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7" y="2212848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880360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44967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9911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5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880360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7" y="3300984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3648456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4967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9911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34855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79607" y="3648456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7" y="4069080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0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792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4416552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44967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9911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34855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9800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7" y="4416552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846320"/>
            <a:ext cx="4794199" cy="5669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と順位が異なる作業（その数が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）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73368" y="5623560"/>
            <a:ext cx="5251399" cy="640079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1968" y="5660136"/>
            <a:ext cx="4794199" cy="56692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停滞したときに摂動として発動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各個体に確率的に改善操作として発動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83080"/>
          <a:ext cx="7955280" cy="1152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898648" y="2212848"/>
            <a:ext cx="5577840" cy="292607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6E7A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8648" y="2596896"/>
            <a:ext cx="5577840" cy="292607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212848"/>
            <a:ext cx="2011679" cy="676655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4015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38404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245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3159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47548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1389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47088" y="52303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も同じ形で ILS と比較し，演算子の効果が探索構造で異なるかを見る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779008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比較手法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ILS・Memetic と，それぞれに PR-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／PR を組み込んだ 6 手法＋参考の GA（局所探索なし）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の比較：代表 2 シナリオの非劣解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の比較：全 8 シナリオ（仮説の判定）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1701241" y="2553004"/>
            <a:ext cx="0" cy="534010"/>
          </a:xfrm>
          <a:prstGeom prst="line">
            <a:avLst/>
          </a:prstGeom>
          <a:ln w="19050">
            <a:solidFill>
              <a:srgbClr val="16385C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509217" y="2728569"/>
            <a:ext cx="530352" cy="182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2137" y="2726740"/>
            <a:ext cx="526708" cy="405994"/>
          </a:xfrm>
          <a:prstGeom prst="line">
            <a:avLst/>
          </a:prstGeom>
          <a:ln w="20320">
            <a:solidFill>
              <a:srgbClr val="6A4C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65693" y="2949854"/>
            <a:ext cx="530352" cy="182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6A4C93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52297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6A4C93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zoom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383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937759"/>
            <a:ext cx="11057839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縦軸は最良値の付近を拡大（↓：範囲外，値を併記）．全 8 シナリオは前のスライド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23036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2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2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つ（la36L・ta21L）だけ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65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AUC：代表 2 シナリオの推移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系を追い越す．到達値は演算子を組み込んだ Memetic が最大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AUC：全 8 シナリオ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