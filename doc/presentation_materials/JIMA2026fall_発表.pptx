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755648"/>
            <a:ext cx="10509199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製造現場では，機械故障や作業遅延などの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により，スケジュール通りに作業を実行できないことがある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075688" y="2432303"/>
            <a:ext cx="4020159" cy="274321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2743200"/>
            <a:ext cx="30175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871216"/>
            <a:ext cx="24688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310128"/>
            <a:ext cx="246887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6E7A88"/>
                </a:solidFill>
                <a:latin typeface="Meiryo"/>
                <a:ea typeface="Meiryo"/>
              </a:rPr>
              <a:t>事前に余裕を持たせ，外乱に備える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432303"/>
            <a:ext cx="1691640" cy="274321"/>
          </a:xfrm>
          <a:prstGeom prst="line">
            <a:avLst/>
          </a:prstGeom>
          <a:ln w="2794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950208" y="2743200"/>
            <a:ext cx="7674559" cy="109728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2871216"/>
            <a:ext cx="712591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3310128"/>
            <a:ext cx="712591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573268" y="3858768"/>
            <a:ext cx="2214219" cy="539496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950208" y="4434840"/>
            <a:ext cx="32461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8" y="4581144"/>
            <a:ext cx="278892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5038344"/>
            <a:ext cx="2788920" cy="1051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87487" y="3858768"/>
            <a:ext cx="1805940" cy="539496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62088" y="4434840"/>
            <a:ext cx="4062679" cy="178308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36047" y="4261103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19" y="4709159"/>
            <a:ext cx="3550615" cy="141731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  <a:p>
            <a:pPr>
              <a:lnSpc>
                <a:spcPct val="110000"/>
              </a:lnSpc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→ </a:t>
            </a:r>
            <a:r>
              <a:rPr sz="13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 が存在するので，</a:t>
            </a:r>
            <a:r>
              <a:rPr sz="1350" b="1" i="1">
                <a:solidFill>
                  <a:srgbClr val="FFD98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D98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D98A"/>
                </a:solidFill>
                <a:latin typeface="Meiryo"/>
                <a:ea typeface="Meiryo"/>
              </a:rPr>
              <a:t> からの変更量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を定義できる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6007608" y="2743200"/>
            <a:ext cx="320040" cy="171907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6373368" y="1645920"/>
            <a:ext cx="5251399" cy="25146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74536" y="1737360"/>
            <a:ext cx="4849063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74536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67647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74536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67647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下流工程・外注先
への予定変更の波及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999067" y="4206240"/>
            <a:ext cx="0" cy="365760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73368" y="4626864"/>
            <a:ext cx="5251399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73368" y="4681727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74536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574536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65976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70467" y="5129783"/>
            <a:ext cx="457200" cy="10332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27667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227667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19107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783080"/>
            <a:ext cx="5342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上の非劣解のうち，変更コストが無視できない場面で選ばれるのは，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）の解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3703320"/>
            <a:ext cx="5342839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→ この場合，手法は Pareto フロント全体の品質</a:t>
            </a:r>
          </a:p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だけではなく，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が問われる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4572000"/>
            <a:ext cx="5342839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本研究では，Pareto フロントの品質を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に近づける探索操作もない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56816"/>
            <a:ext cx="5391759" cy="146304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02536"/>
            <a:ext cx="5099151" cy="13716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136" y="3511296"/>
            <a:ext cx="4391343" cy="2889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78727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956816"/>
            <a:ext cx="5391759" cy="146304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002536"/>
            <a:ext cx="5099151" cy="13716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215" y="3511296"/>
            <a:ext cx="4391343" cy="28895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問題設定・探索構造・安定性誘導演算子・仮説の判定・評価指標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8308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352044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3666744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16052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6344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94976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|2−4| ＋ |4−2|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の処理順序を保った解は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5346039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9164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9164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eiryo"/>
                <a:ea typeface="Meiryo"/>
              </a:rPr>
              <a:t>単点探索（ILS：反復局所探索）</a:t>
            </a:r>
            <a:r>
              <a:rPr sz="1200" b="0" i="0">
                <a:solidFill>
                  <a:srgbClr val="FFFFFF"/>
                </a:solidFill>
                <a:latin typeface="Meiryo"/>
                <a:ea typeface="Meiryo"/>
              </a:rPr>
              <a:t>　現在解は常に 1 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76856"/>
            <a:ext cx="4888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00" b="1" i="0">
                <a:solidFill>
                  <a:srgbClr val="E06C00"/>
                </a:solidFill>
                <a:latin typeface="Meiryo"/>
                <a:ea typeface="Meiryo"/>
              </a:rPr>
              <a:t>選定理由：</a:t>
            </a:r>
            <a:r>
              <a:rPr sz="1200" b="0" i="0">
                <a:solidFill>
                  <a:srgbClr val="26303A"/>
                </a:solidFill>
                <a:latin typeface="Meiryo"/>
                <a:ea typeface="Meiryo"/>
              </a:rPr>
              <a:t>局所探索と摂動が別の段で，演算子を摂動に組み込める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" y="2715768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" y="3300984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70048" y="3136392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86968" y="3886200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70048" y="3721607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6968" y="4471416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70048" y="430682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86968" y="5056632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670048" y="489204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471416" y="5257800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4709160" y="4087368"/>
            <a:ext cx="0" cy="1170432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4489704" y="4087368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782312" y="4489703"/>
            <a:ext cx="11887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8727" y="1691640"/>
            <a:ext cx="5346039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78727" y="169164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1607" y="169164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eiryo"/>
                <a:ea typeface="Meiryo"/>
              </a:rPr>
              <a:t>多点探索（Memetic：GA＋局所探索）</a:t>
            </a:r>
            <a:r>
              <a:rPr sz="1200" b="0" i="0">
                <a:solidFill>
                  <a:srgbClr val="FFFFFF"/>
                </a:solidFill>
                <a:latin typeface="Meiryo"/>
                <a:ea typeface="Meiryo"/>
              </a:rPr>
              <a:t>　複数の解を保持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7327" y="2276856"/>
            <a:ext cx="4888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00" b="1" i="0">
                <a:solidFill>
                  <a:srgbClr val="0F5C28"/>
                </a:solidFill>
                <a:latin typeface="Meiryo"/>
                <a:ea typeface="Meiryo"/>
              </a:rPr>
              <a:t>選定理由：</a:t>
            </a:r>
            <a:r>
              <a:rPr sz="1200" b="0" i="0">
                <a:solidFill>
                  <a:srgbClr val="26303A"/>
                </a:solidFill>
                <a:latin typeface="Meiryo"/>
                <a:ea typeface="Meiryo"/>
              </a:rPr>
              <a:t>先行研究で標準的な，GA に局所探索を組み込んだ構成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98767" y="2715768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＋ 無作為に生成した個体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98767" y="3392424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選択・交叉：2 親の染色体を組み替え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381847" y="3136392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598767" y="4069080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81847" y="3813048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598767" y="4745736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381847" y="4489703"/>
            <a:ext cx="0" cy="23774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183215" y="4946903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0420959" y="3593592"/>
            <a:ext cx="0" cy="1353311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0201503" y="3593592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0494111" y="4087368"/>
            <a:ext cx="11887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5760720"/>
            <a:ext cx="11057839" cy="566928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揃えた条件：局所探索（N5 近傍）・目的関数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・初期解に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 を含めること　→　局所探索の有無による差を除いて比較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提案：安定性誘導演算子 — 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76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 を誘導解とする path relinking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提案は PR の誘導解を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に固定すること．解を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に近づける操作になり，両構造に同じ形で組み込める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4087" y="1691640"/>
            <a:ext cx="5440680" cy="44805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2687" y="1783080"/>
            <a:ext cx="49834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1247" y="2240280"/>
            <a:ext cx="5166360" cy="64008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2687" y="2331720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01407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42071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82735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23399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2331720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2687" y="3127248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01407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42071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82735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3399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3127248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5687" y="3584448"/>
            <a:ext cx="393192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2687" y="4005072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01407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2071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82735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23399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37215" y="4005072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55687" y="4462272"/>
            <a:ext cx="393192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5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2687" y="4882896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01407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42071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82735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23399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37215" y="4882896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2687" y="5458968"/>
            <a:ext cx="4983480" cy="6400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64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と順位が異なる作業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64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1691640"/>
            <a:ext cx="5342839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858207" y="1517904"/>
            <a:ext cx="86868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提案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" y="1801368"/>
            <a:ext cx="39712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通常の path relinking との違い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768096" y="2258568"/>
          <a:ext cx="4940502" cy="12618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17562"/>
                <a:gridCol w="1543907"/>
                <a:gridCol w="2779033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通常の PR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本研究（安定性誘導演算子）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誘導解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探索中の別の良い解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外乱前のスケジュール </a:t>
                      </a:r>
                      <a:r>
                        <a:rPr sz="11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827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1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に</a:t>
                      </a:r>
                      <a:r>
                        <a:rPr sz="11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固定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ねらい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良い解の間を探索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827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1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に近づけて</a:t>
                      </a:r>
                      <a:r>
                        <a:rPr sz="11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変更量の小さい解</a:t>
                      </a:r>
                      <a:r>
                        <a:rPr sz="11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を得る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2" name="Rounded Rectangle 41"/>
          <p:cNvSpPr/>
          <p:nvPr/>
        </p:nvSpPr>
        <p:spPr>
          <a:xfrm>
            <a:off x="768096" y="374904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PR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73936" y="3703320"/>
            <a:ext cx="392551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に到達するまで swap をたどり，経路上で </a:t>
            </a: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が最小の解を返す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68096" y="4270248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PR-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73936" y="4160520"/>
            <a:ext cx="3925519" cy="5852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回の swap で打ち切り，到達解を返す（</a:t>
            </a: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と順位が異なる作業数）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965192"/>
            <a:ext cx="5342839" cy="1207008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5528" y="5020055"/>
            <a:ext cx="4885639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停滞したときに，摂動として発動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各個体に確率的に，改善操作として発動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本研究の主眼は最先端手法との性能競争ではなく，仮説を立てて条件を統制し，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探索構造と演算子の関係を切り分けること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975104"/>
          <a:ext cx="7955280" cy="1097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42247" y="2340864"/>
            <a:ext cx="2782519" cy="7315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参考：GA（局所探索なし）を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加えて計 7 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300984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3273552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712464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を全シナリオで有意に上回れば，支持とみなす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13308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425196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7088" y="422452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66344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を全シナリオで有意に上回れば，支持とみなす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84064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5202936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仮説なし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7088" y="5175504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も，仮説 2 と同じ形で ILS と比較する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833872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の処理順序を保った解）は全手法が探索せずに得るため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1　高安定領域の非劣解（代表 2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2　高安定 HV（全 8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安定性誘導演算子の効果が現れる条件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つだけ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3　全域 HV と AUC（代表 2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系を追い越し，より大きい全域 HV に達する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4　全域 HV と AUC（全 8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