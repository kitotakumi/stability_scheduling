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" y="1874519"/>
            <a:ext cx="2377440" cy="0"/>
          </a:xfrm>
          <a:prstGeom prst="bentConnector3">
            <a:avLst/>
          </a:prstGeom>
          <a:ln w="254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029968"/>
            <a:ext cx="10454335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処理順序の変更量を考慮した再スケジューリングにおける</a:t>
            </a:r>
          </a:p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path relinking の適用と探索構造の比較評価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86968" y="4343400"/>
            <a:ext cx="3108960" cy="0"/>
          </a:xfrm>
          <a:prstGeom prst="bentConnector3">
            <a:avLst/>
          </a:prstGeom>
          <a:ln w="127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86968" y="4480560"/>
            <a:ext cx="10454335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500" b="0" i="0">
                <a:solidFill>
                  <a:srgbClr val="AFC2D8"/>
                </a:solidFill>
                <a:latin typeface="Meiryo"/>
                <a:ea typeface="Meiryo"/>
              </a:rPr>
              <a:t>早稲田大学</a:t>
            </a:r>
          </a:p>
          <a:p>
            <a:pPr>
              <a:spcBef>
                <a:spcPts val="600"/>
              </a:spcBef>
            </a:pPr>
            <a:r>
              <a:rPr sz="1900" b="1" i="0">
                <a:solidFill>
                  <a:srgbClr val="FFFFFF"/>
                </a:solidFill>
                <a:latin typeface="Meiryo"/>
                <a:ea typeface="Meiryo"/>
              </a:rPr>
              <a:t>○鬼頭 拓海，谷水 義隆，渡邉 るりこ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8CA3C0"/>
                </a:solidFill>
                <a:latin typeface="Meiryo"/>
                <a:ea typeface="Meiryo"/>
              </a:rPr>
              <a:t>日本経営工学会 2026年秋季大会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737360" y="1371599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研究背景と仮説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外乱と再スケジューリング・先行研究と課題・仮説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外乱と再スケジューリング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外乱が起きたら，事前に作成した初期スケジュール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を修正する（予測リアクティブ再スケジューリング）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11057839" cy="65836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755648"/>
            <a:ext cx="10509199" cy="6583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製造現場では，機械故障や作業遅延などの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外乱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により，スケジュール通りに作業を実行できないことがある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075688" y="2432303"/>
            <a:ext cx="4020159" cy="274321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2743200"/>
            <a:ext cx="30175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871216"/>
            <a:ext cx="24688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6E7A88"/>
                </a:solidFill>
                <a:latin typeface="Meiryo"/>
                <a:ea typeface="Meiryo"/>
              </a:rPr>
              <a:t>静的アプローチ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310128"/>
            <a:ext cx="246887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6E7A88"/>
                </a:solidFill>
                <a:latin typeface="Meiryo"/>
                <a:ea typeface="Meiryo"/>
              </a:rPr>
              <a:t>事前に余裕を持たせ，外乱に備える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432303"/>
            <a:ext cx="1691640" cy="274321"/>
          </a:xfrm>
          <a:prstGeom prst="line">
            <a:avLst/>
          </a:prstGeom>
          <a:ln w="2794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950208" y="2743200"/>
            <a:ext cx="7674559" cy="1097280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2286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4528" y="2871216"/>
            <a:ext cx="712591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動的アプローチ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3310128"/>
            <a:ext cx="712591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外乱の発生後に，スケジュールを修正する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573268" y="3858768"/>
            <a:ext cx="2214219" cy="539496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950208" y="4434840"/>
            <a:ext cx="32461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78808" y="4581144"/>
            <a:ext cx="278892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6E7A88"/>
                </a:solidFill>
                <a:latin typeface="Meiryo"/>
                <a:ea typeface="Meiryo"/>
              </a:rPr>
              <a:t>完全リアクティブ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8" y="5038344"/>
            <a:ext cx="2788920" cy="1051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事前のスケジュールを持たず，ディスパッチングルールなどで作業をその場で決める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87487" y="3858768"/>
            <a:ext cx="1805940" cy="539496"/>
          </a:xfrm>
          <a:prstGeom prst="line">
            <a:avLst/>
          </a:prstGeom>
          <a:ln w="3302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562088" y="4434840"/>
            <a:ext cx="4062679" cy="178308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436047" y="4261103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19" y="4709159"/>
            <a:ext cx="3550615" cy="141731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予測リアクティブ再スケジューリング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外乱が起きたら，外乱前のスケジュール（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初期スケジュール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）を修正する</a:t>
            </a:r>
          </a:p>
          <a:p>
            <a:pPr>
              <a:lnSpc>
                <a:spcPct val="110000"/>
              </a:lnSpc>
              <a:spcBef>
                <a:spcPts val="8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→ </a:t>
            </a:r>
            <a:r>
              <a:rPr sz="13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 が存在するので，</a:t>
            </a:r>
            <a:r>
              <a:rPr sz="1350" b="1" i="1">
                <a:solidFill>
                  <a:srgbClr val="FFD98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D98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FFD98A"/>
                </a:solidFill>
                <a:latin typeface="Meiryo"/>
                <a:ea typeface="Meiryo"/>
              </a:rPr>
              <a:t> からの変更量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を定義できる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再スケジューリングと安定性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スケジュールの変更は現場にコストを生むため，生産効率と安定性の二目的最適化として扱う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例：</a:t>
            </a:r>
            <a:r>
              <a:rPr sz="1250" b="1" i="0">
                <a:solidFill>
                  <a:srgbClr val="B03A2E"/>
                </a:solidFill>
                <a:latin typeface="Meiryo"/>
                <a:ea typeface="Meiryo"/>
              </a:rPr>
              <a:t>M2 の J1 が 3 遅延（赤）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→ 時刻 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以降の処理順序を変更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 の処理順序を保つ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総所要時間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変更なし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757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7660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1436" y="2715768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18103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7572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4344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1117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37890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20439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7572" y="3520439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7890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4663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33856" y="3867912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15568" y="2679191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224174" y="2606039"/>
            <a:ext cx="0" cy="1298449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995574" y="2404872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" y="2414015"/>
            <a:ext cx="178856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開始済み（凍結）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5342" y="2414015"/>
            <a:ext cx="22860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再スケジューリングの対象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197096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288536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M3 の順序を入れ替える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440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総所要時間 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456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順序を変更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946904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757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7660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34663" y="4946904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534924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7572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844344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41117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237890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575157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7572" y="5751576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37890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34663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133856" y="6099048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115568" y="4910328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3224174" y="4837176"/>
            <a:ext cx="0" cy="1298448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995574" y="4636008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6007608" y="2743200"/>
            <a:ext cx="320040" cy="1719071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6373368" y="1645920"/>
            <a:ext cx="5251399" cy="2514600"/>
          </a:xfrm>
          <a:prstGeom prst="roundRect">
            <a:avLst>
              <a:gd name="adj" fmla="val 5000"/>
            </a:avLst>
          </a:prstGeom>
          <a:solidFill>
            <a:srgbClr val="FBEEEC"/>
          </a:solidFill>
          <a:ln w="177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74536" y="1737360"/>
            <a:ext cx="4849063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B03A2E"/>
                </a:solidFill>
                <a:latin typeface="Meiryo"/>
                <a:ea typeface="Meiryo"/>
              </a:rPr>
              <a:t>処理順序の変更は，現場にコストを生む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74536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段取り替え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67647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資材・治具の再手配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74536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作業者の再配置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67647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下流工程・外注先
への予定変更の波及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999067" y="4206240"/>
            <a:ext cx="0" cy="365760"/>
          </a:xfrm>
          <a:prstGeom prst="line">
            <a:avLst/>
          </a:prstGeom>
          <a:ln w="3810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6373368" y="4626864"/>
            <a:ext cx="5251399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73368" y="4681727"/>
            <a:ext cx="525139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二目的最適化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74536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574536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生産効率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65976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総所要時間を小さく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70467" y="5129783"/>
            <a:ext cx="457200" cy="10332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385C"/>
                </a:solidFill>
                <a:latin typeface="Meiryo"/>
                <a:ea typeface="Meiryo"/>
              </a:rPr>
              <a:t>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27667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227667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安定性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19107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初期スケジュールからの</a:t>
            </a:r>
          </a:p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変更を小さく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再スケジューリングの特殊性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安定性が最良の解は探索せずに得られる．問われるのは，そこから少しの変更で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MS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をどこまで下げられるか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5</a:t>
            </a:r>
          </a:p>
        </p:txBody>
      </p:sp>
      <p:pic>
        <p:nvPicPr>
          <p:cNvPr id="8" name="Picture 7" descr="concep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77840" cy="4312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1928" y="1783080"/>
            <a:ext cx="5342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★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の処理順序を保って遅延を吸収した解（right-shift）は，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探索せずに得られる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．変更量 0 で安定性は最良，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も外乱前に最適化済み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●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Pareto フロント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上の非劣解のうち，変更コストが無視できない場面で選ばれるのは，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の近傍（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）の解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1928" y="3703320"/>
            <a:ext cx="5342839" cy="685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→ この場合，手法は Pareto フロント全体の品質</a:t>
            </a:r>
          </a:p>
          <a:p>
            <a:pPr algn="l">
              <a:lnSpc>
                <a:spcPct val="108000"/>
              </a:lnSpc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だけではなく，</a:t>
            </a: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高安定領域の品質</a:t>
            </a: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が問われる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4572000"/>
            <a:ext cx="5342839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本研究では，Pareto フロントの品質を hypervolume（HV）で測り，高安定領域に限った HV を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高安定 HV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と呼ぶ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先行研究：安定性を確保する 2 つのアプローチ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安定性は「目的関数に組み込む」か「再スケジュールの範囲を限定する」かで確保されてきた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安定性を目的関数に組み込むアプローチ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Wu ら (1993)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単一機械で効率と安定性を評価基準に定式化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Rangsaritratsamee ら (2004)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Zhang ら (2013)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JSP．GA＋タブーサーチ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Fattahi &amp; Fallahi (2010)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FJSP．GA＋局所探索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Valledor ら (2022)，Luo ら (2025)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NSGA-II 系で Pareto 支配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安定性は解の評価（目的関数の一項）にのみ反映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再スケジュールの対象範囲を限定するアプローチ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Bean ら (1991)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復帰時点までを再スケジュール（match-up）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Abumaizar &amp; Svestka (1997)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影響を受ける作業だけを再スケジュール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Zakaria &amp; Petrovic (2012)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GA の染色体を区間に限定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Sun ら (2026)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再最適化の範囲を 4 段階に整理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7327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探索空間の制限で安定性を確保する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58968"/>
            <a:ext cx="1105783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26303A"/>
                </a:solidFill>
                <a:latin typeface="Meiryo"/>
                <a:ea typeface="Meiryo"/>
              </a:rPr>
              <a:t>どちらのアプローチでも，メタヒューリスティクスによる解法は GA を基軸とする</a:t>
            </a:r>
            <a:r>
              <a:rPr sz="1900" b="1" i="0">
                <a:solidFill>
                  <a:srgbClr val="16385C"/>
                </a:solidFill>
                <a:latin typeface="Meiryo"/>
                <a:ea typeface="Meiryo"/>
              </a:rPr>
              <a:t>多点探索に集中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916168"/>
            <a:ext cx="1105783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単点探索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：1 つの解を少しずつ変更しながら進む　／　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多点探索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：複数の解を保持し，互いに組み替えながら進む</a:t>
            </a: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（Blum &amp; Roli, 2003）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残された 3 つの課題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探索構造の差は検証されておらず，その差を測る形式も，解を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に近づける探索操作もない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373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0756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105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探索構造の差が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検証されていない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1728" y="19385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0328" y="18105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解法は多点探索に集中している．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が探索前に得られているという特性が，単点探索と多点探索の間にどんな差を生むかは分析されていない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34472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821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その差を読み取れる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評価の形式がない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33101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0328" y="31821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比較は少数の重みでのスカラー値や，Pareto フロント全体の HV で行われ，高安定領域で手法がどう異なるかは分析されていない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480560"/>
            <a:ext cx="11057839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" y="511606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53712"/>
            <a:ext cx="3108960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解を </a:t>
            </a:r>
            <a:r>
              <a:rPr sz="16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152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探索操作がない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4681728"/>
            <a:ext cx="13716" cy="138074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4553712"/>
            <a:ext cx="6485839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目的関数に組み込む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：安定性は解の評価にだけ入る．交叉や局所探索などの探索操作は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を参照しない</a:t>
            </a:r>
          </a:p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範囲を限定する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：安定性は探索空間の制限にだけ入る．範囲を事前に決めるので，その外にある変更量の大きい解は探索しない</a:t>
            </a:r>
          </a:p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どちらも，探索の途中で解を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に近づける操作（安定性を探索の移動として扱う操作）を持たない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本研究の仮説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課題 1・3 に対して 2 つの仮説を立て，どちらも高安定 HV（課題 2 への対応）で判定する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1572768"/>
            <a:ext cx="53917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20240"/>
            <a:ext cx="5391759" cy="137160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99151" cy="12801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交叉で 2 親の染色体を組み替える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は，</a:t>
            </a:r>
          </a:p>
          <a:p>
            <a:pPr algn="l">
              <a:lnSpc>
                <a:spcPct val="112000"/>
              </a:lnSpc>
            </a:pP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からの小さな変更では表せない飛躍を伴う．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そのため，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を初期解として解を少しずつ変更する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単点探索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のほうが，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高安定 HV が大きい</a:t>
            </a:r>
          </a:p>
        </p:txBody>
      </p:sp>
      <p:pic>
        <p:nvPicPr>
          <p:cNvPr id="11" name="Picture 10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689" y="3383280"/>
            <a:ext cx="4002237" cy="2633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78727" y="1572768"/>
            <a:ext cx="53917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920240"/>
            <a:ext cx="5391759" cy="137160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1965960"/>
            <a:ext cx="5099151" cy="12801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多点探索に，解を 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に近づける移動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（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安定性誘導演算子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）を組み込めば，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その経路上に変更量の小さい解が現れるため，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多点探索の高安定 HV は向上する</a:t>
            </a:r>
          </a:p>
        </p:txBody>
      </p:sp>
      <p:pic>
        <p:nvPicPr>
          <p:cNvPr id="15" name="Picture 14" descr="concept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7768" y="3383280"/>
            <a:ext cx="4002237" cy="26334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6071616"/>
            <a:ext cx="11057839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主眼は最先端手法との性能競争ではなく，条件を統制して探索構造と演算子の関係を切り分けること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42316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問題設定と実験計画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問題設定・探索構造・安定性誘導演算子・仮説の判定・評価指標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問題設定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決定変数は，遅延後に最適化対象となる作業の，機械ごとの処理順序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8308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ジョブ・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機械のジョブショップ問題（JSP）に，単一作業の遅延（遅延量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Δ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）が発生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再スケジューリング時刻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より前に開始した作業は凍結し，以降の作業集合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O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opt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機械ごとの処理順序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を決定変数とする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安定性は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処理順序の変更量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で測る（順序偏差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</a:t>
            </a:r>
          </a:p>
        </p:txBody>
      </p:sp>
      <p:pic>
        <p:nvPicPr>
          <p:cNvPr id="9" name="Picture 8" descr="eq_talk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04" y="3520440"/>
            <a:ext cx="2905086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1888" y="3666744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160520"/>
            <a:ext cx="57607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r</a:t>
            </a:r>
            <a:r>
              <a:rPr sz="900" b="0" i="1" baseline="-22000">
                <a:solidFill>
                  <a:srgbClr val="6E7A88"/>
                </a:solidFill>
                <a:latin typeface="Meiryo"/>
                <a:ea typeface="Meiryo"/>
              </a:rPr>
              <a:t>i,j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：機械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i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におけるジョブ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の処理順位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66344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二目的（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,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）は重み付き和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にまとめ，重み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を生産効率重視から安定性重視まで掃引し，得られた全非劣解で評価する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783080"/>
            <a:ext cx="4526280" cy="443484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0690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889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072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79608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9608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605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0072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79608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9608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75904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94976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0" y="5120640"/>
            <a:ext cx="4069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 = |2−4| ＋ |4−2| = </a:t>
            </a:r>
            <a:r>
              <a:rPr sz="1600" b="1" i="0">
                <a:solidFill>
                  <a:srgbClr val="B03A2E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577840"/>
            <a:ext cx="40690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の処理順序を保った解は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=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比較する探索構造：単点探索と多点探索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局所探索などの条件を揃え，解の作り方（少しずつ変更するか，交叉で組み替えるか）を比較する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5346039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9164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9164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Meiryo"/>
                <a:ea typeface="Meiryo"/>
              </a:rPr>
              <a:t>単点探索（ILS：反復局所探索）</a:t>
            </a:r>
            <a:r>
              <a:rPr sz="1200" b="0" i="0">
                <a:solidFill>
                  <a:srgbClr val="FFFFFF"/>
                </a:solidFill>
                <a:latin typeface="Meiryo"/>
                <a:ea typeface="Meiryo"/>
              </a:rPr>
              <a:t>　現在解は常に 1 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76856"/>
            <a:ext cx="4888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00" b="1" i="0">
                <a:solidFill>
                  <a:srgbClr val="E06C00"/>
                </a:solidFill>
                <a:latin typeface="Meiryo"/>
                <a:ea typeface="Meiryo"/>
              </a:rPr>
              <a:t>選定理由：</a:t>
            </a:r>
            <a:r>
              <a:rPr sz="1200" b="0" i="0">
                <a:solidFill>
                  <a:srgbClr val="26303A"/>
                </a:solidFill>
                <a:latin typeface="Meiryo"/>
                <a:ea typeface="Meiryo"/>
              </a:rPr>
              <a:t>局所探索と摂動が別の段で，演算子を摂動に組み込める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" y="2715768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初期解：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" y="3300984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70048" y="3136392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86968" y="3886200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摂動：数手の insert 移動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70048" y="3721607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6968" y="4471416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70048" y="430682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86968" y="5056632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受理判定：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が改善すれば更新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670048" y="489204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471416" y="5257800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4709160" y="4087368"/>
            <a:ext cx="0" cy="1170432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4489704" y="4087368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782312" y="4489703"/>
            <a:ext cx="11887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反復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78727" y="1691640"/>
            <a:ext cx="5346039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78727" y="169164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61607" y="169164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Meiryo"/>
                <a:ea typeface="Meiryo"/>
              </a:rPr>
              <a:t>多点探索（Memetic：GA＋局所探索）</a:t>
            </a:r>
            <a:r>
              <a:rPr sz="1200" b="0" i="0">
                <a:solidFill>
                  <a:srgbClr val="FFFFFF"/>
                </a:solidFill>
                <a:latin typeface="Meiryo"/>
                <a:ea typeface="Meiryo"/>
              </a:rPr>
              <a:t>　複数の解を保持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7327" y="2276856"/>
            <a:ext cx="4888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00" b="1" i="0">
                <a:solidFill>
                  <a:srgbClr val="0F5C28"/>
                </a:solidFill>
                <a:latin typeface="Meiryo"/>
                <a:ea typeface="Meiryo"/>
              </a:rPr>
              <a:t>選定理由：</a:t>
            </a:r>
            <a:r>
              <a:rPr sz="1200" b="0" i="0">
                <a:solidFill>
                  <a:srgbClr val="26303A"/>
                </a:solidFill>
                <a:latin typeface="Meiryo"/>
                <a:ea typeface="Meiryo"/>
              </a:rPr>
              <a:t>先行研究で標準的な，GA に局所探索を組み込んだ構成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98767" y="2715768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初期集団：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＋ 無作為に生成した個体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98767" y="3392424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選択・交叉：2 親の染色体を組み替え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381847" y="3136392"/>
            <a:ext cx="0" cy="23774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598767" y="4069080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突然変異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81847" y="3813048"/>
            <a:ext cx="0" cy="23774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598767" y="4745736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局所探索：N5 近傍（各個体）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381847" y="4489703"/>
            <a:ext cx="0" cy="23774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183215" y="4946903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0420959" y="3593592"/>
            <a:ext cx="0" cy="1353311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0201503" y="3593592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0494111" y="4087368"/>
            <a:ext cx="11887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世代交代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5760720"/>
            <a:ext cx="11057839" cy="566928"/>
          </a:xfrm>
          <a:prstGeom prst="roundRect">
            <a:avLst>
              <a:gd name="adj" fmla="val 12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探索構造の差だけを比較するため，局所探索（N5 近傍）・目的関数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F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・初期解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 を両者で揃える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提案：安定性誘導演算子（PR と PR-</a:t>
            </a:r>
            <a:r>
              <a:rPr sz="2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の誘導解を初期スケジュール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に固定し，現在解から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へ swap でたどる経路上の解を返す操作にする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12</a:t>
            </a:r>
          </a:p>
        </p:txBody>
      </p:sp>
      <p:pic>
        <p:nvPicPr>
          <p:cNvPr id="8" name="Picture 7" descr="concept_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32120" cy="364013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5459790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通常の 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7" y="5423214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探索中に得た良い解どうしを結び，その間を探索する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843838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7" y="5807262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誘導解を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固定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→ 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に近づける操作になる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73368" y="1691640"/>
            <a:ext cx="5251399" cy="379476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1764792"/>
            <a:ext cx="479419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例：ある機械の処理順序を </a:t>
            </a:r>
            <a:r>
              <a:rPr sz="14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0528" y="2148840"/>
            <a:ext cx="4977079" cy="548640"/>
          </a:xfrm>
          <a:prstGeom prst="roundRect">
            <a:avLst>
              <a:gd name="adj" fmla="val 10000"/>
            </a:avLst>
          </a:prstGeom>
          <a:solidFill>
            <a:srgbClr val="CF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1968" y="2212848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936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（誘導解）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44967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9911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5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29800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9607" y="2212848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880360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現在解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44967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9911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4855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9607" y="2880360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7" y="3300984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swap：J4 と J3 を入れ替え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1968" y="3648456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1 回目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4967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39911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34855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29800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79607" y="3648456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9247" y="4069080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swap：J3 と J2 を入れ替え（</a:t>
            </a:r>
            <a:r>
              <a:rPr sz="1100" b="0" i="1">
                <a:solidFill>
                  <a:srgbClr val="B03A2E"/>
                </a:solidFill>
                <a:latin typeface="Meiryo"/>
                <a:ea typeface="Meiryo"/>
              </a:rPr>
              <a:t>S</a:t>
            </a:r>
            <a:r>
              <a:rPr sz="792" b="0" i="1" baseline="-22000">
                <a:solidFill>
                  <a:srgbClr val="B03A2E"/>
                </a:solidFill>
                <a:latin typeface="Meiryo"/>
                <a:ea typeface="Meiryo"/>
              </a:rPr>
              <a:t>p</a:t>
            </a: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 に到達）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4416552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2 回目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44967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9911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34855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29800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79607" y="4416552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1968" y="4846320"/>
            <a:ext cx="4794199" cy="56692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赤枠：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と順位が異なる作業（その数が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）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1 回の swap で 1 作業を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の順位に合わせ，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が小さくなる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73368" y="5623560"/>
            <a:ext cx="5251399" cy="640079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01968" y="5660136"/>
            <a:ext cx="4794199" cy="56692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E06C00"/>
                </a:solidFill>
                <a:latin typeface="Meiryo"/>
                <a:ea typeface="Meiryo"/>
              </a:rPr>
              <a:t>ILS：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停滞したときに摂動として発動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0F5C28"/>
                </a:solidFill>
                <a:latin typeface="Meiryo"/>
                <a:ea typeface="Meiryo"/>
              </a:rPr>
              <a:t>Memetic：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各個体に確率的に改善操作として発動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比較する手法と仮説の判定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 は ILS と Memetic，仮説 2 は Memetic と演算子を組み込んだ Memetic の高安定 HV を比較して判定する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83080"/>
          <a:ext cx="7955280" cy="1152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103120"/>
                <a:gridCol w="1828800"/>
                <a:gridCol w="17373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探索構造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安定性誘導演算子なし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450" b="1" i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単点探索（ILS）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ILS＋PR-</a:t>
                      </a:r>
                      <a:r>
                        <a:rPr sz="1450" b="1" i="1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多点探索（Memetic）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Memetic＋PR-</a:t>
                      </a:r>
                      <a:r>
                        <a:rPr sz="1450" b="1" i="1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2898648" y="2212848"/>
            <a:ext cx="5577840" cy="292607"/>
          </a:xfrm>
          <a:prstGeom prst="roundRect">
            <a:avLst>
              <a:gd name="adj" fmla="val 8000"/>
            </a:avLst>
          </a:prstGeom>
          <a:noFill/>
          <a:ln w="20320">
            <a:solidFill>
              <a:srgbClr val="6E7A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8648" y="2596896"/>
            <a:ext cx="5577840" cy="292607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2E1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98648" y="2212848"/>
            <a:ext cx="2011679" cy="676655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7088" y="34015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単点探索のほうが，多点探索より高安定 HV が大きい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7088" y="38404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 が Memetic を全シナリオで有意に上回れば支持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2245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43159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安定性誘導演算子を組み込めば，多点探索の高安定 HV は向上する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7088" y="47548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Memetic＋PR-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Memetic＋PR がそれぞれ Memetic を全シナリオで有意に上回れば支持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1389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52578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仮説の外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7088" y="52303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ILS＋PR も同じ形で ILS と比較し，演算子の効果が探索構造で異なるかを見る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79008"/>
            <a:ext cx="11057839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検定：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両側 Mann–Whitney の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U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検定．全シナリオにわたる同じ比較は Holm 法で補正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効果量：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Cliff's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δ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|δ|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は，一方の全試行が他方の全試行を上回る完全分離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評価指標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 HV は，順序偏差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D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θ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未満の非劣解だけで算出した HV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14</a:t>
            </a:r>
          </a:p>
        </p:txBody>
      </p:sp>
      <p:pic>
        <p:nvPicPr>
          <p:cNvPr id="8" name="Picture 7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27632"/>
            <a:ext cx="10966399" cy="3882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：全手法・全試行の非劣解の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パーセンタイル．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 の解（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の処理順序を保った解）は全手法が探索せずに得るため HV から除く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全域 HV・高安定 HV は全ての重み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の解を合わせて算出し，AUC は重みごとに算出して平均する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47472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数値実験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実験設定・高安定 HV・全域 HV と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実験設定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5 つのベンチマーク問題に単一作業の遅延を与え，8 シナリオを構成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8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641"/>
                <a:gridCol w="895419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比較手法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ILS・Memetic と，それぞれに PR-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／PR を組み込んだ 6 手法＋参考の GA（局所探索なし）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問題・外乱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mt10・la21・la36・la40・ta21 に単一作業の完了遅延（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Δ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60〜148，対象作業の処理時間の約 0.9〜1.5 倍）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シナリオ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8 つ：la36S・la36M・la36L，ta21S・ta21L，mt10，la21，la40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la36 と ta21 は同一問題・同一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のまま外乱の規模だけを段階的に変え，小さい順に S・M・L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初期スケジュール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500 世代の GA で生成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重み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0, 0.1, …, 0.9 の 10 点（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1.0 は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0 の自明解に縮退するため除外）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計算予算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 3000 反復，GA・Memetic 系 500 世代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系：交叉率 0.85，突然変異率 0.1，集団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系：insert 摂動 2〜5 手を鋸歯状に巡回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安定性誘導演算子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 系：各個体に確率 0.3 で発動．PR は経路上の上位 3 中間解を局所探索して最良を返す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高安定領域の境界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θ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：全手法・全試行の非劣解の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の中央値）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試行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各条件 10 試行（全乱数シード固定）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138928"/>
            <a:ext cx="11057839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妥当性の確認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計算予算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：中央値の試行は全手法とも，予算の 7 割以内で最終の全域 HV の 99% に到達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：挙動を定める 11 軸を 2 シナリオで一要因ずつ振っても，全域 HV の変化は +0.5〜2%（手法間の差は +7〜54%）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の比較：代表 2 シナリオの非劣解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ta21S では，演算子なしの Memetic は高安定領域に非劣解を持たない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17</a:t>
            </a:r>
          </a:p>
        </p:txBody>
      </p:sp>
      <p:pic>
        <p:nvPicPr>
          <p:cNvPr id="8" name="Picture 7" descr="front_ta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ta21S：Memetic は高安定領域に非劣解を持たない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ta21L：Memetic は高安定領域に入るが，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で ILS に劣る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どちらのシナリオでも，演算子を組み込むと両構造の Pareto フロント（点線）は高安定領域で重なる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の比較：全 8 シナリオ（仮説の判定）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1・仮説 2 とも，全 8 シナリオで支持された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18</a:t>
            </a:r>
          </a:p>
        </p:txBody>
      </p:sp>
      <p:pic>
        <p:nvPicPr>
          <p:cNvPr id="8" name="Picture 7" descr="highstab_all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：演算子なしで ILS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：演算子を組み込んだ Memetic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530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620" b="0" i="0">
                <a:solidFill>
                  <a:srgbClr val="26303A"/>
                </a:solidFill>
                <a:latin typeface="Meiryo"/>
                <a:ea typeface="Meiryo"/>
              </a:rPr>
              <a:t>Memetic は演算子を組み込むと ILS と同程度まで向上する一方，ILS ではほとんど向上しない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の比較：演算子の効果が現れる条件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効果の非対称は，組み込む前に「到達上限の帯」に入っているかで説明できる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pic>
        <p:nvPicPr>
          <p:cNvPr id="8" name="Picture 7" descr="highstab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どのシナリオでも 3〜5 手法が最良値の 2% 以内に集まる → この帯を到達上限とみなす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Memetic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：演算子なしでは全シナリオで帯の外 → 組み込むと 7 つで帯の中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ILS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 6 つが帯の中 → 有意に向上したのは帯の外の 2 つだけ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035040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演算子の効果は，探索構造の違いそのものではなく，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組み込む前に上限までの差が残っているかで決まる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AUC：代表 2 シナリオの推移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立ち上がりは ILS が速く，到達した全域 HV は演算子を組み込んだ Memetic が同等以上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20</a:t>
            </a:r>
          </a:p>
        </p:txBody>
      </p:sp>
      <p:pic>
        <p:nvPicPr>
          <p:cNvPr id="8" name="Picture 7" descr="any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4865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ta21S：演算子を組み込んだ Memetic も ILS と同じ全域 HV に達するが，立ち上がりが遅い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la36L：Memetic 系は途中で ILS 系を追い越し，より大きい全域 HV に達する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AUC：全 8 シナリオ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最良の手法は評価指標によって異なる：全域 HV は Memetic＋演算子，AUC は 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2578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最良に並ぶシナリオ数（/8）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48256"/>
          <a:ext cx="5257800" cy="3438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1051560"/>
                <a:gridCol w="1234440"/>
                <a:gridCol w="86868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手法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全域HV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高安定HV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AUC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5257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E7A88"/>
                </a:solidFill>
                <a:latin typeface="Meiryo"/>
                <a:ea typeface="Meiryo"/>
              </a:rPr>
              <a:t>最良に並ぶ：中央値が最良手法の中央値から 2% 以内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591056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全域 HV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48256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Memetic＋演算子が最良に並ぶ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系は 4 シナリオで 5〜38% 下回る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高安定 HV での ILS の優位は，</a:t>
            </a:r>
          </a:p>
          <a:p>
            <a:pPr algn="l">
              <a:lnSpc>
                <a:spcPct val="112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全体として優れていることの反映ではない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4023360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4480560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 では演算子が各個体に発動して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計算時間が増え，PR は AUC を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5 シナリオで 7〜26% 下げる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2628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結論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まとめ・限界と今後の課題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まとめ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が探索前に得られる再スケジューリングでは，高安定領域で探索構造と演算子の関係が分かれる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9476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1764792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1 を支持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46504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単点探索（ILS）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が多点探索（Memetic）を上回る．全 8 シナリオの全試行で分離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0723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2889504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2 を支持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871216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安定性誘導演算子は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多点探索の高安定 HV を単点探索と同程度まで向上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させ，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単点探索ではほとんど向上させない．効果は，組み込む前に到達上限の帯に入っているかで決まる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41064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1970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7" y="4014216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手法の選び方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995928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全域 HV を重視するなら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Memetic＋演算子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，短い計算時間で解を得るなら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ILS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．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では両者が並ぶ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65776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5607" y="5138928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貢献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120640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手法を高安定 HV でも評価し，局所探索を揃えた統制比較で，探索構造と演算子の関係を切り分けた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ある演算子が有効だという報告は，どの探索構造に組み込んだかを抜きにしては一般化できない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限界と今後の課題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結論は本実験の条件の下で得たもので，条件を変えた再検証が今後の課題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93392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(i)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が有意水準に近い比較は，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= 10 では決着していない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(ii) 安定性を開始時刻偏差で測る場合の妥当性は検証していない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(iii) 外乱は単一作業の遅延に限る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(iv) 初期スケジュール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の最適化の程度が結果に与える影響は検証していない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(v) 各探索構造の代表は 1 手法ずつである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86200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今後の課題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288536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上記の条件を変えた再検証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再スケジュールの範囲を限定するアプローチと安定性誘導演算子の統合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安定性を交叉自体に持たせる方式の検証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Pareto 支配に基づく手法（NSGA-II 等）での再検証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データ：各シナリオの定義と，試行ごとの値・検定は公開リポジトリに収録（https://github.com/kitotakumi/stability_scheduling）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5176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予備スライド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［予備］問題設定の根拠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外乱を単一の作業遅延に限る理由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：作業遅延は作業集合を変えず，処理順序の再調整だけで対処できる．修正スケジュールを高安定領域に保つという前提が，最も素直に成り立つ外乱である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再スケジューリング時刻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t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：遅延の解消時刻．遅延の発生から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までは，機械上の順序を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から変えずに遅延を吸収して実行を続ける（right-shift）．この間に開始した作業はもう変更できないため凍結し，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以降の作業の機械ごとの処理順序だけを決定変数とする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安定性を順序偏差で測る理由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：変更量の測り方は，開始時刻偏差と順序偏差の二系統に大別される（Sun ら (2026) は前者の開始時刻の絶対偏差和を採る）．本研究は，探索で用いる操作（N5 近傍と安定性誘導演算子の swap 移動）がいずれも順列操作であること，および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との独立性が高いことから，順序偏差を採る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［予備］重み付き和によるスカラー化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27</a:t>
            </a:r>
          </a:p>
        </p:txBody>
      </p:sp>
      <p:pic>
        <p:nvPicPr>
          <p:cNvPr id="6" name="Picture 5" descr="eq_talk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240" y="1325880"/>
            <a:ext cx="4905213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84687" y="1463040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1057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，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MS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は min-max 正規化値．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0, 0.1, …, 0.9 の 10 点で探索を独立に行う（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 の自明解に縮退するため除く）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運用との対応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：生産効率と安定性の優先度は，意思決定者が事前に重みとして与える．1 点ぶんの探索は，重みが定まった状態で再スケジューリングを 1 回行う実運用に対応する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先行研究との対応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：Rangsaritratsamee ら (2004)・Zhang ら (2013)・Fattahi &amp; Fallahi (2010) も，生産効率と安定性を重みで 1 つのスカラーにまとめる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統制比較の共通基盤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：単点探索と多点探索に同じ目的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を共有させ，同じ安定性誘導演算子を変更なしで組み込める → 構造間で条件を揃えて比較できる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評価との対応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：各重みの探索を時間で追えば立ち上がりの速さ（AUC）が，全重みの解を合わせれば Pareto フロント全体の HV が，同じ実験から測れる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：重み付き和は非凸な Pareto フロントの凹部に届かない．ただし全手法が同じスカラー化を共有し，探索中に訪問した凹部の解も記録するため，構造差の比較への影響は限定的．Pareto 支配に基づく手法（NSGA-II 等）での再検証は今後の課題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［予備］なぜ ILS と Memetic 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2588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単点探索の代表：ILS（反復局所探索）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摂動 → 局所探索 → 受理判定を反復し，1 つの解を改善する枠組み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局所探索と摂動が独立した段に分かれている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ため，摂動の強度（現在解から一度にどれだけ離すか）を明示的に設定でき，安定性誘導演算子も局所探索・受理判定を変えずに摂動の段へ組み込める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他の単点探索は局所最適からの脱出を別の形で行う：SA は悪化解の確率的な受理，タブーサーチは再訪の禁止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設定：初期解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．insert 摂動は 2〜5 手を停滞度に応じて巡回．best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を厳密に改善したときのみ現在解を更新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132588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多点探索の代表：Memetic（GA＋局所探索）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先行研究（Rangsaritratsamee ら 2004，Fattahi &amp; Fallahi 2010）で用いられる，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GA に局所探索を組み込んだ標準的な構成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GA：operation-based 表現，GT 法でデコード，エリート保存付きトーナメント選択，PPX 交叉，逆位突然変異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各個体に N5 局所探索を適用し，改善解を染色体に書き戻す Lamarckian 型．初期集団に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1 個体含める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局所探索をもたない素の GA は参考として比較する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［予備］安定性誘導演算子の設計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4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に固定する理由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：(a)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は順序偏差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を最小にする解なので，PR を「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を最小にする解へ向かう移動」と一意に解釈できる．(b)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へ向かう経路上には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が小さく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の劣化も小さい解が現れると期待でき，それが高安定領域の非劣解になる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PR-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で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を変える理由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に等しければ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まで戻り，小さければ現在解の近くに留まる．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を変えて繰り返すことで，現在解と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の間の広い範囲に解を得る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：両構造に「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に近づける swap 移動」という核を共有させ，発動の契機と返し方は各構造の標準的な組み込み方に合わせる．ILS は停滞時に摂動として発動し，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 1 から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 1 ずつ増やして，上限に達するか best が改善したら 1 に戻す．Memetic は局所探索の後に個体ごとに確率的に適用し（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から一様に選ぶ），N5 で再最適化して無条件に集団へ戻す（採否はトーナメント選択に委ねる）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32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05" b="0" i="0">
                <a:solidFill>
                  <a:srgbClr val="26303A"/>
                </a:solidFill>
                <a:latin typeface="Meiryo"/>
                <a:ea typeface="Meiryo"/>
              </a:rPr>
              <a:t>組み込み方が同じ ILS 系の中でも帯の内外で効果が分かれる → 効果の非対称は，組み込み方の違いでは説明できない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入れ替える作業の選び方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：実行可能な候補からランダムに選び，評価回数を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に抑える．全候補を評価する best 選択は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</a:t>
            </a:r>
            <a:r>
              <a:rPr sz="1044" b="0" i="1" baseline="30000">
                <a:solidFill>
                  <a:srgbClr val="26303A"/>
                </a:solidFill>
                <a:latin typeface="Meiryo"/>
                <a:ea typeface="Meiryo"/>
              </a:rPr>
              <a:t>2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で，予備実験では全域 HV が約 +1% 増えるのに対し，最大で約 8 倍の時間を要したため採らない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［予備］手法のパラメータ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57838" cy="24140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64"/>
                <a:gridCol w="8681774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交叉率 0.85，突然変異率 0.1，集団 50（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個体は無作為生成）．operation-based 表現，GT 法でデコード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insert 摂動 2〜5 手を巡回．局所探索は N5 近傍（クリティカルブロック端の隣接 swap）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演算子（Memetic 系）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各個体に確率 0.3 で発動．PR は経路上の上位 3 中間解を局所探索して最良を返す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演算子（ILS 系）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の深さ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 から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と処理順位が異なる作業数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までの範囲で発動ごとに変える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記録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選択の前に生成した全解から非劣解を保存（両構造で記録点を揃える）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［予備］頑健性と計算時間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 50 から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計算時間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：壁時計は Memetic+PR が ILS の 4.8〜9.4 倍．ただし中央値の試行は，全手法とも予算の 7 割以内で最終の全域 HV の 99% に達する → 全域 HV の差は計算予算の不足によらない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か PR-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：ILS ではどちらを組み込んでも 3 指標とも差は 2% 以内．Memetic では全域 HV・高安定 HV は PR がわずかに上回り（有意差は各 2 シナリオ），AUC は 1 回の計算が軽い 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が 8 シナリオ中 6 つで有意に上回る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ILS で演算子により有意に向上した 2 シナリオ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：la36L・ta21L で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&lt; 0.05．Holm 補正後に残るのは ta21L のみ（la36L は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adj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= 0.091）．中央値の向上は 6.3〜6.5%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［予備］対照実験とパラメータ感度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ランダム方向の対照実験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：Memetic に組み込んだ演算子による向上が，摂動一般の効果か，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に近づける方向に固有の効果かを確かめるため，強度を揃えて方向だけをランダム化した対照を 2 シナリオ（mt10・la36S）で実行した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ランダム方向は向上幅の 7 割前後しか再現せず，高安定 HV では演算子に完全分離で及ばない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同じ高安定 HV に達するには，1.7〜2.4 倍の時間を要する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：手法パラメータは標準値で固定した．挙動を定める 11 軸（ベースの探索構造側を含む）を 2 シナリオで一要因ずつ上下に振ったが，全域 HV の変化は +0.5〜2% で，手法間の差（+7〜54%）より一桁小さい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