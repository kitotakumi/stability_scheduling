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9404"/>
            <a:ext cx="2286000" cy="393192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9404"/>
            <a:ext cx="1773936" cy="3931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製造現場では，機械故障や作業遅延などにより，スケジュール通りに作業を実行できないことがある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089404"/>
            <a:ext cx="3474720" cy="1874519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80" y="2089404"/>
            <a:ext cx="2962656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4375404"/>
            <a:ext cx="347472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4375404"/>
            <a:ext cx="2962656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外乱に対してロバストなスケジュールを事前に作成する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488" y="4375404"/>
            <a:ext cx="429127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19" y="4375404"/>
            <a:ext cx="3779215" cy="1645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7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089404"/>
            <a:ext cx="4291279" cy="1874519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436047" y="1915668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089404"/>
            <a:ext cx="3779215" cy="187451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80360" y="3026664"/>
            <a:ext cx="448056" cy="0"/>
          </a:xfrm>
          <a:prstGeom prst="line">
            <a:avLst/>
          </a:prstGeom>
          <a:ln w="3048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80360" y="5198364"/>
            <a:ext cx="448056" cy="0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858000" y="3026664"/>
            <a:ext cx="448055" cy="2171700"/>
          </a:xfrm>
          <a:prstGeom prst="bentConnector3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858000" y="3026664"/>
            <a:ext cx="448055" cy="0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46750" y="2606039"/>
            <a:ext cx="0" cy="1298449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272430" y="2404872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5546750" y="4837176"/>
            <a:ext cx="0" cy="1298448"/>
          </a:xfrm>
          <a:prstGeom prst="line">
            <a:avLst/>
          </a:prstGeom>
          <a:ln w="17780">
            <a:solidFill>
              <a:srgbClr val="6E7A88"/>
            </a:solidFill>
            <a:prstDash val="sysDot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272430" y="4636008"/>
            <a:ext cx="54864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6007608" y="3131820"/>
            <a:ext cx="320040" cy="133045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73368" y="1965960"/>
            <a:ext cx="5251399" cy="20574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74536" y="2057400"/>
            <a:ext cx="4849063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  <a:p>
            <a:pPr>
              <a:lnSpc>
                <a:spcPct val="105000"/>
              </a:lnSpc>
            </a:pPr>
            <a:r>
              <a:rPr sz="1300" b="1" i="0">
                <a:solidFill>
                  <a:srgbClr val="B03A2E"/>
                </a:solidFill>
                <a:latin typeface="Meiryo"/>
                <a:ea typeface="Meiryo"/>
              </a:rPr>
              <a:t>（スケジュール変更コスト）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74536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67647" y="2807208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74536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67647" y="3392424"/>
            <a:ext cx="2355951" cy="5120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下流工程・外注先への
予定変更の波及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8999067" y="4069080"/>
            <a:ext cx="0" cy="448056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373368" y="4562856"/>
            <a:ext cx="5251399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73368" y="4617720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74536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74536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65976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0467" y="5065776"/>
            <a:ext cx="457200" cy="10698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227667" y="5065776"/>
            <a:ext cx="2195931" cy="1069848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227667" y="5065776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19107" y="5413248"/>
            <a:ext cx="2013051" cy="72237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提案手法：安定性誘導演算子（PR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3794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80136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21992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185416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660904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1701241" y="2553004"/>
            <a:ext cx="0" cy="534010"/>
          </a:xfrm>
          <a:prstGeom prst="line">
            <a:avLst/>
          </a:prstGeom>
          <a:ln w="19050">
            <a:solidFill>
              <a:srgbClr val="16385C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509217" y="2728569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2137" y="2726740"/>
            <a:ext cx="526708" cy="405994"/>
          </a:xfrm>
          <a:prstGeom prst="line">
            <a:avLst/>
          </a:prstGeom>
          <a:ln w="20320">
            <a:solidFill>
              <a:srgbClr val="6A4C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65693" y="2949854"/>
            <a:ext cx="530352" cy="182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52297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6A4C93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つ（la36L・ta21L）だけ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系を追い越す．到達値は演算子を組み込んだ Memetic が最大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