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868680" y="1874519"/>
            <a:ext cx="2377440" cy="0"/>
          </a:xfrm>
          <a:prstGeom prst="bentConnector3">
            <a:avLst/>
          </a:prstGeom>
          <a:ln w="25400">
            <a:solidFill>
              <a:srgbClr val="3E61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68680" y="2029968"/>
            <a:ext cx="10454335" cy="17373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15000"/>
              </a:lnSpc>
            </a:pPr>
            <a:r>
              <a:rPr sz="3000" b="1" i="0">
                <a:solidFill>
                  <a:srgbClr val="FFFFFF"/>
                </a:solidFill>
                <a:latin typeface="Meiryo"/>
                <a:ea typeface="Meiryo"/>
              </a:rPr>
              <a:t>処理順序の変更量を考慮した再スケジューリングにおける</a:t>
            </a:r>
          </a:p>
          <a:p>
            <a:pPr>
              <a:lnSpc>
                <a:spcPct val="115000"/>
              </a:lnSpc>
            </a:pPr>
            <a:r>
              <a:rPr sz="3000" b="1" i="0">
                <a:solidFill>
                  <a:srgbClr val="FFFFFF"/>
                </a:solidFill>
                <a:latin typeface="Meiryo"/>
                <a:ea typeface="Meiryo"/>
              </a:rPr>
              <a:t>path relinking の適用と探索構造の比較評価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86968" y="4343400"/>
            <a:ext cx="3108960" cy="0"/>
          </a:xfrm>
          <a:prstGeom prst="bentConnector3">
            <a:avLst/>
          </a:prstGeom>
          <a:ln w="12700">
            <a:solidFill>
              <a:srgbClr val="3E61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886968" y="4480560"/>
            <a:ext cx="10454335" cy="1463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spcBef>
                <a:spcPts val="0"/>
              </a:spcBef>
            </a:pPr>
            <a:r>
              <a:rPr sz="1500" b="0" i="0">
                <a:solidFill>
                  <a:srgbClr val="AFC2D8"/>
                </a:solidFill>
                <a:latin typeface="Meiryo"/>
                <a:ea typeface="Meiryo"/>
              </a:rPr>
              <a:t>早稲田大学</a:t>
            </a:r>
          </a:p>
          <a:p>
            <a:pPr>
              <a:spcBef>
                <a:spcPts val="600"/>
              </a:spcBef>
            </a:pPr>
            <a:r>
              <a:rPr sz="1900" b="1" i="0">
                <a:solidFill>
                  <a:srgbClr val="FFFFFF"/>
                </a:solidFill>
                <a:latin typeface="Meiryo"/>
                <a:ea typeface="Meiryo"/>
              </a:rPr>
              <a:t>○鬼頭 拓海，谷水 義隆，渡邉 るりこ</a:t>
            </a:r>
          </a:p>
          <a:p>
            <a:pPr>
              <a:spcBef>
                <a:spcPts val="600"/>
              </a:spcBef>
            </a:pPr>
            <a:r>
              <a:rPr sz="1250" b="0" i="0">
                <a:solidFill>
                  <a:srgbClr val="8CA3C0"/>
                </a:solidFill>
                <a:latin typeface="Meiryo"/>
                <a:ea typeface="Meiryo"/>
              </a:rPr>
              <a:t>日本経営工学会 2026年秋季大会　2026年10月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737360" y="1371599"/>
            <a:ext cx="8716975" cy="960120"/>
          </a:xfrm>
          <a:prstGeom prst="roundRect">
            <a:avLst>
              <a:gd name="adj" fmla="val 12000"/>
            </a:avLst>
          </a:prstGeom>
          <a:solidFill>
            <a:srgbClr val="3E618C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141731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Meiryo"/>
                <a:ea typeface="Meiryo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141731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Meiryo"/>
                <a:ea typeface="Meiryo"/>
              </a:rPr>
              <a:t>研究背景と仮説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AFC2D8"/>
                </a:solidFill>
                <a:latin typeface="Meiryo"/>
                <a:ea typeface="Meiryo"/>
              </a:rPr>
              <a:t>外乱と再スケジューリング・先行研究と課題・仮説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46887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0" y="246887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問題設定と実験計画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352043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352043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数値実験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4572000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4572000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結論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AFC2D8"/>
                </a:solidFill>
                <a:latin typeface="Meiryo"/>
                <a:ea typeface="Meiryo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外乱と再スケジューリング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外乱が起きたら，事前に作成した初期スケジュール 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080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を修正する（予測リアクティブ再スケジューリング）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1. 研究背景と仮説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089404"/>
            <a:ext cx="2286000" cy="3931920"/>
          </a:xfrm>
          <a:prstGeom prst="roundRect">
            <a:avLst>
              <a:gd name="adj" fmla="val 6000"/>
            </a:avLst>
          </a:prstGeom>
          <a:solidFill>
            <a:srgbClr val="EDF2F7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089404"/>
            <a:ext cx="1773936" cy="3931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750" b="1" i="0">
                <a:solidFill>
                  <a:srgbClr val="16385C"/>
                </a:solidFill>
                <a:latin typeface="Meiryo"/>
                <a:ea typeface="Meiryo"/>
              </a:rPr>
              <a:t>外乱</a:t>
            </a:r>
          </a:p>
          <a:p>
            <a:pPr>
              <a:lnSpc>
                <a:spcPct val="110000"/>
              </a:lnSpc>
              <a:spcBef>
                <a:spcPts val="600"/>
              </a:spcBef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製造現場では，機械故障や作業遅延などにより，スケジュール通りに作業を実行できないことがある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55848" y="2089404"/>
            <a:ext cx="3474720" cy="1874519"/>
          </a:xfrm>
          <a:prstGeom prst="roundRect">
            <a:avLst>
              <a:gd name="adj" fmla="val 6000"/>
            </a:avLst>
          </a:prstGeom>
          <a:solidFill>
            <a:srgbClr val="EDF2F7"/>
          </a:solidFill>
          <a:ln w="22860">
            <a:solidFill>
              <a:srgbClr val="1638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11880" y="2089404"/>
            <a:ext cx="2962656" cy="1874519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750" b="1" i="0">
                <a:solidFill>
                  <a:srgbClr val="16385C"/>
                </a:solidFill>
                <a:latin typeface="Meiryo"/>
                <a:ea typeface="Meiryo"/>
              </a:rPr>
              <a:t>動的アプローチ</a:t>
            </a:r>
          </a:p>
          <a:p>
            <a:pPr>
              <a:lnSpc>
                <a:spcPct val="110000"/>
              </a:lnSpc>
              <a:spcBef>
                <a:spcPts val="600"/>
              </a:spcBef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外乱の発生後に，スケジュールを修正する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55848" y="4375404"/>
            <a:ext cx="3474720" cy="1645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11880" y="4375404"/>
            <a:ext cx="2962656" cy="1645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750" b="1" i="0">
                <a:solidFill>
                  <a:srgbClr val="6E7A88"/>
                </a:solidFill>
                <a:latin typeface="Meiryo"/>
                <a:ea typeface="Meiryo"/>
              </a:rPr>
              <a:t>静的アプローチ</a:t>
            </a:r>
          </a:p>
          <a:p>
            <a:pPr>
              <a:lnSpc>
                <a:spcPct val="110000"/>
              </a:lnSpc>
              <a:spcBef>
                <a:spcPts val="600"/>
              </a:spcBef>
            </a:pPr>
            <a:r>
              <a:rPr sz="1350" b="0" i="0">
                <a:solidFill>
                  <a:srgbClr val="6E7A88"/>
                </a:solidFill>
                <a:latin typeface="Meiryo"/>
                <a:ea typeface="Meiryo"/>
              </a:rPr>
              <a:t>外乱に対してロバストなスケジュールを事前に作成する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33488" y="4375404"/>
            <a:ext cx="4291279" cy="1645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89519" y="4375404"/>
            <a:ext cx="3779215" cy="1645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750" b="1" i="0">
                <a:solidFill>
                  <a:srgbClr val="6E7A88"/>
                </a:solidFill>
                <a:latin typeface="Meiryo"/>
                <a:ea typeface="Meiryo"/>
              </a:rPr>
              <a:t>完全リアクティブ</a:t>
            </a:r>
          </a:p>
          <a:p>
            <a:pPr>
              <a:lnSpc>
                <a:spcPct val="110000"/>
              </a:lnSpc>
              <a:spcBef>
                <a:spcPts val="600"/>
              </a:spcBef>
            </a:pPr>
            <a:r>
              <a:rPr sz="1350" b="0" i="0">
                <a:solidFill>
                  <a:srgbClr val="6E7A88"/>
                </a:solidFill>
                <a:latin typeface="Meiryo"/>
                <a:ea typeface="Meiryo"/>
              </a:rPr>
              <a:t>事前のスケジュールを持たず，ディスパッチングルールなどで作業をその場で決める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33488" y="2089404"/>
            <a:ext cx="4291279" cy="1874519"/>
          </a:xfrm>
          <a:prstGeom prst="roundRect">
            <a:avLst>
              <a:gd name="adj" fmla="val 6000"/>
            </a:avLst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0436047" y="1915668"/>
            <a:ext cx="1005840" cy="347472"/>
          </a:xfrm>
          <a:prstGeom prst="roundRect">
            <a:avLst>
              <a:gd name="adj" fmla="val 40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Meiryo"/>
                <a:ea typeface="Meiryo"/>
              </a:rPr>
              <a:t>本研究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89519" y="2089404"/>
            <a:ext cx="3779215" cy="1874519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Meiryo"/>
                <a:ea typeface="Meiryo"/>
              </a:rPr>
              <a:t>予測リアクティブ再スケジューリング</a:t>
            </a:r>
          </a:p>
          <a:p>
            <a:pPr>
              <a:lnSpc>
                <a:spcPct val="110000"/>
              </a:lnSpc>
              <a:spcBef>
                <a:spcPts val="600"/>
              </a:spcBef>
            </a:pPr>
            <a:r>
              <a:rPr sz="1400" b="0" i="0">
                <a:solidFill>
                  <a:srgbClr val="FFFFFF"/>
                </a:solidFill>
                <a:latin typeface="Meiryo"/>
                <a:ea typeface="Meiryo"/>
              </a:rPr>
              <a:t>外乱が起きたら，外乱前のスケジュール（</a:t>
            </a:r>
            <a:r>
              <a:rPr sz="1400" b="1" i="0">
                <a:solidFill>
                  <a:srgbClr val="FFFFFF"/>
                </a:solidFill>
                <a:latin typeface="Meiryo"/>
                <a:ea typeface="Meiryo"/>
              </a:rPr>
              <a:t>初期スケジュール </a:t>
            </a:r>
            <a:r>
              <a:rPr sz="1400" b="1" i="1">
                <a:solidFill>
                  <a:srgbClr val="FFFFFF"/>
                </a:solidFill>
                <a:latin typeface="Meiryo"/>
                <a:ea typeface="Meiryo"/>
              </a:rPr>
              <a:t>S</a:t>
            </a:r>
            <a:r>
              <a:rPr sz="1008" b="1" i="1" baseline="-22000">
                <a:solidFill>
                  <a:srgbClr val="FFFFFF"/>
                </a:solidFill>
                <a:latin typeface="Meiryo"/>
                <a:ea typeface="Meiryo"/>
              </a:rPr>
              <a:t>p</a:t>
            </a:r>
            <a:r>
              <a:rPr sz="1400" b="0" i="0">
                <a:solidFill>
                  <a:srgbClr val="FFFFFF"/>
                </a:solidFill>
                <a:latin typeface="Meiryo"/>
                <a:ea typeface="Meiryo"/>
              </a:rPr>
              <a:t>）を修正する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880360" y="3026664"/>
            <a:ext cx="448056" cy="0"/>
          </a:xfrm>
          <a:prstGeom prst="line">
            <a:avLst/>
          </a:prstGeom>
          <a:ln w="30480">
            <a:solidFill>
              <a:srgbClr val="16385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2880360" y="5198364"/>
            <a:ext cx="448056" cy="0"/>
          </a:xfrm>
          <a:prstGeom prst="line">
            <a:avLst/>
          </a:prstGeom>
          <a:ln w="2032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6858000" y="3026664"/>
            <a:ext cx="448055" cy="2171700"/>
          </a:xfrm>
          <a:prstGeom prst="bentConnector3">
            <a:avLst/>
          </a:prstGeom>
          <a:ln w="2032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6858000" y="3026664"/>
            <a:ext cx="448055" cy="0"/>
          </a:xfrm>
          <a:prstGeom prst="line">
            <a:avLst/>
          </a:prstGeom>
          <a:ln w="33020">
            <a:solidFill>
              <a:srgbClr val="16385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再スケジューリングと安定性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スケジュールの変更は現場にコストを生むため，生産効率と安定性の二目的最適化として扱う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1. 研究背景と仮説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572768"/>
            <a:ext cx="5394960" cy="32918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250" b="1" i="0">
                <a:solidFill>
                  <a:srgbClr val="26303A"/>
                </a:solidFill>
                <a:latin typeface="Meiryo"/>
                <a:ea typeface="Meiryo"/>
              </a:rPr>
              <a:t>例：</a:t>
            </a:r>
            <a:r>
              <a:rPr sz="1250" b="1" i="0">
                <a:solidFill>
                  <a:srgbClr val="B03A2E"/>
                </a:solidFill>
                <a:latin typeface="Meiryo"/>
                <a:ea typeface="Meiryo"/>
              </a:rPr>
              <a:t>M2 の J1 が 3 遅延（赤）</a:t>
            </a: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 → 時刻 </a:t>
            </a:r>
            <a:r>
              <a:rPr sz="1250" b="0" i="1">
                <a:solidFill>
                  <a:srgbClr val="26303A"/>
                </a:solidFill>
                <a:latin typeface="Meiryo"/>
                <a:ea typeface="Meiryo"/>
              </a:rPr>
              <a:t>t</a:t>
            </a:r>
            <a:r>
              <a:rPr sz="900" b="0" i="1" baseline="-22000">
                <a:solidFill>
                  <a:srgbClr val="26303A"/>
                </a:solidFill>
                <a:latin typeface="Meiryo"/>
                <a:ea typeface="Meiryo"/>
              </a:rPr>
              <a:t>r</a:t>
            </a: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 以降の処理順序を変更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965960"/>
            <a:ext cx="539496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2057400"/>
            <a:ext cx="2377440" cy="34747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971" b="1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350" b="1" i="0">
                <a:solidFill>
                  <a:srgbClr val="26303A"/>
                </a:solidFill>
                <a:latin typeface="Meiryo"/>
                <a:ea typeface="Meiryo"/>
              </a:rPr>
              <a:t> の処理順序を保つ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64408" y="2057400"/>
            <a:ext cx="1225296" cy="347472"/>
          </a:xfrm>
          <a:prstGeom prst="roundRect">
            <a:avLst>
              <a:gd name="adj" fmla="val 30000"/>
            </a:avLst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26303A"/>
                </a:solidFill>
                <a:latin typeface="Meiryo"/>
                <a:ea typeface="Meiryo"/>
              </a:rPr>
              <a:t>総所要時間 19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44568" y="2057400"/>
            <a:ext cx="1225296" cy="347472"/>
          </a:xfrm>
          <a:prstGeom prst="roundRect">
            <a:avLst>
              <a:gd name="adj" fmla="val 3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  <a:ea typeface="Meiryo"/>
              </a:rPr>
              <a:t>変更なし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2715768"/>
            <a:ext cx="384048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M1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7572" y="2715768"/>
            <a:ext cx="669340" cy="310896"/>
          </a:xfrm>
          <a:prstGeom prst="roundRect">
            <a:avLst>
              <a:gd name="adj" fmla="val 8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076602" y="2715768"/>
            <a:ext cx="669340" cy="310896"/>
          </a:xfrm>
          <a:prstGeom prst="roundRect">
            <a:avLst>
              <a:gd name="adj" fmla="val 8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31436" y="2715768"/>
            <a:ext cx="901598" cy="310896"/>
          </a:xfrm>
          <a:prstGeom prst="roundRect">
            <a:avLst>
              <a:gd name="adj" fmla="val 8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3118103"/>
            <a:ext cx="384048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M2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7572" y="3118103"/>
            <a:ext cx="669340" cy="310896"/>
          </a:xfrm>
          <a:prstGeom prst="roundRect">
            <a:avLst>
              <a:gd name="adj" fmla="val 8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844344" y="3118103"/>
            <a:ext cx="669340" cy="310896"/>
          </a:xfrm>
          <a:prstGeom prst="roundRect">
            <a:avLst>
              <a:gd name="adj" fmla="val 8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541117" y="3118103"/>
            <a:ext cx="669340" cy="310896"/>
          </a:xfrm>
          <a:prstGeom prst="roundRect">
            <a:avLst>
              <a:gd name="adj" fmla="val 8000"/>
            </a:avLst>
          </a:prstGeom>
          <a:solidFill>
            <a:srgbClr val="F6D5D1"/>
          </a:solidFill>
          <a:ln w="1524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237890" y="3118103"/>
            <a:ext cx="669340" cy="310896"/>
          </a:xfrm>
          <a:prstGeom prst="roundRect">
            <a:avLst>
              <a:gd name="adj" fmla="val 8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3520439"/>
            <a:ext cx="384048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M3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7572" y="3520439"/>
            <a:ext cx="901598" cy="310896"/>
          </a:xfrm>
          <a:prstGeom prst="roundRect">
            <a:avLst>
              <a:gd name="adj" fmla="val 8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37890" y="3520439"/>
            <a:ext cx="669340" cy="310896"/>
          </a:xfrm>
          <a:prstGeom prst="roundRect">
            <a:avLst>
              <a:gd name="adj" fmla="val 8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934663" y="3520439"/>
            <a:ext cx="669340" cy="310896"/>
          </a:xfrm>
          <a:prstGeom prst="roundRect">
            <a:avLst>
              <a:gd name="adj" fmla="val 8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133856" y="3867912"/>
            <a:ext cx="4645152" cy="0"/>
          </a:xfrm>
          <a:prstGeom prst="bentConnector3">
            <a:avLst/>
          </a:prstGeom>
          <a:ln w="12700">
            <a:solidFill>
              <a:srgbClr val="D6DEE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1115568" y="2679191"/>
            <a:ext cx="2108606" cy="1188720"/>
          </a:xfrm>
          <a:prstGeom prst="rect">
            <a:avLst/>
          </a:prstGeom>
          <a:solidFill>
            <a:srgbClr val="FFFFF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>
            <a:off x="3224174" y="2606039"/>
            <a:ext cx="0" cy="1298449"/>
          </a:xfrm>
          <a:prstGeom prst="line">
            <a:avLst/>
          </a:prstGeom>
          <a:ln w="20320">
            <a:solidFill>
              <a:srgbClr val="26303A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546750" y="2606039"/>
            <a:ext cx="0" cy="1298449"/>
          </a:xfrm>
          <a:prstGeom prst="line">
            <a:avLst/>
          </a:prstGeom>
          <a:ln w="17780">
            <a:solidFill>
              <a:srgbClr val="6E7A88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5272430" y="2404872"/>
            <a:ext cx="548640" cy="23774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95574" y="2404872"/>
            <a:ext cx="457200" cy="23774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150" b="1" i="1">
                <a:solidFill>
                  <a:srgbClr val="26303A"/>
                </a:solidFill>
                <a:latin typeface="Meiryo"/>
                <a:ea typeface="Meiryo"/>
              </a:rPr>
              <a:t>t</a:t>
            </a:r>
            <a:r>
              <a:rPr sz="827" b="1" i="1" baseline="-22000">
                <a:solidFill>
                  <a:srgbClr val="26303A"/>
                </a:solidFill>
                <a:latin typeface="Meiryo"/>
                <a:ea typeface="Meiryo"/>
              </a:rPr>
              <a:t>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33856" y="2414015"/>
            <a:ext cx="1788566" cy="23774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5000"/>
              </a:lnSpc>
            </a:pPr>
            <a:r>
              <a:rPr sz="950" b="0" i="0">
                <a:solidFill>
                  <a:srgbClr val="6E7A88"/>
                </a:solidFill>
                <a:latin typeface="Meiryo"/>
                <a:ea typeface="Meiryo"/>
              </a:rPr>
              <a:t>開始済み（凍結）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25342" y="2414015"/>
            <a:ext cx="2286000" cy="23774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 i="0">
                <a:solidFill>
                  <a:srgbClr val="6E7A88"/>
                </a:solidFill>
                <a:latin typeface="Meiryo"/>
                <a:ea typeface="Meiryo"/>
              </a:rPr>
              <a:t>再スケジューリングの対象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66928" y="4197096"/>
            <a:ext cx="539496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49808" y="4288536"/>
            <a:ext cx="2377440" cy="34747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26303A"/>
                </a:solidFill>
                <a:latin typeface="Meiryo"/>
                <a:ea typeface="Meiryo"/>
              </a:rPr>
              <a:t>M3 の順序を入れ替える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64408" y="4288536"/>
            <a:ext cx="1225296" cy="347472"/>
          </a:xfrm>
          <a:prstGeom prst="roundRect">
            <a:avLst>
              <a:gd name="adj" fmla="val 3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  <a:ea typeface="Meiryo"/>
              </a:rPr>
              <a:t>総所要時間 16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44568" y="4288536"/>
            <a:ext cx="1225296" cy="347472"/>
          </a:xfrm>
          <a:prstGeom prst="roundRect">
            <a:avLst>
              <a:gd name="adj" fmla="val 30000"/>
            </a:avLst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  <a:ea typeface="Meiryo"/>
              </a:rPr>
              <a:t>順序を変更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9808" y="4946904"/>
            <a:ext cx="384048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M1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147572" y="4946904"/>
            <a:ext cx="669340" cy="310896"/>
          </a:xfrm>
          <a:prstGeom prst="roundRect">
            <a:avLst>
              <a:gd name="adj" fmla="val 8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076602" y="4946904"/>
            <a:ext cx="669340" cy="310896"/>
          </a:xfrm>
          <a:prstGeom prst="roundRect">
            <a:avLst>
              <a:gd name="adj" fmla="val 8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934663" y="4946904"/>
            <a:ext cx="901598" cy="310896"/>
          </a:xfrm>
          <a:prstGeom prst="roundRect">
            <a:avLst>
              <a:gd name="adj" fmla="val 8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49808" y="5349240"/>
            <a:ext cx="384048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M2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147572" y="5349240"/>
            <a:ext cx="669340" cy="310896"/>
          </a:xfrm>
          <a:prstGeom prst="roundRect">
            <a:avLst>
              <a:gd name="adj" fmla="val 8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844344" y="5349240"/>
            <a:ext cx="669340" cy="310896"/>
          </a:xfrm>
          <a:prstGeom prst="roundRect">
            <a:avLst>
              <a:gd name="adj" fmla="val 8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541117" y="5349240"/>
            <a:ext cx="669340" cy="310896"/>
          </a:xfrm>
          <a:prstGeom prst="roundRect">
            <a:avLst>
              <a:gd name="adj" fmla="val 8000"/>
            </a:avLst>
          </a:prstGeom>
          <a:solidFill>
            <a:srgbClr val="F6D5D1"/>
          </a:solidFill>
          <a:ln w="1524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3237890" y="5349240"/>
            <a:ext cx="669340" cy="310896"/>
          </a:xfrm>
          <a:prstGeom prst="roundRect">
            <a:avLst>
              <a:gd name="adj" fmla="val 8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49808" y="5751576"/>
            <a:ext cx="384048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M3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47572" y="5751576"/>
            <a:ext cx="901598" cy="310896"/>
          </a:xfrm>
          <a:prstGeom prst="roundRect">
            <a:avLst>
              <a:gd name="adj" fmla="val 8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3237890" y="5751576"/>
            <a:ext cx="669340" cy="310896"/>
          </a:xfrm>
          <a:prstGeom prst="roundRect">
            <a:avLst>
              <a:gd name="adj" fmla="val 8000"/>
            </a:avLst>
          </a:prstGeom>
          <a:solidFill>
            <a:srgbClr val="D98E45"/>
          </a:solidFill>
          <a:ln w="3048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934663" y="5751576"/>
            <a:ext cx="669340" cy="310896"/>
          </a:xfrm>
          <a:prstGeom prst="roundRect">
            <a:avLst>
              <a:gd name="adj" fmla="val 8000"/>
            </a:avLst>
          </a:prstGeom>
          <a:solidFill>
            <a:srgbClr val="3E618C"/>
          </a:solidFill>
          <a:ln w="3048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1133856" y="6099048"/>
            <a:ext cx="4645152" cy="0"/>
          </a:xfrm>
          <a:prstGeom prst="bentConnector3">
            <a:avLst/>
          </a:prstGeom>
          <a:ln w="12700">
            <a:solidFill>
              <a:srgbClr val="D6DEE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ectangle 51"/>
          <p:cNvSpPr/>
          <p:nvPr/>
        </p:nvSpPr>
        <p:spPr>
          <a:xfrm>
            <a:off x="1115568" y="4910328"/>
            <a:ext cx="2108606" cy="1188720"/>
          </a:xfrm>
          <a:prstGeom prst="rect">
            <a:avLst/>
          </a:prstGeom>
          <a:solidFill>
            <a:srgbClr val="FFFFF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>
            <a:off x="3224174" y="4837176"/>
            <a:ext cx="0" cy="1298448"/>
          </a:xfrm>
          <a:prstGeom prst="line">
            <a:avLst/>
          </a:prstGeom>
          <a:ln w="20320">
            <a:solidFill>
              <a:srgbClr val="26303A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5546750" y="4837176"/>
            <a:ext cx="0" cy="1298448"/>
          </a:xfrm>
          <a:prstGeom prst="line">
            <a:avLst/>
          </a:prstGeom>
          <a:ln w="17780">
            <a:solidFill>
              <a:srgbClr val="6E7A88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5272430" y="4636008"/>
            <a:ext cx="548640" cy="23774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19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995574" y="4636008"/>
            <a:ext cx="457200" cy="23774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150" b="1" i="1">
                <a:solidFill>
                  <a:srgbClr val="26303A"/>
                </a:solidFill>
                <a:latin typeface="Meiryo"/>
                <a:ea typeface="Meiryo"/>
              </a:rPr>
              <a:t>t</a:t>
            </a:r>
            <a:r>
              <a:rPr sz="827" b="1" i="1" baseline="-22000">
                <a:solidFill>
                  <a:srgbClr val="26303A"/>
                </a:solidFill>
                <a:latin typeface="Meiryo"/>
                <a:ea typeface="Meiryo"/>
              </a:rPr>
              <a:t>r</a:t>
            </a:r>
          </a:p>
        </p:txBody>
      </p:sp>
      <p:cxnSp>
        <p:nvCxnSpPr>
          <p:cNvPr id="57" name="Connector 56"/>
          <p:cNvCxnSpPr/>
          <p:nvPr/>
        </p:nvCxnSpPr>
        <p:spPr>
          <a:xfrm flipV="1">
            <a:off x="6007608" y="3131820"/>
            <a:ext cx="320040" cy="1330451"/>
          </a:xfrm>
          <a:prstGeom prst="line">
            <a:avLst/>
          </a:prstGeom>
          <a:ln w="25400">
            <a:solidFill>
              <a:srgbClr val="B03A2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Rounded Rectangle 57"/>
          <p:cNvSpPr/>
          <p:nvPr/>
        </p:nvSpPr>
        <p:spPr>
          <a:xfrm>
            <a:off x="6373368" y="1965960"/>
            <a:ext cx="5251399" cy="2057400"/>
          </a:xfrm>
          <a:prstGeom prst="roundRect">
            <a:avLst>
              <a:gd name="adj" fmla="val 5000"/>
            </a:avLst>
          </a:prstGeom>
          <a:solidFill>
            <a:srgbClr val="FBEEEC"/>
          </a:solidFill>
          <a:ln w="1778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574536" y="2057400"/>
            <a:ext cx="4849063" cy="65836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5000"/>
              </a:lnSpc>
            </a:pPr>
            <a:r>
              <a:rPr sz="1550" b="1" i="0">
                <a:solidFill>
                  <a:srgbClr val="B03A2E"/>
                </a:solidFill>
                <a:latin typeface="Meiryo"/>
                <a:ea typeface="Meiryo"/>
              </a:rPr>
              <a:t>処理順序の変更は，現場にコストを生む</a:t>
            </a:r>
          </a:p>
          <a:p>
            <a:pPr>
              <a:lnSpc>
                <a:spcPct val="105000"/>
              </a:lnSpc>
            </a:pPr>
            <a:r>
              <a:rPr sz="1300" b="1" i="0">
                <a:solidFill>
                  <a:srgbClr val="B03A2E"/>
                </a:solidFill>
                <a:latin typeface="Meiryo"/>
                <a:ea typeface="Meiryo"/>
              </a:rPr>
              <a:t>（スケジュール変更コスト）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6574536" y="2807208"/>
            <a:ext cx="2355951" cy="51206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26303A"/>
                </a:solidFill>
                <a:latin typeface="Meiryo"/>
                <a:ea typeface="Meiryo"/>
              </a:rPr>
              <a:t>段取り替え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9067647" y="2807208"/>
            <a:ext cx="2355951" cy="51206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26303A"/>
                </a:solidFill>
                <a:latin typeface="Meiryo"/>
                <a:ea typeface="Meiryo"/>
              </a:rPr>
              <a:t>資材・治具の再手配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6574536" y="3392424"/>
            <a:ext cx="2355951" cy="51206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26303A"/>
                </a:solidFill>
                <a:latin typeface="Meiryo"/>
                <a:ea typeface="Meiryo"/>
              </a:rPr>
              <a:t>作業者の再配置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9067647" y="3392424"/>
            <a:ext cx="2355951" cy="51206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26303A"/>
                </a:solidFill>
                <a:latin typeface="Meiryo"/>
                <a:ea typeface="Meiryo"/>
              </a:rPr>
              <a:t>下流工程・外注先への
予定変更の波及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8999067" y="4069080"/>
            <a:ext cx="0" cy="448056"/>
          </a:xfrm>
          <a:prstGeom prst="line">
            <a:avLst/>
          </a:prstGeom>
          <a:ln w="38100">
            <a:solidFill>
              <a:srgbClr val="16385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ounded Rectangle 64"/>
          <p:cNvSpPr/>
          <p:nvPr/>
        </p:nvSpPr>
        <p:spPr>
          <a:xfrm>
            <a:off x="6373368" y="4562856"/>
            <a:ext cx="5251399" cy="17373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0320">
            <a:solidFill>
              <a:srgbClr val="1638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373368" y="4617720"/>
            <a:ext cx="5251399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二目的最適化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6574536" y="5065776"/>
            <a:ext cx="2195931" cy="1069848"/>
          </a:xfrm>
          <a:prstGeom prst="roundRect">
            <a:avLst>
              <a:gd name="adj" fmla="val 8000"/>
            </a:avLst>
          </a:prstGeom>
          <a:solidFill>
            <a:srgbClr val="EDF2F7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6574536" y="5065776"/>
            <a:ext cx="2195931" cy="347472"/>
          </a:xfrm>
          <a:prstGeom prst="roundRect">
            <a:avLst>
              <a:gd name="adj" fmla="val 12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生産効率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665976" y="5413248"/>
            <a:ext cx="2013051" cy="72237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総所要時間を小さく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770467" y="5065776"/>
            <a:ext cx="457200" cy="10698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1" i="0">
                <a:solidFill>
                  <a:srgbClr val="16385C"/>
                </a:solidFill>
                <a:latin typeface="Meiryo"/>
                <a:ea typeface="Meiryo"/>
              </a:rPr>
              <a:t>⇄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9227667" y="5065776"/>
            <a:ext cx="2195931" cy="1069848"/>
          </a:xfrm>
          <a:prstGeom prst="roundRect">
            <a:avLst>
              <a:gd name="adj" fmla="val 8000"/>
            </a:avLst>
          </a:prstGeom>
          <a:solidFill>
            <a:srgbClr val="EDF2F7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ounded Rectangle 71"/>
          <p:cNvSpPr/>
          <p:nvPr/>
        </p:nvSpPr>
        <p:spPr>
          <a:xfrm>
            <a:off x="9227667" y="5065776"/>
            <a:ext cx="2195931" cy="347472"/>
          </a:xfrm>
          <a:prstGeom prst="roundRect">
            <a:avLst>
              <a:gd name="adj" fmla="val 12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安定性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319107" y="5413248"/>
            <a:ext cx="2013051" cy="72237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初期スケジュールからの</a:t>
            </a:r>
          </a:p>
          <a:p>
            <a:pPr algn="ctr">
              <a:lnSpc>
                <a:spcPct val="105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変更を小さく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再スケジューリングの特殊性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安定性が最良の解は探索せずに得られる．問われるのは，そこから少しの変更で 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MS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をどこまで下げられるか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1. 研究背景と仮説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5</a:t>
            </a:r>
          </a:p>
        </p:txBody>
      </p:sp>
      <p:pic>
        <p:nvPicPr>
          <p:cNvPr id="8" name="Picture 7" descr="concept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7" y="1691640"/>
            <a:ext cx="5577840" cy="431236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81928" y="1691640"/>
            <a:ext cx="5342839" cy="4312367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★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の処理順序を保って遅延を吸収した解（right-shift）は，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探索せずに得られる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．変更量 0 で安定性は最良，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MS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も外乱前に最適化済み</a:t>
            </a:r>
          </a:p>
          <a:p>
            <a:pPr>
              <a:lnSpc>
                <a:spcPct val="108000"/>
              </a:lnSpc>
              <a:spcBef>
                <a:spcPts val="1200"/>
              </a:spcBef>
            </a:pP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●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Pareto フロント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上の非劣解のうち，変更コストが無視できない場面で選ばれるのは，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の近傍（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高安定領域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）の解</a:t>
            </a:r>
          </a:p>
          <a:p>
            <a:pPr>
              <a:lnSpc>
                <a:spcPct val="108000"/>
              </a:lnSpc>
              <a:spcBef>
                <a:spcPts val="1200"/>
              </a:spcBef>
            </a:pPr>
            <a:r>
              <a:rPr sz="1550" b="0" i="0">
                <a:solidFill>
                  <a:srgbClr val="26303A"/>
                </a:solidFill>
                <a:latin typeface="Meiryo"/>
                <a:ea typeface="Meiryo"/>
              </a:rPr>
              <a:t>→ この場合，手法は Pareto フロント全体の品質</a:t>
            </a:r>
          </a:p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550" b="0" i="0">
                <a:solidFill>
                  <a:srgbClr val="26303A"/>
                </a:solidFill>
                <a:latin typeface="Meiryo"/>
                <a:ea typeface="Meiryo"/>
              </a:rPr>
              <a:t>だけではなく，</a:t>
            </a:r>
            <a:r>
              <a:rPr sz="1550" b="1" i="0">
                <a:solidFill>
                  <a:srgbClr val="16385C"/>
                </a:solidFill>
                <a:latin typeface="Meiryo"/>
                <a:ea typeface="Meiryo"/>
              </a:rPr>
              <a:t>高安定領域の品質</a:t>
            </a:r>
            <a:r>
              <a:rPr sz="1550" b="0" i="0">
                <a:solidFill>
                  <a:srgbClr val="26303A"/>
                </a:solidFill>
                <a:latin typeface="Meiryo"/>
                <a:ea typeface="Meiryo"/>
              </a:rPr>
              <a:t>が問われる</a:t>
            </a:r>
          </a:p>
          <a:p>
            <a:pPr>
              <a:lnSpc>
                <a:spcPct val="108000"/>
              </a:lnSpc>
              <a:spcBef>
                <a:spcPts val="1800"/>
              </a:spcBef>
            </a:pPr>
            <a:r>
              <a:rPr sz="1350" b="0" i="0">
                <a:solidFill>
                  <a:srgbClr val="26303A"/>
                </a:solidFill>
                <a:latin typeface="Meiryo"/>
                <a:ea typeface="Meiryo"/>
              </a:rPr>
              <a:t>本研究では，Pareto フロントの品質を hypervolume（HV）で測り，高安定領域に限った HV を</a:t>
            </a: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高安定 HV</a:t>
            </a:r>
            <a:r>
              <a:rPr sz="1350" b="0" i="0">
                <a:solidFill>
                  <a:srgbClr val="26303A"/>
                </a:solidFill>
                <a:latin typeface="Meiryo"/>
                <a:ea typeface="Meiryo"/>
              </a:rPr>
              <a:t> と呼ぶ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先行研究：安定性を確保する 2 つのアプローチ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安定性は「目的関数に組み込む」か「再スケジュールの範囲を限定する」かで確保されてきた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1. 研究背景と仮説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645920"/>
            <a:ext cx="5346039" cy="3703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645920"/>
            <a:ext cx="5346039" cy="502920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1645920"/>
            <a:ext cx="4980279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FFFFFF"/>
                </a:solidFill>
                <a:latin typeface="Meiryo"/>
                <a:ea typeface="Meiryo"/>
              </a:rPr>
              <a:t>安定性を目的関数に組み込むアプローチ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8" y="2267712"/>
            <a:ext cx="4888839" cy="22860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Wu ら (1993)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単一機械で効率と安定性を評価基準に定式化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Rangsaritratsamee ら (2004)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JSP．GA＋局所探索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Zhang ら (2013)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JSP．GA＋タブーサーチ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Fattahi &amp; Fallahi (2010)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FJSP．GA＋局所探索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Valledor ら (2022)，Luo ら (2025)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NSGA-II 系で Pareto 支配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5528" y="4800600"/>
            <a:ext cx="4888839" cy="420624"/>
          </a:xfrm>
          <a:prstGeom prst="roundRect">
            <a:avLst>
              <a:gd name="adj" fmla="val 20000"/>
            </a:avLst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安定性は解の評価（目的関数の一項）にのみ反映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78727" y="1645920"/>
            <a:ext cx="5346039" cy="3703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78727" y="1645920"/>
            <a:ext cx="5346039" cy="502920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1607" y="1645920"/>
            <a:ext cx="4980279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FFFFFF"/>
                </a:solidFill>
                <a:latin typeface="Meiryo"/>
                <a:ea typeface="Meiryo"/>
              </a:rPr>
              <a:t>再スケジュールの対象範囲を限定するアプローチ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07327" y="2267712"/>
            <a:ext cx="4888839" cy="22860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Bean ら (1991)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復帰時点までを再スケジュール（match-up）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Abumaizar &amp; Svestka (1997)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影響を受ける作業だけを再スケジュール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Zakaria &amp; Petrovic (2012)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GA の染色体を区間に限定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Sun ら (2026)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再最適化の範囲を 4 段階に整理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07327" y="4800600"/>
            <a:ext cx="4888839" cy="420624"/>
          </a:xfrm>
          <a:prstGeom prst="roundRect">
            <a:avLst>
              <a:gd name="adj" fmla="val 20000"/>
            </a:avLst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探索空間の制限で安定性を確保する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5458968"/>
            <a:ext cx="11057839" cy="4572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26303A"/>
                </a:solidFill>
                <a:latin typeface="Meiryo"/>
                <a:ea typeface="Meiryo"/>
              </a:rPr>
              <a:t>どちらのアプローチでも，メタヒューリスティクスによる解法は GA を基軸とする</a:t>
            </a:r>
            <a:r>
              <a:rPr sz="1900" b="1" i="0">
                <a:solidFill>
                  <a:srgbClr val="16385C"/>
                </a:solidFill>
                <a:latin typeface="Meiryo"/>
                <a:ea typeface="Meiryo"/>
              </a:rPr>
              <a:t>多点探索に集中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5916168"/>
            <a:ext cx="11057839" cy="34747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/>
            <a:r>
              <a:rPr sz="1400" b="1" i="0">
                <a:solidFill>
                  <a:srgbClr val="E06C00"/>
                </a:solidFill>
                <a:latin typeface="Meiryo"/>
                <a:ea typeface="Meiryo"/>
              </a:rPr>
              <a:t>単点探索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：1 つの解を少しずつ変更しながら進む　／　</a:t>
            </a:r>
            <a:r>
              <a:rPr sz="1400" b="1" i="0">
                <a:solidFill>
                  <a:srgbClr val="0F5C28"/>
                </a:solidFill>
                <a:latin typeface="Meiryo"/>
                <a:ea typeface="Meiryo"/>
              </a:rPr>
              <a:t>多点探索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：複数の解を保持し，互いに組み替えながら進む</a:t>
            </a:r>
            <a:r>
              <a:rPr sz="1100" b="0" i="0">
                <a:solidFill>
                  <a:srgbClr val="6E7A88"/>
                </a:solidFill>
                <a:latin typeface="Meiryo"/>
                <a:ea typeface="Meiryo"/>
              </a:rPr>
              <a:t>（Blum &amp; Roli, 2003）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残された 3 つの課題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探索構造の差は検証されておらず，その差を測る形式も，解を 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080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に近づける探索操作もない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1. 研究背景と仮説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37360"/>
            <a:ext cx="11057839" cy="1188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68096" y="2075688"/>
            <a:ext cx="512064" cy="512064"/>
          </a:xfrm>
          <a:prstGeom prst="roundRect">
            <a:avLst>
              <a:gd name="adj" fmla="val 5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FFFFFF"/>
                </a:solidFill>
                <a:latin typeface="Meiryo"/>
                <a:ea typeface="Meiryo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" y="1810512"/>
            <a:ext cx="3108960" cy="104241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探索構造の差が</a:t>
            </a:r>
          </a:p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検証されていない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81728" y="1938528"/>
            <a:ext cx="13716" cy="786384"/>
          </a:xfrm>
          <a:prstGeom prst="rect">
            <a:avLst/>
          </a:prstGeom>
          <a:solidFill>
            <a:srgbClr val="D6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10328" y="1810512"/>
            <a:ext cx="6485839" cy="104241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解法は多点探索に集中している．</a:t>
            </a:r>
            <a:r>
              <a:rPr sz="14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08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 が探索前に得られているという特性が，単点探索と多点探索の間にどんな差を生むかは分析されていない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108960"/>
            <a:ext cx="11057839" cy="1188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68096" y="3447288"/>
            <a:ext cx="512064" cy="512064"/>
          </a:xfrm>
          <a:prstGeom prst="roundRect">
            <a:avLst>
              <a:gd name="adj" fmla="val 5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FFFFFF"/>
                </a:solidFill>
                <a:latin typeface="Meiryo"/>
                <a:ea typeface="Meiryo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1328" y="3182112"/>
            <a:ext cx="3108960" cy="104241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その差を読み取れる</a:t>
            </a:r>
          </a:p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評価の形式がない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681728" y="3310128"/>
            <a:ext cx="13716" cy="786384"/>
          </a:xfrm>
          <a:prstGeom prst="rect">
            <a:avLst/>
          </a:prstGeom>
          <a:solidFill>
            <a:srgbClr val="D6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10328" y="3182112"/>
            <a:ext cx="6485839" cy="104241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比較は少数の重みでのスカラー値や，Pareto フロント全体の HV で行われ，高安定領域で手法がどう異なるかは分析されていない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480560"/>
            <a:ext cx="11057839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68096" y="5116068"/>
            <a:ext cx="512064" cy="512064"/>
          </a:xfrm>
          <a:prstGeom prst="roundRect">
            <a:avLst>
              <a:gd name="adj" fmla="val 5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FFFFFF"/>
                </a:solidFill>
                <a:latin typeface="Meiryo"/>
                <a:ea typeface="Meiryo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1328" y="4553712"/>
            <a:ext cx="3108960" cy="163677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解を </a:t>
            </a:r>
            <a:r>
              <a:rPr sz="160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152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 に近づける</a:t>
            </a:r>
          </a:p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探索操作がない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81728" y="4681728"/>
            <a:ext cx="13716" cy="1380744"/>
          </a:xfrm>
          <a:prstGeom prst="rect">
            <a:avLst/>
          </a:prstGeom>
          <a:solidFill>
            <a:srgbClr val="D6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10328" y="4553712"/>
            <a:ext cx="6485839" cy="163677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16385C"/>
                </a:solidFill>
                <a:latin typeface="Meiryo"/>
                <a:ea typeface="Meiryo"/>
              </a:rPr>
              <a:t>目的関数に組み込む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：安定性は解の評価にだけ入る．交叉や局所探索などの探索操作は </a:t>
            </a:r>
            <a:r>
              <a:rPr sz="14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08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 を参照しない</a:t>
            </a:r>
          </a:p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16385C"/>
                </a:solidFill>
                <a:latin typeface="Meiryo"/>
                <a:ea typeface="Meiryo"/>
              </a:rPr>
              <a:t>範囲を限定する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：安定性は探索空間の制限にだけ入る．範囲を事前に決めるので，その外にある変更量の大きい解は探索しない</a:t>
            </a:r>
          </a:p>
          <a:p>
            <a:pPr algn="l">
              <a:lnSpc>
                <a:spcPct val="118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→ どちらも，探索の途中で解を </a:t>
            </a:r>
            <a:r>
              <a:rPr sz="14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08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 に近づける操作（安定性を探索の移動として扱う操作）を持たない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本研究の仮説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課題 1・3 に対して 2 つの仮説を立て，どちらも高安定 HV（課題 2 への対応）で判定する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1. 研究背景と仮説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" y="1645920"/>
            <a:ext cx="960120" cy="310896"/>
          </a:xfrm>
          <a:prstGeom prst="roundRect">
            <a:avLst>
              <a:gd name="adj" fmla="val 4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Meiryo"/>
                <a:ea typeface="Meiryo"/>
              </a:rPr>
              <a:t>仮説 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2011680"/>
            <a:ext cx="5391759" cy="1207008"/>
          </a:xfrm>
          <a:prstGeom prst="roundRect">
            <a:avLst>
              <a:gd name="adj" fmla="val 6000"/>
            </a:avLst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2066544"/>
            <a:ext cx="5099151" cy="10972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交叉で 2 親の染色体を組み替える</a:t>
            </a:r>
            <a:r>
              <a:rPr sz="1550" b="1" i="0">
                <a:solidFill>
                  <a:srgbClr val="FFD98A"/>
                </a:solidFill>
                <a:latin typeface="Meiryo"/>
                <a:ea typeface="Meiryo"/>
              </a:rPr>
              <a:t>多点探索</a:t>
            </a: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は，</a:t>
            </a:r>
          </a:p>
          <a:p>
            <a:pPr algn="l">
              <a:lnSpc>
                <a:spcPct val="112000"/>
              </a:lnSpc>
            </a:pPr>
            <a:r>
              <a:rPr sz="1550" b="0" i="1">
                <a:solidFill>
                  <a:srgbClr val="FFFFFF"/>
                </a:solidFill>
                <a:latin typeface="Meiryo"/>
                <a:ea typeface="Meiryo"/>
              </a:rPr>
              <a:t>S</a:t>
            </a:r>
            <a:r>
              <a:rPr sz="1116" b="0" i="1" baseline="-22000">
                <a:solidFill>
                  <a:srgbClr val="FFFFFF"/>
                </a:solidFill>
                <a:latin typeface="Meiryo"/>
                <a:ea typeface="Meiryo"/>
              </a:rPr>
              <a:t>p</a:t>
            </a: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 からの小さな変更では表せない飛躍を伴う．</a:t>
            </a:r>
          </a:p>
          <a:p>
            <a:pPr algn="l">
              <a:lnSpc>
                <a:spcPct val="112000"/>
              </a:lnSpc>
            </a:pP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そのため，</a:t>
            </a:r>
            <a:r>
              <a:rPr sz="1550" b="0" i="1">
                <a:solidFill>
                  <a:srgbClr val="FFFFFF"/>
                </a:solidFill>
                <a:latin typeface="Meiryo"/>
                <a:ea typeface="Meiryo"/>
              </a:rPr>
              <a:t>S</a:t>
            </a:r>
            <a:r>
              <a:rPr sz="1116" b="0" i="1" baseline="-22000">
                <a:solidFill>
                  <a:srgbClr val="FFFFFF"/>
                </a:solidFill>
                <a:latin typeface="Meiryo"/>
                <a:ea typeface="Meiryo"/>
              </a:rPr>
              <a:t>p</a:t>
            </a: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 を初期解として解を少しずつ変更する</a:t>
            </a:r>
          </a:p>
          <a:p>
            <a:pPr algn="l">
              <a:lnSpc>
                <a:spcPct val="112000"/>
              </a:lnSpc>
            </a:pPr>
            <a:r>
              <a:rPr sz="1550" b="1" i="0">
                <a:solidFill>
                  <a:srgbClr val="FFD98A"/>
                </a:solidFill>
                <a:latin typeface="Meiryo"/>
                <a:ea typeface="Meiryo"/>
              </a:rPr>
              <a:t>単点探索</a:t>
            </a: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のほうが，</a:t>
            </a:r>
            <a:r>
              <a:rPr sz="1550" b="1" i="0">
                <a:solidFill>
                  <a:srgbClr val="FFD98A"/>
                </a:solidFill>
                <a:latin typeface="Meiryo"/>
                <a:ea typeface="Meiryo"/>
              </a:rPr>
              <a:t>高安定 HV が大きい</a:t>
            </a:r>
          </a:p>
        </p:txBody>
      </p:sp>
      <p:pic>
        <p:nvPicPr>
          <p:cNvPr id="11" name="Picture 10" descr="concept_h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7136" y="3291840"/>
            <a:ext cx="4391343" cy="2889503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251295" y="1645920"/>
            <a:ext cx="960120" cy="310896"/>
          </a:xfrm>
          <a:prstGeom prst="roundRect">
            <a:avLst>
              <a:gd name="adj" fmla="val 4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Meiryo"/>
                <a:ea typeface="Meiryo"/>
              </a:rPr>
              <a:t>仮説 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3007" y="2011680"/>
            <a:ext cx="5391759" cy="1207008"/>
          </a:xfrm>
          <a:prstGeom prst="roundRect">
            <a:avLst>
              <a:gd name="adj" fmla="val 6000"/>
            </a:avLst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9311" y="2066544"/>
            <a:ext cx="5099151" cy="10972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多点探索に，解を </a:t>
            </a:r>
            <a:r>
              <a:rPr sz="1550" b="0" i="1">
                <a:solidFill>
                  <a:srgbClr val="FFFFFF"/>
                </a:solidFill>
                <a:latin typeface="Meiryo"/>
                <a:ea typeface="Meiryo"/>
              </a:rPr>
              <a:t>S</a:t>
            </a:r>
            <a:r>
              <a:rPr sz="1116" b="0" i="1" baseline="-22000">
                <a:solidFill>
                  <a:srgbClr val="FFFFFF"/>
                </a:solidFill>
                <a:latin typeface="Meiryo"/>
                <a:ea typeface="Meiryo"/>
              </a:rPr>
              <a:t>p</a:t>
            </a: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 に近づける移動</a:t>
            </a:r>
          </a:p>
          <a:p>
            <a:pPr algn="l">
              <a:lnSpc>
                <a:spcPct val="112000"/>
              </a:lnSpc>
            </a:pP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（</a:t>
            </a:r>
            <a:r>
              <a:rPr sz="1550" b="1" i="0">
                <a:solidFill>
                  <a:srgbClr val="FFD98A"/>
                </a:solidFill>
                <a:latin typeface="Meiryo"/>
                <a:ea typeface="Meiryo"/>
              </a:rPr>
              <a:t>安定性誘導演算子</a:t>
            </a: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）を組み込めば，</a:t>
            </a:r>
          </a:p>
          <a:p>
            <a:pPr algn="l">
              <a:lnSpc>
                <a:spcPct val="112000"/>
              </a:lnSpc>
            </a:pP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その経路上に変更量の小さい解が現れるため，</a:t>
            </a:r>
          </a:p>
          <a:p>
            <a:pPr algn="l">
              <a:lnSpc>
                <a:spcPct val="112000"/>
              </a:lnSpc>
            </a:pPr>
            <a:r>
              <a:rPr sz="1550" b="1" i="0">
                <a:solidFill>
                  <a:srgbClr val="FFD98A"/>
                </a:solidFill>
                <a:latin typeface="Meiryo"/>
                <a:ea typeface="Meiryo"/>
              </a:rPr>
              <a:t>多点探索の高安定 HV は向上する</a:t>
            </a:r>
          </a:p>
        </p:txBody>
      </p:sp>
      <p:pic>
        <p:nvPicPr>
          <p:cNvPr id="15" name="Picture 14" descr="concept_h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3215" y="3291840"/>
            <a:ext cx="4391343" cy="2889503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66928" y="6199632"/>
            <a:ext cx="11057839" cy="21945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150" b="0" i="0">
                <a:solidFill>
                  <a:srgbClr val="6E7A88"/>
                </a:solidFill>
                <a:latin typeface="Meiryo"/>
                <a:ea typeface="Meiryo"/>
              </a:rPr>
              <a:t>主眼は最先端手法との性能競争ではなく，条件を統制して探索構造と演算子の関係を切り分けること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011680" y="141731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017520" y="141731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研究背景と仮説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737360" y="2423160"/>
            <a:ext cx="8716975" cy="960120"/>
          </a:xfrm>
          <a:prstGeom prst="roundRect">
            <a:avLst>
              <a:gd name="adj" fmla="val 12000"/>
            </a:avLst>
          </a:prstGeom>
          <a:solidFill>
            <a:srgbClr val="3E618C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0" y="246887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Meiryo"/>
                <a:ea typeface="Meiryo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0" y="246887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Meiryo"/>
                <a:ea typeface="Meiryo"/>
              </a:rPr>
              <a:t>問題設定と実験計画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AFC2D8"/>
                </a:solidFill>
                <a:latin typeface="Meiryo"/>
                <a:ea typeface="Meiryo"/>
              </a:rPr>
              <a:t>問題設定・探索構造・安定性誘導演算子・仮説の判定・評価指標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352043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352043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数値実験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4572000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4572000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結論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AFC2D8"/>
                </a:solidFill>
                <a:latin typeface="Meiryo"/>
                <a:ea typeface="Meiryo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問題設定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決定変数は，遅延後に最適化対象となる作業の，機械ごとの処理順序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2. 問題設定と実験計画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286000"/>
            <a:ext cx="603504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n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ジョブ・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m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機械のジョブショップ問題（JSP）に，単一作業の遅延（遅延量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Δ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）が発生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再スケジューリング時刻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t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r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より前に開始した作業は凍結し，以降の作業集合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O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opt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の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機械ごとの処理順序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を決定変数とする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安定性は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処理順序の変更量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で測る（順序偏差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）</a:t>
            </a:r>
          </a:p>
        </p:txBody>
      </p:sp>
      <p:pic>
        <p:nvPicPr>
          <p:cNvPr id="9" name="Picture 8" descr="eq_talk_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1904" y="4023360"/>
            <a:ext cx="2905086" cy="5669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61888" y="4169663"/>
            <a:ext cx="6400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(1)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4663440"/>
            <a:ext cx="5760720" cy="320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r</a:t>
            </a:r>
            <a:r>
              <a:rPr sz="900" b="0" i="1" baseline="-22000">
                <a:solidFill>
                  <a:srgbClr val="6E7A88"/>
                </a:solidFill>
                <a:latin typeface="Meiryo"/>
                <a:ea typeface="Meiryo"/>
              </a:rPr>
              <a:t>i,j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：機械 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i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 におけるジョブ 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j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 の処理順位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166360"/>
            <a:ext cx="603504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二目的（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MS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,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）は重み付き和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F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にまとめ，重み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λ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を生産効率重視から安定性重視まで掃引し，得られた全非劣解で評価する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086600" y="1783080"/>
            <a:ext cx="4526280" cy="4434840"/>
          </a:xfrm>
          <a:prstGeom prst="roundRect">
            <a:avLst>
              <a:gd name="adj" fmla="val 4000"/>
            </a:avLst>
          </a:prstGeom>
          <a:solidFill>
            <a:srgbClr val="F7FAFC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0" y="1920240"/>
            <a:ext cx="406908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16385C"/>
                </a:solidFill>
                <a:latin typeface="Meiryo"/>
                <a:ea typeface="Meiryo"/>
              </a:rPr>
              <a:t>例：ある機械の処理順序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2788920"/>
            <a:ext cx="640080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80" b="1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01000" y="2788920"/>
            <a:ext cx="749808" cy="502920"/>
          </a:xfrm>
          <a:prstGeom prst="roundRect">
            <a:avLst>
              <a:gd name="adj" fmla="val 10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01000" y="2487168"/>
            <a:ext cx="7498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1番目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860536" y="2788920"/>
            <a:ext cx="749808" cy="502920"/>
          </a:xfrm>
          <a:prstGeom prst="roundRect">
            <a:avLst>
              <a:gd name="adj" fmla="val 10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0536" y="2487168"/>
            <a:ext cx="7498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2番目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720072" y="2788920"/>
            <a:ext cx="749808" cy="502920"/>
          </a:xfrm>
          <a:prstGeom prst="roundRect">
            <a:avLst>
              <a:gd name="adj" fmla="val 10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20072" y="2487168"/>
            <a:ext cx="7498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3番目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579608" y="2788920"/>
            <a:ext cx="749808" cy="502920"/>
          </a:xfrm>
          <a:prstGeom prst="roundRect">
            <a:avLst>
              <a:gd name="adj" fmla="val 10000"/>
            </a:avLst>
          </a:prstGeom>
          <a:solidFill>
            <a:srgbClr val="8A86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79608" y="2487168"/>
            <a:ext cx="7498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4番目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0" y="4160520"/>
            <a:ext cx="640080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80" b="1" i="1" baseline="-22000">
                <a:solidFill>
                  <a:srgbClr val="26303A"/>
                </a:solidFill>
                <a:latin typeface="Meiryo"/>
                <a:ea typeface="Meiryo"/>
              </a:rPr>
              <a:t>q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01000" y="4160520"/>
            <a:ext cx="749808" cy="502920"/>
          </a:xfrm>
          <a:prstGeom prst="roundRect">
            <a:avLst>
              <a:gd name="adj" fmla="val 10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01000" y="4681727"/>
            <a:ext cx="7498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1番目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860536" y="4160520"/>
            <a:ext cx="749808" cy="502920"/>
          </a:xfrm>
          <a:prstGeom prst="roundRect">
            <a:avLst>
              <a:gd name="adj" fmla="val 10000"/>
            </a:avLst>
          </a:prstGeom>
          <a:solidFill>
            <a:srgbClr val="8A86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60536" y="4681727"/>
            <a:ext cx="7498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2番目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720072" y="4160520"/>
            <a:ext cx="749808" cy="502920"/>
          </a:xfrm>
          <a:prstGeom prst="roundRect">
            <a:avLst>
              <a:gd name="adj" fmla="val 10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20072" y="4681727"/>
            <a:ext cx="7498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3番目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579608" y="4160520"/>
            <a:ext cx="749808" cy="502920"/>
          </a:xfrm>
          <a:prstGeom prst="roundRect">
            <a:avLst>
              <a:gd name="adj" fmla="val 10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79608" y="4681727"/>
            <a:ext cx="7498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4番目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8375904" y="3310127"/>
            <a:ext cx="0" cy="832105"/>
          </a:xfrm>
          <a:prstGeom prst="line">
            <a:avLst/>
          </a:prstGeom>
          <a:ln w="15240">
            <a:solidFill>
              <a:srgbClr val="D6DEE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235440" y="3310127"/>
            <a:ext cx="1719072" cy="832105"/>
          </a:xfrm>
          <a:prstGeom prst="line">
            <a:avLst/>
          </a:prstGeom>
          <a:ln w="25400">
            <a:solidFill>
              <a:srgbClr val="B03A2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0094976" y="3310127"/>
            <a:ext cx="0" cy="832105"/>
          </a:xfrm>
          <a:prstGeom prst="line">
            <a:avLst/>
          </a:prstGeom>
          <a:ln w="15240">
            <a:solidFill>
              <a:srgbClr val="D6DEE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H="1">
            <a:off x="9235440" y="3310127"/>
            <a:ext cx="1719072" cy="832105"/>
          </a:xfrm>
          <a:prstGeom prst="line">
            <a:avLst/>
          </a:prstGeom>
          <a:ln w="25400">
            <a:solidFill>
              <a:srgbClr val="B03A2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7315200" y="5120640"/>
            <a:ext cx="4069080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600" b="0" i="0">
                <a:solidFill>
                  <a:srgbClr val="26303A"/>
                </a:solidFill>
                <a:latin typeface="Meiryo"/>
                <a:ea typeface="Meiryo"/>
              </a:rPr>
              <a:t> = |2−4| ＋ |4−2| = </a:t>
            </a:r>
            <a:r>
              <a:rPr sz="1600" b="1" i="0">
                <a:solidFill>
                  <a:srgbClr val="B03A2E"/>
                </a:solidFill>
                <a:latin typeface="Meiryo"/>
                <a:ea typeface="Meiryo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5200" y="5577840"/>
            <a:ext cx="406908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0" i="0">
                <a:solidFill>
                  <a:srgbClr val="6E7A88"/>
                </a:solidFill>
                <a:latin typeface="Meiryo"/>
                <a:ea typeface="Meiryo"/>
              </a:rPr>
              <a:t>初期解 </a:t>
            </a:r>
            <a:r>
              <a:rPr sz="1300" b="0" i="1">
                <a:solidFill>
                  <a:srgbClr val="6E7A88"/>
                </a:solidFill>
                <a:latin typeface="Meiryo"/>
                <a:ea typeface="Meiryo"/>
              </a:rPr>
              <a:t>S</a:t>
            </a:r>
            <a:r>
              <a:rPr sz="936" b="0" i="1" baseline="-22000">
                <a:solidFill>
                  <a:srgbClr val="6E7A88"/>
                </a:solidFill>
                <a:latin typeface="Meiryo"/>
                <a:ea typeface="Meiryo"/>
              </a:rPr>
              <a:t>p</a:t>
            </a:r>
            <a:r>
              <a:rPr sz="1300" b="0" i="0">
                <a:solidFill>
                  <a:srgbClr val="6E7A88"/>
                </a:solidFill>
                <a:latin typeface="Meiryo"/>
                <a:ea typeface="Meiryo"/>
              </a:rPr>
              <a:t> は </a:t>
            </a:r>
            <a:r>
              <a:rPr sz="1300" b="0" i="1">
                <a:solidFill>
                  <a:srgbClr val="6E7A88"/>
                </a:solidFill>
                <a:latin typeface="Meiryo"/>
                <a:ea typeface="Meiryo"/>
              </a:rPr>
              <a:t>D</a:t>
            </a:r>
            <a:r>
              <a:rPr sz="1300" b="0" i="0">
                <a:solidFill>
                  <a:srgbClr val="6E7A88"/>
                </a:solidFill>
                <a:latin typeface="Meiryo"/>
                <a:ea typeface="Meiryo"/>
              </a:rPr>
              <a:t> = 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比較する探索構造：単点探索と多点探索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局所探索などの条件を揃え，解の作り方（少しずつ変更するか，交叉で組み替えるか）を比較する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2. 問題設定と実験計画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11</a:t>
            </a:r>
          </a:p>
        </p:txBody>
      </p:sp>
      <p:pic>
        <p:nvPicPr>
          <p:cNvPr id="8" name="Picture 7" descr="concept_h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7" y="2356774"/>
            <a:ext cx="4023360" cy="264737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4864608" y="1737360"/>
            <a:ext cx="3242919" cy="3886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64608" y="1737360"/>
            <a:ext cx="3242919" cy="384048"/>
          </a:xfrm>
          <a:prstGeom prst="rect">
            <a:avLst/>
          </a:prstGeom>
          <a:solidFill>
            <a:srgbClr val="E06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1768" y="1737360"/>
            <a:ext cx="2968599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単点探索（ILS）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01768" y="2286000"/>
            <a:ext cx="2148840" cy="3840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26303A"/>
                </a:solidFill>
                <a:latin typeface="Meiryo"/>
                <a:ea typeface="Meiryo"/>
              </a:rPr>
              <a:t>初期解：</a:t>
            </a:r>
            <a:r>
              <a:rPr sz="105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756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01768" y="2852928"/>
            <a:ext cx="2148840" cy="384048"/>
          </a:xfrm>
          <a:prstGeom prst="roundRect">
            <a:avLst>
              <a:gd name="adj" fmla="val 12000"/>
            </a:avLst>
          </a:prstGeom>
          <a:solidFill>
            <a:srgbClr val="DDE6E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26303A"/>
                </a:solidFill>
                <a:latin typeface="Meiryo"/>
                <a:ea typeface="Meiryo"/>
              </a:rPr>
              <a:t>局所探索：N5 近傍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076188" y="2688336"/>
            <a:ext cx="0" cy="146304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5001768" y="3419856"/>
            <a:ext cx="2148840" cy="384048"/>
          </a:xfrm>
          <a:prstGeom prst="roundRect">
            <a:avLst>
              <a:gd name="adj" fmla="val 12000"/>
            </a:avLst>
          </a:prstGeom>
          <a:solidFill>
            <a:srgbClr val="FBE4CC"/>
          </a:solidFill>
          <a:ln w="20320">
            <a:solidFill>
              <a:srgbClr val="E06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E06C00"/>
                </a:solidFill>
                <a:latin typeface="Meiryo"/>
                <a:ea typeface="Meiryo"/>
              </a:rPr>
              <a:t>摂動：数手の insert 移動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076188" y="3255264"/>
            <a:ext cx="0" cy="146304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5001768" y="3986783"/>
            <a:ext cx="2148840" cy="384048"/>
          </a:xfrm>
          <a:prstGeom prst="roundRect">
            <a:avLst>
              <a:gd name="adj" fmla="val 12000"/>
            </a:avLst>
          </a:prstGeom>
          <a:solidFill>
            <a:srgbClr val="DDE6E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26303A"/>
                </a:solidFill>
                <a:latin typeface="Meiryo"/>
                <a:ea typeface="Meiryo"/>
              </a:rPr>
              <a:t>局所探索：N5 近傍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076188" y="3822191"/>
            <a:ext cx="0" cy="146305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5001768" y="4553712"/>
            <a:ext cx="2148840" cy="3840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26303A"/>
                </a:solidFill>
                <a:latin typeface="Meiryo"/>
                <a:ea typeface="Meiryo"/>
              </a:rPr>
              <a:t>受理判定：</a:t>
            </a:r>
            <a:r>
              <a:rPr sz="1050" b="0" i="1">
                <a:solidFill>
                  <a:srgbClr val="26303A"/>
                </a:solidFill>
                <a:latin typeface="Meiryo"/>
                <a:ea typeface="Meiryo"/>
              </a:rPr>
              <a:t>F</a:t>
            </a:r>
            <a:r>
              <a:rPr sz="1050" b="0" i="0">
                <a:solidFill>
                  <a:srgbClr val="26303A"/>
                </a:solidFill>
                <a:latin typeface="Meiryo"/>
                <a:ea typeface="Meiryo"/>
              </a:rPr>
              <a:t> が改善すれば更新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076188" y="4389120"/>
            <a:ext cx="0" cy="146304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7168896" y="4745736"/>
            <a:ext cx="237744" cy="0"/>
          </a:xfrm>
          <a:prstGeom prst="line">
            <a:avLst/>
          </a:prstGeom>
          <a:ln w="17780">
            <a:solidFill>
              <a:srgbClr val="6E7A8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7406640" y="3611880"/>
            <a:ext cx="0" cy="1133856"/>
          </a:xfrm>
          <a:prstGeom prst="line">
            <a:avLst/>
          </a:prstGeom>
          <a:ln w="17780">
            <a:solidFill>
              <a:srgbClr val="6E7A8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>
            <a:off x="7187184" y="3611880"/>
            <a:ext cx="219456" cy="0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7479792" y="3995928"/>
            <a:ext cx="685800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6E7A88"/>
                </a:solidFill>
                <a:latin typeface="Meiryo"/>
                <a:ea typeface="Meiryo"/>
              </a:rPr>
              <a:t>反復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47488" y="5047488"/>
            <a:ext cx="287715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選定理由：局所探索と摂動が別の段にあり，演算子を摂動に組み込める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381847" y="1737360"/>
            <a:ext cx="3242919" cy="3886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381847" y="1737360"/>
            <a:ext cx="3242919" cy="384048"/>
          </a:xfrm>
          <a:prstGeom prst="rect">
            <a:avLst/>
          </a:prstGeom>
          <a:solidFill>
            <a:srgbClr val="0F5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19007" y="1737360"/>
            <a:ext cx="2968599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多点探索（Memetic）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519007" y="2286000"/>
            <a:ext cx="2148840" cy="3840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26303A"/>
                </a:solidFill>
                <a:latin typeface="Meiryo"/>
                <a:ea typeface="Meiryo"/>
              </a:rPr>
              <a:t>初期集団：</a:t>
            </a:r>
            <a:r>
              <a:rPr sz="105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756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050" b="0" i="0">
                <a:solidFill>
                  <a:srgbClr val="26303A"/>
                </a:solidFill>
                <a:latin typeface="Meiryo"/>
                <a:ea typeface="Meiryo"/>
              </a:rPr>
              <a:t>＋無作為な個体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519007" y="2852928"/>
            <a:ext cx="2148840" cy="3840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26303A"/>
                </a:solidFill>
                <a:latin typeface="Meiryo"/>
                <a:ea typeface="Meiryo"/>
              </a:rPr>
              <a:t>選択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9593427" y="2688336"/>
            <a:ext cx="0" cy="146304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8519007" y="3419856"/>
            <a:ext cx="2148840" cy="384048"/>
          </a:xfrm>
          <a:prstGeom prst="roundRect">
            <a:avLst>
              <a:gd name="adj" fmla="val 12000"/>
            </a:avLst>
          </a:prstGeom>
          <a:solidFill>
            <a:srgbClr val="D7E9DC"/>
          </a:solidFill>
          <a:ln w="20320">
            <a:solidFill>
              <a:srgbClr val="0F5C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0F5C28"/>
                </a:solidFill>
                <a:latin typeface="Meiryo"/>
                <a:ea typeface="Meiryo"/>
              </a:rPr>
              <a:t>交叉：2 親を組み替え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593427" y="3255264"/>
            <a:ext cx="0" cy="146304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8519007" y="3986783"/>
            <a:ext cx="2148840" cy="3840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26303A"/>
                </a:solidFill>
                <a:latin typeface="Meiryo"/>
                <a:ea typeface="Meiryo"/>
              </a:rPr>
              <a:t>突然変異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9593427" y="3822191"/>
            <a:ext cx="0" cy="146305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8519007" y="4553712"/>
            <a:ext cx="2148840" cy="384048"/>
          </a:xfrm>
          <a:prstGeom prst="roundRect">
            <a:avLst>
              <a:gd name="adj" fmla="val 12000"/>
            </a:avLst>
          </a:prstGeom>
          <a:solidFill>
            <a:srgbClr val="DDE6E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26303A"/>
                </a:solidFill>
                <a:latin typeface="Meiryo"/>
                <a:ea typeface="Meiryo"/>
              </a:rPr>
              <a:t>局所探索：N5 近傍（各個体）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9593427" y="4389120"/>
            <a:ext cx="0" cy="146304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10686135" y="4745736"/>
            <a:ext cx="237744" cy="0"/>
          </a:xfrm>
          <a:prstGeom prst="line">
            <a:avLst/>
          </a:prstGeom>
          <a:ln w="17780">
            <a:solidFill>
              <a:srgbClr val="6E7A8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10923879" y="3044952"/>
            <a:ext cx="0" cy="1700784"/>
          </a:xfrm>
          <a:prstGeom prst="line">
            <a:avLst/>
          </a:prstGeom>
          <a:ln w="17780">
            <a:solidFill>
              <a:srgbClr val="6E7A8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H="1">
            <a:off x="10704423" y="3044952"/>
            <a:ext cx="219456" cy="0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10997031" y="3712463"/>
            <a:ext cx="685800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6E7A88"/>
                </a:solidFill>
                <a:latin typeface="Meiryo"/>
                <a:ea typeface="Meiryo"/>
              </a:rPr>
              <a:t>世代交代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64727" y="5047488"/>
            <a:ext cx="287715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選定理由：先行研究で標準的な，GA に局所探索を組み込んだ構成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66928" y="5760720"/>
            <a:ext cx="11057839" cy="502920"/>
          </a:xfrm>
          <a:prstGeom prst="roundRect">
            <a:avLst>
              <a:gd name="adj" fmla="val 12000"/>
            </a:avLst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Meiryo"/>
                <a:ea typeface="Meiryo"/>
              </a:rPr>
              <a:t>探索構造の差だけを比較するため，局所探索（N5 近傍）・目的関数 </a:t>
            </a:r>
            <a:r>
              <a:rPr sz="1400" b="1" i="1">
                <a:solidFill>
                  <a:srgbClr val="FFFFFF"/>
                </a:solidFill>
                <a:latin typeface="Meiryo"/>
                <a:ea typeface="Meiryo"/>
              </a:rPr>
              <a:t>F</a:t>
            </a:r>
            <a:r>
              <a:rPr sz="1400" b="1" i="0">
                <a:solidFill>
                  <a:srgbClr val="FFFFFF"/>
                </a:solidFill>
                <a:latin typeface="Meiryo"/>
                <a:ea typeface="Meiryo"/>
              </a:rPr>
              <a:t>・初期解 </a:t>
            </a:r>
            <a:r>
              <a:rPr sz="1400" b="1" i="1">
                <a:solidFill>
                  <a:srgbClr val="FFFFFF"/>
                </a:solidFill>
                <a:latin typeface="Meiryo"/>
                <a:ea typeface="Meiryo"/>
              </a:rPr>
              <a:t>S</a:t>
            </a:r>
            <a:r>
              <a:rPr sz="1008" b="1" i="1" baseline="-22000">
                <a:solidFill>
                  <a:srgbClr val="FFFFFF"/>
                </a:solidFill>
                <a:latin typeface="Meiryo"/>
                <a:ea typeface="Meiryo"/>
              </a:rPr>
              <a:t>p</a:t>
            </a:r>
            <a:r>
              <a:rPr sz="1400" b="1" i="0">
                <a:solidFill>
                  <a:srgbClr val="FFFFFF"/>
                </a:solidFill>
                <a:latin typeface="Meiryo"/>
                <a:ea typeface="Meiryo"/>
              </a:rPr>
              <a:t> を両者で揃える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提案手法：安定性誘導演算子（PR と PR-</a:t>
            </a:r>
            <a:r>
              <a:rPr sz="2450" b="1" i="1">
                <a:solidFill>
                  <a:srgbClr val="16385C"/>
                </a:solidFill>
                <a:latin typeface="Meiryo"/>
                <a:ea typeface="Meiryo"/>
              </a:rPr>
              <a:t>k</a:t>
            </a:r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）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PR の誘導解を初期スケジュール 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080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に固定し，現在解から 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080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へ swap でたどる経路上の解を返す操作にする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2. 問題設定と実験計画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837944"/>
            <a:ext cx="960120" cy="310896"/>
          </a:xfrm>
          <a:prstGeom prst="roundRect">
            <a:avLst>
              <a:gd name="adj" fmla="val 30000"/>
            </a:avLst>
          </a:prstGeom>
          <a:solidFill>
            <a:srgbClr val="6E7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Meiryo"/>
                <a:ea typeface="Meiryo"/>
              </a:rPr>
              <a:t>通常の PR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64207" y="1801368"/>
            <a:ext cx="4343400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6E7A88"/>
                </a:solidFill>
                <a:latin typeface="Meiryo"/>
                <a:ea typeface="Meiryo"/>
              </a:rPr>
              <a:t>探索中に得た良い解どうしを結び，その間を探索する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221992"/>
            <a:ext cx="960120" cy="310896"/>
          </a:xfrm>
          <a:prstGeom prst="roundRect">
            <a:avLst>
              <a:gd name="adj" fmla="val 3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Meiryo"/>
                <a:ea typeface="Meiryo"/>
              </a:rPr>
              <a:t>本研究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7" y="2185416"/>
            <a:ext cx="4343400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誘導解を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936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に</a:t>
            </a:r>
            <a:r>
              <a:rPr sz="1300" b="1" i="0">
                <a:solidFill>
                  <a:srgbClr val="16385C"/>
                </a:solidFill>
                <a:latin typeface="Meiryo"/>
                <a:ea typeface="Meiryo"/>
              </a:rPr>
              <a:t>固定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→ 解を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936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に近づける操作になる</a:t>
            </a:r>
          </a:p>
        </p:txBody>
      </p:sp>
      <p:pic>
        <p:nvPicPr>
          <p:cNvPr id="12" name="Picture 11" descr="concept_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7" y="2660904"/>
            <a:ext cx="5532120" cy="3640134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6373368" y="1691640"/>
            <a:ext cx="5251399" cy="3794760"/>
          </a:xfrm>
          <a:prstGeom prst="roundRect">
            <a:avLst>
              <a:gd name="adj" fmla="val 4000"/>
            </a:avLst>
          </a:prstGeom>
          <a:solidFill>
            <a:srgbClr val="F7FAFC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01968" y="1764792"/>
            <a:ext cx="4794199" cy="32918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16385C"/>
                </a:solidFill>
                <a:latin typeface="Meiryo"/>
                <a:ea typeface="Meiryo"/>
              </a:rPr>
              <a:t>例：ある機械の処理順序を </a:t>
            </a:r>
            <a:r>
              <a:rPr sz="140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008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400" b="1" i="0">
                <a:solidFill>
                  <a:srgbClr val="16385C"/>
                </a:solidFill>
                <a:latin typeface="Meiryo"/>
                <a:ea typeface="Meiryo"/>
              </a:rPr>
              <a:t> に近づける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10528" y="2148840"/>
            <a:ext cx="4977079" cy="548640"/>
          </a:xfrm>
          <a:prstGeom prst="roundRect">
            <a:avLst>
              <a:gd name="adj" fmla="val 10000"/>
            </a:avLst>
          </a:prstGeom>
          <a:solidFill>
            <a:srgbClr val="CFD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1968" y="2212848"/>
            <a:ext cx="1143000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936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300" b="1" i="0">
                <a:solidFill>
                  <a:srgbClr val="16385C"/>
                </a:solidFill>
                <a:latin typeface="Meiryo"/>
                <a:ea typeface="Meiryo"/>
              </a:rPr>
              <a:t>（誘導解）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44967" y="2212848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439911" y="2212848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34855" y="2212848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829800" y="2212848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8A86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79607" y="2212848"/>
            <a:ext cx="822960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= 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01968" y="2880360"/>
            <a:ext cx="1143000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26303A"/>
                </a:solidFill>
                <a:latin typeface="Meiryo"/>
                <a:ea typeface="Meiryo"/>
              </a:rPr>
              <a:t>現在解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44967" y="2880360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439911" y="2880360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8A86A8"/>
          </a:solidFill>
          <a:ln w="3048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134855" y="2880360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D98E45"/>
          </a:solidFill>
          <a:ln w="3048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829800" y="2880360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6F9E7C"/>
          </a:solidFill>
          <a:ln w="3048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79607" y="2880360"/>
            <a:ext cx="822960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= 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99247" y="3300984"/>
            <a:ext cx="3788359" cy="34747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B03A2E"/>
                </a:solidFill>
                <a:latin typeface="Meiryo"/>
                <a:ea typeface="Meiryo"/>
              </a:rPr>
              <a:t>↓ swap：J4 と J3 を入れ替え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01968" y="3648456"/>
            <a:ext cx="1143000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26303A"/>
                </a:solidFill>
                <a:latin typeface="Meiryo"/>
                <a:ea typeface="Meiryo"/>
              </a:rPr>
              <a:t>1 回目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744967" y="3648456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439911" y="3648456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6F9E7C"/>
          </a:solidFill>
          <a:ln w="3048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134855" y="3648456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D98E45"/>
          </a:solidFill>
          <a:ln w="3048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829800" y="3648456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8A86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79607" y="3648456"/>
            <a:ext cx="822960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= 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99247" y="4069080"/>
            <a:ext cx="3788359" cy="34747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B03A2E"/>
                </a:solidFill>
                <a:latin typeface="Meiryo"/>
                <a:ea typeface="Meiryo"/>
              </a:rPr>
              <a:t>↓ swap：J3 と J2 を入れ替え（</a:t>
            </a:r>
            <a:r>
              <a:rPr sz="1100" b="0" i="1">
                <a:solidFill>
                  <a:srgbClr val="B03A2E"/>
                </a:solidFill>
                <a:latin typeface="Meiryo"/>
                <a:ea typeface="Meiryo"/>
              </a:rPr>
              <a:t>S</a:t>
            </a:r>
            <a:r>
              <a:rPr sz="792" b="0" i="1" baseline="-22000">
                <a:solidFill>
                  <a:srgbClr val="B03A2E"/>
                </a:solidFill>
                <a:latin typeface="Meiryo"/>
                <a:ea typeface="Meiryo"/>
              </a:rPr>
              <a:t>p</a:t>
            </a:r>
            <a:r>
              <a:rPr sz="1100" b="0" i="0">
                <a:solidFill>
                  <a:srgbClr val="B03A2E"/>
                </a:solidFill>
                <a:latin typeface="Meiryo"/>
                <a:ea typeface="Meiryo"/>
              </a:rPr>
              <a:t> に到達）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01968" y="4416552"/>
            <a:ext cx="1143000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26303A"/>
                </a:solidFill>
                <a:latin typeface="Meiryo"/>
                <a:ea typeface="Meiryo"/>
              </a:rPr>
              <a:t>2 回目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744967" y="4416552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439911" y="4416552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134855" y="4416552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829800" y="4416552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8A86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579607" y="4416552"/>
            <a:ext cx="822960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= 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601968" y="4846320"/>
            <a:ext cx="4794199" cy="56692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6E7A88"/>
                </a:solidFill>
                <a:latin typeface="Meiryo"/>
                <a:ea typeface="Meiryo"/>
              </a:rPr>
              <a:t>赤枠：</a:t>
            </a:r>
            <a:r>
              <a:rPr sz="1150" b="0" i="1">
                <a:solidFill>
                  <a:srgbClr val="6E7A88"/>
                </a:solidFill>
                <a:latin typeface="Meiryo"/>
                <a:ea typeface="Meiryo"/>
              </a:rPr>
              <a:t>S</a:t>
            </a:r>
            <a:r>
              <a:rPr sz="827" b="0" i="1" baseline="-22000">
                <a:solidFill>
                  <a:srgbClr val="6E7A88"/>
                </a:solidFill>
                <a:latin typeface="Meiryo"/>
                <a:ea typeface="Meiryo"/>
              </a:rPr>
              <a:t>p</a:t>
            </a:r>
            <a:r>
              <a:rPr sz="1150" b="0" i="0">
                <a:solidFill>
                  <a:srgbClr val="6E7A88"/>
                </a:solidFill>
                <a:latin typeface="Meiryo"/>
                <a:ea typeface="Meiryo"/>
              </a:rPr>
              <a:t> と順位が異なる作業（その数が </a:t>
            </a:r>
            <a:r>
              <a:rPr sz="1150" b="0" i="1">
                <a:solidFill>
                  <a:srgbClr val="6E7A88"/>
                </a:solidFill>
                <a:latin typeface="Meiryo"/>
                <a:ea typeface="Meiryo"/>
              </a:rPr>
              <a:t>d</a:t>
            </a:r>
            <a:r>
              <a:rPr sz="1150" b="0" i="0">
                <a:solidFill>
                  <a:srgbClr val="6E7A88"/>
                </a:solidFill>
                <a:latin typeface="Meiryo"/>
                <a:ea typeface="Meiryo"/>
              </a:rPr>
              <a:t>）</a:t>
            </a:r>
          </a:p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6E7A88"/>
                </a:solidFill>
                <a:latin typeface="Meiryo"/>
                <a:ea typeface="Meiryo"/>
              </a:rPr>
              <a:t>1 回の swap で 1 作業を </a:t>
            </a:r>
            <a:r>
              <a:rPr sz="1150" b="0" i="1">
                <a:solidFill>
                  <a:srgbClr val="6E7A88"/>
                </a:solidFill>
                <a:latin typeface="Meiryo"/>
                <a:ea typeface="Meiryo"/>
              </a:rPr>
              <a:t>S</a:t>
            </a:r>
            <a:r>
              <a:rPr sz="827" b="0" i="1" baseline="-22000">
                <a:solidFill>
                  <a:srgbClr val="6E7A88"/>
                </a:solidFill>
                <a:latin typeface="Meiryo"/>
                <a:ea typeface="Meiryo"/>
              </a:rPr>
              <a:t>p</a:t>
            </a:r>
            <a:r>
              <a:rPr sz="1150" b="0" i="0">
                <a:solidFill>
                  <a:srgbClr val="6E7A88"/>
                </a:solidFill>
                <a:latin typeface="Meiryo"/>
                <a:ea typeface="Meiryo"/>
              </a:rPr>
              <a:t> の順位に合わせ，</a:t>
            </a:r>
            <a:r>
              <a:rPr sz="1150" b="0" i="1">
                <a:solidFill>
                  <a:srgbClr val="6E7A88"/>
                </a:solidFill>
                <a:latin typeface="Meiryo"/>
                <a:ea typeface="Meiryo"/>
              </a:rPr>
              <a:t>D</a:t>
            </a:r>
            <a:r>
              <a:rPr sz="1150" b="0" i="0">
                <a:solidFill>
                  <a:srgbClr val="6E7A88"/>
                </a:solidFill>
                <a:latin typeface="Meiryo"/>
                <a:ea typeface="Meiryo"/>
              </a:rPr>
              <a:t> が小さくなる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373368" y="5623560"/>
            <a:ext cx="5251399" cy="640079"/>
          </a:xfrm>
          <a:prstGeom prst="roundRect">
            <a:avLst>
              <a:gd name="adj" fmla="val 5000"/>
            </a:avLst>
          </a:prstGeom>
          <a:solidFill>
            <a:srgbClr val="EDF2F7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601968" y="5660136"/>
            <a:ext cx="4794199" cy="566927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300" b="1" i="0">
                <a:solidFill>
                  <a:srgbClr val="16385C"/>
                </a:solidFill>
                <a:latin typeface="Meiryo"/>
                <a:ea typeface="Meiryo"/>
              </a:rPr>
              <a:t>組み込み方</a:t>
            </a:r>
          </a:p>
          <a:p>
            <a:pPr>
              <a:spcBef>
                <a:spcPts val="200"/>
              </a:spcBef>
            </a:pPr>
            <a:r>
              <a:rPr sz="1250" b="1" i="0">
                <a:solidFill>
                  <a:srgbClr val="E06C00"/>
                </a:solidFill>
                <a:latin typeface="Meiryo"/>
                <a:ea typeface="Meiryo"/>
              </a:rPr>
              <a:t>ILS：</a:t>
            </a: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停滞したときに摂動として発動</a:t>
            </a:r>
          </a:p>
          <a:p>
            <a:pPr>
              <a:spcBef>
                <a:spcPts val="200"/>
              </a:spcBef>
            </a:pPr>
            <a:r>
              <a:rPr sz="1250" b="1" i="0">
                <a:solidFill>
                  <a:srgbClr val="0F5C28"/>
                </a:solidFill>
                <a:latin typeface="Meiryo"/>
                <a:ea typeface="Meiryo"/>
              </a:rPr>
              <a:t>Memetic：</a:t>
            </a: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各個体に確率的に改善操作として発動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比較する手法と仮説の判定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仮説 1 は ILS と Memetic，仮説 2 は Memetic と演算子を組み込んだ Memetic の高安定 HV を比較して判定する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2. 問題設定と実験計画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13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1783080"/>
          <a:ext cx="7955280" cy="1152144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286000"/>
                <a:gridCol w="2103120"/>
                <a:gridCol w="1828800"/>
                <a:gridCol w="173736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探索構造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安定性誘導演算子なし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PR-</a:t>
                      </a:r>
                      <a:r>
                        <a:rPr sz="1450" b="1" i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k</a:t>
                      </a:r>
                      <a:r>
                        <a:rPr sz="14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 を組み込む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PR を組み込む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50" b="1" i="0">
                          <a:solidFill>
                            <a:srgbClr val="E06C00"/>
                          </a:solidFill>
                          <a:latin typeface="Meiryo"/>
                          <a:ea typeface="Meiryo"/>
                        </a:rPr>
                        <a:t>単点探索（ILS）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E06C00"/>
                          </a:solidFill>
                          <a:latin typeface="Meiryo"/>
                          <a:ea typeface="Meiryo"/>
                        </a:rPr>
                        <a:t>ILS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E06C00"/>
                          </a:solidFill>
                          <a:latin typeface="Meiryo"/>
                          <a:ea typeface="Meiryo"/>
                        </a:rPr>
                        <a:t>ILS＋PR-</a:t>
                      </a:r>
                      <a:r>
                        <a:rPr sz="1450" b="1" i="1">
                          <a:solidFill>
                            <a:srgbClr val="E06C00"/>
                          </a:solidFill>
                          <a:latin typeface="Meiryo"/>
                          <a:ea typeface="Meiryo"/>
                        </a:rPr>
                        <a:t>k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E06C00"/>
                          </a:solidFill>
                          <a:latin typeface="Meiryo"/>
                          <a:ea typeface="Meiryo"/>
                        </a:rPr>
                        <a:t>ILS＋PR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50" b="1" i="0">
                          <a:solidFill>
                            <a:srgbClr val="0F5C28"/>
                          </a:solidFill>
                          <a:latin typeface="Meiryo"/>
                          <a:ea typeface="Meiryo"/>
                        </a:rPr>
                        <a:t>多点探索（Memetic）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0F5C28"/>
                          </a:solidFill>
                          <a:latin typeface="Meiryo"/>
                          <a:ea typeface="Meiryo"/>
                        </a:rPr>
                        <a:t>Memetic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0F5C28"/>
                          </a:solidFill>
                          <a:latin typeface="Meiryo"/>
                          <a:ea typeface="Meiryo"/>
                        </a:rPr>
                        <a:t>Memetic＋PR-</a:t>
                      </a:r>
                      <a:r>
                        <a:rPr sz="1450" b="1" i="1">
                          <a:solidFill>
                            <a:srgbClr val="0F5C28"/>
                          </a:solidFill>
                          <a:latin typeface="Meiryo"/>
                          <a:ea typeface="Meiryo"/>
                        </a:rPr>
                        <a:t>k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0F5C28"/>
                          </a:solidFill>
                          <a:latin typeface="Meiryo"/>
                          <a:ea typeface="Meiryo"/>
                        </a:rPr>
                        <a:t>Memetic＋PR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2898648" y="2212848"/>
            <a:ext cx="5577840" cy="292607"/>
          </a:xfrm>
          <a:prstGeom prst="roundRect">
            <a:avLst>
              <a:gd name="adj" fmla="val 8000"/>
            </a:avLst>
          </a:prstGeom>
          <a:noFill/>
          <a:ln w="20320">
            <a:solidFill>
              <a:srgbClr val="6E7A8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898648" y="2596896"/>
            <a:ext cx="5577840" cy="292607"/>
          </a:xfrm>
          <a:prstGeom prst="roundRect">
            <a:avLst>
              <a:gd name="adj" fmla="val 8000"/>
            </a:avLst>
          </a:prstGeom>
          <a:noFill/>
          <a:ln w="27940">
            <a:solidFill>
              <a:srgbClr val="6A4C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898648" y="2212848"/>
            <a:ext cx="2011679" cy="676655"/>
          </a:xfrm>
          <a:prstGeom prst="roundRect">
            <a:avLst>
              <a:gd name="adj" fmla="val 8000"/>
            </a:avLst>
          </a:prstGeom>
          <a:noFill/>
          <a:ln w="27940">
            <a:solidFill>
              <a:srgbClr val="1638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66928" y="3429000"/>
            <a:ext cx="1097280" cy="365760"/>
          </a:xfrm>
          <a:prstGeom prst="roundRect">
            <a:avLst>
              <a:gd name="adj" fmla="val 3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Meiryo"/>
                <a:ea typeface="Meiryo"/>
              </a:rPr>
              <a:t>仮説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47088" y="3401568"/>
            <a:ext cx="9777679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26303A"/>
                </a:solidFill>
                <a:latin typeface="Meiryo"/>
                <a:ea typeface="Meiryo"/>
              </a:rPr>
              <a:t>単点探索のほうが，多点探索より高安定 HV が大きい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47088" y="3840480"/>
            <a:ext cx="9777679" cy="34747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判定：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ILS が Memetic を全シナリオで有意に上回れば支持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4224528"/>
            <a:ext cx="11057839" cy="10972"/>
          </a:xfrm>
          <a:prstGeom prst="rect">
            <a:avLst/>
          </a:prstGeom>
          <a:solidFill>
            <a:srgbClr val="D6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66928" y="4343400"/>
            <a:ext cx="1097280" cy="36576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Meiryo"/>
                <a:ea typeface="Meiryo"/>
              </a:rPr>
              <a:t>仮説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47088" y="4315968"/>
            <a:ext cx="9777679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26303A"/>
                </a:solidFill>
                <a:latin typeface="Meiryo"/>
                <a:ea typeface="Meiryo"/>
              </a:rPr>
              <a:t>安定性誘導演算子を組み込めば，多点探索の高安定 HV は向上する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47088" y="4754880"/>
            <a:ext cx="9777679" cy="34747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判定：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Memetic＋PR-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k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と Memetic＋PR がそれぞれ Memetic を全シナリオで有意に上回れば支持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5138928"/>
            <a:ext cx="11057839" cy="10972"/>
          </a:xfrm>
          <a:prstGeom prst="rect">
            <a:avLst/>
          </a:prstGeom>
          <a:solidFill>
            <a:srgbClr val="D6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847088" y="5230368"/>
            <a:ext cx="9777679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ILS＋PR-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k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と ILS＋PR も同じ形で ILS と比較し，演算子の効果が探索構造で異なるかを見る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5779008"/>
            <a:ext cx="11057839" cy="51206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spcBef>
                <a:spcPts val="0"/>
              </a:spcBef>
            </a:pPr>
            <a:r>
              <a:rPr sz="1250" b="1" i="0">
                <a:solidFill>
                  <a:srgbClr val="6E7A88"/>
                </a:solidFill>
                <a:latin typeface="Meiryo"/>
                <a:ea typeface="Meiryo"/>
              </a:rPr>
              <a:t>検定：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両側 Mann–Whitney の 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U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 検定．全シナリオにわたる同じ比較は Holm 法で補正</a:t>
            </a:r>
          </a:p>
          <a:p>
            <a:pPr>
              <a:spcBef>
                <a:spcPts val="200"/>
              </a:spcBef>
            </a:pPr>
            <a:r>
              <a:rPr sz="1250" b="1" i="0">
                <a:solidFill>
                  <a:srgbClr val="6E7A88"/>
                </a:solidFill>
                <a:latin typeface="Meiryo"/>
                <a:ea typeface="Meiryo"/>
              </a:rPr>
              <a:t>効果量：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Cliff's 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δ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．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|δ|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 = 1.0 は，一方の全試行が他方の全試行を上回る完全分離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評価指標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高安定 HV は，順序偏差 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D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が 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080" b="1" i="1" baseline="-22000">
                <a:solidFill>
                  <a:srgbClr val="16385C"/>
                </a:solidFill>
                <a:latin typeface="Meiryo"/>
                <a:ea typeface="Meiryo"/>
              </a:rPr>
              <a:t>θ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未満の非劣解だけで算出した HV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2. 問題設定と実験計画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14</a:t>
            </a:r>
          </a:p>
        </p:txBody>
      </p:sp>
      <p:pic>
        <p:nvPicPr>
          <p:cNvPr id="8" name="Picture 7" descr="metr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" y="1627632"/>
            <a:ext cx="10966399" cy="388210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596128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936" b="0" i="1" baseline="-22000">
                <a:solidFill>
                  <a:srgbClr val="26303A"/>
                </a:solidFill>
                <a:latin typeface="Meiryo"/>
                <a:ea typeface="Meiryo"/>
              </a:rPr>
              <a:t>θ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：全手法・全試行の非劣解の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の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θ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パーセンタイル．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= 0 の解（初期解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936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）は全手法が探索せずに得るため HV から除く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全域 HV・高安定 HV は全ての重み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λ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の解を合わせて算出し，AUC は重みごとに算出して平均する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011680" y="141731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017520" y="141731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研究背景と仮説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246887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17520" y="246887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問題設定と実験計画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737360" y="3474720"/>
            <a:ext cx="8716975" cy="960120"/>
          </a:xfrm>
          <a:prstGeom prst="roundRect">
            <a:avLst>
              <a:gd name="adj" fmla="val 12000"/>
            </a:avLst>
          </a:prstGeom>
          <a:solidFill>
            <a:srgbClr val="3E618C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11680" y="352043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Meiryo"/>
                <a:ea typeface="Meiryo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352043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Meiryo"/>
                <a:ea typeface="Meiryo"/>
              </a:rPr>
              <a:t>数値実験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AFC2D8"/>
                </a:solidFill>
                <a:latin typeface="Meiryo"/>
                <a:ea typeface="Meiryo"/>
              </a:rPr>
              <a:t>実験設定・高安定 HV・全域 HV と AUC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4572000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4572000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結論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AFC2D8"/>
                </a:solidFill>
                <a:latin typeface="Meiryo"/>
                <a:ea typeface="Meiryo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実験設定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5 つのベンチマーク問題に単一作業の遅延を与え，8 シナリオを構成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3. 数値実験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16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1627632"/>
          <a:ext cx="11057838" cy="301752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103641"/>
                <a:gridCol w="8954197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項目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設定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比較手法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ILS・Memetic と，それぞれに PR-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k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／PR を組み込んだ 6 手法＋参考の GA（局所探索なし）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問題・外乱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mt10・la21・la36・la40・ta21 に単一作業の完了遅延（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Δ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= 60〜148，対象作業の処理時間の約 0.9〜1.5 倍）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シナリオ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8 つ：la36S・la36M・la36L，ta21S・ta21L，mt10，la21，la40</a:t>
                      </a:r>
                    </a:p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la36 と ta21 は同一問題・同一 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S</a:t>
                      </a:r>
                      <a:r>
                        <a:rPr sz="900" b="0" i="1" baseline="-2200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p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のまま外乱の規模だけを段階的に変え，小さい順に S・M・L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初期スケジュール 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S</a:t>
                      </a:r>
                      <a:r>
                        <a:rPr sz="900" b="0" i="1" baseline="-2200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p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500 世代の GA で生成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重み 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λ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0, 0.1, …, 0.9 の 10 点（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λ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= 1.0 は 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D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= 0 の自明解に縮退するため除外）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計算予算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ILS 系 3000 反復，GA・Memetic 系 500 世代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探索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GA・Memetic 系：交叉率 0.85，突然変異率 0.1，集団 50（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S</a:t>
                      </a:r>
                      <a:r>
                        <a:rPr sz="900" b="0" i="1" baseline="-2200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p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以外の 49 個体は無作為生成）</a:t>
                      </a:r>
                    </a:p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ILS 系：insert 摂動 2〜5 手を鋸歯状に巡回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安定性誘導演算子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Memetic 系：各個体に確率 0.3 で発動．PR は経路上の上位 3 中間解を局所探索して最良を返す</a:t>
                      </a:r>
                    </a:p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ILS 系：無改善 400 反復で初回，以降 10 反復ごとに発動．PR は経路上の最良 1 解を返す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高安定領域の境界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θ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= 50（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P</a:t>
                      </a:r>
                      <a:r>
                        <a:rPr sz="900" b="0" i="1" baseline="-2200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50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：全手法・全試行の非劣解の 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D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の中央値）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試行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各条件 10 試行（全乱数シード固定）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" y="5138928"/>
            <a:ext cx="11057839" cy="2743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妥当性の確認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5440680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1" i="0">
                <a:solidFill>
                  <a:srgbClr val="16385C"/>
                </a:solidFill>
                <a:latin typeface="Meiryo"/>
                <a:ea typeface="Meiryo"/>
              </a:rPr>
              <a:t>高安定領域の境界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：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θ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を 33〜67 に変えても，仮説 1・仮説 2 の結論は変わらない（全シナリオで完全分離）</a:t>
            </a:r>
          </a:p>
          <a:p>
            <a:pPr>
              <a:lnSpc>
                <a:spcPct val="108000"/>
              </a:lnSpc>
              <a:spcBef>
                <a:spcPts val="3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1" i="0">
                <a:solidFill>
                  <a:srgbClr val="16385C"/>
                </a:solidFill>
                <a:latin typeface="Meiryo"/>
                <a:ea typeface="Meiryo"/>
              </a:rPr>
              <a:t>計算予算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：中央値の試行は全手法とも，予算の 7 割以内で最終の全域 HV の 99% に到達</a:t>
            </a:r>
          </a:p>
          <a:p>
            <a:pPr>
              <a:lnSpc>
                <a:spcPct val="108000"/>
              </a:lnSpc>
              <a:spcBef>
                <a:spcPts val="3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1" i="0">
                <a:solidFill>
                  <a:srgbClr val="16385C"/>
                </a:solidFill>
                <a:latin typeface="Meiryo"/>
                <a:ea typeface="Meiryo"/>
              </a:rPr>
              <a:t>パラメータ感度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：挙動を定める 11 軸を 2 シナリオで一要因ずつ振っても，全域 HV の変化は +0.5〜2%（手法間の差は +7〜54%）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高安定 HV の比較：代表 2 シナリオの非劣解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ta21S では，演算子なしの Memetic は高安定領域に非劣解を持たない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3. 数値実験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17</a:t>
            </a:r>
          </a:p>
        </p:txBody>
      </p:sp>
      <p:pic>
        <p:nvPicPr>
          <p:cNvPr id="8" name="Picture 7" descr="front_ta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72768"/>
            <a:ext cx="10972800" cy="31089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4846320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4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(a) ta21S：Memetic は高安定領域に非劣解を持たない</a:t>
            </a:r>
          </a:p>
          <a:p>
            <a:pPr>
              <a:lnSpc>
                <a:spcPct val="108000"/>
              </a:lnSpc>
              <a:spcBef>
                <a:spcPts val="700"/>
              </a:spcBef>
            </a:pPr>
            <a:r>
              <a:rPr sz="14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(b) ta21L：Memetic は高安定領域に入るが，</a:t>
            </a:r>
            <a:r>
              <a:rPr sz="1800" b="0" i="1">
                <a:solidFill>
                  <a:srgbClr val="26303A"/>
                </a:solidFill>
                <a:latin typeface="Meiryo"/>
                <a:ea typeface="Meiryo"/>
              </a:rPr>
              <a:t>MS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 で ILS に劣る</a:t>
            </a:r>
          </a:p>
          <a:p>
            <a:pPr>
              <a:lnSpc>
                <a:spcPct val="108000"/>
              </a:lnSpc>
              <a:spcBef>
                <a:spcPts val="700"/>
              </a:spcBef>
            </a:pPr>
            <a:r>
              <a:rPr sz="14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どちらのシナリオでも，演算子を組み込むと両構造の Pareto フロント（点線）は高安定領域で重なる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高安定 HV の比較：全 8 シナリオ（仮説の判定）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仮説 1・仮説 2 とも，全 8 シナリオで支持された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3. 数値実験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18</a:t>
            </a:r>
          </a:p>
        </p:txBody>
      </p:sp>
      <p:pic>
        <p:nvPicPr>
          <p:cNvPr id="8" name="Picture 7" descr="highstab_all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36192"/>
            <a:ext cx="10972800" cy="3518611"/>
          </a:xfrm>
          <a:prstGeom prst="rect">
            <a:avLst/>
          </a:prstGeom>
        </p:spPr>
      </p:pic>
      <p:cxnSp>
        <p:nvCxnSpPr>
          <p:cNvPr id="9" name="Connector 8"/>
          <p:cNvCxnSpPr/>
          <p:nvPr/>
        </p:nvCxnSpPr>
        <p:spPr>
          <a:xfrm>
            <a:off x="1701241" y="2553004"/>
            <a:ext cx="0" cy="534010"/>
          </a:xfrm>
          <a:prstGeom prst="line">
            <a:avLst/>
          </a:prstGeom>
          <a:ln w="19050">
            <a:solidFill>
              <a:srgbClr val="16385C"/>
            </a:solidFill>
            <a:tailEnd type="triangle" w="med" len="med"/>
            <a:head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1509217" y="2728569"/>
            <a:ext cx="530352" cy="182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1638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16385C"/>
                </a:solidFill>
                <a:latin typeface="Meiryo"/>
                <a:ea typeface="Meiryo"/>
              </a:rPr>
              <a:t>仮説 1</a:t>
            </a:r>
          </a:p>
        </p:txBody>
      </p:sp>
      <p:cxnSp>
        <p:nvCxnSpPr>
          <p:cNvPr id="11" name="Connector 10"/>
          <p:cNvCxnSpPr/>
          <p:nvPr/>
        </p:nvCxnSpPr>
        <p:spPr>
          <a:xfrm flipV="1">
            <a:off x="2012137" y="2726740"/>
            <a:ext cx="526708" cy="405994"/>
          </a:xfrm>
          <a:prstGeom prst="line">
            <a:avLst/>
          </a:prstGeom>
          <a:ln w="20320">
            <a:solidFill>
              <a:srgbClr val="6A4C9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2465693" y="2949854"/>
            <a:ext cx="530352" cy="182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6A4C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6A4C93"/>
                </a:solidFill>
                <a:latin typeface="Meiryo"/>
                <a:ea typeface="Meiryo"/>
              </a:rPr>
              <a:t>仮説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5138928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4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800" b="1" i="0">
                <a:solidFill>
                  <a:srgbClr val="16385C"/>
                </a:solidFill>
                <a:latin typeface="Meiryo"/>
                <a:ea typeface="Meiryo"/>
              </a:rPr>
              <a:t>仮説 1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：演算子なしで ILS &gt; Memetic（全シナリオで </a:t>
            </a:r>
            <a:r>
              <a:rPr sz="1800" b="0" i="1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 &lt; 0.001，</a:t>
            </a:r>
            <a:r>
              <a:rPr sz="1800" b="0" i="1">
                <a:solidFill>
                  <a:srgbClr val="26303A"/>
                </a:solidFill>
                <a:latin typeface="Meiryo"/>
                <a:ea typeface="Meiryo"/>
              </a:rPr>
              <a:t>|δ|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 = 1.0）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5522976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4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800" b="1" i="0">
                <a:solidFill>
                  <a:srgbClr val="6A4C93"/>
                </a:solidFill>
                <a:latin typeface="Meiryo"/>
                <a:ea typeface="Meiryo"/>
              </a:rPr>
              <a:t>仮説 2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：演算子を組み込んだ Memetic &gt; Memetic（全シナリオで </a:t>
            </a:r>
            <a:r>
              <a:rPr sz="1800" b="0" i="1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 &lt; 0.001，</a:t>
            </a:r>
            <a:r>
              <a:rPr sz="1800" b="0" i="1">
                <a:solidFill>
                  <a:srgbClr val="26303A"/>
                </a:solidFill>
                <a:latin typeface="Meiryo"/>
                <a:ea typeface="Meiryo"/>
              </a:rPr>
              <a:t>|δ|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 = 1.0）</a:t>
            </a:r>
          </a:p>
          <a:p>
            <a:pPr>
              <a:lnSpc>
                <a:spcPct val="108000"/>
              </a:lnSpc>
              <a:spcBef>
                <a:spcPts val="300"/>
              </a:spcBef>
            </a:pPr>
            <a:r>
              <a:rPr sz="1530" b="0" i="0">
                <a:solidFill>
                  <a:srgbClr val="6E7A88"/>
                </a:solidFill>
                <a:latin typeface="Meiryo"/>
                <a:ea typeface="Meiryo"/>
              </a:rPr>
              <a:t>　－ </a:t>
            </a:r>
            <a:r>
              <a:rPr sz="1620" b="0" i="0">
                <a:solidFill>
                  <a:srgbClr val="26303A"/>
                </a:solidFill>
                <a:latin typeface="Meiryo"/>
                <a:ea typeface="Meiryo"/>
              </a:rPr>
              <a:t>Memetic は演算子を組み込むと ILS と同程度まで向上する一方，ILS ではほとんど向上しない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高安定 HV の比較：演算子の効果が現れる条件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効果の非対称は，組み込む前に「到達上限の帯」に入っているかで説明できる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3. 数値実験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19</a:t>
            </a:r>
          </a:p>
        </p:txBody>
      </p:sp>
      <p:pic>
        <p:nvPicPr>
          <p:cNvPr id="8" name="Picture 7" descr="highstab_ba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36192"/>
            <a:ext cx="10972800" cy="351861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120640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3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どのシナリオでも 3〜5 手法が最良値の 2% 以内に集まる → この帯を到達上限とみなす</a:t>
            </a:r>
          </a:p>
          <a:p>
            <a:pPr>
              <a:lnSpc>
                <a:spcPct val="108000"/>
              </a:lnSpc>
              <a:spcBef>
                <a:spcPts val="300"/>
              </a:spcBef>
            </a:pPr>
            <a:r>
              <a:rPr sz="13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700" b="1" i="0">
                <a:solidFill>
                  <a:srgbClr val="16385C"/>
                </a:solidFill>
                <a:latin typeface="Meiryo"/>
                <a:ea typeface="Meiryo"/>
              </a:rPr>
              <a:t>Memetic</a:t>
            </a: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：演算子なしでは全シナリオで帯の外 → 組み込むと 7 つで帯の中</a:t>
            </a:r>
          </a:p>
          <a:p>
            <a:pPr>
              <a:lnSpc>
                <a:spcPct val="108000"/>
              </a:lnSpc>
              <a:spcBef>
                <a:spcPts val="300"/>
              </a:spcBef>
            </a:pPr>
            <a:r>
              <a:rPr sz="13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700" b="1" i="0">
                <a:solidFill>
                  <a:srgbClr val="16385C"/>
                </a:solidFill>
                <a:latin typeface="Meiryo"/>
                <a:ea typeface="Meiryo"/>
              </a:rPr>
              <a:t>ILS</a:t>
            </a: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：演算子なしで 6 つが帯の中 → 有意に向上したのは帯の外の 2 つだけ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035040"/>
            <a:ext cx="11057839" cy="32918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→ 演算子の効果は，探索構造の違いそのものではなく，</a:t>
            </a:r>
            <a:r>
              <a:rPr sz="1700" b="1" i="0">
                <a:solidFill>
                  <a:srgbClr val="16385C"/>
                </a:solidFill>
                <a:latin typeface="Meiryo"/>
                <a:ea typeface="Meiryo"/>
              </a:rPr>
              <a:t>組み込む前に上限までの差が残っているかで決まる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全域 HV と AUC：代表 2 シナリオの推移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立ち上がりは ILS が速く，到達した全域 HV は演算子を組み込んだ Memetic が同等以上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3. 数値実験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20</a:t>
            </a:r>
          </a:p>
        </p:txBody>
      </p:sp>
      <p:pic>
        <p:nvPicPr>
          <p:cNvPr id="8" name="Picture 7" descr="any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72768"/>
            <a:ext cx="10972800" cy="34747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248656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4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(a) ta21S：演算子を組み込んだ Memetic も ILS と同じ全域 HV に達するが，立ち上がりが遅い</a:t>
            </a:r>
          </a:p>
          <a:p>
            <a:pPr>
              <a:lnSpc>
                <a:spcPct val="108000"/>
              </a:lnSpc>
              <a:spcBef>
                <a:spcPts val="700"/>
              </a:spcBef>
            </a:pPr>
            <a:r>
              <a:rPr sz="14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(b) la36L：Memetic 系は途中で ILS 系を追い越し，より大きい全域 HV に達する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全域 HV と AUC：全 8 シナリオ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最良の手法は評価指標によって異なる：全域 HV は Memetic＋演算子，AUC は ILS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3. 数値実験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591056"/>
            <a:ext cx="5257800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16385C"/>
                </a:solidFill>
                <a:latin typeface="Meiryo"/>
                <a:ea typeface="Meiryo"/>
              </a:rPr>
              <a:t>最良に並ぶシナリオ数（/8）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66928" y="2048256"/>
          <a:ext cx="5257800" cy="3438144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103120"/>
                <a:gridCol w="1051560"/>
                <a:gridCol w="1234440"/>
                <a:gridCol w="868680"/>
              </a:tblGrid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6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手法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全域HV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高安定HV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AUC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ILS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4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6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6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ILS+PR-</a:t>
                      </a:r>
                      <a:r>
                        <a:rPr sz="16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k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4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8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6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ILS+PR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4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8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6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GA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0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0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0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Memetic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1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0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2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Memetic+PR-</a:t>
                      </a:r>
                      <a:r>
                        <a:rPr sz="16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k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7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7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1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Memetic+PR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7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7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0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66928" y="5559552"/>
            <a:ext cx="525780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E7A88"/>
                </a:solidFill>
                <a:latin typeface="Meiryo"/>
                <a:ea typeface="Meiryo"/>
              </a:rPr>
              <a:t>最良に並ぶ：中央値が最良手法の中央値から 2% 以内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81928" y="1591056"/>
            <a:ext cx="5342839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6385C"/>
                </a:solidFill>
                <a:latin typeface="Meiryo"/>
                <a:ea typeface="Meiryo"/>
              </a:rPr>
              <a:t>全域 HV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81928" y="2048256"/>
            <a:ext cx="5342839" cy="17373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Memetic＋演算子が最良に並ぶ</a:t>
            </a:r>
          </a:p>
          <a:p>
            <a:pPr algn="l">
              <a:lnSpc>
                <a:spcPct val="112000"/>
              </a:lnSpc>
            </a:pP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ILS 系は 4 シナリオで 5〜38% 下回る</a:t>
            </a:r>
          </a:p>
          <a:p>
            <a:pPr algn="l">
              <a:lnSpc>
                <a:spcPct val="112000"/>
              </a:lnSpc>
            </a:pP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→ </a:t>
            </a:r>
            <a:r>
              <a:rPr sz="1700" b="1" i="0">
                <a:solidFill>
                  <a:srgbClr val="16385C"/>
                </a:solidFill>
                <a:latin typeface="Meiryo"/>
                <a:ea typeface="Meiryo"/>
              </a:rPr>
              <a:t>高安定 HV での ILS の優位は，</a:t>
            </a:r>
          </a:p>
          <a:p>
            <a:pPr algn="l">
              <a:lnSpc>
                <a:spcPct val="112000"/>
              </a:lnSpc>
            </a:pPr>
            <a:r>
              <a:rPr sz="1700" b="1" i="0">
                <a:solidFill>
                  <a:srgbClr val="16385C"/>
                </a:solidFill>
                <a:latin typeface="Meiryo"/>
                <a:ea typeface="Meiryo"/>
              </a:rPr>
              <a:t>全体として優れていることの反映ではない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81928" y="4023360"/>
            <a:ext cx="5342839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6385C"/>
                </a:solidFill>
                <a:latin typeface="Meiryo"/>
                <a:ea typeface="Meiryo"/>
              </a:rPr>
              <a:t>AUC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81928" y="4480560"/>
            <a:ext cx="5342839" cy="17373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ILS 系が最良に並ぶ</a:t>
            </a:r>
          </a:p>
          <a:p>
            <a:pPr algn="l">
              <a:lnSpc>
                <a:spcPct val="112000"/>
              </a:lnSpc>
            </a:pP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Memetic では演算子が各個体に発動して</a:t>
            </a:r>
          </a:p>
          <a:p>
            <a:pPr algn="l">
              <a:lnSpc>
                <a:spcPct val="112000"/>
              </a:lnSpc>
            </a:pP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計算時間が増え，PR は AUC を</a:t>
            </a:r>
          </a:p>
          <a:p>
            <a:pPr algn="l">
              <a:lnSpc>
                <a:spcPct val="112000"/>
              </a:lnSpc>
            </a:pP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5 シナリオで 7〜26% 下げる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011680" y="141731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017520" y="141731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研究背景と仮説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246887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17520" y="246887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問題設定と実験計画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352043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352043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数値実験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737360" y="4526280"/>
            <a:ext cx="8716975" cy="960120"/>
          </a:xfrm>
          <a:prstGeom prst="roundRect">
            <a:avLst>
              <a:gd name="adj" fmla="val 12000"/>
            </a:avLst>
          </a:prstGeom>
          <a:solidFill>
            <a:srgbClr val="3E618C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11680" y="4572000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Meiryo"/>
                <a:ea typeface="Meiryo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4572000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Meiryo"/>
                <a:ea typeface="Meiryo"/>
              </a:rPr>
              <a:t>結論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AFC2D8"/>
                </a:solidFill>
                <a:latin typeface="Meiryo"/>
                <a:ea typeface="Meiryo"/>
              </a:rPr>
              <a:t>まとめ・限界と今後の課題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AFC2D8"/>
                </a:solidFill>
                <a:latin typeface="Meiryo"/>
                <a:ea typeface="Meiryo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まとめ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080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が探索前に得られる再スケジューリングでは，高安定領域で探索構造と演算子の関係が分かれる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4. 結論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23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691640"/>
            <a:ext cx="11057839" cy="9875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49808" y="1947672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FFFFFF"/>
                </a:solidFill>
                <a:latin typeface="Meiryo"/>
                <a:ea typeface="Meiryo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35607" y="1764792"/>
            <a:ext cx="1554480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16385C"/>
                </a:solidFill>
                <a:latin typeface="Meiryo"/>
                <a:ea typeface="Meiryo"/>
              </a:rPr>
              <a:t>仮説 1 を支持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81528" y="1746504"/>
            <a:ext cx="8360359" cy="8778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高安定 HV は</a:t>
            </a:r>
            <a:r>
              <a:rPr sz="1400" b="1" i="0">
                <a:solidFill>
                  <a:srgbClr val="26303A"/>
                </a:solidFill>
                <a:latin typeface="Meiryo"/>
                <a:ea typeface="Meiryo"/>
              </a:rPr>
              <a:t>単点探索（ILS）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が多点探索（Memetic）を上回る．全 8 シナリオの全試行で分離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16352"/>
            <a:ext cx="11057839" cy="9875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49808" y="3072384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FFFFFF"/>
                </a:solidFill>
                <a:latin typeface="Meiryo"/>
                <a:ea typeface="Meiryo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35607" y="2889504"/>
            <a:ext cx="1554480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16385C"/>
                </a:solidFill>
                <a:latin typeface="Meiryo"/>
                <a:ea typeface="Meiryo"/>
              </a:rPr>
              <a:t>仮説 2 を支持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81528" y="2871216"/>
            <a:ext cx="8360359" cy="8778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安定性誘導演算子は</a:t>
            </a:r>
            <a:r>
              <a:rPr sz="1400" b="1" i="0">
                <a:solidFill>
                  <a:srgbClr val="26303A"/>
                </a:solidFill>
                <a:latin typeface="Meiryo"/>
                <a:ea typeface="Meiryo"/>
              </a:rPr>
              <a:t>多点探索の高安定 HV を単点探索と同程度まで向上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させ，</a:t>
            </a:r>
          </a:p>
          <a:p>
            <a:pPr algn="l">
              <a:lnSpc>
                <a:spcPct val="112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単点探索ではほとんど向上させない．効果は，組み込む前に到達上限の帯に入っているかで決まる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41064"/>
            <a:ext cx="11057839" cy="9875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49808" y="4197096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FFFFFF"/>
                </a:solidFill>
                <a:latin typeface="Meiryo"/>
                <a:ea typeface="Meiryo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35607" y="4014216"/>
            <a:ext cx="1554480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16385C"/>
                </a:solidFill>
                <a:latin typeface="Meiryo"/>
                <a:ea typeface="Meiryo"/>
              </a:rPr>
              <a:t>手法の選び方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81528" y="3995928"/>
            <a:ext cx="8360359" cy="8778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全域 HV を重視するなら </a:t>
            </a:r>
            <a:r>
              <a:rPr sz="1400" b="1" i="0">
                <a:solidFill>
                  <a:srgbClr val="26303A"/>
                </a:solidFill>
                <a:latin typeface="Meiryo"/>
                <a:ea typeface="Meiryo"/>
              </a:rPr>
              <a:t>Memetic＋演算子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，短い計算時間で解を得るなら </a:t>
            </a:r>
            <a:r>
              <a:rPr sz="1400" b="1" i="0">
                <a:solidFill>
                  <a:srgbClr val="26303A"/>
                </a:solidFill>
                <a:latin typeface="Meiryo"/>
                <a:ea typeface="Meiryo"/>
              </a:rPr>
              <a:t>ILS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．</a:t>
            </a:r>
          </a:p>
          <a:p>
            <a:pPr algn="l">
              <a:lnSpc>
                <a:spcPct val="112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高安定 HV では両者が並ぶ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065776"/>
            <a:ext cx="11057839" cy="9875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35607" y="5138928"/>
            <a:ext cx="1554480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16385C"/>
                </a:solidFill>
                <a:latin typeface="Meiryo"/>
                <a:ea typeface="Meiryo"/>
              </a:rPr>
              <a:t>貢献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81528" y="5120640"/>
            <a:ext cx="8360359" cy="8778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手法を高安定 HV でも評価し，局所探索を揃えた統制比較で，探索構造と演算子の関係を切り分けた</a:t>
            </a:r>
          </a:p>
          <a:p>
            <a:pPr algn="l">
              <a:lnSpc>
                <a:spcPct val="112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→ </a:t>
            </a:r>
            <a:r>
              <a:rPr sz="1400" b="1" i="0">
                <a:solidFill>
                  <a:srgbClr val="16385C"/>
                </a:solidFill>
                <a:latin typeface="Meiryo"/>
                <a:ea typeface="Meiryo"/>
              </a:rPr>
              <a:t>ある演算子が有効だという報告は，どの探索構造に組み込んだかを抜きにしては一般化できない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限界と今後の課題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結論は本実験の条件の下で得たもので，条件を変えた再検証が今後の課題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4. 結論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591056"/>
            <a:ext cx="11057839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6385C"/>
                </a:solidFill>
                <a:latin typeface="Meiryo"/>
                <a:ea typeface="Meiryo"/>
              </a:rPr>
              <a:t>限界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1993392"/>
            <a:ext cx="1087495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/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(i) </a:t>
            </a:r>
            <a:r>
              <a:rPr sz="1650" b="0" i="1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 が有意水準に近い比較は，</a:t>
            </a:r>
            <a:r>
              <a:rPr sz="1650" b="0" i="1">
                <a:solidFill>
                  <a:srgbClr val="26303A"/>
                </a:solidFill>
                <a:latin typeface="Meiryo"/>
                <a:ea typeface="Meiryo"/>
              </a:rPr>
              <a:t>n</a:t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 = 10 では決着していない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/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(ii) 安定性を開始時刻偏差で測る場合の妥当性は検証していない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/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(iii) 外乱は単一作業の遅延に限る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/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(iv) 初期スケジュール </a:t>
            </a:r>
            <a:r>
              <a:rPr sz="165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188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 の最適化の程度が結果に与える影響は検証していない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/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(v) 各探索構造の代表は 1 手法ずつである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3886200"/>
            <a:ext cx="11057839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6385C"/>
                </a:solidFill>
                <a:latin typeface="Meiryo"/>
                <a:ea typeface="Meiryo"/>
              </a:rPr>
              <a:t>今後の課題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4288536"/>
            <a:ext cx="1087495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上記の条件を変えた再検証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再スケジュールの範囲を限定するアプローチと安定性誘導演算子の統合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安定性を交叉自体に持たせる方式の検証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Pareto 支配に基づく手法（NSGA-II 等）での再検証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925312"/>
            <a:ext cx="11057839" cy="32918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6E7A88"/>
                </a:solidFill>
                <a:latin typeface="Meiryo"/>
                <a:ea typeface="Meiryo"/>
              </a:rPr>
              <a:t>データ：各シナリオの定義と，試行ごとの値・検定は公開リポジトリに収録（https://github.com/kitotakumi/stability_scheduling）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1560" y="2651760"/>
            <a:ext cx="9144000" cy="9144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FFFFFF"/>
                </a:solidFill>
                <a:latin typeface="Meiryo"/>
                <a:ea typeface="Meiryo"/>
              </a:rPr>
              <a:t>予備スライド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［予備］問題設定の根拠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予備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71600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外乱を単一の作業遅延に限る理由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：作業遅延は作業集合を変えず，処理順序の再調整だけで対処できる．修正スケジュールを高安定領域に保つという前提が，最も素直に成り立つ外乱である</a:t>
            </a:r>
          </a:p>
          <a:p>
            <a:pPr>
              <a:lnSpc>
                <a:spcPct val="108000"/>
              </a:lnSpc>
              <a:spcBef>
                <a:spcPts val="16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再スケジューリング時刻 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t</a:t>
            </a:r>
            <a:r>
              <a:rPr sz="1080" b="1" i="1" baseline="-22000">
                <a:solidFill>
                  <a:srgbClr val="16385C"/>
                </a:solidFill>
                <a:latin typeface="Meiryo"/>
                <a:ea typeface="Meiryo"/>
              </a:rPr>
              <a:t>r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：遅延の解消時刻．遅延の発生から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t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r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までは，機械上の順序を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から変えずに遅延を吸収して実行を続ける（right-shift）．この間に開始した作業はもう変更できないため凍結し，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t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r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以降の作業の機械ごとの処理順序だけを決定変数とする</a:t>
            </a:r>
          </a:p>
          <a:p>
            <a:pPr>
              <a:lnSpc>
                <a:spcPct val="108000"/>
              </a:lnSpc>
              <a:spcBef>
                <a:spcPts val="16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安定性を順序偏差で測る理由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：変更量の測り方は，開始時刻偏差と順序偏差の二系統に大別される（Sun ら (2026) は前者の開始時刻の絶対偏差和を採る）．本研究は，探索で用いる操作（N5 近傍と安定性誘導演算子の swap 移動）がいずれも順列操作であること，および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MS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との独立性が高いことから，順序偏差を採る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［予備］重み付き和によるスカラー化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予備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27</a:t>
            </a:r>
          </a:p>
        </p:txBody>
      </p:sp>
      <p:pic>
        <p:nvPicPr>
          <p:cNvPr id="6" name="Picture 5" descr="eq_talk_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43240" y="1325880"/>
            <a:ext cx="4905213" cy="548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984687" y="1463040"/>
            <a:ext cx="6400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(2)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011680"/>
            <a:ext cx="1105783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D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，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MS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 は min-max 正規化値．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λ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 = 0, 0.1, …, 0.9 の 10 点で探索を独立に行う（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λ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 = 1.0 は 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D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 = 0 の自明解に縮退するため除く）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606040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運用との対応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：生産効率と安定性の優先度は，意思決定者が事前に重みとして与える．1 点ぶんの探索は，重みが定まった状態で再スケジューリングを 1 回行う実運用に対応する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先行研究との対応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：Rangsaritratsamee ら (2004)・Zhang ら (2013)・Fattahi &amp; Fallahi (2010) も，生産効率と安定性を重みで 1 つのスカラーにまとめる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統制比較の共通基盤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：単点探索と多点探索に同じ目的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F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を共有させ，同じ安定性誘導演算子を変更なしで組み込める → 構造間で条件を揃えて比較できる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評価との対応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：各重みの探索を時間で追えば立ち上がりの速さ（AUC）が，全重みの解を合わせれば Pareto フロント全体の HV が，同じ実験から測れる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限界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：重み付き和は非凸な Pareto フロントの凹部に届かない．ただし全手法が同じスカラー化を共有し，探索中に訪問した凹部の解も記録するため，構造差の比較への影響は限定的．Pareto 支配に基づく手法（NSGA-II 等）での再検証は今後の課題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［予備］なぜ ILS と Memetic か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予備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28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325880"/>
            <a:ext cx="5346039" cy="4983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325880"/>
            <a:ext cx="5346039" cy="502920"/>
          </a:xfrm>
          <a:prstGeom prst="rect">
            <a:avLst/>
          </a:prstGeom>
          <a:solidFill>
            <a:srgbClr val="E06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325880"/>
            <a:ext cx="4980279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1" i="0">
                <a:solidFill>
                  <a:srgbClr val="FFFFFF"/>
                </a:solidFill>
                <a:latin typeface="Meiryo"/>
                <a:ea typeface="Meiryo"/>
              </a:rPr>
              <a:t>単点探索の代表：ILS（反復局所探索）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1965960"/>
            <a:ext cx="498027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摂動 → 局所探索 → 受理判定を反復し，1 つの解を改善する枠組み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1" i="0">
                <a:solidFill>
                  <a:srgbClr val="16385C"/>
                </a:solidFill>
                <a:latin typeface="Meiryo"/>
                <a:ea typeface="Meiryo"/>
              </a:rPr>
              <a:t>局所探索と摂動が独立した段に分かれている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ため，摂動の強度（現在解から一度にどれだけ離すか）を明示的に設定でき，安定性誘導演算子も局所探索・受理判定を変えずに摂動の段へ組み込める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他の単点探索は局所最適からの脱出を別の形で行う：SA は悪化解の確率的な受理，タブーサーチは再訪の禁止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設定：初期解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936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．insert 摂動は 2〜5 手を停滞度に応じて巡回．best の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F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を厳密に改善したときのみ現在解を更新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8727" y="1325880"/>
            <a:ext cx="5346039" cy="4983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8727" y="1325880"/>
            <a:ext cx="5346039" cy="502920"/>
          </a:xfrm>
          <a:prstGeom prst="rect">
            <a:avLst/>
          </a:prstGeom>
          <a:solidFill>
            <a:srgbClr val="0F5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61607" y="1325880"/>
            <a:ext cx="4980279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1" i="0">
                <a:solidFill>
                  <a:srgbClr val="FFFFFF"/>
                </a:solidFill>
                <a:latin typeface="Meiryo"/>
                <a:ea typeface="Meiryo"/>
              </a:rPr>
              <a:t>多点探索の代表：Memetic（GA＋局所探索）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1607" y="1965960"/>
            <a:ext cx="498027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先行研究（Rangsaritratsamee ら 2004，Fattahi &amp; Fallahi 2010）で用いられる，</a:t>
            </a:r>
            <a:r>
              <a:rPr sz="1300" b="1" i="0">
                <a:solidFill>
                  <a:srgbClr val="16385C"/>
                </a:solidFill>
                <a:latin typeface="Meiryo"/>
                <a:ea typeface="Meiryo"/>
              </a:rPr>
              <a:t>GA に局所探索を組み込んだ標準的な構成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GA：operation-based 表現，GT 法でデコード，エリート保存付きトーナメント選択，PPX 交叉，逆位突然変異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各個体に N5 局所探索を適用し，改善解を染色体に書き戻す Lamarckian 型．初期集団に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936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を 1 個体含める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局所探索をもたない素の GA は参考として比較する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［予備］安定性誘導演算子の設計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予備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71600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誘導解を </a:t>
            </a:r>
            <a:r>
              <a:rPr sz="145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044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 に固定する理由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：(a)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44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は順序偏差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を最小にする解なので，PR を「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を最小にする解へ向かう移動」と一意に解釈できる．(b)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44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へ向かう経路上には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が小さく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MS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の劣化も小さい解が現れると期待でき，それが高安定領域の非劣解になる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PR-</a:t>
            </a:r>
            <a:r>
              <a:rPr sz="1450" b="1" i="1">
                <a:solidFill>
                  <a:srgbClr val="16385C"/>
                </a:solidFill>
                <a:latin typeface="Meiryo"/>
                <a:ea typeface="Meiryo"/>
              </a:rPr>
              <a:t>k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 で </a:t>
            </a:r>
            <a:r>
              <a:rPr sz="1450" b="1" i="1">
                <a:solidFill>
                  <a:srgbClr val="16385C"/>
                </a:solidFill>
                <a:latin typeface="Meiryo"/>
                <a:ea typeface="Meiryo"/>
              </a:rPr>
              <a:t>k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 を変える理由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k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が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に等しければ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44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まで戻り，小さければ現在解の近くに留まる．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k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を変えて繰り返すことで，現在解と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44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の間の広い範囲に解を得る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組み込み方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：両構造に「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44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に近づける swap 移動」という核を共有させ，発動の契機と返し方は各構造の標準的な組み込み方に合わせる．ILS は停滞時に摂動として発動し，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k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を 1 から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まで 1 ずつ増やして，上限に達するか best が改善したら 1 に戻す．Memetic は局所探索の後に個体ごとに確率的に適用し（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k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は 1〜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から一様に選ぶ），N5 で再最適化して無条件に集団へ戻す（採否はトーナメント選択に委ねる）</a:t>
            </a:r>
          </a:p>
          <a:p>
            <a:pPr>
              <a:lnSpc>
                <a:spcPct val="108000"/>
              </a:lnSpc>
              <a:spcBef>
                <a:spcPts val="300"/>
              </a:spcBef>
            </a:pPr>
            <a:r>
              <a:rPr sz="1232" b="0" i="0">
                <a:solidFill>
                  <a:srgbClr val="6E7A88"/>
                </a:solidFill>
                <a:latin typeface="Meiryo"/>
                <a:ea typeface="Meiryo"/>
              </a:rPr>
              <a:t>　－ </a:t>
            </a:r>
            <a:r>
              <a:rPr sz="1305" b="0" i="0">
                <a:solidFill>
                  <a:srgbClr val="26303A"/>
                </a:solidFill>
                <a:latin typeface="Meiryo"/>
                <a:ea typeface="Meiryo"/>
              </a:rPr>
              <a:t>組み込み方が同じ ILS 系の中でも帯の内外で効果が分かれる → 効果の非対称は，組み込み方の違いでは説明できない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入れ替える作業の選び方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：実行可能な候補からランダムに選び，評価回数を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O(d)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に抑える．全候補を評価する best 選択は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O(d</a:t>
            </a:r>
            <a:r>
              <a:rPr sz="1044" b="0" i="1" baseline="30000">
                <a:solidFill>
                  <a:srgbClr val="26303A"/>
                </a:solidFill>
                <a:latin typeface="Meiryo"/>
                <a:ea typeface="Meiryo"/>
              </a:rPr>
              <a:t>2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)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で，予備実験では全域 HV が約 +1% 増えるのに対し，最大で約 8 倍の時間を要したため採らない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［予備］手法のパラメータ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予備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30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371600"/>
          <a:ext cx="11057838" cy="2414016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376064"/>
                <a:gridCol w="8681774"/>
              </a:tblGrid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3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項目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設定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GA・Memetic 系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交叉率 0.85，突然変異率 0.1，集団 50（</a:t>
                      </a:r>
                      <a:r>
                        <a:rPr sz="13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S</a:t>
                      </a:r>
                      <a:r>
                        <a:rPr sz="971" b="0" i="1" baseline="-2200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p</a:t>
                      </a:r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以外の 49 個体は無作為生成）．operation-based 表現，GT 法でデコード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ILS 系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insert 摂動 2〜5 手を巡回．局所探索は N5 近傍（クリティカルブロック端の隣接 swap）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演算子（Memetic 系）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各個体に確率 0.3 で発動．PR は経路上の上位 3 中間解を局所探索して最良を返す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演算子（ILS 系）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無改善 400 反復で初回，以降 10 反復ごとに発動．PR は経路上の最良 1 解を返す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PR-</a:t>
                      </a:r>
                      <a:r>
                        <a:rPr sz="13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k</a:t>
                      </a:r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の深さ </a:t>
                      </a:r>
                      <a:r>
                        <a:rPr sz="13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k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1 から </a:t>
                      </a:r>
                      <a:r>
                        <a:rPr sz="13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S</a:t>
                      </a:r>
                      <a:r>
                        <a:rPr sz="971" b="0" i="1" baseline="-2200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p</a:t>
                      </a:r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と処理順位が異なる作業数 </a:t>
                      </a:r>
                      <a:r>
                        <a:rPr sz="13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d</a:t>
                      </a:r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までの範囲で発動ごとに変える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記録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選択の前に生成した全解から非劣解を保存（両構造で記録点を揃える）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環境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AMD Ryzen 5 7530U，Python 3.12（NumPy・DEAP・SciPy）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［予備］頑健性と計算時間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予備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71600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高安定領域の境界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θ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を 50 から 33〜67 に変えても，仮説 1・仮説 2 の結論は変わらない（全シナリオで完全分離）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計算時間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：壁時計は Memetic+PR が ILS の 4.8〜9.4 倍．ただし中央値の試行は，全手法とも予算の 7 割以内で最終の全域 HV の 99% に達する → 全域 HV の差は計算予算の不足によらない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PR か PR-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k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か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：ILS ではどちらを組み込んでも 3 指標とも差は 2% 以内．Memetic では全域 HV・高安定 HV は PR がわずかに上回り（有意差は各 2 シナリオ），AUC は 1 回の計算が軽い PR-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k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が 8 シナリオ中 6 つで有意に上回る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ILS で演算子により有意に向上した 2 シナリオ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：la36L・ta21L で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&lt; 0.05．Holm 補正後に残るのは ta21L のみ（la36L は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adj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= 0.091）．中央値の向上は 6.3〜6.5%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［予備］対照実験とパラメータ感度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予備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71600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ランダム方向の対照実験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：Memetic に組み込んだ演算子による向上が，摂動一般の効果か，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に近づける方向に固有の効果かを確かめるため，強度を揃えて方向だけをランダム化した対照を 2 シナリオ（mt10・la36S）で実行した</a:t>
            </a:r>
          </a:p>
          <a:p>
            <a:pPr>
              <a:lnSpc>
                <a:spcPct val="108000"/>
              </a:lnSpc>
              <a:spcBef>
                <a:spcPts val="300"/>
              </a:spcBef>
            </a:pPr>
            <a:r>
              <a:rPr sz="1275" b="0" i="0">
                <a:solidFill>
                  <a:srgbClr val="6E7A88"/>
                </a:solidFill>
                <a:latin typeface="Meiryo"/>
                <a:ea typeface="Meiryo"/>
              </a:rPr>
              <a:t>　－ </a:t>
            </a:r>
            <a:r>
              <a:rPr sz="1350" b="0" i="0">
                <a:solidFill>
                  <a:srgbClr val="26303A"/>
                </a:solidFill>
                <a:latin typeface="Meiryo"/>
                <a:ea typeface="Meiryo"/>
              </a:rPr>
              <a:t>ランダム方向は向上幅の 7 割前後しか再現せず，高安定 HV では演算子に完全分離で及ばない</a:t>
            </a:r>
          </a:p>
          <a:p>
            <a:pPr>
              <a:lnSpc>
                <a:spcPct val="108000"/>
              </a:lnSpc>
              <a:spcBef>
                <a:spcPts val="300"/>
              </a:spcBef>
            </a:pPr>
            <a:r>
              <a:rPr sz="1275" b="0" i="0">
                <a:solidFill>
                  <a:srgbClr val="6E7A88"/>
                </a:solidFill>
                <a:latin typeface="Meiryo"/>
                <a:ea typeface="Meiryo"/>
              </a:rPr>
              <a:t>　－ </a:t>
            </a:r>
            <a:r>
              <a:rPr sz="1350" b="0" i="0">
                <a:solidFill>
                  <a:srgbClr val="26303A"/>
                </a:solidFill>
                <a:latin typeface="Meiryo"/>
                <a:ea typeface="Meiryo"/>
              </a:rPr>
              <a:t>同じ高安定 HV に達するには，1.7〜2.4 倍の時間を要する</a:t>
            </a:r>
          </a:p>
          <a:p>
            <a:pPr>
              <a:lnSpc>
                <a:spcPct val="108000"/>
              </a:lnSpc>
              <a:spcBef>
                <a:spcPts val="16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パラメータ感度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：手法パラメータは標準値で固定した．挙動を定める 11 軸（ベースの探索構造側を含む）を 2 シナリオで一要因ずつ上下に振ったが，全域 HV の変化は +0.5〜2% で，手法間の差（+7〜54%）より一桁小さい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