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68680" y="1874519"/>
            <a:ext cx="2377440" cy="0"/>
          </a:xfrm>
          <a:prstGeom prst="bentConnector3">
            <a:avLst/>
          </a:prstGeom>
          <a:ln w="254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68680" y="2029968"/>
            <a:ext cx="10454335" cy="1737360"/>
          </a:xfrm>
          <a:prstGeom prst="rect">
            <a:avLst/>
          </a:prstGeom>
          <a:noFill/>
        </p:spPr>
        <p:txBody>
          <a:bodyPr wrap="square" anchor="t" lIns="18288" rIns="18288" tIns="9144" bIns="9144">
            <a:spAutoFit/>
          </a:bodyPr>
          <a:lstStyle/>
          <a:p>
            <a:pPr>
              <a:lnSpc>
                <a:spcPct val="115000"/>
              </a:lnSpc>
            </a:pPr>
            <a:r>
              <a:rPr sz="3000" b="1" i="0">
                <a:solidFill>
                  <a:srgbClr val="FFFFFF"/>
                </a:solidFill>
                <a:latin typeface="Meiryo"/>
                <a:ea typeface="Meiryo"/>
              </a:rPr>
              <a:t>処理順序の変更量を考慮した再スケジューリングにおける</a:t>
            </a:r>
          </a:p>
          <a:p>
            <a:pPr>
              <a:lnSpc>
                <a:spcPct val="115000"/>
              </a:lnSpc>
            </a:pPr>
            <a:r>
              <a:rPr sz="3000" b="1" i="0">
                <a:solidFill>
                  <a:srgbClr val="FFFFFF"/>
                </a:solidFill>
                <a:latin typeface="Meiryo"/>
                <a:ea typeface="Meiryo"/>
              </a:rPr>
              <a:t>path relinking の適用と探索構造の比較評価</a:t>
            </a:r>
          </a:p>
        </p:txBody>
      </p:sp>
      <p:cxnSp>
        <p:nvCxnSpPr>
          <p:cNvPr id="5" name="Connector 4"/>
          <p:cNvCxnSpPr/>
          <p:nvPr/>
        </p:nvCxnSpPr>
        <p:spPr>
          <a:xfrm>
            <a:off x="886968" y="4343400"/>
            <a:ext cx="3108960" cy="0"/>
          </a:xfrm>
          <a:prstGeom prst="bentConnector3">
            <a:avLst/>
          </a:prstGeom>
          <a:ln w="127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86968" y="4480560"/>
            <a:ext cx="10454335" cy="1463040"/>
          </a:xfrm>
          <a:prstGeom prst="rect">
            <a:avLst/>
          </a:prstGeom>
          <a:noFill/>
        </p:spPr>
        <p:txBody>
          <a:bodyPr wrap="square" anchor="t" lIns="18288" rIns="18288" tIns="9144" bIns="9144">
            <a:spAutoFit/>
          </a:bodyPr>
          <a:lstStyle/>
          <a:p>
            <a:pPr>
              <a:spcBef>
                <a:spcPts val="0"/>
              </a:spcBef>
            </a:pPr>
            <a:r>
              <a:rPr sz="1500" b="0" i="0">
                <a:solidFill>
                  <a:srgbClr val="AFC2D8"/>
                </a:solidFill>
                <a:latin typeface="Meiryo"/>
                <a:ea typeface="Meiryo"/>
              </a:rPr>
              <a:t>早稲田大学</a:t>
            </a:r>
          </a:p>
          <a:p>
            <a:pPr>
              <a:spcBef>
                <a:spcPts val="600"/>
              </a:spcBef>
            </a:pPr>
            <a:r>
              <a:rPr sz="1900" b="1" i="0">
                <a:solidFill>
                  <a:srgbClr val="FFFFFF"/>
                </a:solidFill>
                <a:latin typeface="Meiryo"/>
                <a:ea typeface="Meiryo"/>
              </a:rPr>
              <a:t>○鬼頭 拓海，谷水 義隆，渡邉 るりこ</a:t>
            </a:r>
          </a:p>
          <a:p>
            <a:pPr>
              <a:spcBef>
                <a:spcPts val="600"/>
              </a:spcBef>
            </a:pPr>
            <a:r>
              <a:rPr sz="1250" b="0" i="0">
                <a:solidFill>
                  <a:srgbClr val="8CA3C0"/>
                </a:solidFill>
                <a:latin typeface="Meiryo"/>
                <a:ea typeface="Meiryo"/>
              </a:rPr>
              <a:t>日本経営工学会 2026年秋季大会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737360" y="1371599"/>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0" y="141731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1</a:t>
            </a:r>
          </a:p>
        </p:txBody>
      </p:sp>
      <p:sp>
        <p:nvSpPr>
          <p:cNvPr id="5" name="TextBox 4"/>
          <p:cNvSpPr txBox="1"/>
          <p:nvPr/>
        </p:nvSpPr>
        <p:spPr>
          <a:xfrm>
            <a:off x="3017520" y="141731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研究背景と仮説</a:t>
            </a:r>
          </a:p>
          <a:p>
            <a:pPr>
              <a:spcBef>
                <a:spcPts val="400"/>
              </a:spcBef>
            </a:pPr>
            <a:r>
              <a:rPr sz="1300" b="0" i="0">
                <a:solidFill>
                  <a:srgbClr val="AFC2D8"/>
                </a:solidFill>
                <a:latin typeface="Meiryo"/>
                <a:ea typeface="Meiryo"/>
              </a:rPr>
              <a:t>外乱と再スケジューリング・先行研究・特殊性と課題・仮説</a:t>
            </a: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外乱と再スケジューリング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外乱が起きたら，事前に作成した初期スケジュール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を修正する（予測リアクティブ再スケジューリング）</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a:t>
            </a:r>
          </a:p>
        </p:txBody>
      </p:sp>
      <p:sp>
        <p:nvSpPr>
          <p:cNvPr id="8" name="Rounded Rectangle 7"/>
          <p:cNvSpPr/>
          <p:nvPr/>
        </p:nvSpPr>
        <p:spPr>
          <a:xfrm>
            <a:off x="566928" y="2089404"/>
            <a:ext cx="2286000" cy="3931920"/>
          </a:xfrm>
          <a:prstGeom prst="roundRect">
            <a:avLst>
              <a:gd name="adj" fmla="val 6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89404"/>
            <a:ext cx="1773936" cy="3931920"/>
          </a:xfrm>
          <a:prstGeom prst="rect">
            <a:avLst/>
          </a:prstGeom>
          <a:noFill/>
        </p:spPr>
        <p:txBody>
          <a:bodyPr wrap="square" anchor="ctr" lIns="18288" rIns="18288" tIns="9144" bIns="9144">
            <a:spAutoFit/>
          </a:bodyPr>
          <a:lstStyle/>
          <a:p>
            <a:r>
              <a:rPr sz="1750" b="1" i="0">
                <a:solidFill>
                  <a:srgbClr val="16385C"/>
                </a:solidFill>
                <a:latin typeface="Meiryo"/>
                <a:ea typeface="Meiryo"/>
              </a:rPr>
              <a:t>外乱</a:t>
            </a:r>
          </a:p>
          <a:p>
            <a:pPr>
              <a:lnSpc>
                <a:spcPct val="110000"/>
              </a:lnSpc>
              <a:spcBef>
                <a:spcPts val="600"/>
              </a:spcBef>
            </a:pPr>
            <a:r>
              <a:rPr sz="1400" b="0" i="0">
                <a:solidFill>
                  <a:srgbClr val="26303A"/>
                </a:solidFill>
                <a:latin typeface="Meiryo"/>
                <a:ea typeface="Meiryo"/>
              </a:rPr>
              <a:t>製造現場では，機械故障や作業遅延などにより，スケジュール通りに作業を実行できないことがある</a:t>
            </a:r>
          </a:p>
        </p:txBody>
      </p:sp>
      <p:sp>
        <p:nvSpPr>
          <p:cNvPr id="10" name="Rounded Rectangle 9"/>
          <p:cNvSpPr/>
          <p:nvPr/>
        </p:nvSpPr>
        <p:spPr>
          <a:xfrm>
            <a:off x="3355848" y="2089404"/>
            <a:ext cx="3474720" cy="1874519"/>
          </a:xfrm>
          <a:prstGeom prst="roundRect">
            <a:avLst>
              <a:gd name="adj" fmla="val 6000"/>
            </a:avLst>
          </a:prstGeom>
          <a:solidFill>
            <a:srgbClr val="EDF2F7"/>
          </a:solidFill>
          <a:ln w="2286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089404"/>
            <a:ext cx="2962656" cy="1874519"/>
          </a:xfrm>
          <a:prstGeom prst="rect">
            <a:avLst/>
          </a:prstGeom>
          <a:noFill/>
        </p:spPr>
        <p:txBody>
          <a:bodyPr wrap="square" anchor="ctr" lIns="18288" rIns="18288" tIns="9144" bIns="9144">
            <a:spAutoFit/>
          </a:bodyPr>
          <a:lstStyle/>
          <a:p>
            <a:r>
              <a:rPr sz="1750" b="1" i="0">
                <a:solidFill>
                  <a:srgbClr val="16385C"/>
                </a:solidFill>
                <a:latin typeface="Meiryo"/>
                <a:ea typeface="Meiryo"/>
              </a:rPr>
              <a:t>動的アプローチ</a:t>
            </a:r>
          </a:p>
          <a:p>
            <a:pPr>
              <a:lnSpc>
                <a:spcPct val="110000"/>
              </a:lnSpc>
              <a:spcBef>
                <a:spcPts val="600"/>
              </a:spcBef>
            </a:pPr>
            <a:r>
              <a:rPr sz="1400" b="0" i="0">
                <a:solidFill>
                  <a:srgbClr val="26303A"/>
                </a:solidFill>
                <a:latin typeface="Meiryo"/>
                <a:ea typeface="Meiryo"/>
              </a:rPr>
              <a:t>外乱の発生後に，スケジュールを修正する</a:t>
            </a:r>
          </a:p>
        </p:txBody>
      </p:sp>
      <p:sp>
        <p:nvSpPr>
          <p:cNvPr id="12" name="Rounded Rectangle 11"/>
          <p:cNvSpPr/>
          <p:nvPr/>
        </p:nvSpPr>
        <p:spPr>
          <a:xfrm>
            <a:off x="3355848" y="4375404"/>
            <a:ext cx="3474720"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4375404"/>
            <a:ext cx="2962656" cy="1645920"/>
          </a:xfrm>
          <a:prstGeom prst="rect">
            <a:avLst/>
          </a:prstGeom>
          <a:noFill/>
        </p:spPr>
        <p:txBody>
          <a:bodyPr wrap="square" anchor="ctr" lIns="18288" rIns="18288" tIns="9144" bIns="9144">
            <a:spAutoFit/>
          </a:bodyPr>
          <a:lstStyle/>
          <a:p>
            <a:r>
              <a:rPr sz="1750" b="1" i="0">
                <a:solidFill>
                  <a:srgbClr val="6E7A88"/>
                </a:solidFill>
                <a:latin typeface="Meiryo"/>
                <a:ea typeface="Meiryo"/>
              </a:rPr>
              <a:t>静的アプローチ</a:t>
            </a:r>
          </a:p>
          <a:p>
            <a:pPr>
              <a:lnSpc>
                <a:spcPct val="110000"/>
              </a:lnSpc>
              <a:spcBef>
                <a:spcPts val="600"/>
              </a:spcBef>
            </a:pPr>
            <a:r>
              <a:rPr sz="1350" b="0" i="0">
                <a:solidFill>
                  <a:srgbClr val="6E7A88"/>
                </a:solidFill>
                <a:latin typeface="Meiryo"/>
                <a:ea typeface="Meiryo"/>
              </a:rPr>
              <a:t>外乱に対してロバストなスケジュールを事前に作成する</a:t>
            </a:r>
          </a:p>
        </p:txBody>
      </p:sp>
      <p:sp>
        <p:nvSpPr>
          <p:cNvPr id="14" name="Rounded Rectangle 13"/>
          <p:cNvSpPr/>
          <p:nvPr/>
        </p:nvSpPr>
        <p:spPr>
          <a:xfrm>
            <a:off x="7333488" y="4375404"/>
            <a:ext cx="4291279"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19" y="4375404"/>
            <a:ext cx="3779215" cy="1645920"/>
          </a:xfrm>
          <a:prstGeom prst="rect">
            <a:avLst/>
          </a:prstGeom>
          <a:noFill/>
        </p:spPr>
        <p:txBody>
          <a:bodyPr wrap="square" anchor="ctr" lIns="18288" rIns="18288" tIns="9144" bIns="9144">
            <a:spAutoFit/>
          </a:bodyPr>
          <a:lstStyle/>
          <a:p>
            <a:r>
              <a:rPr sz="1750" b="1" i="0">
                <a:solidFill>
                  <a:srgbClr val="6E7A88"/>
                </a:solidFill>
                <a:latin typeface="Meiryo"/>
                <a:ea typeface="Meiryo"/>
              </a:rPr>
              <a:t>完全リアクティブ</a:t>
            </a:r>
          </a:p>
          <a:p>
            <a:pPr>
              <a:lnSpc>
                <a:spcPct val="110000"/>
              </a:lnSpc>
              <a:spcBef>
                <a:spcPts val="600"/>
              </a:spcBef>
            </a:pPr>
            <a:r>
              <a:rPr sz="1350" b="0" i="0">
                <a:solidFill>
                  <a:srgbClr val="6E7A88"/>
                </a:solidFill>
                <a:latin typeface="Meiryo"/>
                <a:ea typeface="Meiryo"/>
              </a:rPr>
              <a:t>事前のスケジュールを持たず，ディスパッチングルールなどで作業をその場で決める</a:t>
            </a:r>
          </a:p>
        </p:txBody>
      </p:sp>
      <p:sp>
        <p:nvSpPr>
          <p:cNvPr id="16" name="Rounded Rectangle 15"/>
          <p:cNvSpPr/>
          <p:nvPr/>
        </p:nvSpPr>
        <p:spPr>
          <a:xfrm>
            <a:off x="7333488" y="2089404"/>
            <a:ext cx="4291279" cy="1874519"/>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436047" y="1915668"/>
            <a:ext cx="1005840" cy="347472"/>
          </a:xfrm>
          <a:prstGeom prst="roundRect">
            <a:avLst>
              <a:gd name="adj" fmla="val 4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本研究</a:t>
            </a:r>
          </a:p>
        </p:txBody>
      </p:sp>
      <p:sp>
        <p:nvSpPr>
          <p:cNvPr id="18" name="TextBox 17"/>
          <p:cNvSpPr txBox="1"/>
          <p:nvPr/>
        </p:nvSpPr>
        <p:spPr>
          <a:xfrm>
            <a:off x="7589519" y="2089404"/>
            <a:ext cx="3779215" cy="1874519"/>
          </a:xfrm>
          <a:prstGeom prst="rect">
            <a:avLst/>
          </a:prstGeom>
          <a:noFill/>
        </p:spPr>
        <p:txBody>
          <a:bodyPr wrap="square" anchor="ctr" lIns="18288" rIns="18288" tIns="9144" bIns="9144">
            <a:spAutoFit/>
          </a:bodyPr>
          <a:lstStyle/>
          <a:p>
            <a:r>
              <a:rPr sz="1600" b="1" i="0">
                <a:solidFill>
                  <a:srgbClr val="FFFFFF"/>
                </a:solidFill>
                <a:latin typeface="Meiryo"/>
                <a:ea typeface="Meiryo"/>
              </a:rPr>
              <a:t>予測リアクティブ再スケジューリング</a:t>
            </a:r>
          </a:p>
          <a:p>
            <a:pPr>
              <a:lnSpc>
                <a:spcPct val="110000"/>
              </a:lnSpc>
              <a:spcBef>
                <a:spcPts val="600"/>
              </a:spcBef>
            </a:pPr>
            <a:r>
              <a:rPr sz="1400" b="0" i="0">
                <a:solidFill>
                  <a:srgbClr val="FFFFFF"/>
                </a:solidFill>
                <a:latin typeface="Meiryo"/>
                <a:ea typeface="Meiryo"/>
              </a:rPr>
              <a:t>外乱が起きたら，外乱前のスケジュール（</a:t>
            </a:r>
            <a:r>
              <a:rPr sz="1400" b="1" i="0">
                <a:solidFill>
                  <a:srgbClr val="FFFFFF"/>
                </a:solidFill>
                <a:latin typeface="Meiryo"/>
                <a:ea typeface="Meiryo"/>
              </a:rPr>
              <a:t>初期スケジュール </a:t>
            </a:r>
            <a:r>
              <a:rPr sz="1400" b="1" i="1">
                <a:solidFill>
                  <a:srgbClr val="FFFFFF"/>
                </a:solidFill>
                <a:latin typeface="Meiryo"/>
                <a:ea typeface="Meiryo"/>
              </a:rPr>
              <a:t>S</a:t>
            </a:r>
            <a:r>
              <a:rPr sz="1008" b="1" i="1" baseline="-22000">
                <a:solidFill>
                  <a:srgbClr val="FFFFFF"/>
                </a:solidFill>
                <a:latin typeface="Meiryo"/>
                <a:ea typeface="Meiryo"/>
              </a:rPr>
              <a:t>p</a:t>
            </a:r>
            <a:r>
              <a:rPr sz="1400" b="0" i="0">
                <a:solidFill>
                  <a:srgbClr val="FFFFFF"/>
                </a:solidFill>
                <a:latin typeface="Meiryo"/>
                <a:ea typeface="Meiryo"/>
              </a:rPr>
              <a:t>）を修正する</a:t>
            </a:r>
          </a:p>
        </p:txBody>
      </p:sp>
      <p:cxnSp>
        <p:nvCxnSpPr>
          <p:cNvPr id="19" name="Connector 18"/>
          <p:cNvCxnSpPr/>
          <p:nvPr/>
        </p:nvCxnSpPr>
        <p:spPr>
          <a:xfrm>
            <a:off x="2880360" y="3026664"/>
            <a:ext cx="448056" cy="0"/>
          </a:xfrm>
          <a:prstGeom prst="line">
            <a:avLst/>
          </a:prstGeom>
          <a:ln w="3048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880360" y="5198364"/>
            <a:ext cx="448056" cy="0"/>
          </a:xfrm>
          <a:prstGeom prst="line">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0" y="3026664"/>
            <a:ext cx="448055" cy="2171700"/>
          </a:xfrm>
          <a:prstGeom prst="bentConnector3">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3026664"/>
            <a:ext cx="448055" cy="0"/>
          </a:xfrm>
          <a:prstGeom prst="line">
            <a:avLst/>
          </a:prstGeom>
          <a:ln w="3302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再スケジューリングと安定性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スケジュールの変更は現場にコストを生むため，生産効率と安定性の二目的最適化として扱う</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4</a:t>
            </a:r>
          </a:p>
        </p:txBody>
      </p:sp>
      <p:sp>
        <p:nvSpPr>
          <p:cNvPr id="8" name="TextBox 7"/>
          <p:cNvSpPr txBox="1"/>
          <p:nvPr/>
        </p:nvSpPr>
        <p:spPr>
          <a:xfrm>
            <a:off x="566928" y="1572768"/>
            <a:ext cx="5394960" cy="329184"/>
          </a:xfrm>
          <a:prstGeom prst="rect">
            <a:avLst/>
          </a:prstGeom>
          <a:noFill/>
        </p:spPr>
        <p:txBody>
          <a:bodyPr wrap="square" anchor="ctr" lIns="18288" rIns="18288" tIns="9144" bIns="9144">
            <a:spAutoFit/>
          </a:bodyPr>
          <a:lstStyle/>
          <a:p>
            <a:r>
              <a:rPr sz="1250" b="1" i="0">
                <a:solidFill>
                  <a:srgbClr val="26303A"/>
                </a:solidFill>
                <a:latin typeface="Meiryo"/>
                <a:ea typeface="Meiryo"/>
              </a:rPr>
              <a:t>例：</a:t>
            </a:r>
            <a:r>
              <a:rPr sz="1250" b="1" i="0">
                <a:solidFill>
                  <a:srgbClr val="B03A2E"/>
                </a:solidFill>
                <a:latin typeface="Meiryo"/>
                <a:ea typeface="Meiryo"/>
              </a:rPr>
              <a:t>M2 の J1 が 3 遅延（赤）</a:t>
            </a:r>
            <a:r>
              <a:rPr sz="1250" b="0" i="0">
                <a:solidFill>
                  <a:srgbClr val="26303A"/>
                </a:solidFill>
                <a:latin typeface="Meiryo"/>
                <a:ea typeface="Meiryo"/>
              </a:rPr>
              <a:t> → 時刻 </a:t>
            </a:r>
            <a:r>
              <a:rPr sz="1250" b="0" i="1">
                <a:solidFill>
                  <a:srgbClr val="26303A"/>
                </a:solidFill>
                <a:latin typeface="Meiryo"/>
                <a:ea typeface="Meiryo"/>
              </a:rPr>
              <a:t>t</a:t>
            </a:r>
            <a:r>
              <a:rPr sz="900" b="0" i="1" baseline="-22000">
                <a:solidFill>
                  <a:srgbClr val="26303A"/>
                </a:solidFill>
                <a:latin typeface="Meiryo"/>
                <a:ea typeface="Meiryo"/>
              </a:rPr>
              <a:t>r</a:t>
            </a:r>
            <a:r>
              <a:rPr sz="1250" b="0" i="0">
                <a:solidFill>
                  <a:srgbClr val="26303A"/>
                </a:solidFill>
                <a:latin typeface="Meiryo"/>
                <a:ea typeface="Meiryo"/>
              </a:rPr>
              <a:t> 以降の処理順序を変更</a:t>
            </a:r>
          </a:p>
        </p:txBody>
      </p:sp>
      <p:sp>
        <p:nvSpPr>
          <p:cNvPr id="9" name="Rounded Rectangle 8"/>
          <p:cNvSpPr/>
          <p:nvPr/>
        </p:nvSpPr>
        <p:spPr>
          <a:xfrm>
            <a:off x="566928" y="1965960"/>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057400"/>
            <a:ext cx="2377440" cy="347472"/>
          </a:xfrm>
          <a:prstGeom prst="rect">
            <a:avLst/>
          </a:prstGeom>
          <a:noFill/>
        </p:spPr>
        <p:txBody>
          <a:bodyPr wrap="square" anchor="ctr" lIns="18288" rIns="18288" tIns="9144" bIns="9144">
            <a:spAutoFit/>
          </a:bodyPr>
          <a:lstStyle/>
          <a:p>
            <a:pPr algn="l">
              <a:lnSpc>
                <a:spcPct val="105000"/>
              </a:lnSpc>
            </a:pPr>
            <a:r>
              <a:rPr sz="1350" b="1" i="1">
                <a:solidFill>
                  <a:srgbClr val="26303A"/>
                </a:solidFill>
                <a:latin typeface="Meiryo"/>
                <a:ea typeface="Meiryo"/>
              </a:rPr>
              <a:t>S</a:t>
            </a:r>
            <a:r>
              <a:rPr sz="971" b="1" i="1" baseline="-22000">
                <a:solidFill>
                  <a:srgbClr val="26303A"/>
                </a:solidFill>
                <a:latin typeface="Meiryo"/>
                <a:ea typeface="Meiryo"/>
              </a:rPr>
              <a:t>p</a:t>
            </a:r>
            <a:r>
              <a:rPr sz="1350" b="1" i="0">
                <a:solidFill>
                  <a:srgbClr val="26303A"/>
                </a:solidFill>
                <a:latin typeface="Meiryo"/>
                <a:ea typeface="Meiryo"/>
              </a:rPr>
              <a:t> の処理順序を保つ</a:t>
            </a:r>
          </a:p>
        </p:txBody>
      </p:sp>
      <p:sp>
        <p:nvSpPr>
          <p:cNvPr id="11" name="Rounded Rectangle 10"/>
          <p:cNvSpPr/>
          <p:nvPr/>
        </p:nvSpPr>
        <p:spPr>
          <a:xfrm>
            <a:off x="3264408" y="2057400"/>
            <a:ext cx="1225296" cy="347472"/>
          </a:xfrm>
          <a:prstGeom prst="roundRect">
            <a:avLst>
              <a:gd name="adj" fmla="val 3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0" i="0">
                <a:solidFill>
                  <a:srgbClr val="26303A"/>
                </a:solidFill>
                <a:latin typeface="Meiryo"/>
                <a:ea typeface="Meiryo"/>
              </a:rPr>
              <a:t>総所要時間 19</a:t>
            </a:r>
          </a:p>
        </p:txBody>
      </p:sp>
      <p:sp>
        <p:nvSpPr>
          <p:cNvPr id="12" name="Rounded Rectangle 11"/>
          <p:cNvSpPr/>
          <p:nvPr/>
        </p:nvSpPr>
        <p:spPr>
          <a:xfrm>
            <a:off x="4544568" y="2057400"/>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変更なし</a:t>
            </a:r>
          </a:p>
        </p:txBody>
      </p:sp>
      <p:sp>
        <p:nvSpPr>
          <p:cNvPr id="13" name="TextBox 12"/>
          <p:cNvSpPr txBox="1"/>
          <p:nvPr/>
        </p:nvSpPr>
        <p:spPr>
          <a:xfrm>
            <a:off x="749808" y="2715768"/>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M1</a:t>
            </a:r>
          </a:p>
        </p:txBody>
      </p:sp>
      <p:sp>
        <p:nvSpPr>
          <p:cNvPr id="14" name="Rounded Rectangle 13"/>
          <p:cNvSpPr/>
          <p:nvPr/>
        </p:nvSpPr>
        <p:spPr>
          <a:xfrm>
            <a:off x="1147572" y="2715768"/>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15" name="Rounded Rectangle 14"/>
          <p:cNvSpPr/>
          <p:nvPr/>
        </p:nvSpPr>
        <p:spPr>
          <a:xfrm>
            <a:off x="2076602" y="2715768"/>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16" name="Rounded Rectangle 15"/>
          <p:cNvSpPr/>
          <p:nvPr/>
        </p:nvSpPr>
        <p:spPr>
          <a:xfrm>
            <a:off x="4631436" y="2715768"/>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17" name="TextBox 16"/>
          <p:cNvSpPr txBox="1"/>
          <p:nvPr/>
        </p:nvSpPr>
        <p:spPr>
          <a:xfrm>
            <a:off x="749808" y="3118103"/>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M2</a:t>
            </a:r>
          </a:p>
        </p:txBody>
      </p:sp>
      <p:sp>
        <p:nvSpPr>
          <p:cNvPr id="18" name="Rounded Rectangle 17"/>
          <p:cNvSpPr/>
          <p:nvPr/>
        </p:nvSpPr>
        <p:spPr>
          <a:xfrm>
            <a:off x="1147572" y="3118103"/>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19" name="Rounded Rectangle 18"/>
          <p:cNvSpPr/>
          <p:nvPr/>
        </p:nvSpPr>
        <p:spPr>
          <a:xfrm>
            <a:off x="1844344" y="3118103"/>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20" name="Rounded Rectangle 19"/>
          <p:cNvSpPr/>
          <p:nvPr/>
        </p:nvSpPr>
        <p:spPr>
          <a:xfrm>
            <a:off x="2541117" y="3118103"/>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237890" y="3118103"/>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22" name="TextBox 21"/>
          <p:cNvSpPr txBox="1"/>
          <p:nvPr/>
        </p:nvSpPr>
        <p:spPr>
          <a:xfrm>
            <a:off x="749808" y="3520439"/>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M3</a:t>
            </a:r>
          </a:p>
        </p:txBody>
      </p:sp>
      <p:sp>
        <p:nvSpPr>
          <p:cNvPr id="23" name="Rounded Rectangle 22"/>
          <p:cNvSpPr/>
          <p:nvPr/>
        </p:nvSpPr>
        <p:spPr>
          <a:xfrm>
            <a:off x="1147572" y="3520439"/>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24" name="Rounded Rectangle 23"/>
          <p:cNvSpPr/>
          <p:nvPr/>
        </p:nvSpPr>
        <p:spPr>
          <a:xfrm>
            <a:off x="3237890" y="3520439"/>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25" name="Rounded Rectangle 24"/>
          <p:cNvSpPr/>
          <p:nvPr/>
        </p:nvSpPr>
        <p:spPr>
          <a:xfrm>
            <a:off x="3934663" y="3520439"/>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cxnSp>
        <p:nvCxnSpPr>
          <p:cNvPr id="26" name="Connector 25"/>
          <p:cNvCxnSpPr/>
          <p:nvPr/>
        </p:nvCxnSpPr>
        <p:spPr>
          <a:xfrm>
            <a:off x="1133856" y="3867912"/>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115568" y="2679191"/>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3224174" y="2606039"/>
            <a:ext cx="0" cy="1298449"/>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546750" y="2606039"/>
            <a:ext cx="0" cy="1298449"/>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272430" y="2404872"/>
            <a:ext cx="548640" cy="237744"/>
          </a:xfrm>
          <a:prstGeom prst="rect">
            <a:avLst/>
          </a:prstGeom>
          <a:noFill/>
        </p:spPr>
        <p:txBody>
          <a:bodyPr wrap="square" anchor="t" lIns="18288" rIns="18288" tIns="9144" bIns="9144">
            <a:spAutoFit/>
          </a:bodyPr>
          <a:lstStyle/>
          <a:p>
            <a:pPr algn="ctr">
              <a:lnSpc>
                <a:spcPct val="105000"/>
              </a:lnSpc>
            </a:pPr>
            <a:r>
              <a:rPr sz="1000" b="0" i="0">
                <a:solidFill>
                  <a:srgbClr val="6E7A88"/>
                </a:solidFill>
                <a:latin typeface="Meiryo"/>
                <a:ea typeface="Meiryo"/>
              </a:rPr>
              <a:t>19</a:t>
            </a:r>
          </a:p>
        </p:txBody>
      </p:sp>
      <p:sp>
        <p:nvSpPr>
          <p:cNvPr id="31" name="TextBox 30"/>
          <p:cNvSpPr txBox="1"/>
          <p:nvPr/>
        </p:nvSpPr>
        <p:spPr>
          <a:xfrm>
            <a:off x="2995574" y="2404872"/>
            <a:ext cx="457200" cy="237744"/>
          </a:xfrm>
          <a:prstGeom prst="rect">
            <a:avLst/>
          </a:prstGeom>
          <a:noFill/>
        </p:spPr>
        <p:txBody>
          <a:bodyPr wrap="square" anchor="t" lIns="18288" rIns="18288" tIns="9144" bIns="9144">
            <a:spAutoFit/>
          </a:bodyPr>
          <a:lstStyle/>
          <a:p>
            <a:pPr algn="ctr">
              <a:lnSpc>
                <a:spcPct val="105000"/>
              </a:lnSpc>
            </a:pPr>
            <a:r>
              <a:rPr sz="1150" b="1" i="1">
                <a:solidFill>
                  <a:srgbClr val="26303A"/>
                </a:solidFill>
                <a:latin typeface="Meiryo"/>
                <a:ea typeface="Meiryo"/>
              </a:rPr>
              <a:t>t</a:t>
            </a:r>
            <a:r>
              <a:rPr sz="827" b="1" i="1" baseline="-22000">
                <a:solidFill>
                  <a:srgbClr val="26303A"/>
                </a:solidFill>
                <a:latin typeface="Meiryo"/>
                <a:ea typeface="Meiryo"/>
              </a:rPr>
              <a:t>r</a:t>
            </a:r>
          </a:p>
        </p:txBody>
      </p:sp>
      <p:sp>
        <p:nvSpPr>
          <p:cNvPr id="32" name="TextBox 31"/>
          <p:cNvSpPr txBox="1"/>
          <p:nvPr/>
        </p:nvSpPr>
        <p:spPr>
          <a:xfrm>
            <a:off x="1133856" y="2414015"/>
            <a:ext cx="1788566" cy="237744"/>
          </a:xfrm>
          <a:prstGeom prst="rect">
            <a:avLst/>
          </a:prstGeom>
          <a:noFill/>
        </p:spPr>
        <p:txBody>
          <a:bodyPr wrap="square" anchor="t" lIns="18288" rIns="18288" tIns="9144" bIns="9144">
            <a:spAutoFit/>
          </a:bodyPr>
          <a:lstStyle/>
          <a:p>
            <a:pPr algn="r">
              <a:lnSpc>
                <a:spcPct val="105000"/>
              </a:lnSpc>
            </a:pPr>
            <a:r>
              <a:rPr sz="950" b="0" i="0">
                <a:solidFill>
                  <a:srgbClr val="6E7A88"/>
                </a:solidFill>
                <a:latin typeface="Meiryo"/>
                <a:ea typeface="Meiryo"/>
              </a:rPr>
              <a:t>開始済み（凍結）</a:t>
            </a:r>
          </a:p>
        </p:txBody>
      </p:sp>
      <p:sp>
        <p:nvSpPr>
          <p:cNvPr id="33" name="TextBox 32"/>
          <p:cNvSpPr txBox="1"/>
          <p:nvPr/>
        </p:nvSpPr>
        <p:spPr>
          <a:xfrm>
            <a:off x="3425342" y="2414015"/>
            <a:ext cx="2286000" cy="237744"/>
          </a:xfrm>
          <a:prstGeom prst="rect">
            <a:avLst/>
          </a:prstGeom>
          <a:noFill/>
        </p:spPr>
        <p:txBody>
          <a:bodyPr wrap="square" anchor="t" lIns="18288" rIns="18288" tIns="9144" bIns="9144">
            <a:spAutoFit/>
          </a:bodyPr>
          <a:lstStyle/>
          <a:p>
            <a:pPr algn="l">
              <a:lnSpc>
                <a:spcPct val="105000"/>
              </a:lnSpc>
            </a:pPr>
            <a:r>
              <a:rPr sz="950" b="0" i="0">
                <a:solidFill>
                  <a:srgbClr val="6E7A88"/>
                </a:solidFill>
                <a:latin typeface="Meiryo"/>
                <a:ea typeface="Meiryo"/>
              </a:rPr>
              <a:t>再スケジューリングの対象</a:t>
            </a:r>
          </a:p>
        </p:txBody>
      </p:sp>
      <p:sp>
        <p:nvSpPr>
          <p:cNvPr id="34" name="Rounded Rectangle 33"/>
          <p:cNvSpPr/>
          <p:nvPr/>
        </p:nvSpPr>
        <p:spPr>
          <a:xfrm>
            <a:off x="566928" y="4197096"/>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4288536"/>
            <a:ext cx="2377440" cy="347472"/>
          </a:xfrm>
          <a:prstGeom prst="rect">
            <a:avLst/>
          </a:prstGeom>
          <a:noFill/>
        </p:spPr>
        <p:txBody>
          <a:bodyPr wrap="square" anchor="ctr" lIns="18288" rIns="18288" tIns="9144" bIns="9144">
            <a:spAutoFit/>
          </a:bodyPr>
          <a:lstStyle/>
          <a:p>
            <a:pPr algn="l">
              <a:lnSpc>
                <a:spcPct val="105000"/>
              </a:lnSpc>
            </a:pPr>
            <a:r>
              <a:rPr sz="1350" b="1" i="0">
                <a:solidFill>
                  <a:srgbClr val="26303A"/>
                </a:solidFill>
                <a:latin typeface="Meiryo"/>
                <a:ea typeface="Meiryo"/>
              </a:rPr>
              <a:t>M3 の順序を入れ替える</a:t>
            </a:r>
          </a:p>
        </p:txBody>
      </p:sp>
      <p:sp>
        <p:nvSpPr>
          <p:cNvPr id="36" name="Rounded Rectangle 35"/>
          <p:cNvSpPr/>
          <p:nvPr/>
        </p:nvSpPr>
        <p:spPr>
          <a:xfrm>
            <a:off x="3264408" y="4288536"/>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総所要時間 16</a:t>
            </a:r>
          </a:p>
        </p:txBody>
      </p:sp>
      <p:sp>
        <p:nvSpPr>
          <p:cNvPr id="37" name="Rounded Rectangle 36"/>
          <p:cNvSpPr/>
          <p:nvPr/>
        </p:nvSpPr>
        <p:spPr>
          <a:xfrm>
            <a:off x="4544568" y="4288536"/>
            <a:ext cx="1225296" cy="347472"/>
          </a:xfrm>
          <a:prstGeom prst="roundRect">
            <a:avLst>
              <a:gd name="adj" fmla="val 30000"/>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順序を変更</a:t>
            </a:r>
          </a:p>
        </p:txBody>
      </p:sp>
      <p:sp>
        <p:nvSpPr>
          <p:cNvPr id="38" name="TextBox 37"/>
          <p:cNvSpPr txBox="1"/>
          <p:nvPr/>
        </p:nvSpPr>
        <p:spPr>
          <a:xfrm>
            <a:off x="749808" y="4946904"/>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M1</a:t>
            </a:r>
          </a:p>
        </p:txBody>
      </p:sp>
      <p:sp>
        <p:nvSpPr>
          <p:cNvPr id="39" name="Rounded Rectangle 38"/>
          <p:cNvSpPr/>
          <p:nvPr/>
        </p:nvSpPr>
        <p:spPr>
          <a:xfrm>
            <a:off x="1147572" y="4946904"/>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40" name="Rounded Rectangle 39"/>
          <p:cNvSpPr/>
          <p:nvPr/>
        </p:nvSpPr>
        <p:spPr>
          <a:xfrm>
            <a:off x="2076602" y="4946904"/>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1" name="Rounded Rectangle 40"/>
          <p:cNvSpPr/>
          <p:nvPr/>
        </p:nvSpPr>
        <p:spPr>
          <a:xfrm>
            <a:off x="3934663" y="4946904"/>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42" name="TextBox 41"/>
          <p:cNvSpPr txBox="1"/>
          <p:nvPr/>
        </p:nvSpPr>
        <p:spPr>
          <a:xfrm>
            <a:off x="749808" y="5349240"/>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M2</a:t>
            </a:r>
          </a:p>
        </p:txBody>
      </p:sp>
      <p:sp>
        <p:nvSpPr>
          <p:cNvPr id="43" name="Rounded Rectangle 42"/>
          <p:cNvSpPr/>
          <p:nvPr/>
        </p:nvSpPr>
        <p:spPr>
          <a:xfrm>
            <a:off x="1147572" y="5349240"/>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44" name="Rounded Rectangle 43"/>
          <p:cNvSpPr/>
          <p:nvPr/>
        </p:nvSpPr>
        <p:spPr>
          <a:xfrm>
            <a:off x="1844344" y="5349240"/>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45" name="Rounded Rectangle 44"/>
          <p:cNvSpPr/>
          <p:nvPr/>
        </p:nvSpPr>
        <p:spPr>
          <a:xfrm>
            <a:off x="2541117" y="5349240"/>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237890" y="5349240"/>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7" name="TextBox 46"/>
          <p:cNvSpPr txBox="1"/>
          <p:nvPr/>
        </p:nvSpPr>
        <p:spPr>
          <a:xfrm>
            <a:off x="749808" y="5751576"/>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M3</a:t>
            </a:r>
          </a:p>
        </p:txBody>
      </p:sp>
      <p:sp>
        <p:nvSpPr>
          <p:cNvPr id="48" name="Rounded Rectangle 47"/>
          <p:cNvSpPr/>
          <p:nvPr/>
        </p:nvSpPr>
        <p:spPr>
          <a:xfrm>
            <a:off x="1147572" y="5751576"/>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9" name="Rounded Rectangle 48"/>
          <p:cNvSpPr/>
          <p:nvPr/>
        </p:nvSpPr>
        <p:spPr>
          <a:xfrm>
            <a:off x="3237890" y="5751576"/>
            <a:ext cx="669340" cy="310896"/>
          </a:xfrm>
          <a:prstGeom prst="roundRect">
            <a:avLst>
              <a:gd name="adj" fmla="val 8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50" name="Rounded Rectangle 49"/>
          <p:cNvSpPr/>
          <p:nvPr/>
        </p:nvSpPr>
        <p:spPr>
          <a:xfrm>
            <a:off x="3934663" y="5751576"/>
            <a:ext cx="669340" cy="310896"/>
          </a:xfrm>
          <a:prstGeom prst="roundRect">
            <a:avLst>
              <a:gd name="adj" fmla="val 8000"/>
            </a:avLst>
          </a:prstGeom>
          <a:solidFill>
            <a:srgbClr val="3E618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cxnSp>
        <p:nvCxnSpPr>
          <p:cNvPr id="51" name="Connector 50"/>
          <p:cNvCxnSpPr/>
          <p:nvPr/>
        </p:nvCxnSpPr>
        <p:spPr>
          <a:xfrm>
            <a:off x="1133856" y="6099048"/>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115568" y="4910328"/>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3224174" y="4837176"/>
            <a:ext cx="0" cy="1298448"/>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546750" y="4837176"/>
            <a:ext cx="0" cy="1298448"/>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272430" y="4636008"/>
            <a:ext cx="548640" cy="237744"/>
          </a:xfrm>
          <a:prstGeom prst="rect">
            <a:avLst/>
          </a:prstGeom>
          <a:noFill/>
        </p:spPr>
        <p:txBody>
          <a:bodyPr wrap="square" anchor="t" lIns="18288" rIns="18288" tIns="9144" bIns="9144">
            <a:spAutoFit/>
          </a:bodyPr>
          <a:lstStyle/>
          <a:p>
            <a:pPr algn="ctr">
              <a:lnSpc>
                <a:spcPct val="105000"/>
              </a:lnSpc>
            </a:pPr>
            <a:r>
              <a:rPr sz="1000" b="0" i="0">
                <a:solidFill>
                  <a:srgbClr val="6E7A88"/>
                </a:solidFill>
                <a:latin typeface="Meiryo"/>
                <a:ea typeface="Meiryo"/>
              </a:rPr>
              <a:t>19</a:t>
            </a:r>
          </a:p>
        </p:txBody>
      </p:sp>
      <p:sp>
        <p:nvSpPr>
          <p:cNvPr id="56" name="TextBox 55"/>
          <p:cNvSpPr txBox="1"/>
          <p:nvPr/>
        </p:nvSpPr>
        <p:spPr>
          <a:xfrm>
            <a:off x="2995574" y="4636008"/>
            <a:ext cx="457200" cy="237744"/>
          </a:xfrm>
          <a:prstGeom prst="rect">
            <a:avLst/>
          </a:prstGeom>
          <a:noFill/>
        </p:spPr>
        <p:txBody>
          <a:bodyPr wrap="square" anchor="t" lIns="18288" rIns="18288" tIns="9144" bIns="9144">
            <a:spAutoFit/>
          </a:bodyPr>
          <a:lstStyle/>
          <a:p>
            <a:pPr algn="ctr">
              <a:lnSpc>
                <a:spcPct val="105000"/>
              </a:lnSpc>
            </a:pPr>
            <a:r>
              <a:rPr sz="1150" b="1" i="1">
                <a:solidFill>
                  <a:srgbClr val="26303A"/>
                </a:solidFill>
                <a:latin typeface="Meiryo"/>
                <a:ea typeface="Meiryo"/>
              </a:rPr>
              <a:t>t</a:t>
            </a:r>
            <a:r>
              <a:rPr sz="827" b="1" i="1" baseline="-22000">
                <a:solidFill>
                  <a:srgbClr val="26303A"/>
                </a:solidFill>
                <a:latin typeface="Meiryo"/>
                <a:ea typeface="Meiryo"/>
              </a:rPr>
              <a:t>r</a:t>
            </a:r>
          </a:p>
        </p:txBody>
      </p:sp>
      <p:cxnSp>
        <p:nvCxnSpPr>
          <p:cNvPr id="57" name="Connector 56"/>
          <p:cNvCxnSpPr/>
          <p:nvPr/>
        </p:nvCxnSpPr>
        <p:spPr>
          <a:xfrm flipV="1">
            <a:off x="6007608" y="3131820"/>
            <a:ext cx="320040" cy="1330451"/>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6373368" y="1965960"/>
            <a:ext cx="5251399" cy="2057400"/>
          </a:xfrm>
          <a:prstGeom prst="roundRect">
            <a:avLst>
              <a:gd name="adj" fmla="val 5000"/>
            </a:avLst>
          </a:prstGeom>
          <a:solidFill>
            <a:srgbClr val="FBEEEC"/>
          </a:solidFill>
          <a:ln w="177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74536" y="2057400"/>
            <a:ext cx="4849063" cy="658368"/>
          </a:xfrm>
          <a:prstGeom prst="rect">
            <a:avLst/>
          </a:prstGeom>
          <a:noFill/>
        </p:spPr>
        <p:txBody>
          <a:bodyPr wrap="square" anchor="ctr" lIns="18288" rIns="18288" tIns="9144" bIns="9144">
            <a:spAutoFit/>
          </a:bodyPr>
          <a:lstStyle/>
          <a:p>
            <a:pPr>
              <a:lnSpc>
                <a:spcPct val="105000"/>
              </a:lnSpc>
            </a:pPr>
            <a:r>
              <a:rPr sz="1550" b="1" i="0">
                <a:solidFill>
                  <a:srgbClr val="B03A2E"/>
                </a:solidFill>
                <a:latin typeface="Meiryo"/>
                <a:ea typeface="Meiryo"/>
              </a:rPr>
              <a:t>処理順序の変更は，現場にコストを生む</a:t>
            </a:r>
          </a:p>
          <a:p>
            <a:pPr>
              <a:lnSpc>
                <a:spcPct val="105000"/>
              </a:lnSpc>
            </a:pPr>
            <a:r>
              <a:rPr sz="1300" b="1" i="0">
                <a:solidFill>
                  <a:srgbClr val="B03A2E"/>
                </a:solidFill>
                <a:latin typeface="Meiryo"/>
                <a:ea typeface="Meiryo"/>
              </a:rPr>
              <a:t>（スケジュール変更コスト）</a:t>
            </a:r>
          </a:p>
        </p:txBody>
      </p:sp>
      <p:sp>
        <p:nvSpPr>
          <p:cNvPr id="60" name="Rounded Rectangle 59"/>
          <p:cNvSpPr/>
          <p:nvPr/>
        </p:nvSpPr>
        <p:spPr>
          <a:xfrm>
            <a:off x="6574536"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段取り替え</a:t>
            </a:r>
          </a:p>
        </p:txBody>
      </p:sp>
      <p:sp>
        <p:nvSpPr>
          <p:cNvPr id="61" name="Rounded Rectangle 60"/>
          <p:cNvSpPr/>
          <p:nvPr/>
        </p:nvSpPr>
        <p:spPr>
          <a:xfrm>
            <a:off x="9067647"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資材・治具の再手配</a:t>
            </a:r>
          </a:p>
        </p:txBody>
      </p:sp>
      <p:sp>
        <p:nvSpPr>
          <p:cNvPr id="62" name="Rounded Rectangle 61"/>
          <p:cNvSpPr/>
          <p:nvPr/>
        </p:nvSpPr>
        <p:spPr>
          <a:xfrm>
            <a:off x="6574536"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作業者の再配置</a:t>
            </a:r>
          </a:p>
        </p:txBody>
      </p:sp>
      <p:sp>
        <p:nvSpPr>
          <p:cNvPr id="63" name="Rounded Rectangle 62"/>
          <p:cNvSpPr/>
          <p:nvPr/>
        </p:nvSpPr>
        <p:spPr>
          <a:xfrm>
            <a:off x="9067647"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下流工程・外注先への
予定変更の波及</a:t>
            </a:r>
          </a:p>
        </p:txBody>
      </p:sp>
      <p:cxnSp>
        <p:nvCxnSpPr>
          <p:cNvPr id="64" name="Connector 63"/>
          <p:cNvCxnSpPr/>
          <p:nvPr/>
        </p:nvCxnSpPr>
        <p:spPr>
          <a:xfrm>
            <a:off x="8999067" y="4069080"/>
            <a:ext cx="0" cy="448056"/>
          </a:xfrm>
          <a:prstGeom prst="line">
            <a:avLst/>
          </a:prstGeom>
          <a:ln w="3810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373368" y="4562856"/>
            <a:ext cx="5251399" cy="1737360"/>
          </a:xfrm>
          <a:prstGeom prst="roundRect">
            <a:avLst>
              <a:gd name="adj" fmla="val 5000"/>
            </a:avLst>
          </a:prstGeom>
          <a:solidFill>
            <a:srgbClr val="FFFFFF"/>
          </a:solidFill>
          <a:ln w="2032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3368" y="4617720"/>
            <a:ext cx="5251399" cy="402336"/>
          </a:xfrm>
          <a:prstGeom prst="rect">
            <a:avLst/>
          </a:prstGeom>
          <a:noFill/>
        </p:spPr>
        <p:txBody>
          <a:bodyPr wrap="square" anchor="ctr" lIns="18288" rIns="18288" tIns="9144" bIns="9144">
            <a:spAutoFit/>
          </a:bodyPr>
          <a:lstStyle/>
          <a:p>
            <a:pPr algn="ctr">
              <a:lnSpc>
                <a:spcPct val="105000"/>
              </a:lnSpc>
            </a:pPr>
            <a:r>
              <a:rPr sz="1600" b="1" i="0">
                <a:solidFill>
                  <a:srgbClr val="16385C"/>
                </a:solidFill>
                <a:latin typeface="Meiryo"/>
                <a:ea typeface="Meiryo"/>
              </a:rPr>
              <a:t>二目的最適化</a:t>
            </a:r>
          </a:p>
        </p:txBody>
      </p:sp>
      <p:sp>
        <p:nvSpPr>
          <p:cNvPr id="67" name="Rounded Rectangle 66"/>
          <p:cNvSpPr/>
          <p:nvPr/>
        </p:nvSpPr>
        <p:spPr>
          <a:xfrm>
            <a:off x="6574536"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574536"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生産効率</a:t>
            </a:r>
          </a:p>
        </p:txBody>
      </p:sp>
      <p:sp>
        <p:nvSpPr>
          <p:cNvPr id="69" name="TextBox 68"/>
          <p:cNvSpPr txBox="1"/>
          <p:nvPr/>
        </p:nvSpPr>
        <p:spPr>
          <a:xfrm>
            <a:off x="6665976" y="5413248"/>
            <a:ext cx="2013051" cy="722375"/>
          </a:xfrm>
          <a:prstGeom prst="rect">
            <a:avLst/>
          </a:prstGeom>
          <a:noFill/>
        </p:spPr>
        <p:txBody>
          <a:bodyPr wrap="square" anchor="ctr" lIns="18288" rIns="18288" tIns="9144" bIns="9144">
            <a:spAutoFit/>
          </a:bodyPr>
          <a:lstStyle/>
          <a:p>
            <a:pPr algn="ctr">
              <a:lnSpc>
                <a:spcPct val="105000"/>
              </a:lnSpc>
            </a:pPr>
            <a:r>
              <a:rPr sz="1250" b="0" i="0">
                <a:solidFill>
                  <a:srgbClr val="26303A"/>
                </a:solidFill>
                <a:latin typeface="Meiryo"/>
                <a:ea typeface="Meiryo"/>
              </a:rPr>
              <a:t>総所要時間を小さく</a:t>
            </a:r>
          </a:p>
        </p:txBody>
      </p:sp>
      <p:sp>
        <p:nvSpPr>
          <p:cNvPr id="70" name="TextBox 69"/>
          <p:cNvSpPr txBox="1"/>
          <p:nvPr/>
        </p:nvSpPr>
        <p:spPr>
          <a:xfrm>
            <a:off x="8770467" y="5065776"/>
            <a:ext cx="457200" cy="1069848"/>
          </a:xfrm>
          <a:prstGeom prst="rect">
            <a:avLst/>
          </a:prstGeom>
          <a:noFill/>
        </p:spPr>
        <p:txBody>
          <a:bodyPr wrap="square" anchor="ctr" lIns="18288" rIns="18288" tIns="9144" bIns="9144">
            <a:spAutoFit/>
          </a:bodyPr>
          <a:lstStyle/>
          <a:p>
            <a:pPr algn="ctr">
              <a:lnSpc>
                <a:spcPct val="105000"/>
              </a:lnSpc>
            </a:pPr>
            <a:r>
              <a:rPr sz="2000" b="1" i="0">
                <a:solidFill>
                  <a:srgbClr val="16385C"/>
                </a:solidFill>
                <a:latin typeface="Meiryo"/>
                <a:ea typeface="Meiryo"/>
              </a:rPr>
              <a:t>⇄</a:t>
            </a:r>
          </a:p>
        </p:txBody>
      </p:sp>
      <p:sp>
        <p:nvSpPr>
          <p:cNvPr id="71" name="Rounded Rectangle 70"/>
          <p:cNvSpPr/>
          <p:nvPr/>
        </p:nvSpPr>
        <p:spPr>
          <a:xfrm>
            <a:off x="9227667"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9227667"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安定性</a:t>
            </a:r>
          </a:p>
        </p:txBody>
      </p:sp>
      <p:sp>
        <p:nvSpPr>
          <p:cNvPr id="73" name="TextBox 72"/>
          <p:cNvSpPr txBox="1"/>
          <p:nvPr/>
        </p:nvSpPr>
        <p:spPr>
          <a:xfrm>
            <a:off x="9319107" y="5413248"/>
            <a:ext cx="2013051" cy="722375"/>
          </a:xfrm>
          <a:prstGeom prst="rect">
            <a:avLst/>
          </a:prstGeom>
          <a:noFill/>
        </p:spPr>
        <p:txBody>
          <a:bodyPr wrap="square" anchor="ctr" lIns="18288" rIns="18288" tIns="9144" bIns="9144">
            <a:spAutoFit/>
          </a:bodyPr>
          <a:lstStyle/>
          <a:p>
            <a:pPr algn="ctr">
              <a:lnSpc>
                <a:spcPct val="105000"/>
              </a:lnSpc>
            </a:pPr>
            <a:r>
              <a:rPr sz="1250" b="0" i="0">
                <a:solidFill>
                  <a:srgbClr val="26303A"/>
                </a:solidFill>
                <a:latin typeface="Meiryo"/>
                <a:ea typeface="Meiryo"/>
              </a:rPr>
              <a:t>初期スケジュールからの</a:t>
            </a:r>
          </a:p>
          <a:p>
            <a:pPr algn="ctr">
              <a:lnSpc>
                <a:spcPct val="105000"/>
              </a:lnSpc>
            </a:pPr>
            <a:r>
              <a:rPr sz="1250" b="0" i="0">
                <a:solidFill>
                  <a:srgbClr val="26303A"/>
                </a:solidFill>
                <a:latin typeface="Meiryo"/>
                <a:ea typeface="Meiryo"/>
              </a:rPr>
              <a:t>変更を小さく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先行研究：安定性を確保する 2 つのアプローチ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安定性は「目的関数に組み込む」か「再スケジュールの範囲を限定する」かで確保されてきた</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5</a:t>
            </a:r>
          </a:p>
        </p:txBody>
      </p:sp>
      <p:sp>
        <p:nvSpPr>
          <p:cNvPr id="8" name="Rounded Rectangle 7"/>
          <p:cNvSpPr/>
          <p:nvPr/>
        </p:nvSpPr>
        <p:spPr>
          <a:xfrm>
            <a:off x="566928" y="1645920"/>
            <a:ext cx="5346039" cy="37033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45920"/>
            <a:ext cx="4980279" cy="502920"/>
          </a:xfrm>
          <a:prstGeom prst="rect">
            <a:avLst/>
          </a:prstGeom>
          <a:noFill/>
        </p:spPr>
        <p:txBody>
          <a:bodyPr wrap="square" anchor="ctr" lIns="18288" rIns="18288" tIns="9144" bIns="9144">
            <a:spAutoFit/>
          </a:bodyPr>
          <a:lstStyle/>
          <a:p>
            <a:pPr algn="l">
              <a:lnSpc>
                <a:spcPct val="105000"/>
              </a:lnSpc>
            </a:pPr>
            <a:r>
              <a:rPr sz="1550" b="1" i="0">
                <a:solidFill>
                  <a:srgbClr val="FFFFFF"/>
                </a:solidFill>
                <a:latin typeface="Meiryo"/>
                <a:ea typeface="Meiryo"/>
              </a:rPr>
              <a:t>安定性を目的関数に組み込むアプローチ</a:t>
            </a:r>
          </a:p>
        </p:txBody>
      </p:sp>
      <p:sp>
        <p:nvSpPr>
          <p:cNvPr id="11" name="TextBox 10"/>
          <p:cNvSpPr txBox="1"/>
          <p:nvPr/>
        </p:nvSpPr>
        <p:spPr>
          <a:xfrm>
            <a:off x="795528"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a:solidFill>
                  <a:srgbClr val="16385C"/>
                </a:solidFill>
                <a:latin typeface="Meiryo"/>
                <a:ea typeface="Meiryo"/>
              </a:rPr>
              <a:t>Wu ら (1993)</a:t>
            </a:r>
          </a:p>
          <a:p>
            <a:pPr>
              <a:lnSpc>
                <a:spcPct val="100000"/>
              </a:lnSpc>
            </a:pPr>
            <a:r>
              <a:rPr sz="1250" b="0" i="0">
                <a:solidFill>
                  <a:srgbClr val="26303A"/>
                </a:solidFill>
                <a:latin typeface="Meiryo"/>
                <a:ea typeface="Meiryo"/>
              </a:rPr>
              <a:t>　単一機械で効率と安定性を評価基準に定式化</a:t>
            </a:r>
          </a:p>
          <a:p>
            <a:pPr>
              <a:lnSpc>
                <a:spcPct val="100000"/>
              </a:lnSpc>
              <a:spcBef>
                <a:spcPts val="400"/>
              </a:spcBef>
            </a:pPr>
            <a:r>
              <a:rPr sz="1350" b="1" i="0">
                <a:solidFill>
                  <a:srgbClr val="16385C"/>
                </a:solidFill>
                <a:latin typeface="Meiryo"/>
                <a:ea typeface="Meiryo"/>
              </a:rPr>
              <a:t>Rangsaritratsamee ら (2004)</a:t>
            </a:r>
          </a:p>
          <a:p>
            <a:pPr>
              <a:lnSpc>
                <a:spcPct val="100000"/>
              </a:lnSpc>
            </a:pPr>
            <a:r>
              <a:rPr sz="1250" b="0" i="0">
                <a:solidFill>
                  <a:srgbClr val="26303A"/>
                </a:solidFill>
                <a:latin typeface="Meiryo"/>
                <a:ea typeface="Meiryo"/>
              </a:rPr>
              <a:t>　JSP．GA＋局所探索</a:t>
            </a:r>
          </a:p>
          <a:p>
            <a:pPr>
              <a:lnSpc>
                <a:spcPct val="100000"/>
              </a:lnSpc>
              <a:spcBef>
                <a:spcPts val="400"/>
              </a:spcBef>
            </a:pPr>
            <a:r>
              <a:rPr sz="1350" b="1" i="0">
                <a:solidFill>
                  <a:srgbClr val="16385C"/>
                </a:solidFill>
                <a:latin typeface="Meiryo"/>
                <a:ea typeface="Meiryo"/>
              </a:rPr>
              <a:t>Zhang ら (2013)</a:t>
            </a:r>
          </a:p>
          <a:p>
            <a:pPr>
              <a:lnSpc>
                <a:spcPct val="100000"/>
              </a:lnSpc>
            </a:pPr>
            <a:r>
              <a:rPr sz="1250" b="0" i="0">
                <a:solidFill>
                  <a:srgbClr val="26303A"/>
                </a:solidFill>
                <a:latin typeface="Meiryo"/>
                <a:ea typeface="Meiryo"/>
              </a:rPr>
              <a:t>　JSP．GA＋タブーサーチ</a:t>
            </a:r>
          </a:p>
          <a:p>
            <a:pPr>
              <a:lnSpc>
                <a:spcPct val="100000"/>
              </a:lnSpc>
              <a:spcBef>
                <a:spcPts val="400"/>
              </a:spcBef>
            </a:pPr>
            <a:r>
              <a:rPr sz="1350" b="1" i="0">
                <a:solidFill>
                  <a:srgbClr val="16385C"/>
                </a:solidFill>
                <a:latin typeface="Meiryo"/>
                <a:ea typeface="Meiryo"/>
              </a:rPr>
              <a:t>Fattahi &amp; Fallahi (2010)</a:t>
            </a:r>
          </a:p>
          <a:p>
            <a:pPr>
              <a:lnSpc>
                <a:spcPct val="100000"/>
              </a:lnSpc>
            </a:pPr>
            <a:r>
              <a:rPr sz="1250" b="0" i="0">
                <a:solidFill>
                  <a:srgbClr val="26303A"/>
                </a:solidFill>
                <a:latin typeface="Meiryo"/>
                <a:ea typeface="Meiryo"/>
              </a:rPr>
              <a:t>　FJSP．GA＋局所探索</a:t>
            </a:r>
          </a:p>
          <a:p>
            <a:pPr>
              <a:lnSpc>
                <a:spcPct val="100000"/>
              </a:lnSpc>
              <a:spcBef>
                <a:spcPts val="400"/>
              </a:spcBef>
            </a:pPr>
            <a:r>
              <a:rPr sz="1350" b="1" i="0">
                <a:solidFill>
                  <a:srgbClr val="16385C"/>
                </a:solidFill>
                <a:latin typeface="Meiryo"/>
                <a:ea typeface="Meiryo"/>
              </a:rPr>
              <a:t>Valledor ら (2022)，Luo ら (2025)</a:t>
            </a:r>
          </a:p>
          <a:p>
            <a:pPr>
              <a:lnSpc>
                <a:spcPct val="100000"/>
              </a:lnSpc>
            </a:pPr>
            <a:r>
              <a:rPr sz="1250" b="0" i="0">
                <a:solidFill>
                  <a:srgbClr val="26303A"/>
                </a:solidFill>
                <a:latin typeface="Meiryo"/>
                <a:ea typeface="Meiryo"/>
              </a:rPr>
              <a:t>　NSGA-II 系で Pareto 支配</a:t>
            </a:r>
          </a:p>
        </p:txBody>
      </p:sp>
      <p:sp>
        <p:nvSpPr>
          <p:cNvPr id="12" name="Rounded Rectangle 11"/>
          <p:cNvSpPr/>
          <p:nvPr/>
        </p:nvSpPr>
        <p:spPr>
          <a:xfrm>
            <a:off x="795528" y="480060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16385C"/>
                </a:solidFill>
                <a:latin typeface="Meiryo"/>
                <a:ea typeface="Meiryo"/>
              </a:rPr>
              <a:t>安定性は解の評価（目的関数の一項）にのみ反映</a:t>
            </a:r>
          </a:p>
        </p:txBody>
      </p:sp>
      <p:sp>
        <p:nvSpPr>
          <p:cNvPr id="13" name="Rounded Rectangle 12"/>
          <p:cNvSpPr/>
          <p:nvPr/>
        </p:nvSpPr>
        <p:spPr>
          <a:xfrm>
            <a:off x="6278727" y="1645920"/>
            <a:ext cx="5346039" cy="37033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1645920"/>
            <a:ext cx="4980279" cy="502920"/>
          </a:xfrm>
          <a:prstGeom prst="rect">
            <a:avLst/>
          </a:prstGeom>
          <a:noFill/>
        </p:spPr>
        <p:txBody>
          <a:bodyPr wrap="square" anchor="ctr" lIns="18288" rIns="18288" tIns="9144" bIns="9144">
            <a:spAutoFit/>
          </a:bodyPr>
          <a:lstStyle/>
          <a:p>
            <a:pPr algn="l">
              <a:lnSpc>
                <a:spcPct val="105000"/>
              </a:lnSpc>
            </a:pPr>
            <a:r>
              <a:rPr sz="1550" b="1" i="0">
                <a:solidFill>
                  <a:srgbClr val="FFFFFF"/>
                </a:solidFill>
                <a:latin typeface="Meiryo"/>
                <a:ea typeface="Meiryo"/>
              </a:rPr>
              <a:t>再スケジュールの対象範囲を限定するアプローチ</a:t>
            </a:r>
          </a:p>
        </p:txBody>
      </p:sp>
      <p:sp>
        <p:nvSpPr>
          <p:cNvPr id="16" name="TextBox 15"/>
          <p:cNvSpPr txBox="1"/>
          <p:nvPr/>
        </p:nvSpPr>
        <p:spPr>
          <a:xfrm>
            <a:off x="6507327"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a:solidFill>
                  <a:srgbClr val="16385C"/>
                </a:solidFill>
                <a:latin typeface="Meiryo"/>
                <a:ea typeface="Meiryo"/>
              </a:rPr>
              <a:t>Bean ら (1991)</a:t>
            </a:r>
          </a:p>
          <a:p>
            <a:pPr>
              <a:lnSpc>
                <a:spcPct val="100000"/>
              </a:lnSpc>
            </a:pPr>
            <a:r>
              <a:rPr sz="1250" b="0" i="0">
                <a:solidFill>
                  <a:srgbClr val="26303A"/>
                </a:solidFill>
                <a:latin typeface="Meiryo"/>
                <a:ea typeface="Meiryo"/>
              </a:rPr>
              <a:t>　復帰時点までを再スケジュール（match-up）</a:t>
            </a:r>
          </a:p>
          <a:p>
            <a:pPr>
              <a:lnSpc>
                <a:spcPct val="100000"/>
              </a:lnSpc>
              <a:spcBef>
                <a:spcPts val="400"/>
              </a:spcBef>
            </a:pPr>
            <a:r>
              <a:rPr sz="1350" b="1" i="0">
                <a:solidFill>
                  <a:srgbClr val="16385C"/>
                </a:solidFill>
                <a:latin typeface="Meiryo"/>
                <a:ea typeface="Meiryo"/>
              </a:rPr>
              <a:t>Abumaizar &amp; Svestka (1997)</a:t>
            </a:r>
          </a:p>
          <a:p>
            <a:pPr>
              <a:lnSpc>
                <a:spcPct val="100000"/>
              </a:lnSpc>
            </a:pPr>
            <a:r>
              <a:rPr sz="1250" b="0" i="0">
                <a:solidFill>
                  <a:srgbClr val="26303A"/>
                </a:solidFill>
                <a:latin typeface="Meiryo"/>
                <a:ea typeface="Meiryo"/>
              </a:rPr>
              <a:t>　影響を受ける作業だけを再スケジュール</a:t>
            </a:r>
          </a:p>
          <a:p>
            <a:pPr>
              <a:lnSpc>
                <a:spcPct val="100000"/>
              </a:lnSpc>
              <a:spcBef>
                <a:spcPts val="400"/>
              </a:spcBef>
            </a:pPr>
            <a:r>
              <a:rPr sz="1350" b="1" i="0">
                <a:solidFill>
                  <a:srgbClr val="16385C"/>
                </a:solidFill>
                <a:latin typeface="Meiryo"/>
                <a:ea typeface="Meiryo"/>
              </a:rPr>
              <a:t>Zakaria &amp; Petrovic (2012)</a:t>
            </a:r>
          </a:p>
          <a:p>
            <a:pPr>
              <a:lnSpc>
                <a:spcPct val="100000"/>
              </a:lnSpc>
            </a:pPr>
            <a:r>
              <a:rPr sz="1250" b="0" i="0">
                <a:solidFill>
                  <a:srgbClr val="26303A"/>
                </a:solidFill>
                <a:latin typeface="Meiryo"/>
                <a:ea typeface="Meiryo"/>
              </a:rPr>
              <a:t>　GA の染色体を区間に限定</a:t>
            </a:r>
          </a:p>
          <a:p>
            <a:pPr>
              <a:lnSpc>
                <a:spcPct val="100000"/>
              </a:lnSpc>
              <a:spcBef>
                <a:spcPts val="400"/>
              </a:spcBef>
            </a:pPr>
            <a:r>
              <a:rPr sz="1350" b="1" i="0">
                <a:solidFill>
                  <a:srgbClr val="16385C"/>
                </a:solidFill>
                <a:latin typeface="Meiryo"/>
                <a:ea typeface="Meiryo"/>
              </a:rPr>
              <a:t>Sun ら (2026)</a:t>
            </a:r>
          </a:p>
          <a:p>
            <a:pPr>
              <a:lnSpc>
                <a:spcPct val="100000"/>
              </a:lnSpc>
            </a:pPr>
            <a:r>
              <a:rPr sz="1250" b="0" i="0">
                <a:solidFill>
                  <a:srgbClr val="26303A"/>
                </a:solidFill>
                <a:latin typeface="Meiryo"/>
                <a:ea typeface="Meiryo"/>
              </a:rPr>
              <a:t>　再最適化の範囲を 4 段階に整理</a:t>
            </a:r>
          </a:p>
        </p:txBody>
      </p:sp>
      <p:sp>
        <p:nvSpPr>
          <p:cNvPr id="17" name="Rounded Rectangle 16"/>
          <p:cNvSpPr/>
          <p:nvPr/>
        </p:nvSpPr>
        <p:spPr>
          <a:xfrm>
            <a:off x="6507327" y="480060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16385C"/>
                </a:solidFill>
                <a:latin typeface="Meiryo"/>
                <a:ea typeface="Meiryo"/>
              </a:rPr>
              <a:t>探索空間の制限で安定性を確保する</a:t>
            </a:r>
          </a:p>
        </p:txBody>
      </p:sp>
      <p:sp>
        <p:nvSpPr>
          <p:cNvPr id="18" name="TextBox 17"/>
          <p:cNvSpPr txBox="1"/>
          <p:nvPr/>
        </p:nvSpPr>
        <p:spPr>
          <a:xfrm>
            <a:off x="566928" y="5458968"/>
            <a:ext cx="11057839" cy="457200"/>
          </a:xfrm>
          <a:prstGeom prst="rect">
            <a:avLst/>
          </a:prstGeom>
          <a:noFill/>
        </p:spPr>
        <p:txBody>
          <a:bodyPr wrap="square" anchor="ctr" lIns="18288" rIns="18288" tIns="9144" bIns="9144">
            <a:spAutoFit/>
          </a:bodyPr>
          <a:lstStyle/>
          <a:p>
            <a:pPr algn="ctr">
              <a:lnSpc>
                <a:spcPct val="105000"/>
              </a:lnSpc>
            </a:pPr>
            <a:r>
              <a:rPr sz="1900" b="0" i="0">
                <a:solidFill>
                  <a:srgbClr val="26303A"/>
                </a:solidFill>
                <a:latin typeface="Meiryo"/>
                <a:ea typeface="Meiryo"/>
              </a:rPr>
              <a:t>どちらのアプローチでも，メタヒューリスティクスによる解法は GA を基軸とする</a:t>
            </a:r>
            <a:r>
              <a:rPr sz="1900" b="1" i="0">
                <a:solidFill>
                  <a:srgbClr val="16385C"/>
                </a:solidFill>
                <a:latin typeface="Meiryo"/>
                <a:ea typeface="Meiryo"/>
              </a:rPr>
              <a:t>多点探索に集中</a:t>
            </a:r>
          </a:p>
        </p:txBody>
      </p:sp>
      <p:sp>
        <p:nvSpPr>
          <p:cNvPr id="19" name="TextBox 18"/>
          <p:cNvSpPr txBox="1"/>
          <p:nvPr/>
        </p:nvSpPr>
        <p:spPr>
          <a:xfrm>
            <a:off x="566928" y="5916168"/>
            <a:ext cx="11057839" cy="347472"/>
          </a:xfrm>
          <a:prstGeom prst="rect">
            <a:avLst/>
          </a:prstGeom>
          <a:noFill/>
        </p:spPr>
        <p:txBody>
          <a:bodyPr wrap="square" anchor="ctr" lIns="18288" rIns="18288" tIns="9144" bIns="9144">
            <a:spAutoFit/>
          </a:bodyPr>
          <a:lstStyle/>
          <a:p>
            <a:pPr algn="ctr"/>
            <a:r>
              <a:rPr sz="1400" b="1" i="0">
                <a:solidFill>
                  <a:srgbClr val="E06C00"/>
                </a:solidFill>
                <a:latin typeface="Meiryo"/>
                <a:ea typeface="Meiryo"/>
              </a:rPr>
              <a:t>単点探索</a:t>
            </a:r>
            <a:r>
              <a:rPr sz="1400" b="0" i="0">
                <a:solidFill>
                  <a:srgbClr val="26303A"/>
                </a:solidFill>
                <a:latin typeface="Meiryo"/>
                <a:ea typeface="Meiryo"/>
              </a:rPr>
              <a:t>：1 つの解を少しずつ変更しながら進む　／　</a:t>
            </a:r>
            <a:r>
              <a:rPr sz="1400" b="1" i="0">
                <a:solidFill>
                  <a:srgbClr val="0F5C28"/>
                </a:solidFill>
                <a:latin typeface="Meiryo"/>
                <a:ea typeface="Meiryo"/>
              </a:rPr>
              <a:t>多点探索</a:t>
            </a:r>
            <a:r>
              <a:rPr sz="1400" b="0" i="0">
                <a:solidFill>
                  <a:srgbClr val="26303A"/>
                </a:solidFill>
                <a:latin typeface="Meiryo"/>
                <a:ea typeface="Meiryo"/>
              </a:rPr>
              <a:t>：複数の解を保持し，互いに組み替えながら進む</a:t>
            </a:r>
            <a:r>
              <a:rPr sz="1100" b="0" i="0">
                <a:solidFill>
                  <a:srgbClr val="6E7A88"/>
                </a:solidFill>
                <a:latin typeface="Meiryo"/>
                <a:ea typeface="Meiryo"/>
              </a:rPr>
              <a:t>（Blum &amp; Roli, 2003）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再スケジューリングの特殊性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安定性が最良の解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は探索前にある．求められるのは，</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から少しの変更で </a:t>
            </a:r>
            <a:r>
              <a:rPr sz="1500" b="1" i="1">
                <a:solidFill>
                  <a:srgbClr val="16385C"/>
                </a:solidFill>
                <a:latin typeface="Meiryo"/>
                <a:ea typeface="Meiryo"/>
              </a:rPr>
              <a:t>MS</a:t>
            </a:r>
            <a:r>
              <a:rPr sz="1500" b="1" i="0">
                <a:solidFill>
                  <a:srgbClr val="16385C"/>
                </a:solidFill>
                <a:latin typeface="Meiryo"/>
                <a:ea typeface="Meiryo"/>
              </a:rPr>
              <a:t> を下げた解</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6</a:t>
            </a:r>
          </a:p>
        </p:txBody>
      </p:sp>
      <p:pic>
        <p:nvPicPr>
          <p:cNvPr id="8" name="Picture 7" descr="concept_0.png"/>
          <p:cNvPicPr>
            <a:picLocks noChangeAspect="1"/>
          </p:cNvPicPr>
          <p:nvPr/>
        </p:nvPicPr>
        <p:blipFill>
          <a:blip r:embed="rId2"/>
          <a:stretch>
            <a:fillRect/>
          </a:stretch>
        </p:blipFill>
        <p:spPr>
          <a:xfrm>
            <a:off x="521207" y="1691640"/>
            <a:ext cx="5577840" cy="4312367"/>
          </a:xfrm>
          <a:prstGeom prst="rect">
            <a:avLst/>
          </a:prstGeom>
        </p:spPr>
      </p:pic>
      <p:sp>
        <p:nvSpPr>
          <p:cNvPr id="9" name="TextBox 8"/>
          <p:cNvSpPr txBox="1"/>
          <p:nvPr/>
        </p:nvSpPr>
        <p:spPr>
          <a:xfrm>
            <a:off x="6281928" y="1691640"/>
            <a:ext cx="5342839" cy="4312367"/>
          </a:xfrm>
          <a:prstGeom prst="rect">
            <a:avLst/>
          </a:prstGeom>
          <a:noFill/>
        </p:spPr>
        <p:txBody>
          <a:bodyPr wrap="square" anchor="ctr" lIns="18288" rIns="18288" tIns="9144" bIns="9144">
            <a:spAutoFit/>
          </a:bodyPr>
          <a:lstStyle/>
          <a:p>
            <a:pPr>
              <a:lnSpc>
                <a:spcPct val="108000"/>
              </a:lnSpc>
              <a:spcBef>
                <a:spcPts val="0"/>
              </a:spcBef>
            </a:pPr>
            <a:r>
              <a:rPr sz="1500" b="0" i="0">
                <a:solidFill>
                  <a:srgbClr val="26303A"/>
                </a:solidFill>
                <a:latin typeface="Meiryo"/>
                <a:ea typeface="Meiryo"/>
              </a:rPr>
              <a:t>★ 初期解 </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（処理順序を保って遅延を吸収した解）は，</a:t>
            </a:r>
            <a:r>
              <a:rPr sz="1500" b="1" i="0">
                <a:solidFill>
                  <a:srgbClr val="16385C"/>
                </a:solidFill>
                <a:latin typeface="Meiryo"/>
                <a:ea typeface="Meiryo"/>
              </a:rPr>
              <a:t>探索せずに得られる</a:t>
            </a:r>
            <a:r>
              <a:rPr sz="1500" b="0" i="0">
                <a:solidFill>
                  <a:srgbClr val="26303A"/>
                </a:solidFill>
                <a:latin typeface="Meiryo"/>
                <a:ea typeface="Meiryo"/>
              </a:rPr>
              <a:t>．変更量 0 で安定性は最良，</a:t>
            </a:r>
            <a:r>
              <a:rPr sz="1500" b="0" i="1">
                <a:solidFill>
                  <a:srgbClr val="26303A"/>
                </a:solidFill>
                <a:latin typeface="Meiryo"/>
                <a:ea typeface="Meiryo"/>
              </a:rPr>
              <a:t>MS</a:t>
            </a:r>
            <a:r>
              <a:rPr sz="1500" b="0" i="0">
                <a:solidFill>
                  <a:srgbClr val="26303A"/>
                </a:solidFill>
                <a:latin typeface="Meiryo"/>
                <a:ea typeface="Meiryo"/>
              </a:rPr>
              <a:t> も外乱前に最適化済み</a:t>
            </a:r>
          </a:p>
          <a:p>
            <a:pPr>
              <a:lnSpc>
                <a:spcPct val="108000"/>
              </a:lnSpc>
              <a:spcBef>
                <a:spcPts val="1200"/>
              </a:spcBef>
            </a:pPr>
            <a:r>
              <a:rPr sz="1500" b="0" i="0">
                <a:solidFill>
                  <a:srgbClr val="26303A"/>
                </a:solidFill>
                <a:latin typeface="Meiryo"/>
                <a:ea typeface="Meiryo"/>
              </a:rPr>
              <a:t>● 変更コストが無視できない場面で選ばれるのは，</a:t>
            </a:r>
            <a:r>
              <a:rPr sz="1500" b="1" i="0">
                <a:solidFill>
                  <a:srgbClr val="16385C"/>
                </a:solidFill>
                <a:latin typeface="Meiryo"/>
                <a:ea typeface="Meiryo"/>
              </a:rPr>
              <a:t>Pareto フロント</a:t>
            </a:r>
            <a:r>
              <a:rPr sz="1500" b="0" i="0">
                <a:solidFill>
                  <a:srgbClr val="26303A"/>
                </a:solidFill>
                <a:latin typeface="Meiryo"/>
                <a:ea typeface="Meiryo"/>
              </a:rPr>
              <a:t>のうち </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の近傍（</a:t>
            </a:r>
            <a:r>
              <a:rPr sz="1500" b="1" i="0">
                <a:solidFill>
                  <a:srgbClr val="16385C"/>
                </a:solidFill>
                <a:latin typeface="Meiryo"/>
                <a:ea typeface="Meiryo"/>
              </a:rPr>
              <a:t>高安定領域</a:t>
            </a:r>
            <a:r>
              <a:rPr sz="1500" b="0" i="0">
                <a:solidFill>
                  <a:srgbClr val="26303A"/>
                </a:solidFill>
                <a:latin typeface="Meiryo"/>
                <a:ea typeface="Meiryo"/>
              </a:rPr>
              <a:t>）の解</a:t>
            </a:r>
          </a:p>
          <a:p>
            <a:pPr>
              <a:lnSpc>
                <a:spcPct val="108000"/>
              </a:lnSpc>
              <a:spcBef>
                <a:spcPts val="1200"/>
              </a:spcBef>
            </a:pPr>
            <a:r>
              <a:rPr sz="1550" b="0" i="0">
                <a:solidFill>
                  <a:srgbClr val="26303A"/>
                </a:solidFill>
                <a:latin typeface="Meiryo"/>
                <a:ea typeface="Meiryo"/>
              </a:rPr>
              <a:t>→ 手法に問われるのは，Pareto フロント全体の品質</a:t>
            </a:r>
          </a:p>
          <a:p>
            <a:pPr>
              <a:lnSpc>
                <a:spcPct val="108000"/>
              </a:lnSpc>
              <a:spcBef>
                <a:spcPts val="0"/>
              </a:spcBef>
            </a:pPr>
            <a:r>
              <a:rPr sz="1550" b="0" i="0">
                <a:solidFill>
                  <a:srgbClr val="26303A"/>
                </a:solidFill>
                <a:latin typeface="Meiryo"/>
                <a:ea typeface="Meiryo"/>
              </a:rPr>
              <a:t>だけではなく，</a:t>
            </a:r>
            <a:r>
              <a:rPr sz="1550" b="1" i="0">
                <a:solidFill>
                  <a:srgbClr val="16385C"/>
                </a:solidFill>
                <a:latin typeface="Meiryo"/>
                <a:ea typeface="Meiryo"/>
              </a:rPr>
              <a:t>高安定領域の品質</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残された 3 つの課題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この特殊性から先行研究を見直すと，探索構造の比較・高安定領域の評価・</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に近づける操作が欠けている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7</a:t>
            </a:r>
          </a:p>
        </p:txBody>
      </p:sp>
      <p:sp>
        <p:nvSpPr>
          <p:cNvPr id="8" name="Rounded Rectangle 7"/>
          <p:cNvSpPr/>
          <p:nvPr/>
        </p:nvSpPr>
        <p:spPr>
          <a:xfrm>
            <a:off x="566928" y="17373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68096" y="20756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1</a:t>
            </a:r>
          </a:p>
        </p:txBody>
      </p:sp>
      <p:sp>
        <p:nvSpPr>
          <p:cNvPr id="10" name="TextBox 9"/>
          <p:cNvSpPr txBox="1"/>
          <p:nvPr/>
        </p:nvSpPr>
        <p:spPr>
          <a:xfrm>
            <a:off x="1481328" y="1810512"/>
            <a:ext cx="3108960" cy="104241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探索構造の差が</a:t>
            </a:r>
          </a:p>
          <a:p>
            <a:pPr algn="l">
              <a:lnSpc>
                <a:spcPct val="110000"/>
              </a:lnSpc>
            </a:pPr>
            <a:r>
              <a:rPr sz="1600" b="1" i="0">
                <a:solidFill>
                  <a:srgbClr val="16385C"/>
                </a:solidFill>
                <a:latin typeface="Meiryo"/>
                <a:ea typeface="Meiryo"/>
              </a:rPr>
              <a:t>検証されていない</a:t>
            </a:r>
          </a:p>
        </p:txBody>
      </p:sp>
      <p:sp>
        <p:nvSpPr>
          <p:cNvPr id="11" name="Rectangle 10"/>
          <p:cNvSpPr/>
          <p:nvPr/>
        </p:nvSpPr>
        <p:spPr>
          <a:xfrm>
            <a:off x="4681728" y="19385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0328" y="1810512"/>
            <a:ext cx="6485839" cy="1042416"/>
          </a:xfrm>
          <a:prstGeom prst="rect">
            <a:avLst/>
          </a:prstGeom>
          <a:noFill/>
        </p:spPr>
        <p:txBody>
          <a:bodyPr wrap="square" anchor="ctr" lIns="18288" rIns="18288" tIns="9144" bIns="9144">
            <a:spAutoFit/>
          </a:bodyPr>
          <a:lstStyle/>
          <a:p>
            <a:pPr algn="l">
              <a:lnSpc>
                <a:spcPct val="118000"/>
              </a:lnSpc>
            </a:pPr>
            <a:r>
              <a:rPr sz="1400" b="0" i="0">
                <a:solidFill>
                  <a:srgbClr val="26303A"/>
                </a:solidFill>
                <a:latin typeface="Meiryo"/>
                <a:ea typeface="Meiryo"/>
              </a:rPr>
              <a:t>解法は多点探索に集中している．</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を初期解として解を少しずつ変更する単点探索との間にどんな差が生まれるかは，分析されていない</a:t>
            </a:r>
          </a:p>
        </p:txBody>
      </p:sp>
      <p:sp>
        <p:nvSpPr>
          <p:cNvPr id="13" name="Rounded Rectangle 12"/>
          <p:cNvSpPr/>
          <p:nvPr/>
        </p:nvSpPr>
        <p:spPr>
          <a:xfrm>
            <a:off x="566928" y="31089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8096" y="34472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2</a:t>
            </a:r>
          </a:p>
        </p:txBody>
      </p:sp>
      <p:sp>
        <p:nvSpPr>
          <p:cNvPr id="15" name="TextBox 14"/>
          <p:cNvSpPr txBox="1"/>
          <p:nvPr/>
        </p:nvSpPr>
        <p:spPr>
          <a:xfrm>
            <a:off x="1481328" y="3182112"/>
            <a:ext cx="3108960" cy="104241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その差を読み取れる</a:t>
            </a:r>
          </a:p>
          <a:p>
            <a:pPr algn="l">
              <a:lnSpc>
                <a:spcPct val="110000"/>
              </a:lnSpc>
            </a:pPr>
            <a:r>
              <a:rPr sz="1600" b="1" i="0">
                <a:solidFill>
                  <a:srgbClr val="16385C"/>
                </a:solidFill>
                <a:latin typeface="Meiryo"/>
                <a:ea typeface="Meiryo"/>
              </a:rPr>
              <a:t>評価の形式がない</a:t>
            </a:r>
          </a:p>
        </p:txBody>
      </p:sp>
      <p:sp>
        <p:nvSpPr>
          <p:cNvPr id="16" name="Rectangle 15"/>
          <p:cNvSpPr/>
          <p:nvPr/>
        </p:nvSpPr>
        <p:spPr>
          <a:xfrm>
            <a:off x="4681728" y="33101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3182112"/>
            <a:ext cx="6485839" cy="1042416"/>
          </a:xfrm>
          <a:prstGeom prst="rect">
            <a:avLst/>
          </a:prstGeom>
          <a:noFill/>
        </p:spPr>
        <p:txBody>
          <a:bodyPr wrap="square" anchor="ctr" lIns="18288" rIns="18288" tIns="9144" bIns="9144">
            <a:spAutoFit/>
          </a:bodyPr>
          <a:lstStyle/>
          <a:p>
            <a:pPr algn="l">
              <a:lnSpc>
                <a:spcPct val="118000"/>
              </a:lnSpc>
            </a:pPr>
            <a:r>
              <a:rPr sz="1400" b="0" i="0">
                <a:solidFill>
                  <a:srgbClr val="26303A"/>
                </a:solidFill>
                <a:latin typeface="Meiryo"/>
                <a:ea typeface="Meiryo"/>
              </a:rPr>
              <a:t>比較は少数の重みでのスカラー値や，Pareto フロント全体の hypervolume（HV）で行われ，高安定領域に限った HV（</a:t>
            </a:r>
            <a:r>
              <a:rPr sz="1400" b="1" i="0">
                <a:solidFill>
                  <a:srgbClr val="16385C"/>
                </a:solidFill>
                <a:latin typeface="Meiryo"/>
                <a:ea typeface="Meiryo"/>
              </a:rPr>
              <a:t>高安定 HV</a:t>
            </a:r>
            <a:r>
              <a:rPr sz="1400" b="0" i="0">
                <a:solidFill>
                  <a:srgbClr val="26303A"/>
                </a:solidFill>
                <a:latin typeface="Meiryo"/>
                <a:ea typeface="Meiryo"/>
              </a:rPr>
              <a:t>）で手法を比べた例がない</a:t>
            </a:r>
          </a:p>
        </p:txBody>
      </p:sp>
      <p:sp>
        <p:nvSpPr>
          <p:cNvPr id="18" name="Rounded Rectangle 17"/>
          <p:cNvSpPr/>
          <p:nvPr/>
        </p:nvSpPr>
        <p:spPr>
          <a:xfrm>
            <a:off x="566928" y="4480560"/>
            <a:ext cx="11057839" cy="178308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68096" y="511606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3</a:t>
            </a:r>
          </a:p>
        </p:txBody>
      </p:sp>
      <p:sp>
        <p:nvSpPr>
          <p:cNvPr id="20" name="TextBox 19"/>
          <p:cNvSpPr txBox="1"/>
          <p:nvPr/>
        </p:nvSpPr>
        <p:spPr>
          <a:xfrm>
            <a:off x="1481328" y="4553712"/>
            <a:ext cx="3108960" cy="163677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解を </a:t>
            </a:r>
            <a:r>
              <a:rPr sz="1600" b="1" i="1">
                <a:solidFill>
                  <a:srgbClr val="16385C"/>
                </a:solidFill>
                <a:latin typeface="Meiryo"/>
                <a:ea typeface="Meiryo"/>
              </a:rPr>
              <a:t>S</a:t>
            </a:r>
            <a:r>
              <a:rPr sz="1152" b="1" i="1" baseline="-22000">
                <a:solidFill>
                  <a:srgbClr val="16385C"/>
                </a:solidFill>
                <a:latin typeface="Meiryo"/>
                <a:ea typeface="Meiryo"/>
              </a:rPr>
              <a:t>p</a:t>
            </a:r>
            <a:r>
              <a:rPr sz="1600" b="1" i="0">
                <a:solidFill>
                  <a:srgbClr val="16385C"/>
                </a:solidFill>
                <a:latin typeface="Meiryo"/>
                <a:ea typeface="Meiryo"/>
              </a:rPr>
              <a:t> に近づける</a:t>
            </a:r>
          </a:p>
          <a:p>
            <a:pPr algn="l">
              <a:lnSpc>
                <a:spcPct val="110000"/>
              </a:lnSpc>
            </a:pPr>
            <a:r>
              <a:rPr sz="1600" b="1" i="0">
                <a:solidFill>
                  <a:srgbClr val="16385C"/>
                </a:solidFill>
                <a:latin typeface="Meiryo"/>
                <a:ea typeface="Meiryo"/>
              </a:rPr>
              <a:t>探索操作がない</a:t>
            </a:r>
          </a:p>
        </p:txBody>
      </p:sp>
      <p:sp>
        <p:nvSpPr>
          <p:cNvPr id="21" name="Rectangle 20"/>
          <p:cNvSpPr/>
          <p:nvPr/>
        </p:nvSpPr>
        <p:spPr>
          <a:xfrm>
            <a:off x="4681728" y="4681728"/>
            <a:ext cx="13716" cy="138074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0328" y="4553712"/>
            <a:ext cx="6485839" cy="1636776"/>
          </a:xfrm>
          <a:prstGeom prst="rect">
            <a:avLst/>
          </a:prstGeom>
          <a:noFill/>
        </p:spPr>
        <p:txBody>
          <a:bodyPr wrap="square" anchor="ctr" lIns="18288" rIns="18288" tIns="9144" bIns="9144">
            <a:spAutoFit/>
          </a:bodyPr>
          <a:lstStyle/>
          <a:p>
            <a:pPr algn="l">
              <a:lnSpc>
                <a:spcPct val="118000"/>
              </a:lnSpc>
            </a:pPr>
            <a:r>
              <a:rPr sz="1400" b="1" i="0">
                <a:solidFill>
                  <a:srgbClr val="16385C"/>
                </a:solidFill>
                <a:latin typeface="Meiryo"/>
                <a:ea typeface="Meiryo"/>
              </a:rPr>
              <a:t>目的関数に組み込む</a:t>
            </a:r>
            <a:r>
              <a:rPr sz="1400" b="0" i="0">
                <a:solidFill>
                  <a:srgbClr val="26303A"/>
                </a:solidFill>
                <a:latin typeface="Meiryo"/>
                <a:ea typeface="Meiryo"/>
              </a:rPr>
              <a:t>：安定性は解の評価にだけ入る．交叉や局所探索などの探索操作は </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を参照しない</a:t>
            </a:r>
          </a:p>
          <a:p>
            <a:pPr algn="l">
              <a:lnSpc>
                <a:spcPct val="118000"/>
              </a:lnSpc>
            </a:pPr>
            <a:r>
              <a:rPr sz="1400" b="1" i="0">
                <a:solidFill>
                  <a:srgbClr val="16385C"/>
                </a:solidFill>
                <a:latin typeface="Meiryo"/>
                <a:ea typeface="Meiryo"/>
              </a:rPr>
              <a:t>範囲を限定する</a:t>
            </a:r>
            <a:r>
              <a:rPr sz="1400" b="0" i="0">
                <a:solidFill>
                  <a:srgbClr val="26303A"/>
                </a:solidFill>
                <a:latin typeface="Meiryo"/>
                <a:ea typeface="Meiryo"/>
              </a:rPr>
              <a:t>：安定性は探索空間の制限にだけ入る．範囲を事前に決めるので，その外にある変更量の大きい解は探索しない</a:t>
            </a:r>
          </a:p>
          <a:p>
            <a:pPr algn="l">
              <a:lnSpc>
                <a:spcPct val="118000"/>
              </a:lnSpc>
            </a:pPr>
            <a:r>
              <a:rPr sz="1400" b="0" i="0">
                <a:solidFill>
                  <a:srgbClr val="26303A"/>
                </a:solidFill>
                <a:latin typeface="Meiryo"/>
                <a:ea typeface="Meiryo"/>
              </a:rPr>
              <a:t>→ どちらも，探索の途中で解を </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に近づける操作（安定性を探索の移動として扱う操作）を持たない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本研究の仮説</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課題 1・3 に対して 2 つの仮説を立て，どちらも高安定 HV（課題 2 への対応）で判定する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8</a:t>
            </a:r>
          </a:p>
        </p:txBody>
      </p:sp>
      <p:sp>
        <p:nvSpPr>
          <p:cNvPr id="8" name="Rounded Rectangle 7"/>
          <p:cNvSpPr/>
          <p:nvPr/>
        </p:nvSpPr>
        <p:spPr>
          <a:xfrm>
            <a:off x="585216"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仮説 1</a:t>
            </a:r>
          </a:p>
        </p:txBody>
      </p:sp>
      <p:sp>
        <p:nvSpPr>
          <p:cNvPr id="9" name="Rounded Rectangle 8"/>
          <p:cNvSpPr/>
          <p:nvPr/>
        </p:nvSpPr>
        <p:spPr>
          <a:xfrm>
            <a:off x="566928"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66544"/>
            <a:ext cx="5099151" cy="1097280"/>
          </a:xfrm>
          <a:prstGeom prst="rect">
            <a:avLst/>
          </a:prstGeom>
          <a:noFill/>
        </p:spPr>
        <p:txBody>
          <a:bodyPr wrap="square" anchor="ctr" lIns="18288" rIns="18288" tIns="9144" bIns="9144">
            <a:spAutoFit/>
          </a:bodyPr>
          <a:lstStyle/>
          <a:p>
            <a:pPr algn="l">
              <a:lnSpc>
                <a:spcPct val="112000"/>
              </a:lnSpc>
            </a:pPr>
            <a:r>
              <a:rPr sz="1550" b="0" i="0">
                <a:solidFill>
                  <a:srgbClr val="FFFFFF"/>
                </a:solidFill>
                <a:latin typeface="Meiryo"/>
                <a:ea typeface="Meiryo"/>
              </a:rPr>
              <a:t>交叉で 2 親の染色体を組み替える</a:t>
            </a:r>
            <a:r>
              <a:rPr sz="1550" b="1" i="0">
                <a:solidFill>
                  <a:srgbClr val="FFD98A"/>
                </a:solidFill>
                <a:latin typeface="Meiryo"/>
                <a:ea typeface="Meiryo"/>
              </a:rPr>
              <a:t>多点探索</a:t>
            </a:r>
            <a:r>
              <a:rPr sz="1550" b="0" i="0">
                <a:solidFill>
                  <a:srgbClr val="FFFFFF"/>
                </a:solidFill>
                <a:latin typeface="Meiryo"/>
                <a:ea typeface="Meiryo"/>
              </a:rPr>
              <a:t>は，</a:t>
            </a:r>
          </a:p>
          <a:p>
            <a:pPr algn="l">
              <a:lnSpc>
                <a:spcPct val="112000"/>
              </a:lnSpc>
            </a:pP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からの小さな変更では表せない飛躍を伴う．</a:t>
            </a:r>
          </a:p>
          <a:p>
            <a:pPr algn="l">
              <a:lnSpc>
                <a:spcPct val="112000"/>
              </a:lnSpc>
            </a:pPr>
            <a:r>
              <a:rPr sz="1550" b="0" i="0">
                <a:solidFill>
                  <a:srgbClr val="FFFFFF"/>
                </a:solidFill>
                <a:latin typeface="Meiryo"/>
                <a:ea typeface="Meiryo"/>
              </a:rPr>
              <a:t>そのため，</a:t>
            </a: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を初期解として解を少しずつ変更する</a:t>
            </a:r>
          </a:p>
          <a:p>
            <a:pPr algn="l">
              <a:lnSpc>
                <a:spcPct val="112000"/>
              </a:lnSpc>
            </a:pPr>
            <a:r>
              <a:rPr sz="1550" b="1" i="0">
                <a:solidFill>
                  <a:srgbClr val="FFD98A"/>
                </a:solidFill>
                <a:latin typeface="Meiryo"/>
                <a:ea typeface="Meiryo"/>
              </a:rPr>
              <a:t>単点探索</a:t>
            </a:r>
            <a:r>
              <a:rPr sz="1550" b="0" i="0">
                <a:solidFill>
                  <a:srgbClr val="FFFFFF"/>
                </a:solidFill>
                <a:latin typeface="Meiryo"/>
                <a:ea typeface="Meiryo"/>
              </a:rPr>
              <a:t>のほうが，</a:t>
            </a:r>
            <a:r>
              <a:rPr sz="1550" b="1" i="0">
                <a:solidFill>
                  <a:srgbClr val="FFD98A"/>
                </a:solidFill>
                <a:latin typeface="Meiryo"/>
                <a:ea typeface="Meiryo"/>
              </a:rPr>
              <a:t>高安定 HV が大きい</a:t>
            </a:r>
          </a:p>
        </p:txBody>
      </p:sp>
      <p:pic>
        <p:nvPicPr>
          <p:cNvPr id="11" name="Picture 10" descr="concept_h1.png"/>
          <p:cNvPicPr>
            <a:picLocks noChangeAspect="1"/>
          </p:cNvPicPr>
          <p:nvPr/>
        </p:nvPicPr>
        <p:blipFill>
          <a:blip r:embed="rId2"/>
          <a:stretch>
            <a:fillRect/>
          </a:stretch>
        </p:blipFill>
        <p:spPr>
          <a:xfrm>
            <a:off x="1067136" y="3291840"/>
            <a:ext cx="4391343" cy="2889503"/>
          </a:xfrm>
          <a:prstGeom prst="rect">
            <a:avLst/>
          </a:prstGeom>
        </p:spPr>
      </p:pic>
      <p:sp>
        <p:nvSpPr>
          <p:cNvPr id="12" name="Rounded Rectangle 11"/>
          <p:cNvSpPr/>
          <p:nvPr/>
        </p:nvSpPr>
        <p:spPr>
          <a:xfrm>
            <a:off x="6251295"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仮説 2</a:t>
            </a:r>
          </a:p>
        </p:txBody>
      </p:sp>
      <p:sp>
        <p:nvSpPr>
          <p:cNvPr id="13" name="Rounded Rectangle 12"/>
          <p:cNvSpPr/>
          <p:nvPr/>
        </p:nvSpPr>
        <p:spPr>
          <a:xfrm>
            <a:off x="6233007"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9311" y="2066544"/>
            <a:ext cx="5099151" cy="1097280"/>
          </a:xfrm>
          <a:prstGeom prst="rect">
            <a:avLst/>
          </a:prstGeom>
          <a:noFill/>
        </p:spPr>
        <p:txBody>
          <a:bodyPr wrap="square" anchor="ctr" lIns="18288" rIns="18288" tIns="9144" bIns="9144">
            <a:spAutoFit/>
          </a:bodyPr>
          <a:lstStyle/>
          <a:p>
            <a:pPr algn="l">
              <a:lnSpc>
                <a:spcPct val="112000"/>
              </a:lnSpc>
            </a:pPr>
            <a:r>
              <a:rPr sz="1550" b="0" i="0">
                <a:solidFill>
                  <a:srgbClr val="FFFFFF"/>
                </a:solidFill>
                <a:latin typeface="Meiryo"/>
                <a:ea typeface="Meiryo"/>
              </a:rPr>
              <a:t>多点探索に，解を </a:t>
            </a: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に近づける移動</a:t>
            </a:r>
          </a:p>
          <a:p>
            <a:pPr algn="l">
              <a:lnSpc>
                <a:spcPct val="112000"/>
              </a:lnSpc>
            </a:pPr>
            <a:r>
              <a:rPr sz="1550" b="0" i="0">
                <a:solidFill>
                  <a:srgbClr val="FFFFFF"/>
                </a:solidFill>
                <a:latin typeface="Meiryo"/>
                <a:ea typeface="Meiryo"/>
              </a:rPr>
              <a:t>（</a:t>
            </a:r>
            <a:r>
              <a:rPr sz="1550" b="1" i="0">
                <a:solidFill>
                  <a:srgbClr val="FFD98A"/>
                </a:solidFill>
                <a:latin typeface="Meiryo"/>
                <a:ea typeface="Meiryo"/>
              </a:rPr>
              <a:t>安定性誘導演算子</a:t>
            </a:r>
            <a:r>
              <a:rPr sz="1550" b="0" i="0">
                <a:solidFill>
                  <a:srgbClr val="FFFFFF"/>
                </a:solidFill>
                <a:latin typeface="Meiryo"/>
                <a:ea typeface="Meiryo"/>
              </a:rPr>
              <a:t>）を組み込めば，</a:t>
            </a:r>
          </a:p>
          <a:p>
            <a:pPr algn="l">
              <a:lnSpc>
                <a:spcPct val="112000"/>
              </a:lnSpc>
            </a:pPr>
            <a:r>
              <a:rPr sz="1550" b="0" i="0">
                <a:solidFill>
                  <a:srgbClr val="FFFFFF"/>
                </a:solidFill>
                <a:latin typeface="Meiryo"/>
                <a:ea typeface="Meiryo"/>
              </a:rPr>
              <a:t>その経路上に変更量の小さい解が現れるため，</a:t>
            </a:r>
          </a:p>
          <a:p>
            <a:pPr algn="l">
              <a:lnSpc>
                <a:spcPct val="112000"/>
              </a:lnSpc>
            </a:pPr>
            <a:r>
              <a:rPr sz="1550" b="1" i="0">
                <a:solidFill>
                  <a:srgbClr val="FFD98A"/>
                </a:solidFill>
                <a:latin typeface="Meiryo"/>
                <a:ea typeface="Meiryo"/>
              </a:rPr>
              <a:t>多点探索の高安定 HV は向上する</a:t>
            </a:r>
          </a:p>
        </p:txBody>
      </p:sp>
      <p:pic>
        <p:nvPicPr>
          <p:cNvPr id="15" name="Picture 14" descr="concept_h2.png"/>
          <p:cNvPicPr>
            <a:picLocks noChangeAspect="1"/>
          </p:cNvPicPr>
          <p:nvPr/>
        </p:nvPicPr>
        <p:blipFill>
          <a:blip r:embed="rId3"/>
          <a:stretch>
            <a:fillRect/>
          </a:stretch>
        </p:blipFill>
        <p:spPr>
          <a:xfrm>
            <a:off x="6733215" y="3291840"/>
            <a:ext cx="4391343" cy="2889503"/>
          </a:xfrm>
          <a:prstGeom prst="rect">
            <a:avLst/>
          </a:prstGeom>
        </p:spPr>
      </p:pic>
      <p:sp>
        <p:nvSpPr>
          <p:cNvPr id="16" name="TextBox 15"/>
          <p:cNvSpPr txBox="1"/>
          <p:nvPr/>
        </p:nvSpPr>
        <p:spPr>
          <a:xfrm>
            <a:off x="566928" y="6199632"/>
            <a:ext cx="11057839" cy="219456"/>
          </a:xfrm>
          <a:prstGeom prst="rect">
            <a:avLst/>
          </a:prstGeom>
          <a:noFill/>
        </p:spPr>
        <p:txBody>
          <a:bodyPr wrap="square" anchor="ctr" lIns="18288" rIns="18288" tIns="9144" bIns="9144">
            <a:spAutoFit/>
          </a:bodyPr>
          <a:lstStyle/>
          <a:p>
            <a:pPr algn="ctr">
              <a:lnSpc>
                <a:spcPct val="105000"/>
              </a:lnSpc>
            </a:pPr>
            <a:r>
              <a:rPr sz="1150" b="0" i="0">
                <a:solidFill>
                  <a:srgbClr val="6E7A88"/>
                </a:solidFill>
                <a:latin typeface="Meiryo"/>
                <a:ea typeface="Meiryo"/>
              </a:rPr>
              <a:t>主眼は最先端手法との性能競争ではなく，条件を統制して探索構造と演算子の関係を切り分けること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Rounded Rectangle 4"/>
          <p:cNvSpPr/>
          <p:nvPr/>
        </p:nvSpPr>
        <p:spPr>
          <a:xfrm>
            <a:off x="1737360" y="242316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問題設定と実験計画</a:t>
            </a:r>
          </a:p>
          <a:p>
            <a:pPr>
              <a:spcBef>
                <a:spcPts val="400"/>
              </a:spcBef>
            </a:pPr>
            <a:r>
              <a:rPr sz="1300" b="0" i="0">
                <a:solidFill>
                  <a:srgbClr val="AFC2D8"/>
                </a:solidFill>
                <a:latin typeface="Meiryo"/>
                <a:ea typeface="Meiryo"/>
              </a:rPr>
              <a:t>問題設定・探索構造・安定性誘導演算子・仮説の判定・評価指標</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問題設定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決定変数は，遅延後に最適化対象となる作業の，機械ごとの処理順序</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10</a:t>
            </a:r>
          </a:p>
        </p:txBody>
      </p:sp>
      <p:sp>
        <p:nvSpPr>
          <p:cNvPr id="8" name="TextBox 7"/>
          <p:cNvSpPr txBox="1"/>
          <p:nvPr/>
        </p:nvSpPr>
        <p:spPr>
          <a:xfrm>
            <a:off x="566928" y="2286000"/>
            <a:ext cx="6035040"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0" i="1">
                <a:solidFill>
                  <a:srgbClr val="26303A"/>
                </a:solidFill>
                <a:latin typeface="Meiryo"/>
                <a:ea typeface="Meiryo"/>
              </a:rPr>
              <a:t>n</a:t>
            </a:r>
            <a:r>
              <a:rPr sz="1500" b="0" i="0">
                <a:solidFill>
                  <a:srgbClr val="26303A"/>
                </a:solidFill>
                <a:latin typeface="Meiryo"/>
                <a:ea typeface="Meiryo"/>
              </a:rPr>
              <a:t> ジョブ・</a:t>
            </a:r>
            <a:r>
              <a:rPr sz="1500" b="0" i="1">
                <a:solidFill>
                  <a:srgbClr val="26303A"/>
                </a:solidFill>
                <a:latin typeface="Meiryo"/>
                <a:ea typeface="Meiryo"/>
              </a:rPr>
              <a:t>m</a:t>
            </a:r>
            <a:r>
              <a:rPr sz="1500" b="0" i="0">
                <a:solidFill>
                  <a:srgbClr val="26303A"/>
                </a:solidFill>
                <a:latin typeface="Meiryo"/>
                <a:ea typeface="Meiryo"/>
              </a:rPr>
              <a:t> 機械のジョブショップ問題（JSP）に，単一作業の遅延（遅延量 </a:t>
            </a:r>
            <a:r>
              <a:rPr sz="1500" b="0" i="1">
                <a:solidFill>
                  <a:srgbClr val="26303A"/>
                </a:solidFill>
                <a:latin typeface="Meiryo"/>
                <a:ea typeface="Meiryo"/>
              </a:rPr>
              <a:t>Δ</a:t>
            </a:r>
            <a:r>
              <a:rPr sz="1500" b="0" i="0">
                <a:solidFill>
                  <a:srgbClr val="26303A"/>
                </a:solidFill>
                <a:latin typeface="Meiryo"/>
                <a:ea typeface="Meiryo"/>
              </a:rPr>
              <a:t>）が発生</a:t>
            </a:r>
          </a:p>
          <a:p>
            <a:pPr>
              <a:lnSpc>
                <a:spcPct val="108000"/>
              </a:lnSpc>
              <a:spcBef>
                <a:spcPts val="1000"/>
              </a:spcBef>
            </a:pPr>
            <a:r>
              <a:rPr sz="1200" b="1" i="0">
                <a:solidFill>
                  <a:srgbClr val="16385C"/>
                </a:solidFill>
                <a:latin typeface="Meiryo"/>
                <a:ea typeface="Meiryo"/>
              </a:rPr>
              <a:t>▪ </a:t>
            </a:r>
            <a:r>
              <a:rPr sz="1500" b="0" i="0">
                <a:solidFill>
                  <a:srgbClr val="26303A"/>
                </a:solidFill>
                <a:latin typeface="Meiryo"/>
                <a:ea typeface="Meiryo"/>
              </a:rPr>
              <a:t>再スケジューリング時刻 </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より前に開始した作業は凍結し，以降の作業集合 </a:t>
            </a:r>
            <a:r>
              <a:rPr sz="1500" b="0" i="1">
                <a:solidFill>
                  <a:srgbClr val="26303A"/>
                </a:solidFill>
                <a:latin typeface="Meiryo"/>
                <a:ea typeface="Meiryo"/>
              </a:rPr>
              <a:t>O</a:t>
            </a:r>
            <a:r>
              <a:rPr sz="1080" b="0" i="1" baseline="-22000">
                <a:solidFill>
                  <a:srgbClr val="26303A"/>
                </a:solidFill>
                <a:latin typeface="Meiryo"/>
                <a:ea typeface="Meiryo"/>
              </a:rPr>
              <a:t>opt</a:t>
            </a:r>
            <a:r>
              <a:rPr sz="1500" b="0" i="0">
                <a:solidFill>
                  <a:srgbClr val="26303A"/>
                </a:solidFill>
                <a:latin typeface="Meiryo"/>
                <a:ea typeface="Meiryo"/>
              </a:rPr>
              <a:t> の</a:t>
            </a:r>
            <a:r>
              <a:rPr sz="1500" b="1" i="0">
                <a:solidFill>
                  <a:srgbClr val="16385C"/>
                </a:solidFill>
                <a:latin typeface="Meiryo"/>
                <a:ea typeface="Meiryo"/>
              </a:rPr>
              <a:t>機械ごとの処理順序</a:t>
            </a:r>
            <a:r>
              <a:rPr sz="1500" b="0" i="0">
                <a:solidFill>
                  <a:srgbClr val="26303A"/>
                </a:solidFill>
                <a:latin typeface="Meiryo"/>
                <a:ea typeface="Meiryo"/>
              </a:rPr>
              <a:t>を決定変数とする</a:t>
            </a:r>
          </a:p>
          <a:p>
            <a:pPr>
              <a:lnSpc>
                <a:spcPct val="108000"/>
              </a:lnSpc>
              <a:spcBef>
                <a:spcPts val="1000"/>
              </a:spcBef>
            </a:pPr>
            <a:r>
              <a:rPr sz="1200" b="1" i="0">
                <a:solidFill>
                  <a:srgbClr val="16385C"/>
                </a:solidFill>
                <a:latin typeface="Meiryo"/>
                <a:ea typeface="Meiryo"/>
              </a:rPr>
              <a:t>▪ </a:t>
            </a:r>
            <a:r>
              <a:rPr sz="1500" b="0" i="0">
                <a:solidFill>
                  <a:srgbClr val="26303A"/>
                </a:solidFill>
                <a:latin typeface="Meiryo"/>
                <a:ea typeface="Meiryo"/>
              </a:rPr>
              <a:t>安定性は</a:t>
            </a:r>
            <a:r>
              <a:rPr sz="1500" b="1" i="0">
                <a:solidFill>
                  <a:srgbClr val="16385C"/>
                </a:solidFill>
                <a:latin typeface="Meiryo"/>
                <a:ea typeface="Meiryo"/>
              </a:rPr>
              <a:t>処理順序の変更量</a:t>
            </a:r>
            <a:r>
              <a:rPr sz="1500" b="0" i="0">
                <a:solidFill>
                  <a:srgbClr val="26303A"/>
                </a:solidFill>
                <a:latin typeface="Meiryo"/>
                <a:ea typeface="Meiryo"/>
              </a:rPr>
              <a:t>で測る（順序偏差 </a:t>
            </a:r>
            <a:r>
              <a:rPr sz="1500" b="0" i="1">
                <a:solidFill>
                  <a:srgbClr val="26303A"/>
                </a:solidFill>
                <a:latin typeface="Meiryo"/>
                <a:ea typeface="Meiryo"/>
              </a:rPr>
              <a:t>D</a:t>
            </a:r>
            <a:r>
              <a:rPr sz="1500" b="0" i="0">
                <a:solidFill>
                  <a:srgbClr val="26303A"/>
                </a:solidFill>
                <a:latin typeface="Meiryo"/>
                <a:ea typeface="Meiryo"/>
              </a:rPr>
              <a:t>）</a:t>
            </a:r>
          </a:p>
        </p:txBody>
      </p:sp>
      <p:pic>
        <p:nvPicPr>
          <p:cNvPr id="9" name="Picture 8" descr="eq_talk_D.png"/>
          <p:cNvPicPr>
            <a:picLocks noChangeAspect="1"/>
          </p:cNvPicPr>
          <p:nvPr/>
        </p:nvPicPr>
        <p:blipFill>
          <a:blip r:embed="rId2"/>
          <a:stretch>
            <a:fillRect/>
          </a:stretch>
        </p:blipFill>
        <p:spPr>
          <a:xfrm>
            <a:off x="2131904" y="4023360"/>
            <a:ext cx="2905086" cy="566928"/>
          </a:xfrm>
          <a:prstGeom prst="rect">
            <a:avLst/>
          </a:prstGeom>
        </p:spPr>
      </p:pic>
      <p:sp>
        <p:nvSpPr>
          <p:cNvPr id="10" name="TextBox 9"/>
          <p:cNvSpPr txBox="1"/>
          <p:nvPr/>
        </p:nvSpPr>
        <p:spPr>
          <a:xfrm>
            <a:off x="5961888" y="4169663"/>
            <a:ext cx="640080" cy="274320"/>
          </a:xfrm>
          <a:prstGeom prst="rect">
            <a:avLst/>
          </a:prstGeom>
          <a:noFill/>
        </p:spPr>
        <p:txBody>
          <a:bodyPr wrap="square" anchor="t" lIns="18288" rIns="18288" tIns="9144" bIns="9144">
            <a:spAutoFit/>
          </a:bodyPr>
          <a:lstStyle/>
          <a:p>
            <a:pPr algn="r"/>
            <a:r>
              <a:rPr sz="1300" b="0" i="0">
                <a:solidFill>
                  <a:srgbClr val="26303A"/>
                </a:solidFill>
                <a:latin typeface="Meiryo"/>
                <a:ea typeface="Meiryo"/>
              </a:rPr>
              <a:t>(1)</a:t>
            </a:r>
          </a:p>
        </p:txBody>
      </p:sp>
      <p:sp>
        <p:nvSpPr>
          <p:cNvPr id="11" name="TextBox 10"/>
          <p:cNvSpPr txBox="1"/>
          <p:nvPr/>
        </p:nvSpPr>
        <p:spPr>
          <a:xfrm>
            <a:off x="841247" y="4663440"/>
            <a:ext cx="5760720" cy="320040"/>
          </a:xfrm>
          <a:prstGeom prst="rect">
            <a:avLst/>
          </a:prstGeom>
          <a:noFill/>
        </p:spPr>
        <p:txBody>
          <a:bodyPr wrap="square" anchor="t" lIns="18288" rIns="18288" tIns="9144" bIns="9144">
            <a:spAutoFit/>
          </a:bodyPr>
          <a:lstStyle/>
          <a:p>
            <a:pPr algn="l">
              <a:lnSpc>
                <a:spcPct val="105000"/>
              </a:lnSpc>
            </a:pPr>
            <a:r>
              <a:rPr sz="1250" b="0" i="1">
                <a:solidFill>
                  <a:srgbClr val="6E7A88"/>
                </a:solidFill>
                <a:latin typeface="Meiryo"/>
                <a:ea typeface="Meiryo"/>
              </a:rPr>
              <a:t>r</a:t>
            </a:r>
            <a:r>
              <a:rPr sz="900" b="0" i="1" baseline="-22000">
                <a:solidFill>
                  <a:srgbClr val="6E7A88"/>
                </a:solidFill>
                <a:latin typeface="Meiryo"/>
                <a:ea typeface="Meiryo"/>
              </a:rPr>
              <a:t>i,j</a:t>
            </a:r>
            <a:r>
              <a:rPr sz="1250" b="0" i="0">
                <a:solidFill>
                  <a:srgbClr val="6E7A88"/>
                </a:solidFill>
                <a:latin typeface="Meiryo"/>
                <a:ea typeface="Meiryo"/>
              </a:rPr>
              <a:t>：機械 </a:t>
            </a:r>
            <a:r>
              <a:rPr sz="1250" b="0" i="1">
                <a:solidFill>
                  <a:srgbClr val="6E7A88"/>
                </a:solidFill>
                <a:latin typeface="Meiryo"/>
                <a:ea typeface="Meiryo"/>
              </a:rPr>
              <a:t>i</a:t>
            </a:r>
            <a:r>
              <a:rPr sz="1250" b="0" i="0">
                <a:solidFill>
                  <a:srgbClr val="6E7A88"/>
                </a:solidFill>
                <a:latin typeface="Meiryo"/>
                <a:ea typeface="Meiryo"/>
              </a:rPr>
              <a:t> におけるジョブ </a:t>
            </a:r>
            <a:r>
              <a:rPr sz="1250" b="0" i="1">
                <a:solidFill>
                  <a:srgbClr val="6E7A88"/>
                </a:solidFill>
                <a:latin typeface="Meiryo"/>
                <a:ea typeface="Meiryo"/>
              </a:rPr>
              <a:t>j</a:t>
            </a:r>
            <a:r>
              <a:rPr sz="1250" b="0" i="0">
                <a:solidFill>
                  <a:srgbClr val="6E7A88"/>
                </a:solidFill>
                <a:latin typeface="Meiryo"/>
                <a:ea typeface="Meiryo"/>
              </a:rPr>
              <a:t> の処理順位</a:t>
            </a:r>
          </a:p>
        </p:txBody>
      </p:sp>
      <p:sp>
        <p:nvSpPr>
          <p:cNvPr id="12" name="TextBox 11"/>
          <p:cNvSpPr txBox="1"/>
          <p:nvPr/>
        </p:nvSpPr>
        <p:spPr>
          <a:xfrm>
            <a:off x="566928" y="5166360"/>
            <a:ext cx="6035040"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0" i="0">
                <a:solidFill>
                  <a:srgbClr val="26303A"/>
                </a:solidFill>
                <a:latin typeface="Meiryo"/>
                <a:ea typeface="Meiryo"/>
              </a:rPr>
              <a:t>二目的（</a:t>
            </a:r>
            <a:r>
              <a:rPr sz="1500" b="0" i="1">
                <a:solidFill>
                  <a:srgbClr val="26303A"/>
                </a:solidFill>
                <a:latin typeface="Meiryo"/>
                <a:ea typeface="Meiryo"/>
              </a:rPr>
              <a:t>MS</a:t>
            </a:r>
            <a:r>
              <a:rPr sz="1500" b="0" i="0">
                <a:solidFill>
                  <a:srgbClr val="26303A"/>
                </a:solidFill>
                <a:latin typeface="Meiryo"/>
                <a:ea typeface="Meiryo"/>
              </a:rPr>
              <a:t>, </a:t>
            </a:r>
            <a:r>
              <a:rPr sz="1500" b="0" i="1">
                <a:solidFill>
                  <a:srgbClr val="26303A"/>
                </a:solidFill>
                <a:latin typeface="Meiryo"/>
                <a:ea typeface="Meiryo"/>
              </a:rPr>
              <a:t>D</a:t>
            </a:r>
            <a:r>
              <a:rPr sz="1500" b="0" i="0">
                <a:solidFill>
                  <a:srgbClr val="26303A"/>
                </a:solidFill>
                <a:latin typeface="Meiryo"/>
                <a:ea typeface="Meiryo"/>
              </a:rPr>
              <a:t>）は重み付き和 </a:t>
            </a:r>
            <a:r>
              <a:rPr sz="1500" b="0" i="1">
                <a:solidFill>
                  <a:srgbClr val="26303A"/>
                </a:solidFill>
                <a:latin typeface="Meiryo"/>
                <a:ea typeface="Meiryo"/>
              </a:rPr>
              <a:t>F</a:t>
            </a:r>
            <a:r>
              <a:rPr sz="1500" b="0" i="0">
                <a:solidFill>
                  <a:srgbClr val="26303A"/>
                </a:solidFill>
                <a:latin typeface="Meiryo"/>
                <a:ea typeface="Meiryo"/>
              </a:rPr>
              <a:t> にまとめ，重み </a:t>
            </a:r>
            <a:r>
              <a:rPr sz="1500" b="0" i="1">
                <a:solidFill>
                  <a:srgbClr val="26303A"/>
                </a:solidFill>
                <a:latin typeface="Meiryo"/>
                <a:ea typeface="Meiryo"/>
              </a:rPr>
              <a:t>λ</a:t>
            </a:r>
            <a:r>
              <a:rPr sz="1500" b="0" i="0">
                <a:solidFill>
                  <a:srgbClr val="26303A"/>
                </a:solidFill>
                <a:latin typeface="Meiryo"/>
                <a:ea typeface="Meiryo"/>
              </a:rPr>
              <a:t> を生産効率重視から安定性重視まで掃引し，得られた全非劣解で評価する</a:t>
            </a:r>
          </a:p>
        </p:txBody>
      </p:sp>
      <p:sp>
        <p:nvSpPr>
          <p:cNvPr id="13" name="Rounded Rectangle 12"/>
          <p:cNvSpPr/>
          <p:nvPr/>
        </p:nvSpPr>
        <p:spPr>
          <a:xfrm>
            <a:off x="7086600" y="1783080"/>
            <a:ext cx="4526280" cy="443484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1920240"/>
            <a:ext cx="4069080" cy="365760"/>
          </a:xfrm>
          <a:prstGeom prst="rect">
            <a:avLst/>
          </a:prstGeom>
          <a:noFill/>
        </p:spPr>
        <p:txBody>
          <a:bodyPr wrap="square" anchor="t" lIns="18288" rIns="18288" tIns="9144" bIns="9144">
            <a:spAutoFit/>
          </a:bodyPr>
          <a:lstStyle/>
          <a:p>
            <a:pPr algn="l">
              <a:lnSpc>
                <a:spcPct val="105000"/>
              </a:lnSpc>
            </a:pPr>
            <a:r>
              <a:rPr sz="1400" b="1" i="0">
                <a:solidFill>
                  <a:srgbClr val="16385C"/>
                </a:solidFill>
                <a:latin typeface="Meiryo"/>
                <a:ea typeface="Meiryo"/>
              </a:rPr>
              <a:t>例：ある機械の処理順序</a:t>
            </a:r>
          </a:p>
        </p:txBody>
      </p:sp>
      <p:sp>
        <p:nvSpPr>
          <p:cNvPr id="15" name="TextBox 14"/>
          <p:cNvSpPr txBox="1"/>
          <p:nvPr/>
        </p:nvSpPr>
        <p:spPr>
          <a:xfrm>
            <a:off x="7315200" y="2788920"/>
            <a:ext cx="640080" cy="502920"/>
          </a:xfrm>
          <a:prstGeom prst="rect">
            <a:avLst/>
          </a:prstGeom>
          <a:noFill/>
        </p:spPr>
        <p:txBody>
          <a:bodyPr wrap="square" anchor="ctr" lIns="18288" rIns="18288" tIns="9144" bIns="9144">
            <a:spAutoFit/>
          </a:bodyPr>
          <a:lstStyle/>
          <a:p>
            <a:pPr algn="l">
              <a:lnSpc>
                <a:spcPct val="105000"/>
              </a:lnSpc>
            </a:pPr>
            <a:r>
              <a:rPr sz="1500" b="1" i="1">
                <a:solidFill>
                  <a:srgbClr val="26303A"/>
                </a:solidFill>
                <a:latin typeface="Meiryo"/>
                <a:ea typeface="Meiryo"/>
              </a:rPr>
              <a:t>S</a:t>
            </a:r>
            <a:r>
              <a:rPr sz="1080" b="1" i="1" baseline="-22000">
                <a:solidFill>
                  <a:srgbClr val="26303A"/>
                </a:solidFill>
                <a:latin typeface="Meiryo"/>
                <a:ea typeface="Meiryo"/>
              </a:rPr>
              <a:t>p</a:t>
            </a:r>
          </a:p>
        </p:txBody>
      </p:sp>
      <p:sp>
        <p:nvSpPr>
          <p:cNvPr id="16" name="Rounded Rectangle 15"/>
          <p:cNvSpPr/>
          <p:nvPr/>
        </p:nvSpPr>
        <p:spPr>
          <a:xfrm>
            <a:off x="8001000" y="27889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J1</a:t>
            </a:r>
          </a:p>
        </p:txBody>
      </p:sp>
      <p:sp>
        <p:nvSpPr>
          <p:cNvPr id="17" name="TextBox 16"/>
          <p:cNvSpPr txBox="1"/>
          <p:nvPr/>
        </p:nvSpPr>
        <p:spPr>
          <a:xfrm>
            <a:off x="8001000"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1番目</a:t>
            </a:r>
          </a:p>
        </p:txBody>
      </p:sp>
      <p:sp>
        <p:nvSpPr>
          <p:cNvPr id="18" name="Rounded Rectangle 17"/>
          <p:cNvSpPr/>
          <p:nvPr/>
        </p:nvSpPr>
        <p:spPr>
          <a:xfrm>
            <a:off x="8860536" y="27889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J2</a:t>
            </a:r>
          </a:p>
        </p:txBody>
      </p:sp>
      <p:sp>
        <p:nvSpPr>
          <p:cNvPr id="19" name="TextBox 18"/>
          <p:cNvSpPr txBox="1"/>
          <p:nvPr/>
        </p:nvSpPr>
        <p:spPr>
          <a:xfrm>
            <a:off x="8860536"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2番目</a:t>
            </a:r>
          </a:p>
        </p:txBody>
      </p:sp>
      <p:sp>
        <p:nvSpPr>
          <p:cNvPr id="20" name="Rounded Rectangle 19"/>
          <p:cNvSpPr/>
          <p:nvPr/>
        </p:nvSpPr>
        <p:spPr>
          <a:xfrm>
            <a:off x="9720072" y="27889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J3</a:t>
            </a:r>
          </a:p>
        </p:txBody>
      </p:sp>
      <p:sp>
        <p:nvSpPr>
          <p:cNvPr id="21" name="TextBox 20"/>
          <p:cNvSpPr txBox="1"/>
          <p:nvPr/>
        </p:nvSpPr>
        <p:spPr>
          <a:xfrm>
            <a:off x="9720072"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3番目</a:t>
            </a:r>
          </a:p>
        </p:txBody>
      </p:sp>
      <p:sp>
        <p:nvSpPr>
          <p:cNvPr id="22" name="Rounded Rectangle 21"/>
          <p:cNvSpPr/>
          <p:nvPr/>
        </p:nvSpPr>
        <p:spPr>
          <a:xfrm>
            <a:off x="10579608" y="27889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J4</a:t>
            </a:r>
          </a:p>
        </p:txBody>
      </p:sp>
      <p:sp>
        <p:nvSpPr>
          <p:cNvPr id="23" name="TextBox 22"/>
          <p:cNvSpPr txBox="1"/>
          <p:nvPr/>
        </p:nvSpPr>
        <p:spPr>
          <a:xfrm>
            <a:off x="10579608"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4番目</a:t>
            </a:r>
          </a:p>
        </p:txBody>
      </p:sp>
      <p:sp>
        <p:nvSpPr>
          <p:cNvPr id="24" name="TextBox 23"/>
          <p:cNvSpPr txBox="1"/>
          <p:nvPr/>
        </p:nvSpPr>
        <p:spPr>
          <a:xfrm>
            <a:off x="7315200" y="4160520"/>
            <a:ext cx="640080" cy="502920"/>
          </a:xfrm>
          <a:prstGeom prst="rect">
            <a:avLst/>
          </a:prstGeom>
          <a:noFill/>
        </p:spPr>
        <p:txBody>
          <a:bodyPr wrap="square" anchor="ctr" lIns="18288" rIns="18288" tIns="9144" bIns="9144">
            <a:spAutoFit/>
          </a:bodyPr>
          <a:lstStyle/>
          <a:p>
            <a:pPr algn="l">
              <a:lnSpc>
                <a:spcPct val="105000"/>
              </a:lnSpc>
            </a:pPr>
            <a:r>
              <a:rPr sz="1500" b="1" i="1">
                <a:solidFill>
                  <a:srgbClr val="26303A"/>
                </a:solidFill>
                <a:latin typeface="Meiryo"/>
                <a:ea typeface="Meiryo"/>
              </a:rPr>
              <a:t>S</a:t>
            </a:r>
            <a:r>
              <a:rPr sz="1080" b="1" i="1" baseline="-22000">
                <a:solidFill>
                  <a:srgbClr val="26303A"/>
                </a:solidFill>
                <a:latin typeface="Meiryo"/>
                <a:ea typeface="Meiryo"/>
              </a:rPr>
              <a:t>q</a:t>
            </a:r>
          </a:p>
        </p:txBody>
      </p:sp>
      <p:sp>
        <p:nvSpPr>
          <p:cNvPr id="25" name="Rounded Rectangle 24"/>
          <p:cNvSpPr/>
          <p:nvPr/>
        </p:nvSpPr>
        <p:spPr>
          <a:xfrm>
            <a:off x="8001000" y="41605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J1</a:t>
            </a:r>
          </a:p>
        </p:txBody>
      </p:sp>
      <p:sp>
        <p:nvSpPr>
          <p:cNvPr id="26" name="TextBox 25"/>
          <p:cNvSpPr txBox="1"/>
          <p:nvPr/>
        </p:nvSpPr>
        <p:spPr>
          <a:xfrm>
            <a:off x="8001000"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1番目</a:t>
            </a:r>
          </a:p>
        </p:txBody>
      </p:sp>
      <p:sp>
        <p:nvSpPr>
          <p:cNvPr id="27" name="Rounded Rectangle 26"/>
          <p:cNvSpPr/>
          <p:nvPr/>
        </p:nvSpPr>
        <p:spPr>
          <a:xfrm>
            <a:off x="8860536" y="41605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J4</a:t>
            </a:r>
          </a:p>
        </p:txBody>
      </p:sp>
      <p:sp>
        <p:nvSpPr>
          <p:cNvPr id="28" name="TextBox 27"/>
          <p:cNvSpPr txBox="1"/>
          <p:nvPr/>
        </p:nvSpPr>
        <p:spPr>
          <a:xfrm>
            <a:off x="8860536"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2番目</a:t>
            </a:r>
          </a:p>
        </p:txBody>
      </p:sp>
      <p:sp>
        <p:nvSpPr>
          <p:cNvPr id="29" name="Rounded Rectangle 28"/>
          <p:cNvSpPr/>
          <p:nvPr/>
        </p:nvSpPr>
        <p:spPr>
          <a:xfrm>
            <a:off x="9720072" y="41605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J3</a:t>
            </a:r>
          </a:p>
        </p:txBody>
      </p:sp>
      <p:sp>
        <p:nvSpPr>
          <p:cNvPr id="30" name="TextBox 29"/>
          <p:cNvSpPr txBox="1"/>
          <p:nvPr/>
        </p:nvSpPr>
        <p:spPr>
          <a:xfrm>
            <a:off x="9720072"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3番目</a:t>
            </a:r>
          </a:p>
        </p:txBody>
      </p:sp>
      <p:sp>
        <p:nvSpPr>
          <p:cNvPr id="31" name="Rounded Rectangle 30"/>
          <p:cNvSpPr/>
          <p:nvPr/>
        </p:nvSpPr>
        <p:spPr>
          <a:xfrm>
            <a:off x="10579608" y="41605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J2</a:t>
            </a:r>
          </a:p>
        </p:txBody>
      </p:sp>
      <p:sp>
        <p:nvSpPr>
          <p:cNvPr id="32" name="TextBox 31"/>
          <p:cNvSpPr txBox="1"/>
          <p:nvPr/>
        </p:nvSpPr>
        <p:spPr>
          <a:xfrm>
            <a:off x="10579608"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4番目</a:t>
            </a:r>
          </a:p>
        </p:txBody>
      </p:sp>
      <p:cxnSp>
        <p:nvCxnSpPr>
          <p:cNvPr id="33" name="Connector 32"/>
          <p:cNvCxnSpPr/>
          <p:nvPr/>
        </p:nvCxnSpPr>
        <p:spPr>
          <a:xfrm>
            <a:off x="8375904"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4976"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315200" y="5120640"/>
            <a:ext cx="4069080" cy="411480"/>
          </a:xfrm>
          <a:prstGeom prst="rect">
            <a:avLst/>
          </a:prstGeom>
          <a:noFill/>
        </p:spPr>
        <p:txBody>
          <a:bodyPr wrap="square" anchor="t" lIns="18288" rIns="18288" tIns="9144" bIns="9144">
            <a:spAutoFit/>
          </a:bodyPr>
          <a:lstStyle/>
          <a:p>
            <a:pPr algn="ctr">
              <a:lnSpc>
                <a:spcPct val="105000"/>
              </a:lnSpc>
            </a:pPr>
            <a:r>
              <a:rPr sz="1600" b="0" i="1">
                <a:solidFill>
                  <a:srgbClr val="26303A"/>
                </a:solidFill>
                <a:latin typeface="Meiryo"/>
                <a:ea typeface="Meiryo"/>
              </a:rPr>
              <a:t>D</a:t>
            </a:r>
            <a:r>
              <a:rPr sz="1600" b="0" i="0">
                <a:solidFill>
                  <a:srgbClr val="26303A"/>
                </a:solidFill>
                <a:latin typeface="Meiryo"/>
                <a:ea typeface="Meiryo"/>
              </a:rPr>
              <a:t> = |2−4| ＋ |4−2| = </a:t>
            </a:r>
            <a:r>
              <a:rPr sz="1600" b="1" i="0">
                <a:solidFill>
                  <a:srgbClr val="B03A2E"/>
                </a:solidFill>
                <a:latin typeface="Meiryo"/>
                <a:ea typeface="Meiryo"/>
              </a:rPr>
              <a:t>4</a:t>
            </a:r>
          </a:p>
        </p:txBody>
      </p:sp>
      <p:sp>
        <p:nvSpPr>
          <p:cNvPr id="38" name="TextBox 37"/>
          <p:cNvSpPr txBox="1"/>
          <p:nvPr/>
        </p:nvSpPr>
        <p:spPr>
          <a:xfrm>
            <a:off x="7315200" y="5577840"/>
            <a:ext cx="4069080" cy="548640"/>
          </a:xfrm>
          <a:prstGeom prst="rect">
            <a:avLst/>
          </a:prstGeom>
          <a:noFill/>
        </p:spPr>
        <p:txBody>
          <a:bodyPr wrap="square" anchor="t" lIns="18288" rIns="18288" tIns="9144" bIns="9144">
            <a:spAutoFit/>
          </a:bodyPr>
          <a:lstStyle/>
          <a:p>
            <a:pPr algn="ctr">
              <a:lnSpc>
                <a:spcPct val="105000"/>
              </a:lnSpc>
            </a:pPr>
            <a:r>
              <a:rPr sz="1300" b="0" i="0">
                <a:solidFill>
                  <a:srgbClr val="6E7A88"/>
                </a:solidFill>
                <a:latin typeface="Meiryo"/>
                <a:ea typeface="Meiryo"/>
              </a:rPr>
              <a:t>初期解 </a:t>
            </a:r>
            <a:r>
              <a:rPr sz="1300" b="0" i="1">
                <a:solidFill>
                  <a:srgbClr val="6E7A88"/>
                </a:solidFill>
                <a:latin typeface="Meiryo"/>
                <a:ea typeface="Meiryo"/>
              </a:rPr>
              <a:t>S</a:t>
            </a:r>
            <a:r>
              <a:rPr sz="936" b="0" i="1" baseline="-22000">
                <a:solidFill>
                  <a:srgbClr val="6E7A88"/>
                </a:solidFill>
                <a:latin typeface="Meiryo"/>
                <a:ea typeface="Meiryo"/>
              </a:rPr>
              <a:t>p</a:t>
            </a:r>
            <a:r>
              <a:rPr sz="1300" b="0" i="0">
                <a:solidFill>
                  <a:srgbClr val="6E7A88"/>
                </a:solidFill>
                <a:latin typeface="Meiryo"/>
                <a:ea typeface="Meiryo"/>
              </a:rPr>
              <a:t> は </a:t>
            </a:r>
            <a:r>
              <a:rPr sz="1300" b="0" i="1">
                <a:solidFill>
                  <a:srgbClr val="6E7A88"/>
                </a:solidFill>
                <a:latin typeface="Meiryo"/>
                <a:ea typeface="Meiryo"/>
              </a:rPr>
              <a:t>D</a:t>
            </a:r>
            <a:r>
              <a:rPr sz="1300" b="0" i="0">
                <a:solidFill>
                  <a:srgbClr val="6E7A88"/>
                </a:solidFill>
                <a:latin typeface="Meiryo"/>
                <a:ea typeface="Meiryo"/>
              </a:rPr>
              <a:t> = 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比較する探索構造：単点探索と多点探索</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局所探索などの条件を揃え，解の作り方（少しずつ変更するか，交叉で組み替えるか）を比較する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11</a:t>
            </a:r>
          </a:p>
        </p:txBody>
      </p:sp>
      <p:pic>
        <p:nvPicPr>
          <p:cNvPr id="8" name="Picture 7" descr="concept_h1.png"/>
          <p:cNvPicPr>
            <a:picLocks noChangeAspect="1"/>
          </p:cNvPicPr>
          <p:nvPr/>
        </p:nvPicPr>
        <p:blipFill>
          <a:blip r:embed="rId2"/>
          <a:stretch>
            <a:fillRect/>
          </a:stretch>
        </p:blipFill>
        <p:spPr>
          <a:xfrm>
            <a:off x="521207" y="2356774"/>
            <a:ext cx="4023360" cy="2647370"/>
          </a:xfrm>
          <a:prstGeom prst="rect">
            <a:avLst/>
          </a:prstGeom>
        </p:spPr>
      </p:pic>
      <p:sp>
        <p:nvSpPr>
          <p:cNvPr id="9" name="Rounded Rectangle 8"/>
          <p:cNvSpPr/>
          <p:nvPr/>
        </p:nvSpPr>
        <p:spPr>
          <a:xfrm>
            <a:off x="4864608"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737360"/>
            <a:ext cx="3242919" cy="384048"/>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01768" y="1737360"/>
            <a:ext cx="2968599" cy="384048"/>
          </a:xfrm>
          <a:prstGeom prst="rect">
            <a:avLst/>
          </a:prstGeom>
          <a:noFill/>
        </p:spPr>
        <p:txBody>
          <a:bodyPr wrap="square" anchor="ctr" lIns="18288" rIns="18288" tIns="9144" bIns="9144">
            <a:spAutoFit/>
          </a:bodyPr>
          <a:lstStyle/>
          <a:p>
            <a:r>
              <a:rPr sz="1350" b="1" i="0">
                <a:solidFill>
                  <a:srgbClr val="FFFFFF"/>
                </a:solidFill>
                <a:latin typeface="Meiryo"/>
                <a:ea typeface="Meiryo"/>
              </a:rPr>
              <a:t>単点探索（ILS）</a:t>
            </a:r>
          </a:p>
        </p:txBody>
      </p:sp>
      <p:sp>
        <p:nvSpPr>
          <p:cNvPr id="12" name="Rounded Rectangle 11"/>
          <p:cNvSpPr/>
          <p:nvPr/>
        </p:nvSpPr>
        <p:spPr>
          <a:xfrm>
            <a:off x="5001768"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初期解：</a:t>
            </a:r>
            <a:r>
              <a:rPr sz="1050" b="0" i="1">
                <a:solidFill>
                  <a:srgbClr val="26303A"/>
                </a:solidFill>
                <a:latin typeface="Meiryo"/>
                <a:ea typeface="Meiryo"/>
              </a:rPr>
              <a:t>S</a:t>
            </a:r>
            <a:r>
              <a:rPr sz="756" b="0" i="1" baseline="-22000">
                <a:solidFill>
                  <a:srgbClr val="26303A"/>
                </a:solidFill>
                <a:latin typeface="Meiryo"/>
                <a:ea typeface="Meiryo"/>
              </a:rPr>
              <a:t>p</a:t>
            </a:r>
          </a:p>
        </p:txBody>
      </p:sp>
      <p:sp>
        <p:nvSpPr>
          <p:cNvPr id="13" name="Rounded Rectangle 12"/>
          <p:cNvSpPr/>
          <p:nvPr/>
        </p:nvSpPr>
        <p:spPr>
          <a:xfrm>
            <a:off x="5001768" y="2852928"/>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a:t>
            </a:r>
          </a:p>
        </p:txBody>
      </p:sp>
      <p:cxnSp>
        <p:nvCxnSpPr>
          <p:cNvPr id="14" name="Connector 13"/>
          <p:cNvCxnSpPr/>
          <p:nvPr/>
        </p:nvCxnSpPr>
        <p:spPr>
          <a:xfrm>
            <a:off x="6076188"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3419856"/>
            <a:ext cx="2148840" cy="384048"/>
          </a:xfrm>
          <a:prstGeom prst="roundRect">
            <a:avLst>
              <a:gd name="adj" fmla="val 12000"/>
            </a:avLst>
          </a:prstGeom>
          <a:solidFill>
            <a:srgbClr val="FBE4CC"/>
          </a:solidFill>
          <a:ln w="20320">
            <a:solidFill>
              <a:srgbClr val="E06C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E06C00"/>
                </a:solidFill>
                <a:latin typeface="Meiryo"/>
                <a:ea typeface="Meiryo"/>
              </a:rPr>
              <a:t>摂動：数手の insert 移動</a:t>
            </a:r>
          </a:p>
        </p:txBody>
      </p:sp>
      <p:cxnSp>
        <p:nvCxnSpPr>
          <p:cNvPr id="16" name="Connector 15"/>
          <p:cNvCxnSpPr/>
          <p:nvPr/>
        </p:nvCxnSpPr>
        <p:spPr>
          <a:xfrm>
            <a:off x="6076188"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01768" y="3986783"/>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a:t>
            </a:r>
          </a:p>
        </p:txBody>
      </p:sp>
      <p:cxnSp>
        <p:nvCxnSpPr>
          <p:cNvPr id="18" name="Connector 17"/>
          <p:cNvCxnSpPr/>
          <p:nvPr/>
        </p:nvCxnSpPr>
        <p:spPr>
          <a:xfrm>
            <a:off x="6076188"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01768" y="4553712"/>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受理判定：</a:t>
            </a:r>
            <a:r>
              <a:rPr sz="1050" b="0" i="1">
                <a:solidFill>
                  <a:srgbClr val="26303A"/>
                </a:solidFill>
                <a:latin typeface="Meiryo"/>
                <a:ea typeface="Meiryo"/>
              </a:rPr>
              <a:t>F</a:t>
            </a:r>
            <a:r>
              <a:rPr sz="1050" b="0" i="0">
                <a:solidFill>
                  <a:srgbClr val="26303A"/>
                </a:solidFill>
                <a:latin typeface="Meiryo"/>
                <a:ea typeface="Meiryo"/>
              </a:rPr>
              <a:t> が改善すれば更新</a:t>
            </a:r>
          </a:p>
        </p:txBody>
      </p:sp>
      <p:cxnSp>
        <p:nvCxnSpPr>
          <p:cNvPr id="20" name="Connector 19"/>
          <p:cNvCxnSpPr/>
          <p:nvPr/>
        </p:nvCxnSpPr>
        <p:spPr>
          <a:xfrm>
            <a:off x="6076188"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168896"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406640" y="3611880"/>
            <a:ext cx="0" cy="1133856"/>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187184" y="3611880"/>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79792" y="3995928"/>
            <a:ext cx="685800" cy="365760"/>
          </a:xfrm>
          <a:prstGeom prst="rect">
            <a:avLst/>
          </a:prstGeom>
          <a:noFill/>
        </p:spPr>
        <p:txBody>
          <a:bodyPr wrap="square" anchor="ctr" lIns="18288" rIns="18288" tIns="9144" bIns="9144">
            <a:spAutoFit/>
          </a:bodyPr>
          <a:lstStyle/>
          <a:p>
            <a:pPr algn="l">
              <a:lnSpc>
                <a:spcPct val="105000"/>
              </a:lnSpc>
            </a:pPr>
            <a:r>
              <a:rPr sz="1100" b="0" i="0">
                <a:solidFill>
                  <a:srgbClr val="6E7A88"/>
                </a:solidFill>
                <a:latin typeface="Meiryo"/>
                <a:ea typeface="Meiryo"/>
              </a:rPr>
              <a:t>反復</a:t>
            </a:r>
          </a:p>
        </p:txBody>
      </p:sp>
      <p:sp>
        <p:nvSpPr>
          <p:cNvPr id="25" name="TextBox 24"/>
          <p:cNvSpPr txBox="1"/>
          <p:nvPr/>
        </p:nvSpPr>
        <p:spPr>
          <a:xfrm>
            <a:off x="5047488" y="5047488"/>
            <a:ext cx="2877159" cy="502920"/>
          </a:xfrm>
          <a:prstGeom prst="rect">
            <a:avLst/>
          </a:prstGeom>
          <a:noFill/>
        </p:spPr>
        <p:txBody>
          <a:bodyPr wrap="square" anchor="t" lIns="18288" rIns="18288" tIns="9144" bIns="9144">
            <a:spAutoFit/>
          </a:bodyPr>
          <a:lstStyle/>
          <a:p>
            <a:pPr algn="l">
              <a:lnSpc>
                <a:spcPct val="110000"/>
              </a:lnSpc>
            </a:pPr>
            <a:r>
              <a:rPr sz="1050" b="0" i="0">
                <a:solidFill>
                  <a:srgbClr val="6E7A88"/>
                </a:solidFill>
                <a:latin typeface="Meiryo"/>
                <a:ea typeface="Meiryo"/>
              </a:rPr>
              <a:t>選定理由：局所探索と摂動が別の段にあり，演算子を摂動に組み込める</a:t>
            </a:r>
          </a:p>
        </p:txBody>
      </p:sp>
      <p:sp>
        <p:nvSpPr>
          <p:cNvPr id="26" name="Rounded Rectangle 25"/>
          <p:cNvSpPr/>
          <p:nvPr/>
        </p:nvSpPr>
        <p:spPr>
          <a:xfrm>
            <a:off x="8381847"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81847" y="1737360"/>
            <a:ext cx="3242919" cy="384048"/>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19007" y="1737360"/>
            <a:ext cx="2968599" cy="384048"/>
          </a:xfrm>
          <a:prstGeom prst="rect">
            <a:avLst/>
          </a:prstGeom>
          <a:noFill/>
        </p:spPr>
        <p:txBody>
          <a:bodyPr wrap="square" anchor="ctr" lIns="18288" rIns="18288" tIns="9144" bIns="9144">
            <a:spAutoFit/>
          </a:bodyPr>
          <a:lstStyle/>
          <a:p>
            <a:r>
              <a:rPr sz="1350" b="1" i="0">
                <a:solidFill>
                  <a:srgbClr val="FFFFFF"/>
                </a:solidFill>
                <a:latin typeface="Meiryo"/>
                <a:ea typeface="Meiryo"/>
              </a:rPr>
              <a:t>多点探索（Memetic）</a:t>
            </a:r>
          </a:p>
        </p:txBody>
      </p:sp>
      <p:sp>
        <p:nvSpPr>
          <p:cNvPr id="29" name="Rounded Rectangle 28"/>
          <p:cNvSpPr/>
          <p:nvPr/>
        </p:nvSpPr>
        <p:spPr>
          <a:xfrm>
            <a:off x="8519007"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初期集団：</a:t>
            </a:r>
            <a:r>
              <a:rPr sz="1050" b="0" i="1">
                <a:solidFill>
                  <a:srgbClr val="26303A"/>
                </a:solidFill>
                <a:latin typeface="Meiryo"/>
                <a:ea typeface="Meiryo"/>
              </a:rPr>
              <a:t>S</a:t>
            </a:r>
            <a:r>
              <a:rPr sz="756" b="0" i="1" baseline="-22000">
                <a:solidFill>
                  <a:srgbClr val="26303A"/>
                </a:solidFill>
                <a:latin typeface="Meiryo"/>
                <a:ea typeface="Meiryo"/>
              </a:rPr>
              <a:t>p</a:t>
            </a:r>
            <a:r>
              <a:rPr sz="1050" b="0" i="0">
                <a:solidFill>
                  <a:srgbClr val="26303A"/>
                </a:solidFill>
                <a:latin typeface="Meiryo"/>
                <a:ea typeface="Meiryo"/>
              </a:rPr>
              <a:t>＋無作為な個体</a:t>
            </a:r>
          </a:p>
        </p:txBody>
      </p:sp>
      <p:sp>
        <p:nvSpPr>
          <p:cNvPr id="30" name="Rounded Rectangle 29"/>
          <p:cNvSpPr/>
          <p:nvPr/>
        </p:nvSpPr>
        <p:spPr>
          <a:xfrm>
            <a:off x="8519007" y="2852928"/>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選択</a:t>
            </a:r>
          </a:p>
        </p:txBody>
      </p:sp>
      <p:cxnSp>
        <p:nvCxnSpPr>
          <p:cNvPr id="31" name="Connector 30"/>
          <p:cNvCxnSpPr/>
          <p:nvPr/>
        </p:nvCxnSpPr>
        <p:spPr>
          <a:xfrm>
            <a:off x="9593427"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19007" y="3419856"/>
            <a:ext cx="2148840" cy="384048"/>
          </a:xfrm>
          <a:prstGeom prst="roundRect">
            <a:avLst>
              <a:gd name="adj" fmla="val 12000"/>
            </a:avLst>
          </a:prstGeom>
          <a:solidFill>
            <a:srgbClr val="D7E9DC"/>
          </a:solidFill>
          <a:ln w="20320">
            <a:solidFill>
              <a:srgbClr val="0F5C2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0F5C28"/>
                </a:solidFill>
                <a:latin typeface="Meiryo"/>
                <a:ea typeface="Meiryo"/>
              </a:rPr>
              <a:t>交叉：2 親を組み替え</a:t>
            </a:r>
          </a:p>
        </p:txBody>
      </p:sp>
      <p:cxnSp>
        <p:nvCxnSpPr>
          <p:cNvPr id="33" name="Connector 32"/>
          <p:cNvCxnSpPr/>
          <p:nvPr/>
        </p:nvCxnSpPr>
        <p:spPr>
          <a:xfrm>
            <a:off x="9593427"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19007" y="3986783"/>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突然変異</a:t>
            </a:r>
          </a:p>
        </p:txBody>
      </p:sp>
      <p:cxnSp>
        <p:nvCxnSpPr>
          <p:cNvPr id="35" name="Connector 34"/>
          <p:cNvCxnSpPr/>
          <p:nvPr/>
        </p:nvCxnSpPr>
        <p:spPr>
          <a:xfrm>
            <a:off x="9593427"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519007" y="4553712"/>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近傍（各個体）</a:t>
            </a:r>
          </a:p>
        </p:txBody>
      </p:sp>
      <p:cxnSp>
        <p:nvCxnSpPr>
          <p:cNvPr id="37" name="Connector 36"/>
          <p:cNvCxnSpPr/>
          <p:nvPr/>
        </p:nvCxnSpPr>
        <p:spPr>
          <a:xfrm>
            <a:off x="9593427"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686135"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923879" y="3044952"/>
            <a:ext cx="0" cy="1700784"/>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704423" y="3044952"/>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97031" y="3712463"/>
            <a:ext cx="685800" cy="365760"/>
          </a:xfrm>
          <a:prstGeom prst="rect">
            <a:avLst/>
          </a:prstGeom>
          <a:noFill/>
        </p:spPr>
        <p:txBody>
          <a:bodyPr wrap="square" anchor="ctr" lIns="18288" rIns="18288" tIns="9144" bIns="9144">
            <a:spAutoFit/>
          </a:bodyPr>
          <a:lstStyle/>
          <a:p>
            <a:pPr algn="l">
              <a:lnSpc>
                <a:spcPct val="105000"/>
              </a:lnSpc>
            </a:pPr>
            <a:r>
              <a:rPr sz="1100" b="0" i="0">
                <a:solidFill>
                  <a:srgbClr val="6E7A88"/>
                </a:solidFill>
                <a:latin typeface="Meiryo"/>
                <a:ea typeface="Meiryo"/>
              </a:rPr>
              <a:t>世代交代</a:t>
            </a:r>
          </a:p>
        </p:txBody>
      </p:sp>
      <p:sp>
        <p:nvSpPr>
          <p:cNvPr id="42" name="TextBox 41"/>
          <p:cNvSpPr txBox="1"/>
          <p:nvPr/>
        </p:nvSpPr>
        <p:spPr>
          <a:xfrm>
            <a:off x="8564727" y="5047488"/>
            <a:ext cx="2877159" cy="502920"/>
          </a:xfrm>
          <a:prstGeom prst="rect">
            <a:avLst/>
          </a:prstGeom>
          <a:noFill/>
        </p:spPr>
        <p:txBody>
          <a:bodyPr wrap="square" anchor="t" lIns="18288" rIns="18288" tIns="9144" bIns="9144">
            <a:spAutoFit/>
          </a:bodyPr>
          <a:lstStyle/>
          <a:p>
            <a:pPr algn="l">
              <a:lnSpc>
                <a:spcPct val="110000"/>
              </a:lnSpc>
            </a:pPr>
            <a:r>
              <a:rPr sz="1050" b="0" i="0">
                <a:solidFill>
                  <a:srgbClr val="6E7A88"/>
                </a:solidFill>
                <a:latin typeface="Meiryo"/>
                <a:ea typeface="Meiryo"/>
              </a:rPr>
              <a:t>選定理由：先行研究で標準的な，GA に局所探索を組み込んだ構成</a:t>
            </a:r>
          </a:p>
        </p:txBody>
      </p:sp>
      <p:sp>
        <p:nvSpPr>
          <p:cNvPr id="43" name="Rounded Rectangle 42"/>
          <p:cNvSpPr/>
          <p:nvPr/>
        </p:nvSpPr>
        <p:spPr>
          <a:xfrm>
            <a:off x="566928" y="5760720"/>
            <a:ext cx="11057839" cy="502920"/>
          </a:xfrm>
          <a:prstGeom prst="roundRect">
            <a:avLst>
              <a:gd name="adj" fmla="val 12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探索構造の差だけを比較するため，局所探索（N5 近傍）・目的関数 </a:t>
            </a:r>
            <a:r>
              <a:rPr sz="1400" b="1" i="1">
                <a:solidFill>
                  <a:srgbClr val="FFFFFF"/>
                </a:solidFill>
                <a:latin typeface="Meiryo"/>
                <a:ea typeface="Meiryo"/>
              </a:rPr>
              <a:t>F</a:t>
            </a:r>
            <a:r>
              <a:rPr sz="1400" b="1" i="0">
                <a:solidFill>
                  <a:srgbClr val="FFFFFF"/>
                </a:solidFill>
                <a:latin typeface="Meiryo"/>
                <a:ea typeface="Meiryo"/>
              </a:rPr>
              <a:t>・初期解 </a:t>
            </a:r>
            <a:r>
              <a:rPr sz="1400" b="1" i="1">
                <a:solidFill>
                  <a:srgbClr val="FFFFFF"/>
                </a:solidFill>
                <a:latin typeface="Meiryo"/>
                <a:ea typeface="Meiryo"/>
              </a:rPr>
              <a:t>S</a:t>
            </a:r>
            <a:r>
              <a:rPr sz="1008" b="1" i="1" baseline="-22000">
                <a:solidFill>
                  <a:srgbClr val="FFFFFF"/>
                </a:solidFill>
                <a:latin typeface="Meiryo"/>
                <a:ea typeface="Meiryo"/>
              </a:rPr>
              <a:t>p</a:t>
            </a:r>
            <a:r>
              <a:rPr sz="1400" b="1" i="0">
                <a:solidFill>
                  <a:srgbClr val="FFFFFF"/>
                </a:solidFill>
                <a:latin typeface="Meiryo"/>
                <a:ea typeface="Meiryo"/>
              </a:rPr>
              <a:t> を両者で揃える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提案手法：安定性誘導演算子（PR と PR-</a:t>
            </a:r>
            <a:r>
              <a:rPr sz="2450" b="1" i="1">
                <a:solidFill>
                  <a:srgbClr val="16385C"/>
                </a:solidFill>
                <a:latin typeface="Meiryo"/>
                <a:ea typeface="Meiryo"/>
              </a:rPr>
              <a:t>k</a:t>
            </a:r>
            <a:r>
              <a:rPr sz="2450" b="1" i="0">
                <a:solidFill>
                  <a:srgbClr val="16385C"/>
                </a:solidFill>
                <a:latin typeface="Meiryo"/>
                <a:ea typeface="Meiryo"/>
              </a:rPr>
              <a:t>）</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PR の誘導解を初期スケジュール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に固定し，現在解から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へ swap でたどる経路上の解を返す操作にする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12</a:t>
            </a:r>
          </a:p>
        </p:txBody>
      </p:sp>
      <p:sp>
        <p:nvSpPr>
          <p:cNvPr id="8" name="Rounded Rectangle 7"/>
          <p:cNvSpPr/>
          <p:nvPr/>
        </p:nvSpPr>
        <p:spPr>
          <a:xfrm>
            <a:off x="566928" y="1837944"/>
            <a:ext cx="960120" cy="310896"/>
          </a:xfrm>
          <a:prstGeom prst="roundRect">
            <a:avLst>
              <a:gd name="adj" fmla="val 30000"/>
            </a:avLst>
          </a:prstGeom>
          <a:solidFill>
            <a:srgbClr val="6E7A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a:solidFill>
                  <a:srgbClr val="FFFFFF"/>
                </a:solidFill>
                <a:latin typeface="Meiryo"/>
                <a:ea typeface="Meiryo"/>
              </a:rPr>
              <a:t>通常の PR</a:t>
            </a:r>
          </a:p>
        </p:txBody>
      </p:sp>
      <p:sp>
        <p:nvSpPr>
          <p:cNvPr id="9" name="TextBox 8"/>
          <p:cNvSpPr txBox="1"/>
          <p:nvPr/>
        </p:nvSpPr>
        <p:spPr>
          <a:xfrm>
            <a:off x="1664207" y="1801368"/>
            <a:ext cx="4343400" cy="384048"/>
          </a:xfrm>
          <a:prstGeom prst="rect">
            <a:avLst/>
          </a:prstGeom>
          <a:noFill/>
        </p:spPr>
        <p:txBody>
          <a:bodyPr wrap="square" anchor="ctr" lIns="18288" rIns="18288" tIns="9144" bIns="9144">
            <a:spAutoFit/>
          </a:bodyPr>
          <a:lstStyle/>
          <a:p>
            <a:pPr algn="l">
              <a:lnSpc>
                <a:spcPct val="105000"/>
              </a:lnSpc>
            </a:pPr>
            <a:r>
              <a:rPr sz="1300" b="0" i="0">
                <a:solidFill>
                  <a:srgbClr val="6E7A88"/>
                </a:solidFill>
                <a:latin typeface="Meiryo"/>
                <a:ea typeface="Meiryo"/>
              </a:rPr>
              <a:t>探索中に得た良い解どうしを結び，その間を探索する</a:t>
            </a:r>
          </a:p>
        </p:txBody>
      </p:sp>
      <p:sp>
        <p:nvSpPr>
          <p:cNvPr id="10" name="Rounded Rectangle 9"/>
          <p:cNvSpPr/>
          <p:nvPr/>
        </p:nvSpPr>
        <p:spPr>
          <a:xfrm>
            <a:off x="566928" y="2221992"/>
            <a:ext cx="960120" cy="310896"/>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a:solidFill>
                  <a:srgbClr val="FFFFFF"/>
                </a:solidFill>
                <a:latin typeface="Meiryo"/>
                <a:ea typeface="Meiryo"/>
              </a:rPr>
              <a:t>本研究</a:t>
            </a:r>
          </a:p>
        </p:txBody>
      </p:sp>
      <p:sp>
        <p:nvSpPr>
          <p:cNvPr id="11" name="TextBox 10"/>
          <p:cNvSpPr txBox="1"/>
          <p:nvPr/>
        </p:nvSpPr>
        <p:spPr>
          <a:xfrm>
            <a:off x="1664207" y="2185416"/>
            <a:ext cx="4343400" cy="384048"/>
          </a:xfrm>
          <a:prstGeom prst="rect">
            <a:avLst/>
          </a:prstGeom>
          <a:noFill/>
        </p:spPr>
        <p:txBody>
          <a:bodyPr wrap="square" anchor="ctr" lIns="18288" rIns="18288" tIns="9144" bIns="9144">
            <a:spAutoFit/>
          </a:bodyPr>
          <a:lstStyle/>
          <a:p>
            <a:pPr algn="l">
              <a:lnSpc>
                <a:spcPct val="105000"/>
              </a:lnSpc>
            </a:pPr>
            <a:r>
              <a:rPr sz="1300" b="0" i="0">
                <a:solidFill>
                  <a:srgbClr val="26303A"/>
                </a:solidFill>
                <a:latin typeface="Meiryo"/>
                <a:ea typeface="Meiryo"/>
              </a:rPr>
              <a:t>誘導解を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に</a:t>
            </a:r>
            <a:r>
              <a:rPr sz="1300" b="1" i="0">
                <a:solidFill>
                  <a:srgbClr val="16385C"/>
                </a:solidFill>
                <a:latin typeface="Meiryo"/>
                <a:ea typeface="Meiryo"/>
              </a:rPr>
              <a:t>固定</a:t>
            </a:r>
            <a:r>
              <a:rPr sz="1300" b="0" i="0">
                <a:solidFill>
                  <a:srgbClr val="26303A"/>
                </a:solidFill>
                <a:latin typeface="Meiryo"/>
                <a:ea typeface="Meiryo"/>
              </a:rPr>
              <a:t> → 解を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に近づける操作になる</a:t>
            </a:r>
          </a:p>
        </p:txBody>
      </p:sp>
      <p:pic>
        <p:nvPicPr>
          <p:cNvPr id="12" name="Picture 11" descr="concept_op.png"/>
          <p:cNvPicPr>
            <a:picLocks noChangeAspect="1"/>
          </p:cNvPicPr>
          <p:nvPr/>
        </p:nvPicPr>
        <p:blipFill>
          <a:blip r:embed="rId2"/>
          <a:stretch>
            <a:fillRect/>
          </a:stretch>
        </p:blipFill>
        <p:spPr>
          <a:xfrm>
            <a:off x="521207" y="2660904"/>
            <a:ext cx="5532120" cy="3640134"/>
          </a:xfrm>
          <a:prstGeom prst="rect">
            <a:avLst/>
          </a:prstGeom>
        </p:spPr>
      </p:pic>
      <p:sp>
        <p:nvSpPr>
          <p:cNvPr id="13" name="Rounded Rectangle 12"/>
          <p:cNvSpPr/>
          <p:nvPr/>
        </p:nvSpPr>
        <p:spPr>
          <a:xfrm>
            <a:off x="6373368" y="1691640"/>
            <a:ext cx="5251399" cy="379476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1764792"/>
            <a:ext cx="4794199" cy="329184"/>
          </a:xfrm>
          <a:prstGeom prst="rect">
            <a:avLst/>
          </a:prstGeom>
          <a:noFill/>
        </p:spPr>
        <p:txBody>
          <a:bodyPr wrap="square" anchor="ctr" lIns="18288" rIns="18288" tIns="9144" bIns="9144">
            <a:spAutoFit/>
          </a:bodyPr>
          <a:lstStyle/>
          <a:p>
            <a:pPr algn="l">
              <a:lnSpc>
                <a:spcPct val="105000"/>
              </a:lnSpc>
            </a:pPr>
            <a:r>
              <a:rPr sz="1400" b="1" i="0">
                <a:solidFill>
                  <a:srgbClr val="16385C"/>
                </a:solidFill>
                <a:latin typeface="Meiryo"/>
                <a:ea typeface="Meiryo"/>
              </a:rPr>
              <a:t>例：ある機械の処理順序を </a:t>
            </a:r>
            <a:r>
              <a:rPr sz="1400" b="1" i="1">
                <a:solidFill>
                  <a:srgbClr val="16385C"/>
                </a:solidFill>
                <a:latin typeface="Meiryo"/>
                <a:ea typeface="Meiryo"/>
              </a:rPr>
              <a:t>S</a:t>
            </a:r>
            <a:r>
              <a:rPr sz="1008" b="1" i="1" baseline="-22000">
                <a:solidFill>
                  <a:srgbClr val="16385C"/>
                </a:solidFill>
                <a:latin typeface="Meiryo"/>
                <a:ea typeface="Meiryo"/>
              </a:rPr>
              <a:t>p</a:t>
            </a:r>
            <a:r>
              <a:rPr sz="1400" b="1" i="0">
                <a:solidFill>
                  <a:srgbClr val="16385C"/>
                </a:solidFill>
                <a:latin typeface="Meiryo"/>
                <a:ea typeface="Meiryo"/>
              </a:rPr>
              <a:t> に近づける</a:t>
            </a:r>
          </a:p>
        </p:txBody>
      </p:sp>
      <p:sp>
        <p:nvSpPr>
          <p:cNvPr id="15" name="Rounded Rectangle 14"/>
          <p:cNvSpPr/>
          <p:nvPr/>
        </p:nvSpPr>
        <p:spPr>
          <a:xfrm>
            <a:off x="6510528" y="2148840"/>
            <a:ext cx="4977079" cy="548640"/>
          </a:xfrm>
          <a:prstGeom prst="roundRect">
            <a:avLst>
              <a:gd name="adj" fmla="val 10000"/>
            </a:avLst>
          </a:prstGeom>
          <a:solidFill>
            <a:srgbClr val="CF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212848"/>
            <a:ext cx="1143000" cy="420624"/>
          </a:xfrm>
          <a:prstGeom prst="rect">
            <a:avLst/>
          </a:prstGeom>
          <a:noFill/>
        </p:spPr>
        <p:txBody>
          <a:bodyPr wrap="square" anchor="ctr" lIns="18288" rIns="18288" tIns="9144" bIns="9144">
            <a:spAutoFit/>
          </a:bodyPr>
          <a:lstStyle/>
          <a:p>
            <a:pPr algn="l">
              <a:lnSpc>
                <a:spcPct val="105000"/>
              </a:lnSpc>
            </a:pPr>
            <a:r>
              <a:rPr sz="1300" b="1" i="1">
                <a:solidFill>
                  <a:srgbClr val="16385C"/>
                </a:solidFill>
                <a:latin typeface="Meiryo"/>
                <a:ea typeface="Meiryo"/>
              </a:rPr>
              <a:t>S</a:t>
            </a:r>
            <a:r>
              <a:rPr sz="936" b="1" i="1" baseline="-22000">
                <a:solidFill>
                  <a:srgbClr val="16385C"/>
                </a:solidFill>
                <a:latin typeface="Meiryo"/>
                <a:ea typeface="Meiryo"/>
              </a:rPr>
              <a:t>p</a:t>
            </a:r>
            <a:r>
              <a:rPr sz="1300" b="1" i="0">
                <a:solidFill>
                  <a:srgbClr val="16385C"/>
                </a:solidFill>
                <a:latin typeface="Meiryo"/>
                <a:ea typeface="Meiryo"/>
              </a:rPr>
              <a:t>（誘導解）</a:t>
            </a:r>
          </a:p>
        </p:txBody>
      </p:sp>
      <p:sp>
        <p:nvSpPr>
          <p:cNvPr id="17" name="Rounded Rectangle 16"/>
          <p:cNvSpPr/>
          <p:nvPr/>
        </p:nvSpPr>
        <p:spPr>
          <a:xfrm>
            <a:off x="7744967" y="2212848"/>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18" name="Rounded Rectangle 17"/>
          <p:cNvSpPr/>
          <p:nvPr/>
        </p:nvSpPr>
        <p:spPr>
          <a:xfrm>
            <a:off x="8439911" y="2212848"/>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19" name="Rounded Rectangle 18"/>
          <p:cNvSpPr/>
          <p:nvPr/>
        </p:nvSpPr>
        <p:spPr>
          <a:xfrm>
            <a:off x="9134855" y="2212848"/>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20" name="Rounded Rectangle 19"/>
          <p:cNvSpPr/>
          <p:nvPr/>
        </p:nvSpPr>
        <p:spPr>
          <a:xfrm>
            <a:off x="9829800" y="2212848"/>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21" name="TextBox 20"/>
          <p:cNvSpPr txBox="1"/>
          <p:nvPr/>
        </p:nvSpPr>
        <p:spPr>
          <a:xfrm>
            <a:off x="10579607" y="2212848"/>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0</a:t>
            </a:r>
          </a:p>
        </p:txBody>
      </p:sp>
      <p:sp>
        <p:nvSpPr>
          <p:cNvPr id="22" name="TextBox 21"/>
          <p:cNvSpPr txBox="1"/>
          <p:nvPr/>
        </p:nvSpPr>
        <p:spPr>
          <a:xfrm>
            <a:off x="6601968" y="2880360"/>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現在解</a:t>
            </a:r>
          </a:p>
        </p:txBody>
      </p:sp>
      <p:sp>
        <p:nvSpPr>
          <p:cNvPr id="23" name="Rounded Rectangle 22"/>
          <p:cNvSpPr/>
          <p:nvPr/>
        </p:nvSpPr>
        <p:spPr>
          <a:xfrm>
            <a:off x="7744967" y="2880360"/>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24" name="Rounded Rectangle 23"/>
          <p:cNvSpPr/>
          <p:nvPr/>
        </p:nvSpPr>
        <p:spPr>
          <a:xfrm>
            <a:off x="8439911" y="2880360"/>
            <a:ext cx="621792" cy="420624"/>
          </a:xfrm>
          <a:prstGeom prst="roundRect">
            <a:avLst>
              <a:gd name="adj" fmla="val 10000"/>
            </a:avLst>
          </a:prstGeom>
          <a:solidFill>
            <a:srgbClr val="8A86A8"/>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25" name="Rounded Rectangle 24"/>
          <p:cNvSpPr/>
          <p:nvPr/>
        </p:nvSpPr>
        <p:spPr>
          <a:xfrm>
            <a:off x="9134855" y="2880360"/>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26" name="Rounded Rectangle 25"/>
          <p:cNvSpPr/>
          <p:nvPr/>
        </p:nvSpPr>
        <p:spPr>
          <a:xfrm>
            <a:off x="9829800" y="2880360"/>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27" name="TextBox 26"/>
          <p:cNvSpPr txBox="1"/>
          <p:nvPr/>
        </p:nvSpPr>
        <p:spPr>
          <a:xfrm>
            <a:off x="10579607" y="2880360"/>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4</a:t>
            </a:r>
          </a:p>
        </p:txBody>
      </p:sp>
      <p:sp>
        <p:nvSpPr>
          <p:cNvPr id="28" name="TextBox 27"/>
          <p:cNvSpPr txBox="1"/>
          <p:nvPr/>
        </p:nvSpPr>
        <p:spPr>
          <a:xfrm>
            <a:off x="7699247" y="3300984"/>
            <a:ext cx="3788359" cy="347472"/>
          </a:xfrm>
          <a:prstGeom prst="rect">
            <a:avLst/>
          </a:prstGeom>
          <a:noFill/>
        </p:spPr>
        <p:txBody>
          <a:bodyPr wrap="square" anchor="ctr" lIns="18288" rIns="18288" tIns="9144" bIns="9144">
            <a:spAutoFit/>
          </a:bodyPr>
          <a:lstStyle/>
          <a:p>
            <a:pPr algn="l">
              <a:lnSpc>
                <a:spcPct val="105000"/>
              </a:lnSpc>
            </a:pPr>
            <a:r>
              <a:rPr sz="1100" b="0" i="0">
                <a:solidFill>
                  <a:srgbClr val="B03A2E"/>
                </a:solidFill>
                <a:latin typeface="Meiryo"/>
                <a:ea typeface="Meiryo"/>
              </a:rPr>
              <a:t>↓ swap：J4 と J3 を入れ替え</a:t>
            </a:r>
          </a:p>
        </p:txBody>
      </p:sp>
      <p:sp>
        <p:nvSpPr>
          <p:cNvPr id="29" name="TextBox 28"/>
          <p:cNvSpPr txBox="1"/>
          <p:nvPr/>
        </p:nvSpPr>
        <p:spPr>
          <a:xfrm>
            <a:off x="6601968" y="3648456"/>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1 回目</a:t>
            </a:r>
          </a:p>
        </p:txBody>
      </p:sp>
      <p:sp>
        <p:nvSpPr>
          <p:cNvPr id="30" name="Rounded Rectangle 29"/>
          <p:cNvSpPr/>
          <p:nvPr/>
        </p:nvSpPr>
        <p:spPr>
          <a:xfrm>
            <a:off x="7744967" y="3648456"/>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31" name="Rounded Rectangle 30"/>
          <p:cNvSpPr/>
          <p:nvPr/>
        </p:nvSpPr>
        <p:spPr>
          <a:xfrm>
            <a:off x="8439911" y="3648456"/>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32" name="Rounded Rectangle 31"/>
          <p:cNvSpPr/>
          <p:nvPr/>
        </p:nvSpPr>
        <p:spPr>
          <a:xfrm>
            <a:off x="9134855" y="3648456"/>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33" name="Rounded Rectangle 32"/>
          <p:cNvSpPr/>
          <p:nvPr/>
        </p:nvSpPr>
        <p:spPr>
          <a:xfrm>
            <a:off x="9829800" y="3648456"/>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34" name="TextBox 33"/>
          <p:cNvSpPr txBox="1"/>
          <p:nvPr/>
        </p:nvSpPr>
        <p:spPr>
          <a:xfrm>
            <a:off x="10579607" y="3648456"/>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2</a:t>
            </a:r>
          </a:p>
        </p:txBody>
      </p:sp>
      <p:sp>
        <p:nvSpPr>
          <p:cNvPr id="35" name="TextBox 34"/>
          <p:cNvSpPr txBox="1"/>
          <p:nvPr/>
        </p:nvSpPr>
        <p:spPr>
          <a:xfrm>
            <a:off x="7699247" y="4069080"/>
            <a:ext cx="3788359" cy="347472"/>
          </a:xfrm>
          <a:prstGeom prst="rect">
            <a:avLst/>
          </a:prstGeom>
          <a:noFill/>
        </p:spPr>
        <p:txBody>
          <a:bodyPr wrap="square" anchor="ctr" lIns="18288" rIns="18288" tIns="9144" bIns="9144">
            <a:spAutoFit/>
          </a:bodyPr>
          <a:lstStyle/>
          <a:p>
            <a:pPr algn="l">
              <a:lnSpc>
                <a:spcPct val="105000"/>
              </a:lnSpc>
            </a:pPr>
            <a:r>
              <a:rPr sz="1100" b="0" i="0">
                <a:solidFill>
                  <a:srgbClr val="B03A2E"/>
                </a:solidFill>
                <a:latin typeface="Meiryo"/>
                <a:ea typeface="Meiryo"/>
              </a:rPr>
              <a:t>↓ swap：J3 と J2 を入れ替え（</a:t>
            </a:r>
            <a:r>
              <a:rPr sz="1100" b="0" i="1">
                <a:solidFill>
                  <a:srgbClr val="B03A2E"/>
                </a:solidFill>
                <a:latin typeface="Meiryo"/>
                <a:ea typeface="Meiryo"/>
              </a:rPr>
              <a:t>S</a:t>
            </a:r>
            <a:r>
              <a:rPr sz="792" b="0" i="1" baseline="-22000">
                <a:solidFill>
                  <a:srgbClr val="B03A2E"/>
                </a:solidFill>
                <a:latin typeface="Meiryo"/>
                <a:ea typeface="Meiryo"/>
              </a:rPr>
              <a:t>p</a:t>
            </a:r>
            <a:r>
              <a:rPr sz="1100" b="0" i="0">
                <a:solidFill>
                  <a:srgbClr val="B03A2E"/>
                </a:solidFill>
                <a:latin typeface="Meiryo"/>
                <a:ea typeface="Meiryo"/>
              </a:rPr>
              <a:t> に到達）</a:t>
            </a:r>
          </a:p>
        </p:txBody>
      </p:sp>
      <p:sp>
        <p:nvSpPr>
          <p:cNvPr id="36" name="TextBox 35"/>
          <p:cNvSpPr txBox="1"/>
          <p:nvPr/>
        </p:nvSpPr>
        <p:spPr>
          <a:xfrm>
            <a:off x="6601968" y="4416552"/>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2 回目</a:t>
            </a:r>
          </a:p>
        </p:txBody>
      </p:sp>
      <p:sp>
        <p:nvSpPr>
          <p:cNvPr id="37" name="Rounded Rectangle 36"/>
          <p:cNvSpPr/>
          <p:nvPr/>
        </p:nvSpPr>
        <p:spPr>
          <a:xfrm>
            <a:off x="7744967" y="4416552"/>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38" name="Rounded Rectangle 37"/>
          <p:cNvSpPr/>
          <p:nvPr/>
        </p:nvSpPr>
        <p:spPr>
          <a:xfrm>
            <a:off x="8439911" y="4416552"/>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39" name="Rounded Rectangle 38"/>
          <p:cNvSpPr/>
          <p:nvPr/>
        </p:nvSpPr>
        <p:spPr>
          <a:xfrm>
            <a:off x="9134855" y="4416552"/>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40" name="Rounded Rectangle 39"/>
          <p:cNvSpPr/>
          <p:nvPr/>
        </p:nvSpPr>
        <p:spPr>
          <a:xfrm>
            <a:off x="9829800" y="4416552"/>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41" name="TextBox 40"/>
          <p:cNvSpPr txBox="1"/>
          <p:nvPr/>
        </p:nvSpPr>
        <p:spPr>
          <a:xfrm>
            <a:off x="10579607" y="4416552"/>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0</a:t>
            </a:r>
          </a:p>
        </p:txBody>
      </p:sp>
      <p:sp>
        <p:nvSpPr>
          <p:cNvPr id="42" name="TextBox 41"/>
          <p:cNvSpPr txBox="1"/>
          <p:nvPr/>
        </p:nvSpPr>
        <p:spPr>
          <a:xfrm>
            <a:off x="6601968" y="4846320"/>
            <a:ext cx="4794199" cy="566928"/>
          </a:xfrm>
          <a:prstGeom prst="rect">
            <a:avLst/>
          </a:prstGeom>
          <a:noFill/>
        </p:spPr>
        <p:txBody>
          <a:bodyPr wrap="square" anchor="ctr" lIns="18288" rIns="18288" tIns="9144" bIns="9144">
            <a:spAutoFit/>
          </a:bodyPr>
          <a:lstStyle/>
          <a:p>
            <a:pPr algn="l">
              <a:lnSpc>
                <a:spcPct val="110000"/>
              </a:lnSpc>
            </a:pPr>
            <a:r>
              <a:rPr sz="1150" b="0" i="0">
                <a:solidFill>
                  <a:srgbClr val="6E7A88"/>
                </a:solidFill>
                <a:latin typeface="Meiryo"/>
                <a:ea typeface="Meiryo"/>
              </a:rPr>
              <a:t>赤枠：</a:t>
            </a:r>
            <a:r>
              <a:rPr sz="1150" b="0" i="1">
                <a:solidFill>
                  <a:srgbClr val="6E7A88"/>
                </a:solidFill>
                <a:latin typeface="Meiryo"/>
                <a:ea typeface="Meiryo"/>
              </a:rPr>
              <a:t>S</a:t>
            </a:r>
            <a:r>
              <a:rPr sz="827" b="0" i="1" baseline="-22000">
                <a:solidFill>
                  <a:srgbClr val="6E7A88"/>
                </a:solidFill>
                <a:latin typeface="Meiryo"/>
                <a:ea typeface="Meiryo"/>
              </a:rPr>
              <a:t>p</a:t>
            </a:r>
            <a:r>
              <a:rPr sz="1150" b="0" i="0">
                <a:solidFill>
                  <a:srgbClr val="6E7A88"/>
                </a:solidFill>
                <a:latin typeface="Meiryo"/>
                <a:ea typeface="Meiryo"/>
              </a:rPr>
              <a:t> と順位が異なる作業（その数が </a:t>
            </a:r>
            <a:r>
              <a:rPr sz="1150" b="0" i="1">
                <a:solidFill>
                  <a:srgbClr val="6E7A88"/>
                </a:solidFill>
                <a:latin typeface="Meiryo"/>
                <a:ea typeface="Meiryo"/>
              </a:rPr>
              <a:t>d</a:t>
            </a:r>
            <a:r>
              <a:rPr sz="1150" b="0" i="0">
                <a:solidFill>
                  <a:srgbClr val="6E7A88"/>
                </a:solidFill>
                <a:latin typeface="Meiryo"/>
                <a:ea typeface="Meiryo"/>
              </a:rPr>
              <a:t>）</a:t>
            </a:r>
          </a:p>
          <a:p>
            <a:pPr algn="l">
              <a:lnSpc>
                <a:spcPct val="110000"/>
              </a:lnSpc>
            </a:pPr>
            <a:r>
              <a:rPr sz="1150" b="0" i="0">
                <a:solidFill>
                  <a:srgbClr val="6E7A88"/>
                </a:solidFill>
                <a:latin typeface="Meiryo"/>
                <a:ea typeface="Meiryo"/>
              </a:rPr>
              <a:t>1 回の swap で 1 作業を </a:t>
            </a:r>
            <a:r>
              <a:rPr sz="1150" b="0" i="1">
                <a:solidFill>
                  <a:srgbClr val="6E7A88"/>
                </a:solidFill>
                <a:latin typeface="Meiryo"/>
                <a:ea typeface="Meiryo"/>
              </a:rPr>
              <a:t>S</a:t>
            </a:r>
            <a:r>
              <a:rPr sz="827" b="0" i="1" baseline="-22000">
                <a:solidFill>
                  <a:srgbClr val="6E7A88"/>
                </a:solidFill>
                <a:latin typeface="Meiryo"/>
                <a:ea typeface="Meiryo"/>
              </a:rPr>
              <a:t>p</a:t>
            </a:r>
            <a:r>
              <a:rPr sz="1150" b="0" i="0">
                <a:solidFill>
                  <a:srgbClr val="6E7A88"/>
                </a:solidFill>
                <a:latin typeface="Meiryo"/>
                <a:ea typeface="Meiryo"/>
              </a:rPr>
              <a:t> の順位に合わせ，</a:t>
            </a:r>
            <a:r>
              <a:rPr sz="1150" b="0" i="1">
                <a:solidFill>
                  <a:srgbClr val="6E7A88"/>
                </a:solidFill>
                <a:latin typeface="Meiryo"/>
                <a:ea typeface="Meiryo"/>
              </a:rPr>
              <a:t>D</a:t>
            </a:r>
            <a:r>
              <a:rPr sz="1150" b="0" i="0">
                <a:solidFill>
                  <a:srgbClr val="6E7A88"/>
                </a:solidFill>
                <a:latin typeface="Meiryo"/>
                <a:ea typeface="Meiryo"/>
              </a:rPr>
              <a:t> が小さくなる</a:t>
            </a:r>
          </a:p>
        </p:txBody>
      </p:sp>
      <p:sp>
        <p:nvSpPr>
          <p:cNvPr id="43" name="Rounded Rectangle 42"/>
          <p:cNvSpPr/>
          <p:nvPr/>
        </p:nvSpPr>
        <p:spPr>
          <a:xfrm>
            <a:off x="6373368" y="5623560"/>
            <a:ext cx="5251399" cy="640079"/>
          </a:xfrm>
          <a:prstGeom prst="roundRect">
            <a:avLst>
              <a:gd name="adj" fmla="val 5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5660136"/>
            <a:ext cx="4794199" cy="566927"/>
          </a:xfrm>
          <a:prstGeom prst="rect">
            <a:avLst/>
          </a:prstGeom>
          <a:noFill/>
        </p:spPr>
        <p:txBody>
          <a:bodyPr wrap="square" anchor="ctr" lIns="18288" rIns="18288" tIns="9144" bIns="9144">
            <a:spAutoFit/>
          </a:bodyPr>
          <a:lstStyle/>
          <a:p>
            <a:r>
              <a:rPr sz="1300" b="1" i="0">
                <a:solidFill>
                  <a:srgbClr val="16385C"/>
                </a:solidFill>
                <a:latin typeface="Meiryo"/>
                <a:ea typeface="Meiryo"/>
              </a:rPr>
              <a:t>組み込み方</a:t>
            </a:r>
          </a:p>
          <a:p>
            <a:pPr>
              <a:spcBef>
                <a:spcPts val="200"/>
              </a:spcBef>
            </a:pPr>
            <a:r>
              <a:rPr sz="1250" b="1" i="0">
                <a:solidFill>
                  <a:srgbClr val="E06C00"/>
                </a:solidFill>
                <a:latin typeface="Meiryo"/>
                <a:ea typeface="Meiryo"/>
              </a:rPr>
              <a:t>ILS：</a:t>
            </a:r>
            <a:r>
              <a:rPr sz="1250" b="0" i="0">
                <a:solidFill>
                  <a:srgbClr val="26303A"/>
                </a:solidFill>
                <a:latin typeface="Meiryo"/>
                <a:ea typeface="Meiryo"/>
              </a:rPr>
              <a:t>停滞したときに摂動として発動</a:t>
            </a:r>
          </a:p>
          <a:p>
            <a:pPr>
              <a:spcBef>
                <a:spcPts val="200"/>
              </a:spcBef>
            </a:pPr>
            <a:r>
              <a:rPr sz="1250" b="1" i="0">
                <a:solidFill>
                  <a:srgbClr val="0F5C28"/>
                </a:solidFill>
                <a:latin typeface="Meiryo"/>
                <a:ea typeface="Meiryo"/>
              </a:rPr>
              <a:t>Memetic：</a:t>
            </a:r>
            <a:r>
              <a:rPr sz="1250" b="0" i="0">
                <a:solidFill>
                  <a:srgbClr val="26303A"/>
                </a:solidFill>
                <a:latin typeface="Meiryo"/>
                <a:ea typeface="Meiryo"/>
              </a:rPr>
              <a:t>各個体に確率的に改善操作として発動</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比較する手法と仮説の判定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仮説 1 は ILS と Memetic，仮説 2 は Memetic と演算子を組み込んだ Memetic の高安定 HV を比較して判定する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13</a:t>
            </a:r>
          </a:p>
        </p:txBody>
      </p:sp>
      <p:graphicFrame>
        <p:nvGraphicFramePr>
          <p:cNvPr id="8" name="Table 7"/>
          <p:cNvGraphicFramePr>
            <a:graphicFrameLocks noGrp="1"/>
          </p:cNvGraphicFramePr>
          <p:nvPr/>
        </p:nvGraphicFramePr>
        <p:xfrm>
          <a:off x="566928" y="1783080"/>
          <a:ext cx="7955280" cy="1152144"/>
        </p:xfrm>
        <a:graphic>
          <a:graphicData uri="http://schemas.openxmlformats.org/drawingml/2006/table">
            <a:tbl>
              <a:tblPr firstRow="0" bandRow="0">
                <a:tableStyleId>{5940675A-B579-460E-94D1-54222C63F5DA}</a:tableStyleId>
              </a:tblPr>
              <a:tblGrid>
                <a:gridCol w="2286000"/>
                <a:gridCol w="2103120"/>
                <a:gridCol w="1828800"/>
                <a:gridCol w="1737360"/>
              </a:tblGrid>
              <a:tr h="384048">
                <a:tc>
                  <a:txBody>
                    <a:bodyPr wrap="square"/>
                    <a:lstStyle/>
                    <a:p>
                      <a:pPr algn="l"/>
                      <a:r>
                        <a:rPr sz="1450" b="1" i="0">
                          <a:solidFill>
                            <a:srgbClr val="FFFFFF"/>
                          </a:solidFill>
                          <a:latin typeface="Meiryo"/>
                          <a:ea typeface="Meiryo"/>
                        </a:rPr>
                        <a:t>探索構造</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安定性誘導演算子なし</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PR-</a:t>
                      </a:r>
                      <a:r>
                        <a:rPr sz="1450" b="1" i="1">
                          <a:solidFill>
                            <a:srgbClr val="FFFFFF"/>
                          </a:solidFill>
                          <a:latin typeface="Meiryo"/>
                          <a:ea typeface="Meiryo"/>
                        </a:rPr>
                        <a:t>k</a:t>
                      </a:r>
                      <a:r>
                        <a:rPr sz="1450" b="1" i="0">
                          <a:solidFill>
                            <a:srgbClr val="FFFFFF"/>
                          </a:solidFill>
                          <a:latin typeface="Meiryo"/>
                          <a:ea typeface="Meiryo"/>
                        </a:rPr>
                        <a:t> を組み込む</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PR を組み込む</a:t>
                      </a:r>
                    </a:p>
                  </a:txBody>
                  <a:tcPr marL="82296" marR="54864" marT="18288" marB="18288" anchor="ctr">
                    <a:solidFill>
                      <a:srgbClr val="16385C"/>
                    </a:solidFill>
                  </a:tcPr>
                </a:tc>
              </a:tr>
              <a:tr h="384048">
                <a:tc>
                  <a:txBody>
                    <a:bodyPr wrap="square"/>
                    <a:lstStyle/>
                    <a:p>
                      <a:pPr algn="l"/>
                      <a:r>
                        <a:rPr sz="1450" b="1" i="0">
                          <a:solidFill>
                            <a:srgbClr val="E06C00"/>
                          </a:solidFill>
                          <a:latin typeface="Meiryo"/>
                          <a:ea typeface="Meiryo"/>
                        </a:rPr>
                        <a:t>単点探索（ILS）</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ILS＋PR-</a:t>
                      </a:r>
                      <a:r>
                        <a:rPr sz="1450" b="1" i="1">
                          <a:solidFill>
                            <a:srgbClr val="E06C00"/>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ILS＋PR</a:t>
                      </a:r>
                    </a:p>
                  </a:txBody>
                  <a:tcPr marL="82296" marR="54864" marT="18288" marB="18288" anchor="ctr">
                    <a:solidFill>
                      <a:srgbClr val="FFFFFF"/>
                    </a:solidFill>
                    <a:lnB w="9525" cap="flat">
                      <a:solidFill>
                        <a:srgbClr val="D6DEE7"/>
                      </a:solidFill>
                    </a:lnB>
                  </a:tcPr>
                </a:tc>
              </a:tr>
              <a:tr h="384048">
                <a:tc>
                  <a:txBody>
                    <a:bodyPr wrap="square"/>
                    <a:lstStyle/>
                    <a:p>
                      <a:pPr algn="l"/>
                      <a:r>
                        <a:rPr sz="1450" b="1" i="0">
                          <a:solidFill>
                            <a:srgbClr val="0F5C28"/>
                          </a:solidFill>
                          <a:latin typeface="Meiryo"/>
                          <a:ea typeface="Meiryo"/>
                        </a:rPr>
                        <a:t>多点探索（Memetic）</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Memetic＋PR-</a:t>
                      </a:r>
                      <a:r>
                        <a:rPr sz="1450" b="1" i="1">
                          <a:solidFill>
                            <a:srgbClr val="0F5C28"/>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Memetic＋PR</a:t>
                      </a:r>
                    </a:p>
                  </a:txBody>
                  <a:tcPr marL="82296" marR="54864" marT="18288" marB="18288" anchor="ctr">
                    <a:solidFill>
                      <a:srgbClr val="F6F9FB"/>
                    </a:solidFill>
                    <a:lnB w="9525" cap="flat">
                      <a:solidFill>
                        <a:srgbClr val="D6DEE7"/>
                      </a:solidFill>
                    </a:lnB>
                  </a:tcPr>
                </a:tc>
              </a:tr>
            </a:tbl>
          </a:graphicData>
        </a:graphic>
      </p:graphicFrame>
      <p:sp>
        <p:nvSpPr>
          <p:cNvPr id="9" name="Rounded Rectangle 8"/>
          <p:cNvSpPr/>
          <p:nvPr/>
        </p:nvSpPr>
        <p:spPr>
          <a:xfrm>
            <a:off x="2898648" y="2212848"/>
            <a:ext cx="5577840" cy="292607"/>
          </a:xfrm>
          <a:prstGeom prst="roundRect">
            <a:avLst>
              <a:gd name="adj" fmla="val 8000"/>
            </a:avLst>
          </a:prstGeom>
          <a:noFill/>
          <a:ln w="20320">
            <a:solidFill>
              <a:srgbClr val="6E7A8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8648" y="2596896"/>
            <a:ext cx="5577840" cy="292607"/>
          </a:xfrm>
          <a:prstGeom prst="roundRect">
            <a:avLst>
              <a:gd name="adj" fmla="val 8000"/>
            </a:avLst>
          </a:prstGeom>
          <a:noFill/>
          <a:ln w="2794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8648" y="2212848"/>
            <a:ext cx="2011679" cy="676655"/>
          </a:xfrm>
          <a:prstGeom prst="roundRect">
            <a:avLst>
              <a:gd name="adj" fmla="val 8000"/>
            </a:avLst>
          </a:prstGeom>
          <a:noFill/>
          <a:ln w="2794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6928" y="3429000"/>
            <a:ext cx="1097280" cy="365760"/>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仮説 1</a:t>
            </a:r>
          </a:p>
        </p:txBody>
      </p:sp>
      <p:sp>
        <p:nvSpPr>
          <p:cNvPr id="13" name="TextBox 12"/>
          <p:cNvSpPr txBox="1"/>
          <p:nvPr/>
        </p:nvSpPr>
        <p:spPr>
          <a:xfrm>
            <a:off x="1847088" y="3401568"/>
            <a:ext cx="9777679" cy="420624"/>
          </a:xfrm>
          <a:prstGeom prst="rect">
            <a:avLst/>
          </a:prstGeom>
          <a:noFill/>
        </p:spPr>
        <p:txBody>
          <a:bodyPr wrap="square" anchor="ctr" lIns="18288" rIns="18288" tIns="9144" bIns="9144">
            <a:spAutoFit/>
          </a:bodyPr>
          <a:lstStyle/>
          <a:p>
            <a:pPr algn="l">
              <a:lnSpc>
                <a:spcPct val="105000"/>
              </a:lnSpc>
            </a:pPr>
            <a:r>
              <a:rPr sz="1700" b="1" i="0">
                <a:solidFill>
                  <a:srgbClr val="26303A"/>
                </a:solidFill>
                <a:latin typeface="Meiryo"/>
                <a:ea typeface="Meiryo"/>
              </a:rPr>
              <a:t>単点探索のほうが，多点探索より高安定 HV が大きい</a:t>
            </a:r>
          </a:p>
        </p:txBody>
      </p:sp>
      <p:sp>
        <p:nvSpPr>
          <p:cNvPr id="14" name="TextBox 13"/>
          <p:cNvSpPr txBox="1"/>
          <p:nvPr/>
        </p:nvSpPr>
        <p:spPr>
          <a:xfrm>
            <a:off x="1847088" y="3840480"/>
            <a:ext cx="9777679" cy="347472"/>
          </a:xfrm>
          <a:prstGeom prst="rect">
            <a:avLst/>
          </a:prstGeom>
          <a:noFill/>
        </p:spPr>
        <p:txBody>
          <a:bodyPr wrap="square" anchor="ctr" lIns="18288" rIns="18288" tIns="9144" bIns="9144">
            <a:spAutoFit/>
          </a:bodyPr>
          <a:lstStyle/>
          <a:p>
            <a:r>
              <a:rPr sz="1500" b="1" i="0">
                <a:solidFill>
                  <a:srgbClr val="16385C"/>
                </a:solidFill>
                <a:latin typeface="Meiryo"/>
                <a:ea typeface="Meiryo"/>
              </a:rPr>
              <a:t>判定：</a:t>
            </a:r>
            <a:r>
              <a:rPr sz="1500" b="0" i="0">
                <a:solidFill>
                  <a:srgbClr val="26303A"/>
                </a:solidFill>
                <a:latin typeface="Meiryo"/>
                <a:ea typeface="Meiryo"/>
              </a:rPr>
              <a:t>ILS が Memetic を全シナリオで有意に上回れば支持</a:t>
            </a:r>
          </a:p>
        </p:txBody>
      </p:sp>
      <p:sp>
        <p:nvSpPr>
          <p:cNvPr id="15" name="Rectangle 14"/>
          <p:cNvSpPr/>
          <p:nvPr/>
        </p:nvSpPr>
        <p:spPr>
          <a:xfrm>
            <a:off x="566928" y="42245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4343400"/>
            <a:ext cx="1097280" cy="36576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仮説 2</a:t>
            </a:r>
          </a:p>
        </p:txBody>
      </p:sp>
      <p:sp>
        <p:nvSpPr>
          <p:cNvPr id="17" name="TextBox 16"/>
          <p:cNvSpPr txBox="1"/>
          <p:nvPr/>
        </p:nvSpPr>
        <p:spPr>
          <a:xfrm>
            <a:off x="1847088" y="4315968"/>
            <a:ext cx="9777679" cy="420624"/>
          </a:xfrm>
          <a:prstGeom prst="rect">
            <a:avLst/>
          </a:prstGeom>
          <a:noFill/>
        </p:spPr>
        <p:txBody>
          <a:bodyPr wrap="square" anchor="ctr" lIns="18288" rIns="18288" tIns="9144" bIns="9144">
            <a:spAutoFit/>
          </a:bodyPr>
          <a:lstStyle/>
          <a:p>
            <a:pPr algn="l">
              <a:lnSpc>
                <a:spcPct val="105000"/>
              </a:lnSpc>
            </a:pPr>
            <a:r>
              <a:rPr sz="1700" b="1" i="0">
                <a:solidFill>
                  <a:srgbClr val="26303A"/>
                </a:solidFill>
                <a:latin typeface="Meiryo"/>
                <a:ea typeface="Meiryo"/>
              </a:rPr>
              <a:t>安定性誘導演算子を組み込めば，多点探索の高安定 HV は向上する</a:t>
            </a:r>
          </a:p>
        </p:txBody>
      </p:sp>
      <p:sp>
        <p:nvSpPr>
          <p:cNvPr id="18" name="TextBox 17"/>
          <p:cNvSpPr txBox="1"/>
          <p:nvPr/>
        </p:nvSpPr>
        <p:spPr>
          <a:xfrm>
            <a:off x="1847088" y="4754880"/>
            <a:ext cx="9777679" cy="347472"/>
          </a:xfrm>
          <a:prstGeom prst="rect">
            <a:avLst/>
          </a:prstGeom>
          <a:noFill/>
        </p:spPr>
        <p:txBody>
          <a:bodyPr wrap="square" anchor="ctr" lIns="18288" rIns="18288" tIns="9144" bIns="9144">
            <a:spAutoFit/>
          </a:bodyPr>
          <a:lstStyle/>
          <a:p>
            <a:r>
              <a:rPr sz="1500" b="1" i="0">
                <a:solidFill>
                  <a:srgbClr val="16385C"/>
                </a:solidFill>
                <a:latin typeface="Meiryo"/>
                <a:ea typeface="Meiryo"/>
              </a:rPr>
              <a:t>判定：</a:t>
            </a:r>
            <a:r>
              <a:rPr sz="1500" b="0" i="0">
                <a:solidFill>
                  <a:srgbClr val="26303A"/>
                </a:solidFill>
                <a:latin typeface="Meiryo"/>
                <a:ea typeface="Meiryo"/>
              </a:rPr>
              <a:t>Memetic＋PR-</a:t>
            </a:r>
            <a:r>
              <a:rPr sz="1500" b="0" i="1">
                <a:solidFill>
                  <a:srgbClr val="26303A"/>
                </a:solidFill>
                <a:latin typeface="Meiryo"/>
                <a:ea typeface="Meiryo"/>
              </a:rPr>
              <a:t>k</a:t>
            </a:r>
            <a:r>
              <a:rPr sz="1500" b="0" i="0">
                <a:solidFill>
                  <a:srgbClr val="26303A"/>
                </a:solidFill>
                <a:latin typeface="Meiryo"/>
                <a:ea typeface="Meiryo"/>
              </a:rPr>
              <a:t> と Memetic＋PR がそれぞれ Memetic を全シナリオで有意に上回れば支持</a:t>
            </a:r>
          </a:p>
        </p:txBody>
      </p:sp>
      <p:sp>
        <p:nvSpPr>
          <p:cNvPr id="19" name="Rectangle 18"/>
          <p:cNvSpPr/>
          <p:nvPr/>
        </p:nvSpPr>
        <p:spPr>
          <a:xfrm>
            <a:off x="566928" y="51389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47088" y="5230368"/>
            <a:ext cx="9777679" cy="420624"/>
          </a:xfrm>
          <a:prstGeom prst="rect">
            <a:avLst/>
          </a:prstGeom>
          <a:noFill/>
        </p:spPr>
        <p:txBody>
          <a:bodyPr wrap="square" anchor="ctr" lIns="18288" rIns="18288" tIns="9144" bIns="9144">
            <a:spAutoFit/>
          </a:bodyPr>
          <a:lstStyle/>
          <a:p>
            <a:pPr algn="l">
              <a:lnSpc>
                <a:spcPct val="105000"/>
              </a:lnSpc>
            </a:pPr>
            <a:r>
              <a:rPr sz="1500" b="0" i="0">
                <a:solidFill>
                  <a:srgbClr val="26303A"/>
                </a:solidFill>
                <a:latin typeface="Meiryo"/>
                <a:ea typeface="Meiryo"/>
              </a:rPr>
              <a:t>ILS＋PR-</a:t>
            </a:r>
            <a:r>
              <a:rPr sz="1500" b="0" i="1">
                <a:solidFill>
                  <a:srgbClr val="26303A"/>
                </a:solidFill>
                <a:latin typeface="Meiryo"/>
                <a:ea typeface="Meiryo"/>
              </a:rPr>
              <a:t>k</a:t>
            </a:r>
            <a:r>
              <a:rPr sz="1500" b="0" i="0">
                <a:solidFill>
                  <a:srgbClr val="26303A"/>
                </a:solidFill>
                <a:latin typeface="Meiryo"/>
                <a:ea typeface="Meiryo"/>
              </a:rPr>
              <a:t> と ILS＋PR も同じ形で ILS と比較し，演算子の効果が探索構造で異なるかを見る</a:t>
            </a:r>
          </a:p>
        </p:txBody>
      </p:sp>
      <p:sp>
        <p:nvSpPr>
          <p:cNvPr id="21" name="TextBox 20"/>
          <p:cNvSpPr txBox="1"/>
          <p:nvPr/>
        </p:nvSpPr>
        <p:spPr>
          <a:xfrm>
            <a:off x="566928" y="5779008"/>
            <a:ext cx="11057839" cy="512064"/>
          </a:xfrm>
          <a:prstGeom prst="rect">
            <a:avLst/>
          </a:prstGeom>
          <a:noFill/>
        </p:spPr>
        <p:txBody>
          <a:bodyPr wrap="square" anchor="t" lIns="18288" rIns="18288" tIns="9144" bIns="9144">
            <a:spAutoFit/>
          </a:bodyPr>
          <a:lstStyle/>
          <a:p>
            <a:pPr>
              <a:spcBef>
                <a:spcPts val="0"/>
              </a:spcBef>
            </a:pPr>
            <a:r>
              <a:rPr sz="1250" b="1" i="0">
                <a:solidFill>
                  <a:srgbClr val="6E7A88"/>
                </a:solidFill>
                <a:latin typeface="Meiryo"/>
                <a:ea typeface="Meiryo"/>
              </a:rPr>
              <a:t>検定：</a:t>
            </a:r>
            <a:r>
              <a:rPr sz="1250" b="0" i="0">
                <a:solidFill>
                  <a:srgbClr val="6E7A88"/>
                </a:solidFill>
                <a:latin typeface="Meiryo"/>
                <a:ea typeface="Meiryo"/>
              </a:rPr>
              <a:t>両側 Mann–Whitney の </a:t>
            </a:r>
            <a:r>
              <a:rPr sz="1250" b="0" i="1">
                <a:solidFill>
                  <a:srgbClr val="6E7A88"/>
                </a:solidFill>
                <a:latin typeface="Meiryo"/>
                <a:ea typeface="Meiryo"/>
              </a:rPr>
              <a:t>U</a:t>
            </a:r>
            <a:r>
              <a:rPr sz="1250" b="0" i="0">
                <a:solidFill>
                  <a:srgbClr val="6E7A88"/>
                </a:solidFill>
                <a:latin typeface="Meiryo"/>
                <a:ea typeface="Meiryo"/>
              </a:rPr>
              <a:t> 検定．全シナリオにわたる同じ比較は Holm 法で補正</a:t>
            </a:r>
          </a:p>
          <a:p>
            <a:pPr>
              <a:spcBef>
                <a:spcPts val="200"/>
              </a:spcBef>
            </a:pPr>
            <a:r>
              <a:rPr sz="1250" b="1" i="0">
                <a:solidFill>
                  <a:srgbClr val="6E7A88"/>
                </a:solidFill>
                <a:latin typeface="Meiryo"/>
                <a:ea typeface="Meiryo"/>
              </a:rPr>
              <a:t>効果量：</a:t>
            </a:r>
            <a:r>
              <a:rPr sz="1250" b="0" i="0">
                <a:solidFill>
                  <a:srgbClr val="6E7A88"/>
                </a:solidFill>
                <a:latin typeface="Meiryo"/>
                <a:ea typeface="Meiryo"/>
              </a:rPr>
              <a:t>Cliff's </a:t>
            </a:r>
            <a:r>
              <a:rPr sz="1250" b="0" i="1">
                <a:solidFill>
                  <a:srgbClr val="6E7A88"/>
                </a:solidFill>
                <a:latin typeface="Meiryo"/>
                <a:ea typeface="Meiryo"/>
              </a:rPr>
              <a:t>δ</a:t>
            </a:r>
            <a:r>
              <a:rPr sz="1250" b="0" i="0">
                <a:solidFill>
                  <a:srgbClr val="6E7A88"/>
                </a:solidFill>
                <a:latin typeface="Meiryo"/>
                <a:ea typeface="Meiryo"/>
              </a:rPr>
              <a:t>．</a:t>
            </a:r>
            <a:r>
              <a:rPr sz="1250" b="0" i="1">
                <a:solidFill>
                  <a:srgbClr val="6E7A88"/>
                </a:solidFill>
                <a:latin typeface="Meiryo"/>
                <a:ea typeface="Meiryo"/>
              </a:rPr>
              <a:t>|δ|</a:t>
            </a:r>
            <a:r>
              <a:rPr sz="1250" b="0" i="0">
                <a:solidFill>
                  <a:srgbClr val="6E7A88"/>
                </a:solidFill>
                <a:latin typeface="Meiryo"/>
                <a:ea typeface="Meiryo"/>
              </a:rPr>
              <a:t> = 1.0 は，一方の全試行が他方の全試行を上回る完全分離</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評価指標</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高安定 HV は，順序偏差 </a:t>
            </a:r>
            <a:r>
              <a:rPr sz="1500" b="1" i="1">
                <a:solidFill>
                  <a:srgbClr val="16385C"/>
                </a:solidFill>
                <a:latin typeface="Meiryo"/>
                <a:ea typeface="Meiryo"/>
              </a:rPr>
              <a:t>D</a:t>
            </a:r>
            <a:r>
              <a:rPr sz="1500" b="1" i="0">
                <a:solidFill>
                  <a:srgbClr val="16385C"/>
                </a:solidFill>
                <a:latin typeface="Meiryo"/>
                <a:ea typeface="Meiryo"/>
              </a:rPr>
              <a:t> が </a:t>
            </a:r>
            <a:r>
              <a:rPr sz="1500" b="1" i="1">
                <a:solidFill>
                  <a:srgbClr val="16385C"/>
                </a:solidFill>
                <a:latin typeface="Meiryo"/>
                <a:ea typeface="Meiryo"/>
              </a:rPr>
              <a:t>P</a:t>
            </a:r>
            <a:r>
              <a:rPr sz="1080" b="1" i="1" baseline="-22000">
                <a:solidFill>
                  <a:srgbClr val="16385C"/>
                </a:solidFill>
                <a:latin typeface="Meiryo"/>
                <a:ea typeface="Meiryo"/>
              </a:rPr>
              <a:t>θ</a:t>
            </a:r>
            <a:r>
              <a:rPr sz="1500" b="1" i="0">
                <a:solidFill>
                  <a:srgbClr val="16385C"/>
                </a:solidFill>
                <a:latin typeface="Meiryo"/>
                <a:ea typeface="Meiryo"/>
              </a:rPr>
              <a:t> 未満の非劣解だけで算出した HV</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14</a:t>
            </a:r>
          </a:p>
        </p:txBody>
      </p:sp>
      <p:pic>
        <p:nvPicPr>
          <p:cNvPr id="8" name="Picture 7" descr="metrics.png"/>
          <p:cNvPicPr>
            <a:picLocks noChangeAspect="1"/>
          </p:cNvPicPr>
          <p:nvPr/>
        </p:nvPicPr>
        <p:blipFill>
          <a:blip r:embed="rId2"/>
          <a:stretch>
            <a:fillRect/>
          </a:stretch>
        </p:blipFill>
        <p:spPr>
          <a:xfrm>
            <a:off x="612648" y="1627632"/>
            <a:ext cx="10966399" cy="3882105"/>
          </a:xfrm>
          <a:prstGeom prst="rect">
            <a:avLst/>
          </a:prstGeom>
        </p:spPr>
      </p:pic>
      <p:sp>
        <p:nvSpPr>
          <p:cNvPr id="9" name="TextBox 8"/>
          <p:cNvSpPr txBox="1"/>
          <p:nvPr/>
        </p:nvSpPr>
        <p:spPr>
          <a:xfrm>
            <a:off x="566928" y="5596128"/>
            <a:ext cx="1105783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1">
                <a:solidFill>
                  <a:srgbClr val="26303A"/>
                </a:solidFill>
                <a:latin typeface="Meiryo"/>
                <a:ea typeface="Meiryo"/>
              </a:rPr>
              <a:t>P</a:t>
            </a:r>
            <a:r>
              <a:rPr sz="936" b="0" i="1" baseline="-22000">
                <a:solidFill>
                  <a:srgbClr val="26303A"/>
                </a:solidFill>
                <a:latin typeface="Meiryo"/>
                <a:ea typeface="Meiryo"/>
              </a:rPr>
              <a:t>θ</a:t>
            </a:r>
            <a:r>
              <a:rPr sz="1300" b="0" i="0">
                <a:solidFill>
                  <a:srgbClr val="26303A"/>
                </a:solidFill>
                <a:latin typeface="Meiryo"/>
                <a:ea typeface="Meiryo"/>
              </a:rPr>
              <a:t>：全手法・全試行の非劣解の </a:t>
            </a:r>
            <a:r>
              <a:rPr sz="1300" b="0" i="1">
                <a:solidFill>
                  <a:srgbClr val="26303A"/>
                </a:solidFill>
                <a:latin typeface="Meiryo"/>
                <a:ea typeface="Meiryo"/>
              </a:rPr>
              <a:t>D</a:t>
            </a:r>
            <a:r>
              <a:rPr sz="1300" b="0" i="0">
                <a:solidFill>
                  <a:srgbClr val="26303A"/>
                </a:solidFill>
                <a:latin typeface="Meiryo"/>
                <a:ea typeface="Meiryo"/>
              </a:rPr>
              <a:t> の </a:t>
            </a:r>
            <a:r>
              <a:rPr sz="1300" b="0" i="1">
                <a:solidFill>
                  <a:srgbClr val="26303A"/>
                </a:solidFill>
                <a:latin typeface="Meiryo"/>
                <a:ea typeface="Meiryo"/>
              </a:rPr>
              <a:t>θ</a:t>
            </a:r>
            <a:r>
              <a:rPr sz="1300" b="0" i="0">
                <a:solidFill>
                  <a:srgbClr val="26303A"/>
                </a:solidFill>
                <a:latin typeface="Meiryo"/>
                <a:ea typeface="Meiryo"/>
              </a:rPr>
              <a:t> パーセンタイル．</a:t>
            </a:r>
            <a:r>
              <a:rPr sz="1300" b="0" i="1">
                <a:solidFill>
                  <a:srgbClr val="26303A"/>
                </a:solidFill>
                <a:latin typeface="Meiryo"/>
                <a:ea typeface="Meiryo"/>
              </a:rPr>
              <a:t>D</a:t>
            </a:r>
            <a:r>
              <a:rPr sz="1300" b="0" i="0">
                <a:solidFill>
                  <a:srgbClr val="26303A"/>
                </a:solidFill>
                <a:latin typeface="Meiryo"/>
                <a:ea typeface="Meiryo"/>
              </a:rPr>
              <a:t> = 0 の解（初期解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）は全手法が探索せずに得るため HV から除く</a:t>
            </a:r>
          </a:p>
          <a:p>
            <a:pPr>
              <a:lnSpc>
                <a:spcPct val="108000"/>
              </a:lnSpc>
              <a:spcBef>
                <a:spcPts val="400"/>
              </a:spcBef>
            </a:pPr>
            <a:r>
              <a:rPr sz="1040" b="1" i="0">
                <a:solidFill>
                  <a:srgbClr val="16385C"/>
                </a:solidFill>
                <a:latin typeface="Meiryo"/>
                <a:ea typeface="Meiryo"/>
              </a:rPr>
              <a:t>▪ </a:t>
            </a:r>
            <a:r>
              <a:rPr sz="1300" b="0" i="0">
                <a:solidFill>
                  <a:srgbClr val="26303A"/>
                </a:solidFill>
                <a:latin typeface="Meiryo"/>
                <a:ea typeface="Meiryo"/>
              </a:rPr>
              <a:t>全域 HV・高安定 HV は全ての重み </a:t>
            </a:r>
            <a:r>
              <a:rPr sz="1300" b="0" i="1">
                <a:solidFill>
                  <a:srgbClr val="26303A"/>
                </a:solidFill>
                <a:latin typeface="Meiryo"/>
                <a:ea typeface="Meiryo"/>
              </a:rPr>
              <a:t>λ</a:t>
            </a:r>
            <a:r>
              <a:rPr sz="1300" b="0" i="0">
                <a:solidFill>
                  <a:srgbClr val="26303A"/>
                </a:solidFill>
                <a:latin typeface="Meiryo"/>
                <a:ea typeface="Meiryo"/>
              </a:rPr>
              <a:t> の解を合わせて算出し，AUC は重みごとに算出して平均する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7" name="Rounded Rectangle 6"/>
          <p:cNvSpPr/>
          <p:nvPr/>
        </p:nvSpPr>
        <p:spPr>
          <a:xfrm>
            <a:off x="1737360" y="347472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数値実験</a:t>
            </a:r>
          </a:p>
          <a:p>
            <a:pPr>
              <a:spcBef>
                <a:spcPts val="400"/>
              </a:spcBef>
            </a:pPr>
            <a:r>
              <a:rPr sz="1300" b="0" i="0">
                <a:solidFill>
                  <a:srgbClr val="AFC2D8"/>
                </a:solidFill>
                <a:latin typeface="Meiryo"/>
                <a:ea typeface="Meiryo"/>
              </a:rPr>
              <a:t>実験設定・高安定 HV・全域 HV と AUC</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実験設定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5 つのベンチマーク問題に単一作業の遅延を与え，8 シナリオを構成</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16</a:t>
            </a:r>
          </a:p>
        </p:txBody>
      </p:sp>
      <p:graphicFrame>
        <p:nvGraphicFramePr>
          <p:cNvPr id="8" name="Table 7"/>
          <p:cNvGraphicFramePr>
            <a:graphicFrameLocks noGrp="1"/>
          </p:cNvGraphicFramePr>
          <p:nvPr/>
        </p:nvGraphicFramePr>
        <p:xfrm>
          <a:off x="566928" y="1627632"/>
          <a:ext cx="11057838" cy="3017520"/>
        </p:xfrm>
        <a:graphic>
          <a:graphicData uri="http://schemas.openxmlformats.org/drawingml/2006/table">
            <a:tbl>
              <a:tblPr firstRow="0" bandRow="0">
                <a:tableStyleId>{5940675A-B579-460E-94D1-54222C63F5DA}</a:tableStyleId>
              </a:tblPr>
              <a:tblGrid>
                <a:gridCol w="2103641"/>
                <a:gridCol w="8954197"/>
              </a:tblGrid>
              <a:tr h="274320">
                <a:tc>
                  <a:txBody>
                    <a:bodyPr wrap="square"/>
                    <a:lstStyle/>
                    <a:p>
                      <a:pPr algn="l"/>
                      <a:r>
                        <a:rPr sz="1250" b="1" i="0">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250" b="1" i="0">
                          <a:solidFill>
                            <a:srgbClr val="FFFFFF"/>
                          </a:solidFill>
                          <a:latin typeface="Meiryo"/>
                          <a:ea typeface="Meiryo"/>
                        </a:rPr>
                        <a:t>設定</a:t>
                      </a:r>
                    </a:p>
                  </a:txBody>
                  <a:tcPr marL="82296" marR="54864" marT="18288" marB="18288" anchor="ctr">
                    <a:solidFill>
                      <a:srgbClr val="16385C"/>
                    </a:solidFill>
                  </a:tcPr>
                </a:tc>
              </a:tr>
              <a:tr h="274320">
                <a:tc>
                  <a:txBody>
                    <a:bodyPr wrap="square"/>
                    <a:lstStyle/>
                    <a:p>
                      <a:pPr algn="l"/>
                      <a:r>
                        <a:rPr sz="1250" b="0" i="0">
                          <a:solidFill>
                            <a:srgbClr val="26303A"/>
                          </a:solidFill>
                          <a:latin typeface="Meiryo"/>
                          <a:ea typeface="Meiryo"/>
                        </a:rPr>
                        <a:t>比較手法</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ILS・Memetic と，それぞれに PR-</a:t>
                      </a:r>
                      <a:r>
                        <a:rPr sz="1250" b="0" i="1">
                          <a:solidFill>
                            <a:srgbClr val="26303A"/>
                          </a:solidFill>
                          <a:latin typeface="Meiryo"/>
                          <a:ea typeface="Meiryo"/>
                        </a:rPr>
                        <a:t>k</a:t>
                      </a:r>
                      <a:r>
                        <a:rPr sz="1250" b="0" i="0">
                          <a:solidFill>
                            <a:srgbClr val="26303A"/>
                          </a:solidFill>
                          <a:latin typeface="Meiryo"/>
                          <a:ea typeface="Meiryo"/>
                        </a:rPr>
                        <a:t>／PR を組み込んだ 6 手法＋参考の GA（局所探索なし）</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問題・外乱</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mt10・la21・la36・la40・ta21 に単一作業の完了遅延（</a:t>
                      </a:r>
                      <a:r>
                        <a:rPr sz="1250" b="0" i="1">
                          <a:solidFill>
                            <a:srgbClr val="26303A"/>
                          </a:solidFill>
                          <a:latin typeface="Meiryo"/>
                          <a:ea typeface="Meiryo"/>
                        </a:rPr>
                        <a:t>Δ</a:t>
                      </a:r>
                      <a:r>
                        <a:rPr sz="1250" b="0" i="0">
                          <a:solidFill>
                            <a:srgbClr val="26303A"/>
                          </a:solidFill>
                          <a:latin typeface="Meiryo"/>
                          <a:ea typeface="Meiryo"/>
                        </a:rPr>
                        <a:t> = 60〜148，対象作業の処理時間の約 0.9〜1.5 倍）</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シナリオ</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8 つ：la36S・la36M・la36L，ta21S・ta21L，mt10，la21，la40</a:t>
                      </a:r>
                    </a:p>
                    <a:p>
                      <a:pPr algn="l"/>
                      <a:r>
                        <a:rPr sz="1250" b="0" i="0">
                          <a:solidFill>
                            <a:srgbClr val="26303A"/>
                          </a:solidFill>
                          <a:latin typeface="Meiryo"/>
                          <a:ea typeface="Meiryo"/>
                        </a:rPr>
                        <a:t>la36 と ta21 は同一問題・同一 </a:t>
                      </a:r>
                      <a:r>
                        <a:rPr sz="1250" b="0" i="1">
                          <a:solidFill>
                            <a:srgbClr val="26303A"/>
                          </a:solidFill>
                          <a:latin typeface="Meiryo"/>
                          <a:ea typeface="Meiryo"/>
                        </a:rPr>
                        <a:t>S</a:t>
                      </a:r>
                      <a:r>
                        <a:rPr sz="900" b="0" i="1" baseline="-22000">
                          <a:solidFill>
                            <a:srgbClr val="26303A"/>
                          </a:solidFill>
                          <a:latin typeface="Meiryo"/>
                          <a:ea typeface="Meiryo"/>
                        </a:rPr>
                        <a:t>p</a:t>
                      </a:r>
                      <a:r>
                        <a:rPr sz="1250" b="0" i="0">
                          <a:solidFill>
                            <a:srgbClr val="26303A"/>
                          </a:solidFill>
                          <a:latin typeface="Meiryo"/>
                          <a:ea typeface="Meiryo"/>
                        </a:rPr>
                        <a:t> のまま外乱の規模だけを段階的に変え，小さい順に S・M・L</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初期スケジュール </a:t>
                      </a:r>
                      <a:r>
                        <a:rPr sz="1250" b="0" i="1">
                          <a:solidFill>
                            <a:srgbClr val="26303A"/>
                          </a:solidFill>
                          <a:latin typeface="Meiryo"/>
                          <a:ea typeface="Meiryo"/>
                        </a:rPr>
                        <a:t>S</a:t>
                      </a:r>
                      <a:r>
                        <a:rPr sz="900" b="0" i="1" baseline="-22000">
                          <a:solidFill>
                            <a:srgbClr val="26303A"/>
                          </a:solidFill>
                          <a:latin typeface="Meiryo"/>
                          <a:ea typeface="Meiryo"/>
                        </a:rPr>
                        <a:t>p</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500 世代の GA で生成</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重み </a:t>
                      </a:r>
                      <a:r>
                        <a:rPr sz="1250" b="0" i="1">
                          <a:solidFill>
                            <a:srgbClr val="26303A"/>
                          </a:solidFill>
                          <a:latin typeface="Meiryo"/>
                          <a:ea typeface="Meiryo"/>
                        </a:rPr>
                        <a:t>λ</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0, 0.1, …, 0.9 の 10 点（</a:t>
                      </a:r>
                      <a:r>
                        <a:rPr sz="1250" b="0" i="1">
                          <a:solidFill>
                            <a:srgbClr val="26303A"/>
                          </a:solidFill>
                          <a:latin typeface="Meiryo"/>
                          <a:ea typeface="Meiryo"/>
                        </a:rPr>
                        <a:t>λ</a:t>
                      </a:r>
                      <a:r>
                        <a:rPr sz="1250" b="0" i="0">
                          <a:solidFill>
                            <a:srgbClr val="26303A"/>
                          </a:solidFill>
                          <a:latin typeface="Meiryo"/>
                          <a:ea typeface="Meiryo"/>
                        </a:rPr>
                        <a:t> = 1.0 は </a:t>
                      </a:r>
                      <a:r>
                        <a:rPr sz="1250" b="0" i="1">
                          <a:solidFill>
                            <a:srgbClr val="26303A"/>
                          </a:solidFill>
                          <a:latin typeface="Meiryo"/>
                          <a:ea typeface="Meiryo"/>
                        </a:rPr>
                        <a:t>D</a:t>
                      </a:r>
                      <a:r>
                        <a:rPr sz="1250" b="0" i="0">
                          <a:solidFill>
                            <a:srgbClr val="26303A"/>
                          </a:solidFill>
                          <a:latin typeface="Meiryo"/>
                          <a:ea typeface="Meiryo"/>
                        </a:rPr>
                        <a:t> = 0 の自明解に縮退するため除外）</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計算予算</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ILS 系 3000 反復，GA・Memetic 系 500 世代</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探索</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GA・Memetic 系：交叉率 0.85，突然変異率 0.1，集団 50（</a:t>
                      </a:r>
                      <a:r>
                        <a:rPr sz="1250" b="0" i="1">
                          <a:solidFill>
                            <a:srgbClr val="26303A"/>
                          </a:solidFill>
                          <a:latin typeface="Meiryo"/>
                          <a:ea typeface="Meiryo"/>
                        </a:rPr>
                        <a:t>S</a:t>
                      </a:r>
                      <a:r>
                        <a:rPr sz="900" b="0" i="1" baseline="-22000">
                          <a:solidFill>
                            <a:srgbClr val="26303A"/>
                          </a:solidFill>
                          <a:latin typeface="Meiryo"/>
                          <a:ea typeface="Meiryo"/>
                        </a:rPr>
                        <a:t>p</a:t>
                      </a:r>
                      <a:r>
                        <a:rPr sz="1250" b="0" i="0">
                          <a:solidFill>
                            <a:srgbClr val="26303A"/>
                          </a:solidFill>
                          <a:latin typeface="Meiryo"/>
                          <a:ea typeface="Meiryo"/>
                        </a:rPr>
                        <a:t> 以外の 49 個体は無作為生成）</a:t>
                      </a:r>
                    </a:p>
                    <a:p>
                      <a:pPr algn="l"/>
                      <a:r>
                        <a:rPr sz="1250" b="0" i="0">
                          <a:solidFill>
                            <a:srgbClr val="26303A"/>
                          </a:solidFill>
                          <a:latin typeface="Meiryo"/>
                          <a:ea typeface="Meiryo"/>
                        </a:rPr>
                        <a:t>ILS 系：insert 摂動 2〜5 手を鋸歯状に巡回</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安定性誘導演算子</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Memetic 系：各個体に確率 0.3 で発動．PR は経路上の上位 3 中間解を局所探索して最良を返す</a:t>
                      </a:r>
                    </a:p>
                    <a:p>
                      <a:pPr algn="l"/>
                      <a:r>
                        <a:rPr sz="1250" b="0" i="0">
                          <a:solidFill>
                            <a:srgbClr val="26303A"/>
                          </a:solidFill>
                          <a:latin typeface="Meiryo"/>
                          <a:ea typeface="Meiryo"/>
                        </a:rPr>
                        <a:t>ILS 系：無改善 400 反復で初回，以降 10 反復ごとに発動．PR は経路上の最良 1 解を返す</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高安定領域の境界</a:t>
                      </a:r>
                    </a:p>
                  </a:txBody>
                  <a:tcPr marL="82296" marR="54864" marT="18288" marB="18288" anchor="ctr">
                    <a:solidFill>
                      <a:srgbClr val="FFFFFF"/>
                    </a:solidFill>
                    <a:lnB w="9525" cap="flat">
                      <a:solidFill>
                        <a:srgbClr val="D6DEE7"/>
                      </a:solidFill>
                    </a:lnB>
                  </a:tcPr>
                </a:tc>
                <a:tc>
                  <a:txBody>
                    <a:bodyPr wrap="square"/>
                    <a:lstStyle/>
                    <a:p>
                      <a:pPr algn="l"/>
                      <a:r>
                        <a:rPr sz="1250" b="0" i="1">
                          <a:solidFill>
                            <a:srgbClr val="26303A"/>
                          </a:solidFill>
                          <a:latin typeface="Meiryo"/>
                          <a:ea typeface="Meiryo"/>
                        </a:rPr>
                        <a:t>θ</a:t>
                      </a:r>
                      <a:r>
                        <a:rPr sz="1250" b="0" i="0">
                          <a:solidFill>
                            <a:srgbClr val="26303A"/>
                          </a:solidFill>
                          <a:latin typeface="Meiryo"/>
                          <a:ea typeface="Meiryo"/>
                        </a:rPr>
                        <a:t> = 50（</a:t>
                      </a:r>
                      <a:r>
                        <a:rPr sz="1250" b="0" i="1">
                          <a:solidFill>
                            <a:srgbClr val="26303A"/>
                          </a:solidFill>
                          <a:latin typeface="Meiryo"/>
                          <a:ea typeface="Meiryo"/>
                        </a:rPr>
                        <a:t>P</a:t>
                      </a:r>
                      <a:r>
                        <a:rPr sz="900" b="0" i="1" baseline="-22000">
                          <a:solidFill>
                            <a:srgbClr val="26303A"/>
                          </a:solidFill>
                          <a:latin typeface="Meiryo"/>
                          <a:ea typeface="Meiryo"/>
                        </a:rPr>
                        <a:t>50</a:t>
                      </a:r>
                      <a:r>
                        <a:rPr sz="1250" b="0" i="0">
                          <a:solidFill>
                            <a:srgbClr val="26303A"/>
                          </a:solidFill>
                          <a:latin typeface="Meiryo"/>
                          <a:ea typeface="Meiryo"/>
                        </a:rPr>
                        <a:t>：全手法・全試行の非劣解の </a:t>
                      </a:r>
                      <a:r>
                        <a:rPr sz="1250" b="0" i="1">
                          <a:solidFill>
                            <a:srgbClr val="26303A"/>
                          </a:solidFill>
                          <a:latin typeface="Meiryo"/>
                          <a:ea typeface="Meiryo"/>
                        </a:rPr>
                        <a:t>D</a:t>
                      </a:r>
                      <a:r>
                        <a:rPr sz="1250" b="0" i="0">
                          <a:solidFill>
                            <a:srgbClr val="26303A"/>
                          </a:solidFill>
                          <a:latin typeface="Meiryo"/>
                          <a:ea typeface="Meiryo"/>
                        </a:rPr>
                        <a:t> の中央値）</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試行</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各条件 10 試行（全乱数シード固定）</a:t>
                      </a:r>
                    </a:p>
                  </a:txBody>
                  <a:tcPr marL="82296" marR="54864" marT="18288" marB="18288" anchor="ctr">
                    <a:solidFill>
                      <a:srgbClr val="F6F9FB"/>
                    </a:solidFill>
                    <a:lnB w="9525" cap="flat">
                      <a:solidFill>
                        <a:srgbClr val="D6DEE7"/>
                      </a:solidFill>
                    </a:lnB>
                  </a:tcPr>
                </a:tc>
              </a:tr>
            </a:tbl>
          </a:graphicData>
        </a:graphic>
      </p:graphicFrame>
      <p:sp>
        <p:nvSpPr>
          <p:cNvPr id="9" name="TextBox 8"/>
          <p:cNvSpPr txBox="1"/>
          <p:nvPr/>
        </p:nvSpPr>
        <p:spPr>
          <a:xfrm>
            <a:off x="566928" y="5138928"/>
            <a:ext cx="11057839" cy="274320"/>
          </a:xfrm>
          <a:prstGeom prst="rect">
            <a:avLst/>
          </a:prstGeom>
          <a:noFill/>
        </p:spPr>
        <p:txBody>
          <a:bodyPr wrap="square" anchor="ctr" lIns="18288" rIns="18288" tIns="9144" bIns="9144">
            <a:spAutoFit/>
          </a:bodyPr>
          <a:lstStyle/>
          <a:p>
            <a:pPr algn="l">
              <a:lnSpc>
                <a:spcPct val="105000"/>
              </a:lnSpc>
            </a:pPr>
            <a:r>
              <a:rPr sz="1350" b="1" i="0">
                <a:solidFill>
                  <a:srgbClr val="16385C"/>
                </a:solidFill>
                <a:latin typeface="Meiryo"/>
                <a:ea typeface="Meiryo"/>
              </a:rPr>
              <a:t>妥当性の確認</a:t>
            </a:r>
          </a:p>
        </p:txBody>
      </p:sp>
      <p:sp>
        <p:nvSpPr>
          <p:cNvPr id="10" name="TextBox 9"/>
          <p:cNvSpPr txBox="1"/>
          <p:nvPr/>
        </p:nvSpPr>
        <p:spPr>
          <a:xfrm>
            <a:off x="566928" y="5440680"/>
            <a:ext cx="1105783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1" i="0">
                <a:solidFill>
                  <a:srgbClr val="16385C"/>
                </a:solidFill>
                <a:latin typeface="Meiryo"/>
                <a:ea typeface="Meiryo"/>
              </a:rPr>
              <a:t>高安定領域の境界</a:t>
            </a:r>
            <a:r>
              <a:rPr sz="1300" b="0" i="0">
                <a:solidFill>
                  <a:srgbClr val="26303A"/>
                </a:solidFill>
                <a:latin typeface="Meiryo"/>
                <a:ea typeface="Meiryo"/>
              </a:rPr>
              <a:t>：</a:t>
            </a:r>
            <a:r>
              <a:rPr sz="1300" b="0" i="1">
                <a:solidFill>
                  <a:srgbClr val="26303A"/>
                </a:solidFill>
                <a:latin typeface="Meiryo"/>
                <a:ea typeface="Meiryo"/>
              </a:rPr>
              <a:t>θ</a:t>
            </a:r>
            <a:r>
              <a:rPr sz="1300" b="0" i="0">
                <a:solidFill>
                  <a:srgbClr val="26303A"/>
                </a:solidFill>
                <a:latin typeface="Meiryo"/>
                <a:ea typeface="Meiryo"/>
              </a:rPr>
              <a:t> を 33〜67 に変えても，仮説 1・仮説 2 の結論は変わらない（全シナリオで完全分離）</a:t>
            </a:r>
          </a:p>
          <a:p>
            <a:pPr>
              <a:lnSpc>
                <a:spcPct val="108000"/>
              </a:lnSpc>
              <a:spcBef>
                <a:spcPts val="300"/>
              </a:spcBef>
            </a:pPr>
            <a:r>
              <a:rPr sz="1040" b="1" i="0">
                <a:solidFill>
                  <a:srgbClr val="16385C"/>
                </a:solidFill>
                <a:latin typeface="Meiryo"/>
                <a:ea typeface="Meiryo"/>
              </a:rPr>
              <a:t>▪ </a:t>
            </a:r>
            <a:r>
              <a:rPr sz="1300" b="1" i="0">
                <a:solidFill>
                  <a:srgbClr val="16385C"/>
                </a:solidFill>
                <a:latin typeface="Meiryo"/>
                <a:ea typeface="Meiryo"/>
              </a:rPr>
              <a:t>計算予算</a:t>
            </a:r>
            <a:r>
              <a:rPr sz="1300" b="0" i="0">
                <a:solidFill>
                  <a:srgbClr val="26303A"/>
                </a:solidFill>
                <a:latin typeface="Meiryo"/>
                <a:ea typeface="Meiryo"/>
              </a:rPr>
              <a:t>：中央値の試行は全手法とも，予算の 7 割以内で最終の全域 HV の 99% に到達</a:t>
            </a:r>
          </a:p>
          <a:p>
            <a:pPr>
              <a:lnSpc>
                <a:spcPct val="108000"/>
              </a:lnSpc>
              <a:spcBef>
                <a:spcPts val="300"/>
              </a:spcBef>
            </a:pPr>
            <a:r>
              <a:rPr sz="1040" b="1" i="0">
                <a:solidFill>
                  <a:srgbClr val="16385C"/>
                </a:solidFill>
                <a:latin typeface="Meiryo"/>
                <a:ea typeface="Meiryo"/>
              </a:rPr>
              <a:t>▪ </a:t>
            </a:r>
            <a:r>
              <a:rPr sz="1300" b="1" i="0">
                <a:solidFill>
                  <a:srgbClr val="16385C"/>
                </a:solidFill>
                <a:latin typeface="Meiryo"/>
                <a:ea typeface="Meiryo"/>
              </a:rPr>
              <a:t>パラメータ感度</a:t>
            </a:r>
            <a:r>
              <a:rPr sz="1300" b="0" i="0">
                <a:solidFill>
                  <a:srgbClr val="26303A"/>
                </a:solidFill>
                <a:latin typeface="Meiryo"/>
                <a:ea typeface="Meiryo"/>
              </a:rPr>
              <a:t>：挙動を定める 11 軸を 2 シナリオで一要因ずつ振っても，全域 HV の変化は +0.5〜2%（手法間の差は +7〜54%）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の比較：代表 2 シナリオの非劣解</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ta21S では，演算子なしの Memetic は高安定領域に非劣解を持たない</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17</a:t>
            </a:r>
          </a:p>
        </p:txBody>
      </p:sp>
      <p:pic>
        <p:nvPicPr>
          <p:cNvPr id="8" name="Picture 7" descr="front_ta21.png"/>
          <p:cNvPicPr>
            <a:picLocks noChangeAspect="1"/>
          </p:cNvPicPr>
          <p:nvPr/>
        </p:nvPicPr>
        <p:blipFill>
          <a:blip r:embed="rId2"/>
          <a:stretch>
            <a:fillRect/>
          </a:stretch>
        </p:blipFill>
        <p:spPr>
          <a:xfrm>
            <a:off x="609447" y="1572768"/>
            <a:ext cx="10972800" cy="3108960"/>
          </a:xfrm>
          <a:prstGeom prst="rect">
            <a:avLst/>
          </a:prstGeom>
        </p:spPr>
      </p:pic>
      <p:sp>
        <p:nvSpPr>
          <p:cNvPr id="9" name="TextBox 8"/>
          <p:cNvSpPr txBox="1"/>
          <p:nvPr/>
        </p:nvSpPr>
        <p:spPr>
          <a:xfrm>
            <a:off x="566928" y="4846320"/>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0" i="0">
                <a:solidFill>
                  <a:srgbClr val="26303A"/>
                </a:solidFill>
                <a:latin typeface="Meiryo"/>
                <a:ea typeface="Meiryo"/>
              </a:rPr>
              <a:t>(a) ta21S：Memetic は高安定領域に非劣解を持たない</a:t>
            </a:r>
          </a:p>
          <a:p>
            <a:pPr>
              <a:lnSpc>
                <a:spcPct val="108000"/>
              </a:lnSpc>
              <a:spcBef>
                <a:spcPts val="700"/>
              </a:spcBef>
            </a:pPr>
            <a:r>
              <a:rPr sz="1440" b="1" i="0">
                <a:solidFill>
                  <a:srgbClr val="16385C"/>
                </a:solidFill>
                <a:latin typeface="Meiryo"/>
                <a:ea typeface="Meiryo"/>
              </a:rPr>
              <a:t>▪ </a:t>
            </a:r>
            <a:r>
              <a:rPr sz="1800" b="0" i="0">
                <a:solidFill>
                  <a:srgbClr val="26303A"/>
                </a:solidFill>
                <a:latin typeface="Meiryo"/>
                <a:ea typeface="Meiryo"/>
              </a:rPr>
              <a:t>(b) ta21L：Memetic は高安定領域に入るが，</a:t>
            </a:r>
            <a:r>
              <a:rPr sz="1800" b="0" i="1">
                <a:solidFill>
                  <a:srgbClr val="26303A"/>
                </a:solidFill>
                <a:latin typeface="Meiryo"/>
                <a:ea typeface="Meiryo"/>
              </a:rPr>
              <a:t>MS</a:t>
            </a:r>
            <a:r>
              <a:rPr sz="1800" b="0" i="0">
                <a:solidFill>
                  <a:srgbClr val="26303A"/>
                </a:solidFill>
                <a:latin typeface="Meiryo"/>
                <a:ea typeface="Meiryo"/>
              </a:rPr>
              <a:t> で ILS に劣る</a:t>
            </a:r>
          </a:p>
          <a:p>
            <a:pPr>
              <a:lnSpc>
                <a:spcPct val="108000"/>
              </a:lnSpc>
              <a:spcBef>
                <a:spcPts val="700"/>
              </a:spcBef>
            </a:pPr>
            <a:r>
              <a:rPr sz="1440" b="1" i="0">
                <a:solidFill>
                  <a:srgbClr val="16385C"/>
                </a:solidFill>
                <a:latin typeface="Meiryo"/>
                <a:ea typeface="Meiryo"/>
              </a:rPr>
              <a:t>▪ </a:t>
            </a:r>
            <a:r>
              <a:rPr sz="1800" b="0" i="0">
                <a:solidFill>
                  <a:srgbClr val="26303A"/>
                </a:solidFill>
                <a:latin typeface="Meiryo"/>
                <a:ea typeface="Meiryo"/>
              </a:rPr>
              <a:t>どちらのシナリオでも，演算子を組み込むと両構造の Pareto フロント（点線）は高安定領域で重なる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の比較：全 8 シナリオ（仮説の判定）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仮説 1・仮説 2 とも，全 8 シナリオで支持された</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18</a:t>
            </a:r>
          </a:p>
        </p:txBody>
      </p:sp>
      <p:pic>
        <p:nvPicPr>
          <p:cNvPr id="8" name="Picture 7" descr="highstab_all8.png"/>
          <p:cNvPicPr>
            <a:picLocks noChangeAspect="1"/>
          </p:cNvPicPr>
          <p:nvPr/>
        </p:nvPicPr>
        <p:blipFill>
          <a:blip r:embed="rId2"/>
          <a:stretch>
            <a:fillRect/>
          </a:stretch>
        </p:blipFill>
        <p:spPr>
          <a:xfrm>
            <a:off x="609447" y="1536192"/>
            <a:ext cx="10972800" cy="3518611"/>
          </a:xfrm>
          <a:prstGeom prst="rect">
            <a:avLst/>
          </a:prstGeom>
        </p:spPr>
      </p:pic>
      <p:cxnSp>
        <p:nvCxnSpPr>
          <p:cNvPr id="9" name="Connector 8"/>
          <p:cNvCxnSpPr/>
          <p:nvPr/>
        </p:nvCxnSpPr>
        <p:spPr>
          <a:xfrm>
            <a:off x="1701241" y="2553004"/>
            <a:ext cx="0" cy="534010"/>
          </a:xfrm>
          <a:prstGeom prst="line">
            <a:avLst/>
          </a:prstGeom>
          <a:ln w="19050">
            <a:solidFill>
              <a:srgbClr val="16385C"/>
            </a:solidFill>
            <a:tailEnd type="triangle" w="med" len="med"/>
            <a:head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509217" y="2728569"/>
            <a:ext cx="530352" cy="182880"/>
          </a:xfrm>
          <a:prstGeom prst="roundRect">
            <a:avLst>
              <a:gd name="adj" fmla="val 6000"/>
            </a:avLst>
          </a:prstGeom>
          <a:solidFill>
            <a:srgbClr val="FFFFFF"/>
          </a:solidFill>
          <a:ln w="1397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a:solidFill>
                  <a:srgbClr val="16385C"/>
                </a:solidFill>
                <a:latin typeface="Meiryo"/>
                <a:ea typeface="Meiryo"/>
              </a:rPr>
              <a:t>仮説 1</a:t>
            </a:r>
          </a:p>
        </p:txBody>
      </p:sp>
      <p:cxnSp>
        <p:nvCxnSpPr>
          <p:cNvPr id="11" name="Connector 10"/>
          <p:cNvCxnSpPr/>
          <p:nvPr/>
        </p:nvCxnSpPr>
        <p:spPr>
          <a:xfrm flipV="1">
            <a:off x="2012137" y="2726740"/>
            <a:ext cx="526708" cy="405994"/>
          </a:xfrm>
          <a:prstGeom prst="line">
            <a:avLst/>
          </a:prstGeom>
          <a:ln w="20320">
            <a:solidFill>
              <a:srgbClr val="6A4C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465693" y="2949854"/>
            <a:ext cx="530352" cy="182880"/>
          </a:xfrm>
          <a:prstGeom prst="roundRect">
            <a:avLst>
              <a:gd name="adj" fmla="val 6000"/>
            </a:avLst>
          </a:prstGeom>
          <a:solidFill>
            <a:srgbClr val="FFFFFF"/>
          </a:solidFill>
          <a:ln w="1397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a:solidFill>
                  <a:srgbClr val="6A4C93"/>
                </a:solidFill>
                <a:latin typeface="Meiryo"/>
                <a:ea typeface="Meiryo"/>
              </a:rPr>
              <a:t>仮説 2</a:t>
            </a:r>
          </a:p>
        </p:txBody>
      </p:sp>
      <p:sp>
        <p:nvSpPr>
          <p:cNvPr id="13" name="TextBox 12"/>
          <p:cNvSpPr txBox="1"/>
          <p:nvPr/>
        </p:nvSpPr>
        <p:spPr>
          <a:xfrm>
            <a:off x="566928" y="5138928"/>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1" i="0">
                <a:solidFill>
                  <a:srgbClr val="16385C"/>
                </a:solidFill>
                <a:latin typeface="Meiryo"/>
                <a:ea typeface="Meiryo"/>
              </a:rPr>
              <a:t>仮説 1</a:t>
            </a:r>
            <a:r>
              <a:rPr sz="1800" b="0" i="0">
                <a:solidFill>
                  <a:srgbClr val="26303A"/>
                </a:solidFill>
                <a:latin typeface="Meiryo"/>
                <a:ea typeface="Meiryo"/>
              </a:rPr>
              <a:t>：演算子なしで ILS &gt; Memetic（全シナリオで </a:t>
            </a:r>
            <a:r>
              <a:rPr sz="1800" b="0" i="1">
                <a:solidFill>
                  <a:srgbClr val="26303A"/>
                </a:solidFill>
                <a:latin typeface="Meiryo"/>
                <a:ea typeface="Meiryo"/>
              </a:rPr>
              <a:t>p</a:t>
            </a:r>
            <a:r>
              <a:rPr sz="1800" b="0" i="0">
                <a:solidFill>
                  <a:srgbClr val="26303A"/>
                </a:solidFill>
                <a:latin typeface="Meiryo"/>
                <a:ea typeface="Meiryo"/>
              </a:rPr>
              <a:t> &lt; 0.001，</a:t>
            </a:r>
            <a:r>
              <a:rPr sz="1800" b="0" i="1">
                <a:solidFill>
                  <a:srgbClr val="26303A"/>
                </a:solidFill>
                <a:latin typeface="Meiryo"/>
                <a:ea typeface="Meiryo"/>
              </a:rPr>
              <a:t>|δ|</a:t>
            </a:r>
            <a:r>
              <a:rPr sz="1800" b="0" i="0">
                <a:solidFill>
                  <a:srgbClr val="26303A"/>
                </a:solidFill>
                <a:latin typeface="Meiryo"/>
                <a:ea typeface="Meiryo"/>
              </a:rPr>
              <a:t> = 1.0）</a:t>
            </a:r>
          </a:p>
        </p:txBody>
      </p:sp>
      <p:sp>
        <p:nvSpPr>
          <p:cNvPr id="14" name="TextBox 13"/>
          <p:cNvSpPr txBox="1"/>
          <p:nvPr/>
        </p:nvSpPr>
        <p:spPr>
          <a:xfrm>
            <a:off x="566928" y="5522976"/>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1" i="0">
                <a:solidFill>
                  <a:srgbClr val="6A4C93"/>
                </a:solidFill>
                <a:latin typeface="Meiryo"/>
                <a:ea typeface="Meiryo"/>
              </a:rPr>
              <a:t>仮説 2</a:t>
            </a:r>
            <a:r>
              <a:rPr sz="1800" b="0" i="0">
                <a:solidFill>
                  <a:srgbClr val="26303A"/>
                </a:solidFill>
                <a:latin typeface="Meiryo"/>
                <a:ea typeface="Meiryo"/>
              </a:rPr>
              <a:t>：演算子を組み込んだ Memetic &gt; Memetic（全シナリオで </a:t>
            </a:r>
            <a:r>
              <a:rPr sz="1800" b="0" i="1">
                <a:solidFill>
                  <a:srgbClr val="26303A"/>
                </a:solidFill>
                <a:latin typeface="Meiryo"/>
                <a:ea typeface="Meiryo"/>
              </a:rPr>
              <a:t>p</a:t>
            </a:r>
            <a:r>
              <a:rPr sz="1800" b="0" i="0">
                <a:solidFill>
                  <a:srgbClr val="26303A"/>
                </a:solidFill>
                <a:latin typeface="Meiryo"/>
                <a:ea typeface="Meiryo"/>
              </a:rPr>
              <a:t> &lt; 0.001，</a:t>
            </a:r>
            <a:r>
              <a:rPr sz="1800" b="0" i="1">
                <a:solidFill>
                  <a:srgbClr val="26303A"/>
                </a:solidFill>
                <a:latin typeface="Meiryo"/>
                <a:ea typeface="Meiryo"/>
              </a:rPr>
              <a:t>|δ|</a:t>
            </a:r>
            <a:r>
              <a:rPr sz="1800" b="0" i="0">
                <a:solidFill>
                  <a:srgbClr val="26303A"/>
                </a:solidFill>
                <a:latin typeface="Meiryo"/>
                <a:ea typeface="Meiryo"/>
              </a:rPr>
              <a:t> = 1.0）</a:t>
            </a:r>
          </a:p>
          <a:p>
            <a:pPr>
              <a:lnSpc>
                <a:spcPct val="108000"/>
              </a:lnSpc>
              <a:spcBef>
                <a:spcPts val="300"/>
              </a:spcBef>
            </a:pPr>
            <a:r>
              <a:rPr sz="1530" b="0" i="0">
                <a:solidFill>
                  <a:srgbClr val="6E7A88"/>
                </a:solidFill>
                <a:latin typeface="Meiryo"/>
                <a:ea typeface="Meiryo"/>
              </a:rPr>
              <a:t>　－ </a:t>
            </a:r>
            <a:r>
              <a:rPr sz="1620" b="0" i="0">
                <a:solidFill>
                  <a:srgbClr val="26303A"/>
                </a:solidFill>
                <a:latin typeface="Meiryo"/>
                <a:ea typeface="Meiryo"/>
              </a:rPr>
              <a:t>Memetic は演算子を組み込むと ILS と同程度まで向上する一方，ILS ではほとんど向上しない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の比較：演算子の効果が現れる条件</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効果の非対称は，組み込む前に「到達上限の帯」に入っているかで説明できる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19</a:t>
            </a:r>
          </a:p>
        </p:txBody>
      </p:sp>
      <p:pic>
        <p:nvPicPr>
          <p:cNvPr id="8" name="Picture 7" descr="highstab_zoom4.png"/>
          <p:cNvPicPr>
            <a:picLocks noChangeAspect="1"/>
          </p:cNvPicPr>
          <p:nvPr/>
        </p:nvPicPr>
        <p:blipFill>
          <a:blip r:embed="rId2"/>
          <a:stretch>
            <a:fillRect/>
          </a:stretch>
        </p:blipFill>
        <p:spPr>
          <a:xfrm>
            <a:off x="609447" y="1536192"/>
            <a:ext cx="10972800" cy="3383280"/>
          </a:xfrm>
          <a:prstGeom prst="rect">
            <a:avLst/>
          </a:prstGeom>
        </p:spPr>
      </p:pic>
      <p:sp>
        <p:nvSpPr>
          <p:cNvPr id="9" name="TextBox 8"/>
          <p:cNvSpPr txBox="1"/>
          <p:nvPr/>
        </p:nvSpPr>
        <p:spPr>
          <a:xfrm>
            <a:off x="566928" y="4937759"/>
            <a:ext cx="11057839" cy="256032"/>
          </a:xfrm>
          <a:prstGeom prst="rect">
            <a:avLst/>
          </a:prstGeom>
          <a:noFill/>
        </p:spPr>
        <p:txBody>
          <a:bodyPr wrap="square" anchor="t" lIns="18288" rIns="18288" tIns="9144" bIns="9144">
            <a:spAutoFit/>
          </a:bodyPr>
          <a:lstStyle/>
          <a:p>
            <a:pPr algn="l">
              <a:lnSpc>
                <a:spcPct val="105000"/>
              </a:lnSpc>
            </a:pPr>
            <a:r>
              <a:rPr sz="1250" b="0" i="0">
                <a:solidFill>
                  <a:srgbClr val="6E7A88"/>
                </a:solidFill>
                <a:latin typeface="Meiryo"/>
                <a:ea typeface="Meiryo"/>
              </a:rPr>
              <a:t>縦軸は最良値の付近を拡大（↓：範囲外，値を併記）．全 8 シナリオは前のスライド</a:t>
            </a:r>
          </a:p>
        </p:txBody>
      </p:sp>
      <p:sp>
        <p:nvSpPr>
          <p:cNvPr id="10" name="TextBox 9"/>
          <p:cNvSpPr txBox="1"/>
          <p:nvPr/>
        </p:nvSpPr>
        <p:spPr>
          <a:xfrm>
            <a:off x="566928" y="5230368"/>
            <a:ext cx="11057839" cy="457200"/>
          </a:xfrm>
          <a:prstGeom prst="rect">
            <a:avLst/>
          </a:prstGeom>
          <a:noFill/>
        </p:spPr>
        <p:txBody>
          <a:bodyPr wrap="square" anchor="t" lIns="18288" rIns="18288" tIns="9144" bIns="9144">
            <a:spAutoFit/>
          </a:bodyPr>
          <a:lstStyle/>
          <a:p>
            <a:pPr>
              <a:lnSpc>
                <a:spcPct val="108000"/>
              </a:lnSpc>
              <a:spcBef>
                <a:spcPts val="0"/>
              </a:spcBef>
            </a:pPr>
            <a:r>
              <a:rPr sz="1240" b="1" i="0">
                <a:solidFill>
                  <a:srgbClr val="16385C"/>
                </a:solidFill>
                <a:latin typeface="Meiryo"/>
                <a:ea typeface="Meiryo"/>
              </a:rPr>
              <a:t>▪ </a:t>
            </a:r>
            <a:r>
              <a:rPr sz="1550" b="0" i="0">
                <a:solidFill>
                  <a:srgbClr val="26303A"/>
                </a:solidFill>
                <a:latin typeface="Meiryo"/>
                <a:ea typeface="Meiryo"/>
              </a:rPr>
              <a:t>どのシナリオでも 3〜5 手法が最良値の 2% 以内に集まる → この帯を到達上限とみなす</a:t>
            </a:r>
          </a:p>
          <a:p>
            <a:pPr>
              <a:lnSpc>
                <a:spcPct val="108000"/>
              </a:lnSpc>
              <a:spcBef>
                <a:spcPts val="200"/>
              </a:spcBef>
            </a:pPr>
            <a:r>
              <a:rPr sz="1240" b="1" i="0">
                <a:solidFill>
                  <a:srgbClr val="16385C"/>
                </a:solidFill>
                <a:latin typeface="Meiryo"/>
                <a:ea typeface="Meiryo"/>
              </a:rPr>
              <a:t>▪ </a:t>
            </a:r>
            <a:r>
              <a:rPr sz="1550" b="1" i="0">
                <a:solidFill>
                  <a:srgbClr val="16385C"/>
                </a:solidFill>
                <a:latin typeface="Meiryo"/>
                <a:ea typeface="Meiryo"/>
              </a:rPr>
              <a:t>Memetic</a:t>
            </a:r>
            <a:r>
              <a:rPr sz="1550" b="0" i="0">
                <a:solidFill>
                  <a:srgbClr val="26303A"/>
                </a:solidFill>
                <a:latin typeface="Meiryo"/>
                <a:ea typeface="Meiryo"/>
              </a:rPr>
              <a:t>：演算子なしでは全シナリオで帯の外 → 組み込むと 7 つで帯の中</a:t>
            </a:r>
          </a:p>
          <a:p>
            <a:pPr>
              <a:lnSpc>
                <a:spcPct val="108000"/>
              </a:lnSpc>
              <a:spcBef>
                <a:spcPts val="200"/>
              </a:spcBef>
            </a:pPr>
            <a:r>
              <a:rPr sz="1240" b="1" i="0">
                <a:solidFill>
                  <a:srgbClr val="16385C"/>
                </a:solidFill>
                <a:latin typeface="Meiryo"/>
                <a:ea typeface="Meiryo"/>
              </a:rPr>
              <a:t>▪ </a:t>
            </a:r>
            <a:r>
              <a:rPr sz="1550" b="1" i="0">
                <a:solidFill>
                  <a:srgbClr val="16385C"/>
                </a:solidFill>
                <a:latin typeface="Meiryo"/>
                <a:ea typeface="Meiryo"/>
              </a:rPr>
              <a:t>ILS</a:t>
            </a:r>
            <a:r>
              <a:rPr sz="1550" b="0" i="0">
                <a:solidFill>
                  <a:srgbClr val="26303A"/>
                </a:solidFill>
                <a:latin typeface="Meiryo"/>
                <a:ea typeface="Meiryo"/>
              </a:rPr>
              <a:t>：演算子なしで 6 つが帯の中 → 有意に向上したのは帯の外の 2 つ（la36L・ta21L）だけ</a:t>
            </a:r>
          </a:p>
        </p:txBody>
      </p:sp>
      <p:sp>
        <p:nvSpPr>
          <p:cNvPr id="11" name="TextBox 10"/>
          <p:cNvSpPr txBox="1"/>
          <p:nvPr/>
        </p:nvSpPr>
        <p:spPr>
          <a:xfrm>
            <a:off x="566928" y="6035040"/>
            <a:ext cx="11057839" cy="329184"/>
          </a:xfrm>
          <a:prstGeom prst="rect">
            <a:avLst/>
          </a:prstGeom>
          <a:noFill/>
        </p:spPr>
        <p:txBody>
          <a:bodyPr wrap="square" anchor="ctr" lIns="18288" rIns="18288" tIns="9144" bIns="9144">
            <a:spAutoFit/>
          </a:bodyPr>
          <a:lstStyle/>
          <a:p>
            <a:pPr algn="l">
              <a:lnSpc>
                <a:spcPct val="105000"/>
              </a:lnSpc>
            </a:pPr>
            <a:r>
              <a:rPr sz="1650" b="0" i="0">
                <a:solidFill>
                  <a:srgbClr val="26303A"/>
                </a:solidFill>
                <a:latin typeface="Meiryo"/>
                <a:ea typeface="Meiryo"/>
              </a:rPr>
              <a:t>→ 演算子の効果は，探索構造の違いそのものではなく，</a:t>
            </a:r>
            <a:r>
              <a:rPr sz="1650" b="1" i="0">
                <a:solidFill>
                  <a:srgbClr val="16385C"/>
                </a:solidFill>
                <a:latin typeface="Meiryo"/>
                <a:ea typeface="Meiryo"/>
              </a:rPr>
              <a:t>組み込む前に上限までの差が残っているかで決まる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全域 HV と AUC：代表 2 シナリオの推移</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立ち上がりは ILS が速く，到達した全域 HV は演算子を組み込んだ Memetic が同等以上</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20</a:t>
            </a:r>
          </a:p>
        </p:txBody>
      </p:sp>
      <p:pic>
        <p:nvPicPr>
          <p:cNvPr id="8" name="Picture 7" descr="anytime.png"/>
          <p:cNvPicPr>
            <a:picLocks noChangeAspect="1"/>
          </p:cNvPicPr>
          <p:nvPr/>
        </p:nvPicPr>
        <p:blipFill>
          <a:blip r:embed="rId2"/>
          <a:stretch>
            <a:fillRect/>
          </a:stretch>
        </p:blipFill>
        <p:spPr>
          <a:xfrm>
            <a:off x="609447" y="1572768"/>
            <a:ext cx="10972800" cy="3474720"/>
          </a:xfrm>
          <a:prstGeom prst="rect">
            <a:avLst/>
          </a:prstGeom>
        </p:spPr>
      </p:pic>
      <p:sp>
        <p:nvSpPr>
          <p:cNvPr id="9" name="TextBox 8"/>
          <p:cNvSpPr txBox="1"/>
          <p:nvPr/>
        </p:nvSpPr>
        <p:spPr>
          <a:xfrm>
            <a:off x="566928" y="5248656"/>
            <a:ext cx="11057839" cy="457200"/>
          </a:xfrm>
          <a:prstGeom prst="rect">
            <a:avLst/>
          </a:prstGeom>
          <a:noFill/>
        </p:spPr>
        <p:txBody>
          <a:bodyPr wrap="square" anchor="t" lIns="18288" rIns="18288" tIns="9144" bIns="9144">
            <a:spAutoFit/>
          </a:bodyPr>
          <a:lstStyle/>
          <a:p>
            <a:pPr>
              <a:lnSpc>
                <a:spcPct val="108000"/>
              </a:lnSpc>
              <a:spcBef>
                <a:spcPts val="0"/>
              </a:spcBef>
            </a:pPr>
            <a:r>
              <a:rPr sz="1360" b="1" i="0">
                <a:solidFill>
                  <a:srgbClr val="16385C"/>
                </a:solidFill>
                <a:latin typeface="Meiryo"/>
                <a:ea typeface="Meiryo"/>
              </a:rPr>
              <a:t>▪ </a:t>
            </a:r>
            <a:r>
              <a:rPr sz="1700" b="0" i="0">
                <a:solidFill>
                  <a:srgbClr val="26303A"/>
                </a:solidFill>
                <a:latin typeface="Meiryo"/>
                <a:ea typeface="Meiryo"/>
              </a:rPr>
              <a:t>(a) ta21S：演算子を組み込んだ Memetic も ILS と同じ全域 HV に達するが，立ち上がりが遅い</a:t>
            </a:r>
          </a:p>
          <a:p>
            <a:pPr>
              <a:lnSpc>
                <a:spcPct val="108000"/>
              </a:lnSpc>
              <a:spcBef>
                <a:spcPts val="700"/>
              </a:spcBef>
            </a:pPr>
            <a:r>
              <a:rPr sz="1360" b="1" i="0">
                <a:solidFill>
                  <a:srgbClr val="16385C"/>
                </a:solidFill>
                <a:latin typeface="Meiryo"/>
                <a:ea typeface="Meiryo"/>
              </a:rPr>
              <a:t>▪ </a:t>
            </a:r>
            <a:r>
              <a:rPr sz="1700" b="0" i="0">
                <a:solidFill>
                  <a:srgbClr val="26303A"/>
                </a:solidFill>
                <a:latin typeface="Meiryo"/>
                <a:ea typeface="Meiryo"/>
              </a:rPr>
              <a:t>(b) la36L：Memetic 系は途中で ILS 系を追い越す．到達値は演算子を組み込んだ Memetic が最大</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全域 HV と AUC：全 8 シナリオ</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最良の手法は評価指標によって異なる：全域 HV は Memetic＋演算子，AUC は ILS</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21</a:t>
            </a:r>
          </a:p>
        </p:txBody>
      </p:sp>
      <p:sp>
        <p:nvSpPr>
          <p:cNvPr id="8" name="TextBox 7"/>
          <p:cNvSpPr txBox="1"/>
          <p:nvPr/>
        </p:nvSpPr>
        <p:spPr>
          <a:xfrm>
            <a:off x="566928" y="1591056"/>
            <a:ext cx="5257800" cy="384048"/>
          </a:xfrm>
          <a:prstGeom prst="rect">
            <a:avLst/>
          </a:prstGeom>
          <a:noFill/>
        </p:spPr>
        <p:txBody>
          <a:bodyPr wrap="square" anchor="ctr" lIns="18288" rIns="18288" tIns="9144" bIns="9144">
            <a:spAutoFit/>
          </a:bodyPr>
          <a:lstStyle/>
          <a:p>
            <a:pPr algn="l">
              <a:lnSpc>
                <a:spcPct val="105000"/>
              </a:lnSpc>
            </a:pPr>
            <a:r>
              <a:rPr sz="1700" b="1" i="0">
                <a:solidFill>
                  <a:srgbClr val="16385C"/>
                </a:solidFill>
                <a:latin typeface="Meiryo"/>
                <a:ea typeface="Meiryo"/>
              </a:rPr>
              <a:t>最良に並ぶシナリオ数（/8）</a:t>
            </a:r>
          </a:p>
        </p:txBody>
      </p:sp>
      <p:graphicFrame>
        <p:nvGraphicFramePr>
          <p:cNvPr id="9" name="Table 8"/>
          <p:cNvGraphicFramePr>
            <a:graphicFrameLocks noGrp="1"/>
          </p:cNvGraphicFramePr>
          <p:nvPr/>
        </p:nvGraphicFramePr>
        <p:xfrm>
          <a:off x="566928" y="2048256"/>
          <a:ext cx="5257800" cy="3438144"/>
        </p:xfrm>
        <a:graphic>
          <a:graphicData uri="http://schemas.openxmlformats.org/drawingml/2006/table">
            <a:tbl>
              <a:tblPr firstRow="0" bandRow="0">
                <a:tableStyleId>{5940675A-B579-460E-94D1-54222C63F5DA}</a:tableStyleId>
              </a:tblPr>
              <a:tblGrid>
                <a:gridCol w="2103120"/>
                <a:gridCol w="1051560"/>
                <a:gridCol w="1234440"/>
                <a:gridCol w="868680"/>
              </a:tblGrid>
              <a:tr h="429768">
                <a:tc>
                  <a:txBody>
                    <a:bodyPr wrap="square"/>
                    <a:lstStyle/>
                    <a:p>
                      <a:pPr algn="l"/>
                      <a:r>
                        <a:rPr sz="1650" b="1" i="0">
                          <a:solidFill>
                            <a:srgbClr val="FFFFFF"/>
                          </a:solidFill>
                          <a:latin typeface="Meiryo"/>
                          <a:ea typeface="Meiryo"/>
                        </a:rPr>
                        <a:t>手法</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全域HV</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高安定HV</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AUC</a:t>
                      </a:r>
                    </a:p>
                  </a:txBody>
                  <a:tcPr marL="82296" marR="54864" marT="18288" marB="18288" anchor="ctr">
                    <a:solidFill>
                      <a:srgbClr val="16385C"/>
                    </a:solidFill>
                  </a:tcPr>
                </a:tc>
              </a:tr>
              <a:tr h="429768">
                <a:tc>
                  <a:txBody>
                    <a:bodyPr wrap="square"/>
                    <a:lstStyle/>
                    <a:p>
                      <a:pPr algn="l"/>
                      <a:r>
                        <a:rPr sz="1650" b="0" i="0">
                          <a:solidFill>
                            <a:srgbClr val="26303A"/>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6</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ILS+PR-</a:t>
                      </a:r>
                      <a:r>
                        <a:rPr sz="1650" b="0" i="1">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8</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ILS+PR</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8</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GA</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Memetic</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1</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2</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Memetic+PR-</a:t>
                      </a:r>
                      <a:r>
                        <a:rPr sz="1650" b="0" i="1">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1</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Memetic+PR</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r>
            </a:tbl>
          </a:graphicData>
        </a:graphic>
      </p:graphicFrame>
      <p:sp>
        <p:nvSpPr>
          <p:cNvPr id="10" name="TextBox 9"/>
          <p:cNvSpPr txBox="1"/>
          <p:nvPr/>
        </p:nvSpPr>
        <p:spPr>
          <a:xfrm>
            <a:off x="566928" y="5559552"/>
            <a:ext cx="5257800" cy="365760"/>
          </a:xfrm>
          <a:prstGeom prst="rect">
            <a:avLst/>
          </a:prstGeom>
          <a:noFill/>
        </p:spPr>
        <p:txBody>
          <a:bodyPr wrap="square" anchor="t" lIns="18288" rIns="18288" tIns="9144" bIns="9144">
            <a:spAutoFit/>
          </a:bodyPr>
          <a:lstStyle/>
          <a:p>
            <a:pPr algn="l">
              <a:lnSpc>
                <a:spcPct val="105000"/>
              </a:lnSpc>
            </a:pPr>
            <a:r>
              <a:rPr sz="1400" b="0" i="0">
                <a:solidFill>
                  <a:srgbClr val="6E7A88"/>
                </a:solidFill>
                <a:latin typeface="Meiryo"/>
                <a:ea typeface="Meiryo"/>
              </a:rPr>
              <a:t>最良に並ぶ：中央値が最良手法の中央値から 2% 以内</a:t>
            </a:r>
          </a:p>
        </p:txBody>
      </p:sp>
      <p:sp>
        <p:nvSpPr>
          <p:cNvPr id="11" name="TextBox 10"/>
          <p:cNvSpPr txBox="1"/>
          <p:nvPr/>
        </p:nvSpPr>
        <p:spPr>
          <a:xfrm>
            <a:off x="6281928" y="1591056"/>
            <a:ext cx="5342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全域 HV</a:t>
            </a:r>
          </a:p>
        </p:txBody>
      </p:sp>
      <p:sp>
        <p:nvSpPr>
          <p:cNvPr id="12" name="TextBox 11"/>
          <p:cNvSpPr txBox="1"/>
          <p:nvPr/>
        </p:nvSpPr>
        <p:spPr>
          <a:xfrm>
            <a:off x="6281928" y="2048256"/>
            <a:ext cx="5342839" cy="1737360"/>
          </a:xfrm>
          <a:prstGeom prst="rect">
            <a:avLst/>
          </a:prstGeom>
          <a:noFill/>
        </p:spPr>
        <p:txBody>
          <a:bodyPr wrap="square" anchor="t" lIns="18288" rIns="18288" tIns="9144" bIns="9144">
            <a:spAutoFit/>
          </a:bodyPr>
          <a:lstStyle/>
          <a:p>
            <a:pPr algn="l">
              <a:lnSpc>
                <a:spcPct val="112000"/>
              </a:lnSpc>
            </a:pPr>
            <a:r>
              <a:rPr sz="1700" b="0" i="0">
                <a:solidFill>
                  <a:srgbClr val="26303A"/>
                </a:solidFill>
                <a:latin typeface="Meiryo"/>
                <a:ea typeface="Meiryo"/>
              </a:rPr>
              <a:t>Memetic＋演算子が最良に並ぶ</a:t>
            </a:r>
          </a:p>
          <a:p>
            <a:pPr algn="l">
              <a:lnSpc>
                <a:spcPct val="112000"/>
              </a:lnSpc>
            </a:pPr>
            <a:r>
              <a:rPr sz="1700" b="0" i="0">
                <a:solidFill>
                  <a:srgbClr val="26303A"/>
                </a:solidFill>
                <a:latin typeface="Meiryo"/>
                <a:ea typeface="Meiryo"/>
              </a:rPr>
              <a:t>ILS 系は 4 シナリオで 5〜38% 下回る</a:t>
            </a:r>
          </a:p>
          <a:p>
            <a:pPr algn="l">
              <a:lnSpc>
                <a:spcPct val="112000"/>
              </a:lnSpc>
            </a:pPr>
            <a:r>
              <a:rPr sz="1700" b="0" i="0">
                <a:solidFill>
                  <a:srgbClr val="26303A"/>
                </a:solidFill>
                <a:latin typeface="Meiryo"/>
                <a:ea typeface="Meiryo"/>
              </a:rPr>
              <a:t>→ </a:t>
            </a:r>
            <a:r>
              <a:rPr sz="1700" b="1" i="0">
                <a:solidFill>
                  <a:srgbClr val="16385C"/>
                </a:solidFill>
                <a:latin typeface="Meiryo"/>
                <a:ea typeface="Meiryo"/>
              </a:rPr>
              <a:t>高安定 HV での ILS の優位は，</a:t>
            </a:r>
          </a:p>
          <a:p>
            <a:pPr algn="l">
              <a:lnSpc>
                <a:spcPct val="112000"/>
              </a:lnSpc>
            </a:pPr>
            <a:r>
              <a:rPr sz="1700" b="1" i="0">
                <a:solidFill>
                  <a:srgbClr val="16385C"/>
                </a:solidFill>
                <a:latin typeface="Meiryo"/>
                <a:ea typeface="Meiryo"/>
              </a:rPr>
              <a:t>全体として優れていることの反映ではない</a:t>
            </a:r>
          </a:p>
        </p:txBody>
      </p:sp>
      <p:sp>
        <p:nvSpPr>
          <p:cNvPr id="13" name="TextBox 12"/>
          <p:cNvSpPr txBox="1"/>
          <p:nvPr/>
        </p:nvSpPr>
        <p:spPr>
          <a:xfrm>
            <a:off x="6281928" y="4023360"/>
            <a:ext cx="5342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AUC</a:t>
            </a:r>
          </a:p>
        </p:txBody>
      </p:sp>
      <p:sp>
        <p:nvSpPr>
          <p:cNvPr id="14" name="TextBox 13"/>
          <p:cNvSpPr txBox="1"/>
          <p:nvPr/>
        </p:nvSpPr>
        <p:spPr>
          <a:xfrm>
            <a:off x="6281928" y="4480560"/>
            <a:ext cx="5342839" cy="1737360"/>
          </a:xfrm>
          <a:prstGeom prst="rect">
            <a:avLst/>
          </a:prstGeom>
          <a:noFill/>
        </p:spPr>
        <p:txBody>
          <a:bodyPr wrap="square" anchor="t" lIns="18288" rIns="18288" tIns="9144" bIns="9144">
            <a:spAutoFit/>
          </a:bodyPr>
          <a:lstStyle/>
          <a:p>
            <a:pPr algn="l">
              <a:lnSpc>
                <a:spcPct val="112000"/>
              </a:lnSpc>
            </a:pPr>
            <a:r>
              <a:rPr sz="1700" b="0" i="0">
                <a:solidFill>
                  <a:srgbClr val="26303A"/>
                </a:solidFill>
                <a:latin typeface="Meiryo"/>
                <a:ea typeface="Meiryo"/>
              </a:rPr>
              <a:t>ILS 系が最良に並ぶ</a:t>
            </a:r>
          </a:p>
          <a:p>
            <a:pPr algn="l">
              <a:lnSpc>
                <a:spcPct val="112000"/>
              </a:lnSpc>
            </a:pPr>
            <a:r>
              <a:rPr sz="1700" b="0" i="0">
                <a:solidFill>
                  <a:srgbClr val="26303A"/>
                </a:solidFill>
                <a:latin typeface="Meiryo"/>
                <a:ea typeface="Meiryo"/>
              </a:rPr>
              <a:t>Memetic では演算子が各個体に発動して</a:t>
            </a:r>
          </a:p>
          <a:p>
            <a:pPr algn="l">
              <a:lnSpc>
                <a:spcPct val="112000"/>
              </a:lnSpc>
            </a:pPr>
            <a:r>
              <a:rPr sz="1700" b="0" i="0">
                <a:solidFill>
                  <a:srgbClr val="26303A"/>
                </a:solidFill>
                <a:latin typeface="Meiryo"/>
                <a:ea typeface="Meiryo"/>
              </a:rPr>
              <a:t>計算時間が増え，PR は AUC を</a:t>
            </a:r>
          </a:p>
          <a:p>
            <a:pPr algn="l">
              <a:lnSpc>
                <a:spcPct val="112000"/>
              </a:lnSpc>
            </a:pPr>
            <a:r>
              <a:rPr sz="1700" b="0" i="0">
                <a:solidFill>
                  <a:srgbClr val="26303A"/>
                </a:solidFill>
                <a:latin typeface="Meiryo"/>
                <a:ea typeface="Meiryo"/>
              </a:rPr>
              <a:t>5 シナリオで 7〜26% 下げる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7" name="TextBox 6"/>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8" name="TextBox 7"/>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9" name="Rounded Rectangle 8"/>
          <p:cNvSpPr/>
          <p:nvPr/>
        </p:nvSpPr>
        <p:spPr>
          <a:xfrm>
            <a:off x="1737360" y="452628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結論</a:t>
            </a:r>
          </a:p>
          <a:p>
            <a:pPr>
              <a:spcBef>
                <a:spcPts val="400"/>
              </a:spcBef>
            </a:pPr>
            <a:r>
              <a:rPr sz="1300" b="0" i="0">
                <a:solidFill>
                  <a:srgbClr val="AFC2D8"/>
                </a:solidFill>
                <a:latin typeface="Meiryo"/>
                <a:ea typeface="Meiryo"/>
              </a:rPr>
              <a:t>まとめ・限界と今後の課題</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まとめ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が探索前に得られる再スケジューリングでは，高安定領域で探索構造と演算子の関係が分かれる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23</a:t>
            </a:r>
          </a:p>
        </p:txBody>
      </p:sp>
      <p:sp>
        <p:nvSpPr>
          <p:cNvPr id="8" name="Rounded Rectangle 7"/>
          <p:cNvSpPr/>
          <p:nvPr/>
        </p:nvSpPr>
        <p:spPr>
          <a:xfrm>
            <a:off x="566928" y="1691640"/>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9808" y="1947672"/>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1</a:t>
            </a:r>
          </a:p>
        </p:txBody>
      </p:sp>
      <p:sp>
        <p:nvSpPr>
          <p:cNvPr id="10" name="TextBox 9"/>
          <p:cNvSpPr txBox="1"/>
          <p:nvPr/>
        </p:nvSpPr>
        <p:spPr>
          <a:xfrm>
            <a:off x="1435607" y="1764792"/>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仮説 1 を支持</a:t>
            </a:r>
          </a:p>
        </p:txBody>
      </p:sp>
      <p:sp>
        <p:nvSpPr>
          <p:cNvPr id="11" name="TextBox 10"/>
          <p:cNvSpPr txBox="1"/>
          <p:nvPr/>
        </p:nvSpPr>
        <p:spPr>
          <a:xfrm>
            <a:off x="3081528" y="1746504"/>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高安定 HV は</a:t>
            </a:r>
            <a:r>
              <a:rPr sz="1400" b="1" i="0">
                <a:solidFill>
                  <a:srgbClr val="26303A"/>
                </a:solidFill>
                <a:latin typeface="Meiryo"/>
                <a:ea typeface="Meiryo"/>
              </a:rPr>
              <a:t>単点探索（ILS）</a:t>
            </a:r>
            <a:r>
              <a:rPr sz="1400" b="0" i="0">
                <a:solidFill>
                  <a:srgbClr val="26303A"/>
                </a:solidFill>
                <a:latin typeface="Meiryo"/>
                <a:ea typeface="Meiryo"/>
              </a:rPr>
              <a:t>が多点探索（Memetic）を上回る．全 8 シナリオの全試行で分離</a:t>
            </a:r>
          </a:p>
        </p:txBody>
      </p:sp>
      <p:sp>
        <p:nvSpPr>
          <p:cNvPr id="12" name="Rounded Rectangle 11"/>
          <p:cNvSpPr/>
          <p:nvPr/>
        </p:nvSpPr>
        <p:spPr>
          <a:xfrm>
            <a:off x="566928" y="2816352"/>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9808" y="3072384"/>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2</a:t>
            </a:r>
          </a:p>
        </p:txBody>
      </p:sp>
      <p:sp>
        <p:nvSpPr>
          <p:cNvPr id="14" name="TextBox 13"/>
          <p:cNvSpPr txBox="1"/>
          <p:nvPr/>
        </p:nvSpPr>
        <p:spPr>
          <a:xfrm>
            <a:off x="1435607" y="2889504"/>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仮説 2 を支持</a:t>
            </a:r>
          </a:p>
        </p:txBody>
      </p:sp>
      <p:sp>
        <p:nvSpPr>
          <p:cNvPr id="15" name="TextBox 14"/>
          <p:cNvSpPr txBox="1"/>
          <p:nvPr/>
        </p:nvSpPr>
        <p:spPr>
          <a:xfrm>
            <a:off x="3081528" y="2871216"/>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安定性誘導演算子は</a:t>
            </a:r>
            <a:r>
              <a:rPr sz="1400" b="1" i="0">
                <a:solidFill>
                  <a:srgbClr val="26303A"/>
                </a:solidFill>
                <a:latin typeface="Meiryo"/>
                <a:ea typeface="Meiryo"/>
              </a:rPr>
              <a:t>多点探索の高安定 HV を単点探索と同程度まで向上</a:t>
            </a:r>
            <a:r>
              <a:rPr sz="1400" b="0" i="0">
                <a:solidFill>
                  <a:srgbClr val="26303A"/>
                </a:solidFill>
                <a:latin typeface="Meiryo"/>
                <a:ea typeface="Meiryo"/>
              </a:rPr>
              <a:t>させ，</a:t>
            </a:r>
          </a:p>
          <a:p>
            <a:pPr algn="l">
              <a:lnSpc>
                <a:spcPct val="112000"/>
              </a:lnSpc>
            </a:pPr>
            <a:r>
              <a:rPr sz="1400" b="0" i="0">
                <a:solidFill>
                  <a:srgbClr val="26303A"/>
                </a:solidFill>
                <a:latin typeface="Meiryo"/>
                <a:ea typeface="Meiryo"/>
              </a:rPr>
              <a:t>単点探索ではほとんど向上させない．効果は，組み込む前に到達上限の帯に入っているかで決まる</a:t>
            </a:r>
          </a:p>
        </p:txBody>
      </p:sp>
      <p:sp>
        <p:nvSpPr>
          <p:cNvPr id="16" name="Rounded Rectangle 15"/>
          <p:cNvSpPr/>
          <p:nvPr/>
        </p:nvSpPr>
        <p:spPr>
          <a:xfrm>
            <a:off x="566928" y="3941064"/>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9808" y="4197096"/>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3</a:t>
            </a:r>
          </a:p>
        </p:txBody>
      </p:sp>
      <p:sp>
        <p:nvSpPr>
          <p:cNvPr id="18" name="TextBox 17"/>
          <p:cNvSpPr txBox="1"/>
          <p:nvPr/>
        </p:nvSpPr>
        <p:spPr>
          <a:xfrm>
            <a:off x="1435607" y="4014216"/>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手法の選び方</a:t>
            </a:r>
          </a:p>
        </p:txBody>
      </p:sp>
      <p:sp>
        <p:nvSpPr>
          <p:cNvPr id="19" name="TextBox 18"/>
          <p:cNvSpPr txBox="1"/>
          <p:nvPr/>
        </p:nvSpPr>
        <p:spPr>
          <a:xfrm>
            <a:off x="3081528" y="3995928"/>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全域 HV を重視するなら </a:t>
            </a:r>
            <a:r>
              <a:rPr sz="1400" b="1" i="0">
                <a:solidFill>
                  <a:srgbClr val="26303A"/>
                </a:solidFill>
                <a:latin typeface="Meiryo"/>
                <a:ea typeface="Meiryo"/>
              </a:rPr>
              <a:t>Memetic＋演算子</a:t>
            </a:r>
            <a:r>
              <a:rPr sz="1400" b="0" i="0">
                <a:solidFill>
                  <a:srgbClr val="26303A"/>
                </a:solidFill>
                <a:latin typeface="Meiryo"/>
                <a:ea typeface="Meiryo"/>
              </a:rPr>
              <a:t>，短い計算時間で解を得るなら </a:t>
            </a:r>
            <a:r>
              <a:rPr sz="1400" b="1" i="0">
                <a:solidFill>
                  <a:srgbClr val="26303A"/>
                </a:solidFill>
                <a:latin typeface="Meiryo"/>
                <a:ea typeface="Meiryo"/>
              </a:rPr>
              <a:t>ILS</a:t>
            </a:r>
            <a:r>
              <a:rPr sz="1400" b="0" i="0">
                <a:solidFill>
                  <a:srgbClr val="26303A"/>
                </a:solidFill>
                <a:latin typeface="Meiryo"/>
                <a:ea typeface="Meiryo"/>
              </a:rPr>
              <a:t>．</a:t>
            </a:r>
          </a:p>
          <a:p>
            <a:pPr algn="l">
              <a:lnSpc>
                <a:spcPct val="112000"/>
              </a:lnSpc>
            </a:pPr>
            <a:r>
              <a:rPr sz="1400" b="0" i="0">
                <a:solidFill>
                  <a:srgbClr val="26303A"/>
                </a:solidFill>
                <a:latin typeface="Meiryo"/>
                <a:ea typeface="Meiryo"/>
              </a:rPr>
              <a:t>高安定 HV では両者が並ぶ</a:t>
            </a:r>
          </a:p>
        </p:txBody>
      </p:sp>
      <p:sp>
        <p:nvSpPr>
          <p:cNvPr id="20" name="Rounded Rectangle 19"/>
          <p:cNvSpPr/>
          <p:nvPr/>
        </p:nvSpPr>
        <p:spPr>
          <a:xfrm>
            <a:off x="566928" y="5065776"/>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35607" y="5138928"/>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貢献</a:t>
            </a:r>
          </a:p>
        </p:txBody>
      </p:sp>
      <p:sp>
        <p:nvSpPr>
          <p:cNvPr id="22" name="TextBox 21"/>
          <p:cNvSpPr txBox="1"/>
          <p:nvPr/>
        </p:nvSpPr>
        <p:spPr>
          <a:xfrm>
            <a:off x="3081528" y="5120640"/>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手法を高安定 HV でも評価し，局所探索を揃えた統制比較で，探索構造と演算子の関係を切り分けた</a:t>
            </a:r>
          </a:p>
          <a:p>
            <a:pPr algn="l">
              <a:lnSpc>
                <a:spcPct val="112000"/>
              </a:lnSpc>
            </a:pPr>
            <a:r>
              <a:rPr sz="1400" b="0" i="0">
                <a:solidFill>
                  <a:srgbClr val="26303A"/>
                </a:solidFill>
                <a:latin typeface="Meiryo"/>
                <a:ea typeface="Meiryo"/>
              </a:rPr>
              <a:t>→ </a:t>
            </a:r>
            <a:r>
              <a:rPr sz="1400" b="1" i="0">
                <a:solidFill>
                  <a:srgbClr val="16385C"/>
                </a:solidFill>
                <a:latin typeface="Meiryo"/>
                <a:ea typeface="Meiryo"/>
              </a:rPr>
              <a:t>ある演算子が有効だという報告は，どの探索構造に組み込んだかを抜きにしては一般化できない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限界と今後の課題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結論は本実験の条件の下で得たもので，条件を変えた再検証が今後の課題</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24</a:t>
            </a:r>
          </a:p>
        </p:txBody>
      </p:sp>
      <p:sp>
        <p:nvSpPr>
          <p:cNvPr id="8" name="TextBox 7"/>
          <p:cNvSpPr txBox="1"/>
          <p:nvPr/>
        </p:nvSpPr>
        <p:spPr>
          <a:xfrm>
            <a:off x="566928" y="1591056"/>
            <a:ext cx="11057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限界</a:t>
            </a:r>
          </a:p>
        </p:txBody>
      </p:sp>
      <p:sp>
        <p:nvSpPr>
          <p:cNvPr id="9" name="TextBox 8"/>
          <p:cNvSpPr txBox="1"/>
          <p:nvPr/>
        </p:nvSpPr>
        <p:spPr>
          <a:xfrm>
            <a:off x="749808" y="1993392"/>
            <a:ext cx="10874959" cy="457200"/>
          </a:xfrm>
          <a:prstGeom prst="rect">
            <a:avLst/>
          </a:prstGeom>
          <a:noFill/>
        </p:spPr>
        <p:txBody>
          <a:bodyPr wrap="square" anchor="t" lIns="18288" rIns="18288" tIns="9144" bIns="9144">
            <a:spAutoFit/>
          </a:bodyPr>
          <a:lstStyle/>
          <a:p>
            <a:pPr>
              <a:lnSpc>
                <a:spcPct val="108000"/>
              </a:lnSpc>
              <a:spcBef>
                <a:spcPts val="0"/>
              </a:spcBef>
            </a:pPr>
            <a:r>
              <a:rPr sz="1320" b="1" i="0">
                <a:solidFill>
                  <a:srgbClr val="16385C"/>
                </a:solidFill>
                <a:latin typeface="Meiryo"/>
                <a:ea typeface="Meiryo"/>
              </a:rPr>
              <a:t/>
            </a:r>
            <a:r>
              <a:rPr sz="1650" b="0" i="0">
                <a:solidFill>
                  <a:srgbClr val="26303A"/>
                </a:solidFill>
                <a:latin typeface="Meiryo"/>
                <a:ea typeface="Meiryo"/>
              </a:rPr>
              <a:t>(i) </a:t>
            </a:r>
            <a:r>
              <a:rPr sz="1650" b="0" i="1">
                <a:solidFill>
                  <a:srgbClr val="26303A"/>
                </a:solidFill>
                <a:latin typeface="Meiryo"/>
                <a:ea typeface="Meiryo"/>
              </a:rPr>
              <a:t>p</a:t>
            </a:r>
            <a:r>
              <a:rPr sz="1650" b="0" i="0">
                <a:solidFill>
                  <a:srgbClr val="26303A"/>
                </a:solidFill>
                <a:latin typeface="Meiryo"/>
                <a:ea typeface="Meiryo"/>
              </a:rPr>
              <a:t> が有意水準に近い比較は，</a:t>
            </a:r>
            <a:r>
              <a:rPr sz="1650" b="0" i="1">
                <a:solidFill>
                  <a:srgbClr val="26303A"/>
                </a:solidFill>
                <a:latin typeface="Meiryo"/>
                <a:ea typeface="Meiryo"/>
              </a:rPr>
              <a:t>n</a:t>
            </a:r>
            <a:r>
              <a:rPr sz="1650" b="0" i="0">
                <a:solidFill>
                  <a:srgbClr val="26303A"/>
                </a:solidFill>
                <a:latin typeface="Meiryo"/>
                <a:ea typeface="Meiryo"/>
              </a:rPr>
              <a:t> = 10 では決着していない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(ii) 安定性を開始時刻偏差で測る場合の妥当性は検証していない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(iii) 外乱は単一作業の遅延に限る</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(iv) 初期スケジュール </a:t>
            </a:r>
            <a:r>
              <a:rPr sz="1650" b="0" i="1">
                <a:solidFill>
                  <a:srgbClr val="26303A"/>
                </a:solidFill>
                <a:latin typeface="Meiryo"/>
                <a:ea typeface="Meiryo"/>
              </a:rPr>
              <a:t>S</a:t>
            </a:r>
            <a:r>
              <a:rPr sz="1188" b="0" i="1" baseline="-22000">
                <a:solidFill>
                  <a:srgbClr val="26303A"/>
                </a:solidFill>
                <a:latin typeface="Meiryo"/>
                <a:ea typeface="Meiryo"/>
              </a:rPr>
              <a:t>p</a:t>
            </a:r>
            <a:r>
              <a:rPr sz="1650" b="0" i="0">
                <a:solidFill>
                  <a:srgbClr val="26303A"/>
                </a:solidFill>
                <a:latin typeface="Meiryo"/>
                <a:ea typeface="Meiryo"/>
              </a:rPr>
              <a:t> の最適化の程度が結果に与える影響は検証していない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(v) 各探索構造の代表は 1 手法ずつである</a:t>
            </a:r>
          </a:p>
        </p:txBody>
      </p:sp>
      <p:sp>
        <p:nvSpPr>
          <p:cNvPr id="10" name="TextBox 9"/>
          <p:cNvSpPr txBox="1"/>
          <p:nvPr/>
        </p:nvSpPr>
        <p:spPr>
          <a:xfrm>
            <a:off x="566928" y="3886200"/>
            <a:ext cx="11057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今後の課題</a:t>
            </a:r>
          </a:p>
        </p:txBody>
      </p:sp>
      <p:sp>
        <p:nvSpPr>
          <p:cNvPr id="11" name="TextBox 10"/>
          <p:cNvSpPr txBox="1"/>
          <p:nvPr/>
        </p:nvSpPr>
        <p:spPr>
          <a:xfrm>
            <a:off x="749808" y="4288536"/>
            <a:ext cx="10874959" cy="457200"/>
          </a:xfrm>
          <a:prstGeom prst="rect">
            <a:avLst/>
          </a:prstGeom>
          <a:noFill/>
        </p:spPr>
        <p:txBody>
          <a:bodyPr wrap="square" anchor="t" lIns="18288" rIns="18288" tIns="9144" bIns="9144">
            <a:spAutoFit/>
          </a:bodyPr>
          <a:lstStyle/>
          <a:p>
            <a:pPr>
              <a:lnSpc>
                <a:spcPct val="108000"/>
              </a:lnSpc>
              <a:spcBef>
                <a:spcPts val="0"/>
              </a:spcBef>
            </a:pPr>
            <a:r>
              <a:rPr sz="1320" b="1" i="0">
                <a:solidFill>
                  <a:srgbClr val="16385C"/>
                </a:solidFill>
                <a:latin typeface="Meiryo"/>
                <a:ea typeface="Meiryo"/>
              </a:rPr>
              <a:t>▪ </a:t>
            </a:r>
            <a:r>
              <a:rPr sz="1650" b="0" i="0">
                <a:solidFill>
                  <a:srgbClr val="26303A"/>
                </a:solidFill>
                <a:latin typeface="Meiryo"/>
                <a:ea typeface="Meiryo"/>
              </a:rPr>
              <a:t>上記の条件を変えた再検証</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再スケジュールの範囲を限定するアプローチと安定性誘導演算子の統合</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安定性を交叉自体に持たせる方式の検証</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Pareto 支配に基づく手法（NSGA-II 等）での再検証</a:t>
            </a:r>
          </a:p>
        </p:txBody>
      </p:sp>
      <p:sp>
        <p:nvSpPr>
          <p:cNvPr id="12" name="TextBox 11"/>
          <p:cNvSpPr txBox="1"/>
          <p:nvPr/>
        </p:nvSpPr>
        <p:spPr>
          <a:xfrm>
            <a:off x="566928" y="5925312"/>
            <a:ext cx="11057839" cy="329184"/>
          </a:xfrm>
          <a:prstGeom prst="rect">
            <a:avLst/>
          </a:prstGeom>
          <a:noFill/>
        </p:spPr>
        <p:txBody>
          <a:bodyPr wrap="square" anchor="ctr" lIns="18288" rIns="18288" tIns="9144" bIns="9144">
            <a:spAutoFit/>
          </a:bodyPr>
          <a:lstStyle/>
          <a:p>
            <a:pPr algn="l">
              <a:lnSpc>
                <a:spcPct val="105000"/>
              </a:lnSpc>
            </a:pPr>
            <a:r>
              <a:rPr sz="1300" b="0" i="0">
                <a:solidFill>
                  <a:srgbClr val="6E7A88"/>
                </a:solidFill>
                <a:latin typeface="Meiryo"/>
                <a:ea typeface="Meiryo"/>
              </a:rPr>
              <a:t>データ：各シナリオの定義と，試行ごとの値・検定は公開リポジトリに収録（https://github.com/kitotakumi/stability_scheduling）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651760"/>
            <a:ext cx="9144000" cy="914400"/>
          </a:xfrm>
          <a:prstGeom prst="rect">
            <a:avLst/>
          </a:prstGeom>
          <a:noFill/>
        </p:spPr>
        <p:txBody>
          <a:bodyPr wrap="square" anchor="t" lIns="18288" rIns="18288" tIns="9144" bIns="9144">
            <a:spAutoFit/>
          </a:bodyPr>
          <a:lstStyle/>
          <a:p>
            <a:pPr algn="l">
              <a:lnSpc>
                <a:spcPct val="105000"/>
              </a:lnSpc>
            </a:pPr>
            <a:r>
              <a:rPr sz="3000" b="1" i="0">
                <a:solidFill>
                  <a:srgbClr val="FFFFFF"/>
                </a:solidFill>
                <a:latin typeface="Meiryo"/>
                <a:ea typeface="Meiryo"/>
              </a:rPr>
              <a:t>予備スライド</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［予備］問題設定の根拠</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26</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外乱を単一の作業遅延に限る理由</a:t>
            </a:r>
            <a:r>
              <a:rPr sz="1500" b="0" i="0">
                <a:solidFill>
                  <a:srgbClr val="26303A"/>
                </a:solidFill>
                <a:latin typeface="Meiryo"/>
                <a:ea typeface="Meiryo"/>
              </a:rPr>
              <a:t>：作業遅延は作業集合を変えず，処理順序の再調整だけで対処できる．修正スケジュールを高安定領域に保つという前提が，最も素直に成り立つ外乱である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再スケジューリング時刻 </a:t>
            </a:r>
            <a:r>
              <a:rPr sz="1500" b="1" i="1">
                <a:solidFill>
                  <a:srgbClr val="16385C"/>
                </a:solidFill>
                <a:latin typeface="Meiryo"/>
                <a:ea typeface="Meiryo"/>
              </a:rPr>
              <a:t>t</a:t>
            </a:r>
            <a:r>
              <a:rPr sz="1080" b="1" i="1" baseline="-22000">
                <a:solidFill>
                  <a:srgbClr val="16385C"/>
                </a:solidFill>
                <a:latin typeface="Meiryo"/>
                <a:ea typeface="Meiryo"/>
              </a:rPr>
              <a:t>r</a:t>
            </a:r>
            <a:r>
              <a:rPr sz="1500" b="0" i="0">
                <a:solidFill>
                  <a:srgbClr val="26303A"/>
                </a:solidFill>
                <a:latin typeface="Meiryo"/>
                <a:ea typeface="Meiryo"/>
              </a:rPr>
              <a:t>：遅延の解消時刻．遅延の発生から </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までは，機械上の順序を </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から変えずに遅延を吸収して実行を続ける（right-shift）．この間に開始した作業はもう変更できないため凍結し，</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以降の作業の機械ごとの処理順序だけを決定変数とする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安定性を順序偏差で測る理由</a:t>
            </a:r>
            <a:r>
              <a:rPr sz="1500" b="0" i="0">
                <a:solidFill>
                  <a:srgbClr val="26303A"/>
                </a:solidFill>
                <a:latin typeface="Meiryo"/>
                <a:ea typeface="Meiryo"/>
              </a:rPr>
              <a:t>：変更量の測り方は，開始時刻偏差と順序偏差の二系統に大別される（Sun ら (2026) は前者の開始時刻の絶対偏差和を採る）．本研究は，探索で用いる操作（N5 近傍と安定性誘導演算子の swap 移動）がいずれも順列操作であること，および </a:t>
            </a:r>
            <a:r>
              <a:rPr sz="1500" b="0" i="1">
                <a:solidFill>
                  <a:srgbClr val="26303A"/>
                </a:solidFill>
                <a:latin typeface="Meiryo"/>
                <a:ea typeface="Meiryo"/>
              </a:rPr>
              <a:t>MS</a:t>
            </a:r>
            <a:r>
              <a:rPr sz="1500" b="0" i="0">
                <a:solidFill>
                  <a:srgbClr val="26303A"/>
                </a:solidFill>
                <a:latin typeface="Meiryo"/>
                <a:ea typeface="Meiryo"/>
              </a:rPr>
              <a:t> との独立性が高いことから，順序偏差を採る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［予備］重み付き和によるスカラー化</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27</a:t>
            </a:r>
          </a:p>
        </p:txBody>
      </p:sp>
      <p:pic>
        <p:nvPicPr>
          <p:cNvPr id="6" name="Picture 5" descr="eq_talk_F.png"/>
          <p:cNvPicPr>
            <a:picLocks noChangeAspect="1"/>
          </p:cNvPicPr>
          <p:nvPr/>
        </p:nvPicPr>
        <p:blipFill>
          <a:blip r:embed="rId2"/>
          <a:stretch>
            <a:fillRect/>
          </a:stretch>
        </p:blipFill>
        <p:spPr>
          <a:xfrm>
            <a:off x="3643240" y="1325880"/>
            <a:ext cx="4905213" cy="548640"/>
          </a:xfrm>
          <a:prstGeom prst="rect">
            <a:avLst/>
          </a:prstGeom>
        </p:spPr>
      </p:pic>
      <p:sp>
        <p:nvSpPr>
          <p:cNvPr id="7" name="TextBox 6"/>
          <p:cNvSpPr txBox="1"/>
          <p:nvPr/>
        </p:nvSpPr>
        <p:spPr>
          <a:xfrm>
            <a:off x="10984687" y="1463040"/>
            <a:ext cx="640080" cy="274320"/>
          </a:xfrm>
          <a:prstGeom prst="rect">
            <a:avLst/>
          </a:prstGeom>
          <a:noFill/>
        </p:spPr>
        <p:txBody>
          <a:bodyPr wrap="square" anchor="t" lIns="18288" rIns="18288" tIns="9144" bIns="9144">
            <a:spAutoFit/>
          </a:bodyPr>
          <a:lstStyle/>
          <a:p>
            <a:pPr algn="r"/>
            <a:r>
              <a:rPr sz="1300" b="0" i="0">
                <a:solidFill>
                  <a:srgbClr val="26303A"/>
                </a:solidFill>
                <a:latin typeface="Meiryo"/>
                <a:ea typeface="Meiryo"/>
              </a:rPr>
              <a:t>(2)</a:t>
            </a:r>
          </a:p>
        </p:txBody>
      </p:sp>
      <p:sp>
        <p:nvSpPr>
          <p:cNvPr id="8" name="TextBox 7"/>
          <p:cNvSpPr txBox="1"/>
          <p:nvPr/>
        </p:nvSpPr>
        <p:spPr>
          <a:xfrm>
            <a:off x="566928" y="2011680"/>
            <a:ext cx="11057839" cy="365760"/>
          </a:xfrm>
          <a:prstGeom prst="rect">
            <a:avLst/>
          </a:prstGeom>
          <a:noFill/>
        </p:spPr>
        <p:txBody>
          <a:bodyPr wrap="square" anchor="t" lIns="18288" rIns="18288" tIns="9144" bIns="9144">
            <a:spAutoFit/>
          </a:bodyPr>
          <a:lstStyle/>
          <a:p>
            <a:pPr algn="ctr">
              <a:lnSpc>
                <a:spcPct val="105000"/>
              </a:lnSpc>
            </a:pPr>
            <a:r>
              <a:rPr sz="1250" b="0" i="1">
                <a:solidFill>
                  <a:srgbClr val="6E7A88"/>
                </a:solidFill>
                <a:latin typeface="Meiryo"/>
                <a:ea typeface="Meiryo"/>
              </a:rPr>
              <a:t>D</a:t>
            </a:r>
            <a:r>
              <a:rPr sz="1250" b="0" i="0">
                <a:solidFill>
                  <a:srgbClr val="6E7A88"/>
                </a:solidFill>
                <a:latin typeface="Meiryo"/>
                <a:ea typeface="Meiryo"/>
              </a:rPr>
              <a:t>，</a:t>
            </a:r>
            <a:r>
              <a:rPr sz="1250" b="0" i="1">
                <a:solidFill>
                  <a:srgbClr val="6E7A88"/>
                </a:solidFill>
                <a:latin typeface="Meiryo"/>
                <a:ea typeface="Meiryo"/>
              </a:rPr>
              <a:t>MS</a:t>
            </a:r>
            <a:r>
              <a:rPr sz="1250" b="0" i="0">
                <a:solidFill>
                  <a:srgbClr val="6E7A88"/>
                </a:solidFill>
                <a:latin typeface="Meiryo"/>
                <a:ea typeface="Meiryo"/>
              </a:rPr>
              <a:t> は min-max 正規化値．</a:t>
            </a:r>
            <a:r>
              <a:rPr sz="1250" b="0" i="1">
                <a:solidFill>
                  <a:srgbClr val="6E7A88"/>
                </a:solidFill>
                <a:latin typeface="Meiryo"/>
                <a:ea typeface="Meiryo"/>
              </a:rPr>
              <a:t>λ</a:t>
            </a:r>
            <a:r>
              <a:rPr sz="1250" b="0" i="0">
                <a:solidFill>
                  <a:srgbClr val="6E7A88"/>
                </a:solidFill>
                <a:latin typeface="Meiryo"/>
                <a:ea typeface="Meiryo"/>
              </a:rPr>
              <a:t> = 0, 0.1, …, 0.9 の 10 点で探索を独立に行う（</a:t>
            </a:r>
            <a:r>
              <a:rPr sz="1250" b="0" i="1">
                <a:solidFill>
                  <a:srgbClr val="6E7A88"/>
                </a:solidFill>
                <a:latin typeface="Meiryo"/>
                <a:ea typeface="Meiryo"/>
              </a:rPr>
              <a:t>λ</a:t>
            </a:r>
            <a:r>
              <a:rPr sz="1250" b="0" i="0">
                <a:solidFill>
                  <a:srgbClr val="6E7A88"/>
                </a:solidFill>
                <a:latin typeface="Meiryo"/>
                <a:ea typeface="Meiryo"/>
              </a:rPr>
              <a:t> = 1.0 は </a:t>
            </a:r>
            <a:r>
              <a:rPr sz="1250" b="0" i="1">
                <a:solidFill>
                  <a:srgbClr val="6E7A88"/>
                </a:solidFill>
                <a:latin typeface="Meiryo"/>
                <a:ea typeface="Meiryo"/>
              </a:rPr>
              <a:t>D</a:t>
            </a:r>
            <a:r>
              <a:rPr sz="1250" b="0" i="0">
                <a:solidFill>
                  <a:srgbClr val="6E7A88"/>
                </a:solidFill>
                <a:latin typeface="Meiryo"/>
                <a:ea typeface="Meiryo"/>
              </a:rPr>
              <a:t> = 0 の自明解に縮退するため除く）</a:t>
            </a:r>
          </a:p>
        </p:txBody>
      </p:sp>
      <p:sp>
        <p:nvSpPr>
          <p:cNvPr id="9" name="TextBox 8"/>
          <p:cNvSpPr txBox="1"/>
          <p:nvPr/>
        </p:nvSpPr>
        <p:spPr>
          <a:xfrm>
            <a:off x="566928" y="260604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a:solidFill>
                  <a:srgbClr val="16385C"/>
                </a:solidFill>
                <a:latin typeface="Meiryo"/>
                <a:ea typeface="Meiryo"/>
              </a:rPr>
              <a:t>▪ </a:t>
            </a:r>
            <a:r>
              <a:rPr sz="1450" b="1" i="0">
                <a:solidFill>
                  <a:srgbClr val="16385C"/>
                </a:solidFill>
                <a:latin typeface="Meiryo"/>
                <a:ea typeface="Meiryo"/>
              </a:rPr>
              <a:t>運用との対応</a:t>
            </a:r>
            <a:r>
              <a:rPr sz="1450" b="0" i="0">
                <a:solidFill>
                  <a:srgbClr val="26303A"/>
                </a:solidFill>
                <a:latin typeface="Meiryo"/>
                <a:ea typeface="Meiryo"/>
              </a:rPr>
              <a:t>：生産効率と安定性の優先度は，意思決定者が事前に重みとして与える．1 点ぶんの探索は，重みが定まった状態で再スケジューリングを 1 回行う実運用に対応する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先行研究との対応</a:t>
            </a:r>
            <a:r>
              <a:rPr sz="1450" b="0" i="0">
                <a:solidFill>
                  <a:srgbClr val="26303A"/>
                </a:solidFill>
                <a:latin typeface="Meiryo"/>
                <a:ea typeface="Meiryo"/>
              </a:rPr>
              <a:t>：Rangsaritratsamee ら (2004)・Zhang ら (2013)・Fattahi &amp; Fallahi (2010) も，生産効率と安定性を重みで 1 つのスカラーにまとめる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統制比較の共通基盤</a:t>
            </a:r>
            <a:r>
              <a:rPr sz="1450" b="0" i="0">
                <a:solidFill>
                  <a:srgbClr val="26303A"/>
                </a:solidFill>
                <a:latin typeface="Meiryo"/>
                <a:ea typeface="Meiryo"/>
              </a:rPr>
              <a:t>：単点探索と多点探索に同じ目的 </a:t>
            </a:r>
            <a:r>
              <a:rPr sz="1450" b="0" i="1">
                <a:solidFill>
                  <a:srgbClr val="26303A"/>
                </a:solidFill>
                <a:latin typeface="Meiryo"/>
                <a:ea typeface="Meiryo"/>
              </a:rPr>
              <a:t>F</a:t>
            </a:r>
            <a:r>
              <a:rPr sz="1450" b="0" i="0">
                <a:solidFill>
                  <a:srgbClr val="26303A"/>
                </a:solidFill>
                <a:latin typeface="Meiryo"/>
                <a:ea typeface="Meiryo"/>
              </a:rPr>
              <a:t> を共有させ，同じ安定性誘導演算子を変更なしで組み込める → 構造間で条件を揃えて比較できる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評価との対応</a:t>
            </a:r>
            <a:r>
              <a:rPr sz="1450" b="0" i="0">
                <a:solidFill>
                  <a:srgbClr val="26303A"/>
                </a:solidFill>
                <a:latin typeface="Meiryo"/>
                <a:ea typeface="Meiryo"/>
              </a:rPr>
              <a:t>：各重みの探索を時間で追えば立ち上がりの速さ（AUC）が，全重みの解を合わせれば Pareto フロント全体の HV が，同じ実験から測れる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限界</a:t>
            </a:r>
            <a:r>
              <a:rPr sz="1450" b="0" i="0">
                <a:solidFill>
                  <a:srgbClr val="26303A"/>
                </a:solidFill>
                <a:latin typeface="Meiryo"/>
                <a:ea typeface="Meiryo"/>
              </a:rPr>
              <a:t>：重み付き和は非凸な Pareto フロントの凹部に届かない．ただし全手法が同じスカラー化を共有し，探索中に訪問した凹部の解も記録するため，構造差の比較への影響は限定的．Pareto 支配に基づく手法（NSGA-II 等）での再検証は今後の課題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［予備］なぜ ILS と Memetic か</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28</a:t>
            </a:r>
          </a:p>
        </p:txBody>
      </p:sp>
      <p:sp>
        <p:nvSpPr>
          <p:cNvPr id="6" name="Rounded Rectangle 5"/>
          <p:cNvSpPr/>
          <p:nvPr/>
        </p:nvSpPr>
        <p:spPr>
          <a:xfrm>
            <a:off x="566928"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25880"/>
            <a:ext cx="5346039" cy="502920"/>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325880"/>
            <a:ext cx="4980279" cy="502920"/>
          </a:xfrm>
          <a:prstGeom prst="rect">
            <a:avLst/>
          </a:prstGeom>
          <a:noFill/>
        </p:spPr>
        <p:txBody>
          <a:bodyPr wrap="square" anchor="ctr" lIns="18288" rIns="18288" tIns="9144" bIns="9144">
            <a:spAutoFit/>
          </a:bodyPr>
          <a:lstStyle/>
          <a:p>
            <a:pPr algn="l">
              <a:lnSpc>
                <a:spcPct val="105000"/>
              </a:lnSpc>
            </a:pPr>
            <a:r>
              <a:rPr sz="1450" b="1" i="0">
                <a:solidFill>
                  <a:srgbClr val="FFFFFF"/>
                </a:solidFill>
                <a:latin typeface="Meiryo"/>
                <a:ea typeface="Meiryo"/>
              </a:rPr>
              <a:t>単点探索の代表：ILS（反復局所探索）</a:t>
            </a:r>
          </a:p>
        </p:txBody>
      </p:sp>
      <p:sp>
        <p:nvSpPr>
          <p:cNvPr id="9" name="TextBox 8"/>
          <p:cNvSpPr txBox="1"/>
          <p:nvPr/>
        </p:nvSpPr>
        <p:spPr>
          <a:xfrm>
            <a:off x="749808"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0">
                <a:solidFill>
                  <a:srgbClr val="26303A"/>
                </a:solidFill>
                <a:latin typeface="Meiryo"/>
                <a:ea typeface="Meiryo"/>
              </a:rPr>
              <a:t>摂動 → 局所探索 → 受理判定を反復し，1 つの解を改善する枠組み</a:t>
            </a:r>
          </a:p>
          <a:p>
            <a:pPr>
              <a:lnSpc>
                <a:spcPct val="108000"/>
              </a:lnSpc>
              <a:spcBef>
                <a:spcPts val="1000"/>
              </a:spcBef>
            </a:pPr>
            <a:r>
              <a:rPr sz="1040" b="1" i="0">
                <a:solidFill>
                  <a:srgbClr val="16385C"/>
                </a:solidFill>
                <a:latin typeface="Meiryo"/>
                <a:ea typeface="Meiryo"/>
              </a:rPr>
              <a:t>▪ </a:t>
            </a:r>
            <a:r>
              <a:rPr sz="1300" b="1" i="0">
                <a:solidFill>
                  <a:srgbClr val="16385C"/>
                </a:solidFill>
                <a:latin typeface="Meiryo"/>
                <a:ea typeface="Meiryo"/>
              </a:rPr>
              <a:t>局所探索と摂動が独立した段に分かれている</a:t>
            </a:r>
            <a:r>
              <a:rPr sz="1300" b="0" i="0">
                <a:solidFill>
                  <a:srgbClr val="26303A"/>
                </a:solidFill>
                <a:latin typeface="Meiryo"/>
                <a:ea typeface="Meiryo"/>
              </a:rPr>
              <a:t>ため，摂動の強度（現在解から一度にどれだけ離すか）を明示的に設定でき，安定性誘導演算子も局所探索・受理判定を変えずに摂動の段へ組み込める</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他の単点探索は局所最適からの脱出を別の形で行う：SA は悪化解の確率的な受理，タブーサーチは再訪の禁止</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設定：初期解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．insert 摂動は 2〜5 手を停滞度に応じて巡回．best の </a:t>
            </a:r>
            <a:r>
              <a:rPr sz="1300" b="0" i="1">
                <a:solidFill>
                  <a:srgbClr val="26303A"/>
                </a:solidFill>
                <a:latin typeface="Meiryo"/>
                <a:ea typeface="Meiryo"/>
              </a:rPr>
              <a:t>F</a:t>
            </a:r>
            <a:r>
              <a:rPr sz="1300" b="0" i="0">
                <a:solidFill>
                  <a:srgbClr val="26303A"/>
                </a:solidFill>
                <a:latin typeface="Meiryo"/>
                <a:ea typeface="Meiryo"/>
              </a:rPr>
              <a:t> を厳密に改善したときのみ現在解を更新</a:t>
            </a:r>
          </a:p>
        </p:txBody>
      </p:sp>
      <p:sp>
        <p:nvSpPr>
          <p:cNvPr id="10" name="Rounded Rectangle 9"/>
          <p:cNvSpPr/>
          <p:nvPr/>
        </p:nvSpPr>
        <p:spPr>
          <a:xfrm>
            <a:off x="6278727"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8727" y="1325880"/>
            <a:ext cx="5346039" cy="502920"/>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1607" y="1325880"/>
            <a:ext cx="4980279" cy="502920"/>
          </a:xfrm>
          <a:prstGeom prst="rect">
            <a:avLst/>
          </a:prstGeom>
          <a:noFill/>
        </p:spPr>
        <p:txBody>
          <a:bodyPr wrap="square" anchor="ctr" lIns="18288" rIns="18288" tIns="9144" bIns="9144">
            <a:spAutoFit/>
          </a:bodyPr>
          <a:lstStyle/>
          <a:p>
            <a:pPr algn="l">
              <a:lnSpc>
                <a:spcPct val="105000"/>
              </a:lnSpc>
            </a:pPr>
            <a:r>
              <a:rPr sz="1450" b="1" i="0">
                <a:solidFill>
                  <a:srgbClr val="FFFFFF"/>
                </a:solidFill>
                <a:latin typeface="Meiryo"/>
                <a:ea typeface="Meiryo"/>
              </a:rPr>
              <a:t>多点探索の代表：Memetic（GA＋局所探索）</a:t>
            </a:r>
          </a:p>
        </p:txBody>
      </p:sp>
      <p:sp>
        <p:nvSpPr>
          <p:cNvPr id="13" name="TextBox 12"/>
          <p:cNvSpPr txBox="1"/>
          <p:nvPr/>
        </p:nvSpPr>
        <p:spPr>
          <a:xfrm>
            <a:off x="6461607"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0">
                <a:solidFill>
                  <a:srgbClr val="26303A"/>
                </a:solidFill>
                <a:latin typeface="Meiryo"/>
                <a:ea typeface="Meiryo"/>
              </a:rPr>
              <a:t>先行研究（Rangsaritratsamee ら 2004，Fattahi &amp; Fallahi 2010）で用いられる，</a:t>
            </a:r>
            <a:r>
              <a:rPr sz="1300" b="1" i="0">
                <a:solidFill>
                  <a:srgbClr val="16385C"/>
                </a:solidFill>
                <a:latin typeface="Meiryo"/>
                <a:ea typeface="Meiryo"/>
              </a:rPr>
              <a:t>GA に局所探索を組み込んだ標準的な構成</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GA：operation-based 表現，GT 法でデコード，エリート保存付きトーナメント選択，PPX 交叉，逆位突然変異</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各個体に N5 局所探索を適用し，改善解を染色体に書き戻す Lamarckian 型．初期集団に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を 1 個体含める</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局所探索をもたない素の GA は参考として比較する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［予備］安定性誘導演算子の設計</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29</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a:solidFill>
                  <a:srgbClr val="16385C"/>
                </a:solidFill>
                <a:latin typeface="Meiryo"/>
                <a:ea typeface="Meiryo"/>
              </a:rPr>
              <a:t>▪ </a:t>
            </a:r>
            <a:r>
              <a:rPr sz="1450" b="1" i="0">
                <a:solidFill>
                  <a:srgbClr val="16385C"/>
                </a:solidFill>
                <a:latin typeface="Meiryo"/>
                <a:ea typeface="Meiryo"/>
              </a:rPr>
              <a:t>誘導解を </a:t>
            </a:r>
            <a:r>
              <a:rPr sz="1450" b="1" i="1">
                <a:solidFill>
                  <a:srgbClr val="16385C"/>
                </a:solidFill>
                <a:latin typeface="Meiryo"/>
                <a:ea typeface="Meiryo"/>
              </a:rPr>
              <a:t>S</a:t>
            </a:r>
            <a:r>
              <a:rPr sz="1044" b="1" i="1" baseline="-22000">
                <a:solidFill>
                  <a:srgbClr val="16385C"/>
                </a:solidFill>
                <a:latin typeface="Meiryo"/>
                <a:ea typeface="Meiryo"/>
              </a:rPr>
              <a:t>p</a:t>
            </a:r>
            <a:r>
              <a:rPr sz="1450" b="1" i="0">
                <a:solidFill>
                  <a:srgbClr val="16385C"/>
                </a:solidFill>
                <a:latin typeface="Meiryo"/>
                <a:ea typeface="Meiryo"/>
              </a:rPr>
              <a:t> に固定する理由</a:t>
            </a:r>
            <a:r>
              <a:rPr sz="1450" b="0" i="0">
                <a:solidFill>
                  <a:srgbClr val="26303A"/>
                </a:solidFill>
                <a:latin typeface="Meiryo"/>
                <a:ea typeface="Meiryo"/>
              </a:rPr>
              <a:t>：(a)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は順序偏差 </a:t>
            </a:r>
            <a:r>
              <a:rPr sz="1450" b="0" i="1">
                <a:solidFill>
                  <a:srgbClr val="26303A"/>
                </a:solidFill>
                <a:latin typeface="Meiryo"/>
                <a:ea typeface="Meiryo"/>
              </a:rPr>
              <a:t>D</a:t>
            </a:r>
            <a:r>
              <a:rPr sz="1450" b="0" i="0">
                <a:solidFill>
                  <a:srgbClr val="26303A"/>
                </a:solidFill>
                <a:latin typeface="Meiryo"/>
                <a:ea typeface="Meiryo"/>
              </a:rPr>
              <a:t> を最小にする解なので，PR を「</a:t>
            </a:r>
            <a:r>
              <a:rPr sz="1450" b="0" i="1">
                <a:solidFill>
                  <a:srgbClr val="26303A"/>
                </a:solidFill>
                <a:latin typeface="Meiryo"/>
                <a:ea typeface="Meiryo"/>
              </a:rPr>
              <a:t>D</a:t>
            </a:r>
            <a:r>
              <a:rPr sz="1450" b="0" i="0">
                <a:solidFill>
                  <a:srgbClr val="26303A"/>
                </a:solidFill>
                <a:latin typeface="Meiryo"/>
                <a:ea typeface="Meiryo"/>
              </a:rPr>
              <a:t> を最小にする解へ向かう移動」と一意に解釈できる．(b)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へ向かう経路上には </a:t>
            </a:r>
            <a:r>
              <a:rPr sz="1450" b="0" i="1">
                <a:solidFill>
                  <a:srgbClr val="26303A"/>
                </a:solidFill>
                <a:latin typeface="Meiryo"/>
                <a:ea typeface="Meiryo"/>
              </a:rPr>
              <a:t>D</a:t>
            </a:r>
            <a:r>
              <a:rPr sz="1450" b="0" i="0">
                <a:solidFill>
                  <a:srgbClr val="26303A"/>
                </a:solidFill>
                <a:latin typeface="Meiryo"/>
                <a:ea typeface="Meiryo"/>
              </a:rPr>
              <a:t> が小さく </a:t>
            </a:r>
            <a:r>
              <a:rPr sz="1450" b="0" i="1">
                <a:solidFill>
                  <a:srgbClr val="26303A"/>
                </a:solidFill>
                <a:latin typeface="Meiryo"/>
                <a:ea typeface="Meiryo"/>
              </a:rPr>
              <a:t>MS</a:t>
            </a:r>
            <a:r>
              <a:rPr sz="1450" b="0" i="0">
                <a:solidFill>
                  <a:srgbClr val="26303A"/>
                </a:solidFill>
                <a:latin typeface="Meiryo"/>
                <a:ea typeface="Meiryo"/>
              </a:rPr>
              <a:t> の劣化も小さい解が現れると期待でき，それが高安定領域の非劣解になる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PR-</a:t>
            </a:r>
            <a:r>
              <a:rPr sz="1450" b="1" i="1">
                <a:solidFill>
                  <a:srgbClr val="16385C"/>
                </a:solidFill>
                <a:latin typeface="Meiryo"/>
                <a:ea typeface="Meiryo"/>
              </a:rPr>
              <a:t>k</a:t>
            </a:r>
            <a:r>
              <a:rPr sz="1450" b="1" i="0">
                <a:solidFill>
                  <a:srgbClr val="16385C"/>
                </a:solidFill>
                <a:latin typeface="Meiryo"/>
                <a:ea typeface="Meiryo"/>
              </a:rPr>
              <a:t> で </a:t>
            </a:r>
            <a:r>
              <a:rPr sz="1450" b="1" i="1">
                <a:solidFill>
                  <a:srgbClr val="16385C"/>
                </a:solidFill>
                <a:latin typeface="Meiryo"/>
                <a:ea typeface="Meiryo"/>
              </a:rPr>
              <a:t>k</a:t>
            </a:r>
            <a:r>
              <a:rPr sz="1450" b="1" i="0">
                <a:solidFill>
                  <a:srgbClr val="16385C"/>
                </a:solidFill>
                <a:latin typeface="Meiryo"/>
                <a:ea typeface="Meiryo"/>
              </a:rPr>
              <a:t> を変える理由</a:t>
            </a:r>
            <a:r>
              <a:rPr sz="1450" b="0" i="0">
                <a:solidFill>
                  <a:srgbClr val="26303A"/>
                </a:solidFill>
                <a:latin typeface="Meiryo"/>
                <a:ea typeface="Meiryo"/>
              </a:rPr>
              <a:t>：</a:t>
            </a:r>
            <a:r>
              <a:rPr sz="1450" b="0" i="1">
                <a:solidFill>
                  <a:srgbClr val="26303A"/>
                </a:solidFill>
                <a:latin typeface="Meiryo"/>
                <a:ea typeface="Meiryo"/>
              </a:rPr>
              <a:t>k</a:t>
            </a:r>
            <a:r>
              <a:rPr sz="1450" b="0" i="0">
                <a:solidFill>
                  <a:srgbClr val="26303A"/>
                </a:solidFill>
                <a:latin typeface="Meiryo"/>
                <a:ea typeface="Meiryo"/>
              </a:rPr>
              <a:t> が </a:t>
            </a:r>
            <a:r>
              <a:rPr sz="1450" b="0" i="1">
                <a:solidFill>
                  <a:srgbClr val="26303A"/>
                </a:solidFill>
                <a:latin typeface="Meiryo"/>
                <a:ea typeface="Meiryo"/>
              </a:rPr>
              <a:t>d</a:t>
            </a:r>
            <a:r>
              <a:rPr sz="1450" b="0" i="0">
                <a:solidFill>
                  <a:srgbClr val="26303A"/>
                </a:solidFill>
                <a:latin typeface="Meiryo"/>
                <a:ea typeface="Meiryo"/>
              </a:rPr>
              <a:t> に等しければ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まで戻り，小さければ現在解の近くに留まる．</a:t>
            </a:r>
            <a:r>
              <a:rPr sz="1450" b="0" i="1">
                <a:solidFill>
                  <a:srgbClr val="26303A"/>
                </a:solidFill>
                <a:latin typeface="Meiryo"/>
                <a:ea typeface="Meiryo"/>
              </a:rPr>
              <a:t>k</a:t>
            </a:r>
            <a:r>
              <a:rPr sz="1450" b="0" i="0">
                <a:solidFill>
                  <a:srgbClr val="26303A"/>
                </a:solidFill>
                <a:latin typeface="Meiryo"/>
                <a:ea typeface="Meiryo"/>
              </a:rPr>
              <a:t> を変えて繰り返すことで，現在解と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の間の広い範囲に解を得る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組み込み方</a:t>
            </a:r>
            <a:r>
              <a:rPr sz="1450" b="0" i="0">
                <a:solidFill>
                  <a:srgbClr val="26303A"/>
                </a:solidFill>
                <a:latin typeface="Meiryo"/>
                <a:ea typeface="Meiryo"/>
              </a:rPr>
              <a:t>：両構造に「</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に近づける swap 移動」という核を共有させ，発動の契機と返し方は各構造の標準的な組み込み方に合わせる．ILS は停滞時に摂動として発動し，</a:t>
            </a:r>
            <a:r>
              <a:rPr sz="1450" b="0" i="1">
                <a:solidFill>
                  <a:srgbClr val="26303A"/>
                </a:solidFill>
                <a:latin typeface="Meiryo"/>
                <a:ea typeface="Meiryo"/>
              </a:rPr>
              <a:t>k</a:t>
            </a:r>
            <a:r>
              <a:rPr sz="1450" b="0" i="0">
                <a:solidFill>
                  <a:srgbClr val="26303A"/>
                </a:solidFill>
                <a:latin typeface="Meiryo"/>
                <a:ea typeface="Meiryo"/>
              </a:rPr>
              <a:t> を 1 から </a:t>
            </a:r>
            <a:r>
              <a:rPr sz="1450" b="0" i="1">
                <a:solidFill>
                  <a:srgbClr val="26303A"/>
                </a:solidFill>
                <a:latin typeface="Meiryo"/>
                <a:ea typeface="Meiryo"/>
              </a:rPr>
              <a:t>d</a:t>
            </a:r>
            <a:r>
              <a:rPr sz="1450" b="0" i="0">
                <a:solidFill>
                  <a:srgbClr val="26303A"/>
                </a:solidFill>
                <a:latin typeface="Meiryo"/>
                <a:ea typeface="Meiryo"/>
              </a:rPr>
              <a:t> まで 1 ずつ増やして，上限に達するか best が改善したら 1 に戻す．Memetic は局所探索の後に個体ごとに確率的に適用し（</a:t>
            </a:r>
            <a:r>
              <a:rPr sz="1450" b="0" i="1">
                <a:solidFill>
                  <a:srgbClr val="26303A"/>
                </a:solidFill>
                <a:latin typeface="Meiryo"/>
                <a:ea typeface="Meiryo"/>
              </a:rPr>
              <a:t>k</a:t>
            </a:r>
            <a:r>
              <a:rPr sz="1450" b="0" i="0">
                <a:solidFill>
                  <a:srgbClr val="26303A"/>
                </a:solidFill>
                <a:latin typeface="Meiryo"/>
                <a:ea typeface="Meiryo"/>
              </a:rPr>
              <a:t> は 1〜</a:t>
            </a:r>
            <a:r>
              <a:rPr sz="1450" b="0" i="1">
                <a:solidFill>
                  <a:srgbClr val="26303A"/>
                </a:solidFill>
                <a:latin typeface="Meiryo"/>
                <a:ea typeface="Meiryo"/>
              </a:rPr>
              <a:t>d</a:t>
            </a:r>
            <a:r>
              <a:rPr sz="1450" b="0" i="0">
                <a:solidFill>
                  <a:srgbClr val="26303A"/>
                </a:solidFill>
                <a:latin typeface="Meiryo"/>
                <a:ea typeface="Meiryo"/>
              </a:rPr>
              <a:t> から一様に選ぶ），N5 で再最適化して無条件に集団へ戻す（採否はトーナメント選択に委ねる）</a:t>
            </a:r>
          </a:p>
          <a:p>
            <a:pPr>
              <a:lnSpc>
                <a:spcPct val="108000"/>
              </a:lnSpc>
              <a:spcBef>
                <a:spcPts val="300"/>
              </a:spcBef>
            </a:pPr>
            <a:r>
              <a:rPr sz="1232" b="0" i="0">
                <a:solidFill>
                  <a:srgbClr val="6E7A88"/>
                </a:solidFill>
                <a:latin typeface="Meiryo"/>
                <a:ea typeface="Meiryo"/>
              </a:rPr>
              <a:t>　－ </a:t>
            </a:r>
            <a:r>
              <a:rPr sz="1305" b="0" i="0">
                <a:solidFill>
                  <a:srgbClr val="26303A"/>
                </a:solidFill>
                <a:latin typeface="Meiryo"/>
                <a:ea typeface="Meiryo"/>
              </a:rPr>
              <a:t>組み込み方が同じ ILS 系の中でも帯の内外で効果が分かれる → 効果の非対称は，組み込み方の違いでは説明できない</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入れ替える作業の選び方</a:t>
            </a:r>
            <a:r>
              <a:rPr sz="1450" b="0" i="0">
                <a:solidFill>
                  <a:srgbClr val="26303A"/>
                </a:solidFill>
                <a:latin typeface="Meiryo"/>
                <a:ea typeface="Meiryo"/>
              </a:rPr>
              <a:t>：実行可能な候補からランダムに選び，評価回数を </a:t>
            </a:r>
            <a:r>
              <a:rPr sz="1450" b="0" i="1">
                <a:solidFill>
                  <a:srgbClr val="26303A"/>
                </a:solidFill>
                <a:latin typeface="Meiryo"/>
                <a:ea typeface="Meiryo"/>
              </a:rPr>
              <a:t>O(d)</a:t>
            </a:r>
            <a:r>
              <a:rPr sz="1450" b="0" i="0">
                <a:solidFill>
                  <a:srgbClr val="26303A"/>
                </a:solidFill>
                <a:latin typeface="Meiryo"/>
                <a:ea typeface="Meiryo"/>
              </a:rPr>
              <a:t> に抑える．全候補を評価する best 選択は </a:t>
            </a:r>
            <a:r>
              <a:rPr sz="1450" b="0" i="1">
                <a:solidFill>
                  <a:srgbClr val="26303A"/>
                </a:solidFill>
                <a:latin typeface="Meiryo"/>
                <a:ea typeface="Meiryo"/>
              </a:rPr>
              <a:t>O(d</a:t>
            </a:r>
            <a:r>
              <a:rPr sz="1044" b="0" i="1" baseline="30000">
                <a:solidFill>
                  <a:srgbClr val="26303A"/>
                </a:solidFill>
                <a:latin typeface="Meiryo"/>
                <a:ea typeface="Meiryo"/>
              </a:rPr>
              <a:t>2</a:t>
            </a:r>
            <a:r>
              <a:rPr sz="1450" b="0" i="1">
                <a:solidFill>
                  <a:srgbClr val="26303A"/>
                </a:solidFill>
                <a:latin typeface="Meiryo"/>
                <a:ea typeface="Meiryo"/>
              </a:rPr>
              <a:t>)</a:t>
            </a:r>
            <a:r>
              <a:rPr sz="1450" b="0" i="0">
                <a:solidFill>
                  <a:srgbClr val="26303A"/>
                </a:solidFill>
                <a:latin typeface="Meiryo"/>
                <a:ea typeface="Meiryo"/>
              </a:rPr>
              <a:t> で，予備実験では全域 HV が約 +1% 増えるのに対し，最大で約 8 倍の時間を要したため採らない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［予備］手法のパラメータ</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30</a:t>
            </a:r>
          </a:p>
        </p:txBody>
      </p:sp>
      <p:graphicFrame>
        <p:nvGraphicFramePr>
          <p:cNvPr id="6" name="Table 5"/>
          <p:cNvGraphicFramePr>
            <a:graphicFrameLocks noGrp="1"/>
          </p:cNvGraphicFramePr>
          <p:nvPr/>
        </p:nvGraphicFramePr>
        <p:xfrm>
          <a:off x="566928" y="1371600"/>
          <a:ext cx="11057838" cy="2414016"/>
        </p:xfrm>
        <a:graphic>
          <a:graphicData uri="http://schemas.openxmlformats.org/drawingml/2006/table">
            <a:tbl>
              <a:tblPr firstRow="0" bandRow="0">
                <a:tableStyleId>{5940675A-B579-460E-94D1-54222C63F5DA}</a:tableStyleId>
              </a:tblPr>
              <a:tblGrid>
                <a:gridCol w="2376064"/>
                <a:gridCol w="8681774"/>
              </a:tblGrid>
              <a:tr h="301752">
                <a:tc>
                  <a:txBody>
                    <a:bodyPr wrap="square"/>
                    <a:lstStyle/>
                    <a:p>
                      <a:pPr algn="l"/>
                      <a:r>
                        <a:rPr sz="1350" b="1" i="0">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350" b="1" i="0">
                          <a:solidFill>
                            <a:srgbClr val="FFFFFF"/>
                          </a:solidFill>
                          <a:latin typeface="Meiryo"/>
                          <a:ea typeface="Meiryo"/>
                        </a:rPr>
                        <a:t>設定</a:t>
                      </a:r>
                    </a:p>
                  </a:txBody>
                  <a:tcPr marL="82296" marR="54864" marT="18288" marB="18288" anchor="ctr">
                    <a:solidFill>
                      <a:srgbClr val="16385C"/>
                    </a:solidFill>
                  </a:tcPr>
                </a:tc>
              </a:tr>
              <a:tr h="301752">
                <a:tc>
                  <a:txBody>
                    <a:bodyPr wrap="square"/>
                    <a:lstStyle/>
                    <a:p>
                      <a:pPr algn="l"/>
                      <a:r>
                        <a:rPr sz="1350" b="0" i="0">
                          <a:solidFill>
                            <a:srgbClr val="26303A"/>
                          </a:solidFill>
                          <a:latin typeface="Meiryo"/>
                          <a:ea typeface="Meiryo"/>
                        </a:rPr>
                        <a:t>GA・Memetic 系</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交叉率 0.85，突然変異率 0.1，集団 50（</a:t>
                      </a:r>
                      <a:r>
                        <a:rPr sz="1350" b="0" i="1">
                          <a:solidFill>
                            <a:srgbClr val="26303A"/>
                          </a:solidFill>
                          <a:latin typeface="Meiryo"/>
                          <a:ea typeface="Meiryo"/>
                        </a:rPr>
                        <a:t>S</a:t>
                      </a:r>
                      <a:r>
                        <a:rPr sz="971" b="0" i="1" baseline="-22000">
                          <a:solidFill>
                            <a:srgbClr val="26303A"/>
                          </a:solidFill>
                          <a:latin typeface="Meiryo"/>
                          <a:ea typeface="Meiryo"/>
                        </a:rPr>
                        <a:t>p</a:t>
                      </a:r>
                      <a:r>
                        <a:rPr sz="1350" b="0" i="0">
                          <a:solidFill>
                            <a:srgbClr val="26303A"/>
                          </a:solidFill>
                          <a:latin typeface="Meiryo"/>
                          <a:ea typeface="Meiryo"/>
                        </a:rPr>
                        <a:t> 以外の 49 個体は無作為生成）．operation-based 表現，GT 法でデコード</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ILS 系</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insert 摂動 2〜5 手を巡回．局所探索は N5 近傍（クリティカルブロック端の隣接 swap）</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演算子（Memetic 系）</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各個体に確率 0.3 で発動．PR は経路上の上位 3 中間解を局所探索して最良を返す</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演算子（ILS 系）</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無改善 400 反復で初回，以降 10 反復ごとに発動．PR は経路上の最良 1 解を返す</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PR-</a:t>
                      </a:r>
                      <a:r>
                        <a:rPr sz="1350" b="0" i="1">
                          <a:solidFill>
                            <a:srgbClr val="26303A"/>
                          </a:solidFill>
                          <a:latin typeface="Meiryo"/>
                          <a:ea typeface="Meiryo"/>
                        </a:rPr>
                        <a:t>k</a:t>
                      </a:r>
                      <a:r>
                        <a:rPr sz="1350" b="0" i="0">
                          <a:solidFill>
                            <a:srgbClr val="26303A"/>
                          </a:solidFill>
                          <a:latin typeface="Meiryo"/>
                          <a:ea typeface="Meiryo"/>
                        </a:rPr>
                        <a:t> の深さ </a:t>
                      </a:r>
                      <a:r>
                        <a:rPr sz="1350" b="0" i="1">
                          <a:solidFill>
                            <a:srgbClr val="26303A"/>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1 から </a:t>
                      </a:r>
                      <a:r>
                        <a:rPr sz="1350" b="0" i="1">
                          <a:solidFill>
                            <a:srgbClr val="26303A"/>
                          </a:solidFill>
                          <a:latin typeface="Meiryo"/>
                          <a:ea typeface="Meiryo"/>
                        </a:rPr>
                        <a:t>S</a:t>
                      </a:r>
                      <a:r>
                        <a:rPr sz="971" b="0" i="1" baseline="-22000">
                          <a:solidFill>
                            <a:srgbClr val="26303A"/>
                          </a:solidFill>
                          <a:latin typeface="Meiryo"/>
                          <a:ea typeface="Meiryo"/>
                        </a:rPr>
                        <a:t>p</a:t>
                      </a:r>
                      <a:r>
                        <a:rPr sz="1350" b="0" i="0">
                          <a:solidFill>
                            <a:srgbClr val="26303A"/>
                          </a:solidFill>
                          <a:latin typeface="Meiryo"/>
                          <a:ea typeface="Meiryo"/>
                        </a:rPr>
                        <a:t> と処理順位が異なる作業数 </a:t>
                      </a:r>
                      <a:r>
                        <a:rPr sz="1350" b="0" i="1">
                          <a:solidFill>
                            <a:srgbClr val="26303A"/>
                          </a:solidFill>
                          <a:latin typeface="Meiryo"/>
                          <a:ea typeface="Meiryo"/>
                        </a:rPr>
                        <a:t>d</a:t>
                      </a:r>
                      <a:r>
                        <a:rPr sz="1350" b="0" i="0">
                          <a:solidFill>
                            <a:srgbClr val="26303A"/>
                          </a:solidFill>
                          <a:latin typeface="Meiryo"/>
                          <a:ea typeface="Meiryo"/>
                        </a:rPr>
                        <a:t> までの範囲で発動ごとに変える</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記録</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選択の前に生成した全解から非劣解を保存（両構造で記録点を揃える）</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環境</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AMD Ryzen 5 7530U，Python 3.12（NumPy・DEAP・SciPy）</a:t>
                      </a:r>
                    </a:p>
                  </a:txBody>
                  <a:tcPr marL="82296" marR="54864" marT="18288" marB="18288" anchor="ctr">
                    <a:solidFill>
                      <a:srgbClr val="FFFFFF"/>
                    </a:solidFill>
                    <a:lnB w="9525" cap="flat">
                      <a:solidFill>
                        <a:srgbClr val="D6DEE7"/>
                      </a:solidFill>
                    </a:lnB>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［予備］頑健性と計算時間</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31</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高安定領域の境界</a:t>
            </a:r>
            <a:r>
              <a:rPr sz="1500" b="0" i="0">
                <a:solidFill>
                  <a:srgbClr val="26303A"/>
                </a:solidFill>
                <a:latin typeface="Meiryo"/>
                <a:ea typeface="Meiryo"/>
              </a:rPr>
              <a:t>：</a:t>
            </a:r>
            <a:r>
              <a:rPr sz="1500" b="0" i="1">
                <a:solidFill>
                  <a:srgbClr val="26303A"/>
                </a:solidFill>
                <a:latin typeface="Meiryo"/>
                <a:ea typeface="Meiryo"/>
              </a:rPr>
              <a:t>θ</a:t>
            </a:r>
            <a:r>
              <a:rPr sz="1500" b="0" i="0">
                <a:solidFill>
                  <a:srgbClr val="26303A"/>
                </a:solidFill>
                <a:latin typeface="Meiryo"/>
                <a:ea typeface="Meiryo"/>
              </a:rPr>
              <a:t> を 50 から 33〜67 に変えても，仮説 1・仮説 2 の結論は変わらない（全シナリオで完全分離）</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計算時間</a:t>
            </a:r>
            <a:r>
              <a:rPr sz="1500" b="0" i="0">
                <a:solidFill>
                  <a:srgbClr val="26303A"/>
                </a:solidFill>
                <a:latin typeface="Meiryo"/>
                <a:ea typeface="Meiryo"/>
              </a:rPr>
              <a:t>：壁時計は Memetic+PR が ILS の 4.8〜9.4 倍．ただし中央値の試行は，全手法とも予算の 7 割以内で最終の全域 HV の 99% に達する → 全域 HV の差は計算予算の不足によらない</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PR か PR-</a:t>
            </a:r>
            <a:r>
              <a:rPr sz="1500" b="1" i="1">
                <a:solidFill>
                  <a:srgbClr val="16385C"/>
                </a:solidFill>
                <a:latin typeface="Meiryo"/>
                <a:ea typeface="Meiryo"/>
              </a:rPr>
              <a:t>k</a:t>
            </a:r>
            <a:r>
              <a:rPr sz="1500" b="1" i="0">
                <a:solidFill>
                  <a:srgbClr val="16385C"/>
                </a:solidFill>
                <a:latin typeface="Meiryo"/>
                <a:ea typeface="Meiryo"/>
              </a:rPr>
              <a:t> か</a:t>
            </a:r>
            <a:r>
              <a:rPr sz="1500" b="0" i="0">
                <a:solidFill>
                  <a:srgbClr val="26303A"/>
                </a:solidFill>
                <a:latin typeface="Meiryo"/>
                <a:ea typeface="Meiryo"/>
              </a:rPr>
              <a:t>：ILS ではどちらを組み込んでも 3 指標とも差は 2% 以内．Memetic では全域 HV・高安定 HV は PR がわずかに上回り（有意差は各 2 シナリオ），AUC は 1 回の計算が軽い PR-</a:t>
            </a:r>
            <a:r>
              <a:rPr sz="1500" b="0" i="1">
                <a:solidFill>
                  <a:srgbClr val="26303A"/>
                </a:solidFill>
                <a:latin typeface="Meiryo"/>
                <a:ea typeface="Meiryo"/>
              </a:rPr>
              <a:t>k</a:t>
            </a:r>
            <a:r>
              <a:rPr sz="1500" b="0" i="0">
                <a:solidFill>
                  <a:srgbClr val="26303A"/>
                </a:solidFill>
                <a:latin typeface="Meiryo"/>
                <a:ea typeface="Meiryo"/>
              </a:rPr>
              <a:t> が 8 シナリオ中 6 つで有意に上回る</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ILS で演算子により有意に向上した 2 シナリオ</a:t>
            </a:r>
            <a:r>
              <a:rPr sz="1500" b="0" i="0">
                <a:solidFill>
                  <a:srgbClr val="26303A"/>
                </a:solidFill>
                <a:latin typeface="Meiryo"/>
                <a:ea typeface="Meiryo"/>
              </a:rPr>
              <a:t>：la36L・ta21L で </a:t>
            </a:r>
            <a:r>
              <a:rPr sz="1500" b="0" i="1">
                <a:solidFill>
                  <a:srgbClr val="26303A"/>
                </a:solidFill>
                <a:latin typeface="Meiryo"/>
                <a:ea typeface="Meiryo"/>
              </a:rPr>
              <a:t>p</a:t>
            </a:r>
            <a:r>
              <a:rPr sz="1500" b="0" i="0">
                <a:solidFill>
                  <a:srgbClr val="26303A"/>
                </a:solidFill>
                <a:latin typeface="Meiryo"/>
                <a:ea typeface="Meiryo"/>
              </a:rPr>
              <a:t> &lt; 0.05．Holm 補正後に残るのは ta21L のみ（la36L は </a:t>
            </a:r>
            <a:r>
              <a:rPr sz="1500" b="0" i="1">
                <a:solidFill>
                  <a:srgbClr val="26303A"/>
                </a:solidFill>
                <a:latin typeface="Meiryo"/>
                <a:ea typeface="Meiryo"/>
              </a:rPr>
              <a:t>p</a:t>
            </a:r>
            <a:r>
              <a:rPr sz="1080" b="0" i="1" baseline="-22000">
                <a:solidFill>
                  <a:srgbClr val="26303A"/>
                </a:solidFill>
                <a:latin typeface="Meiryo"/>
                <a:ea typeface="Meiryo"/>
              </a:rPr>
              <a:t>adj</a:t>
            </a:r>
            <a:r>
              <a:rPr sz="1500" b="0" i="0">
                <a:solidFill>
                  <a:srgbClr val="26303A"/>
                </a:solidFill>
                <a:latin typeface="Meiryo"/>
                <a:ea typeface="Meiryo"/>
              </a:rPr>
              <a:t> = 0.091）．中央値の向上は 6.3〜6.5%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［予備］対照実験とパラメータ感度</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32</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ランダム方向の対照実験</a:t>
            </a:r>
            <a:r>
              <a:rPr sz="1500" b="0" i="0">
                <a:solidFill>
                  <a:srgbClr val="26303A"/>
                </a:solidFill>
                <a:latin typeface="Meiryo"/>
                <a:ea typeface="Meiryo"/>
              </a:rPr>
              <a:t>：Memetic に組み込んだ演算子による向上が，摂動一般の効果か，</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に近づける方向に固有の効果かを確かめるため，強度を揃えて方向だけをランダム化した対照を 2 シナリオ（mt10・la36S）で実行した</a:t>
            </a:r>
          </a:p>
          <a:p>
            <a:pPr>
              <a:lnSpc>
                <a:spcPct val="108000"/>
              </a:lnSpc>
              <a:spcBef>
                <a:spcPts val="300"/>
              </a:spcBef>
            </a:pPr>
            <a:r>
              <a:rPr sz="1275" b="0" i="0">
                <a:solidFill>
                  <a:srgbClr val="6E7A88"/>
                </a:solidFill>
                <a:latin typeface="Meiryo"/>
                <a:ea typeface="Meiryo"/>
              </a:rPr>
              <a:t>　－ </a:t>
            </a:r>
            <a:r>
              <a:rPr sz="1350" b="0" i="0">
                <a:solidFill>
                  <a:srgbClr val="26303A"/>
                </a:solidFill>
                <a:latin typeface="Meiryo"/>
                <a:ea typeface="Meiryo"/>
              </a:rPr>
              <a:t>ランダム方向は向上幅の 7 割前後しか再現せず，高安定 HV では演算子に完全分離で及ばない</a:t>
            </a:r>
          </a:p>
          <a:p>
            <a:pPr>
              <a:lnSpc>
                <a:spcPct val="108000"/>
              </a:lnSpc>
              <a:spcBef>
                <a:spcPts val="300"/>
              </a:spcBef>
            </a:pPr>
            <a:r>
              <a:rPr sz="1275" b="0" i="0">
                <a:solidFill>
                  <a:srgbClr val="6E7A88"/>
                </a:solidFill>
                <a:latin typeface="Meiryo"/>
                <a:ea typeface="Meiryo"/>
              </a:rPr>
              <a:t>　－ </a:t>
            </a:r>
            <a:r>
              <a:rPr sz="1350" b="0" i="0">
                <a:solidFill>
                  <a:srgbClr val="26303A"/>
                </a:solidFill>
                <a:latin typeface="Meiryo"/>
                <a:ea typeface="Meiryo"/>
              </a:rPr>
              <a:t>同じ高安定 HV に達するには，1.7〜2.4 倍の時間を要する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パラメータ感度</a:t>
            </a:r>
            <a:r>
              <a:rPr sz="1500" b="0" i="0">
                <a:solidFill>
                  <a:srgbClr val="26303A"/>
                </a:solidFill>
                <a:latin typeface="Meiryo"/>
                <a:ea typeface="Meiryo"/>
              </a:rPr>
              <a:t>：手法パラメータは標準値で固定した．挙動を定める 11 軸（ベースの探索構造側を含む）を 2 シナリオで一要因ずつ上下に振ったが，全域 HV の変化は +0.5〜2% で，手法間の差（+7〜54%）より一桁小さい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