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755648"/>
            <a:ext cx="10509199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製造現場では，機械故障や作業遅延などの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により，スケジュール通りに作業を実行できないことがある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075688" y="2432303"/>
            <a:ext cx="4020159" cy="274321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2743200"/>
            <a:ext cx="30175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871216"/>
            <a:ext cx="24688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310128"/>
            <a:ext cx="246887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6E7A88"/>
                </a:solidFill>
                <a:latin typeface="Meiryo"/>
                <a:ea typeface="Meiryo"/>
              </a:rPr>
              <a:t>事前に余裕を持たせ，外乱に備える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432303"/>
            <a:ext cx="1691640" cy="274321"/>
          </a:xfrm>
          <a:prstGeom prst="line">
            <a:avLst/>
          </a:prstGeom>
          <a:ln w="2794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950208" y="2743200"/>
            <a:ext cx="7674559" cy="109728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4528" y="2871216"/>
            <a:ext cx="712591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3310128"/>
            <a:ext cx="712591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573268" y="3858768"/>
            <a:ext cx="2214219" cy="539496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950208" y="4434840"/>
            <a:ext cx="32461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8" y="4581144"/>
            <a:ext cx="278892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5038344"/>
            <a:ext cx="2788920" cy="1051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87487" y="3858768"/>
            <a:ext cx="1805940" cy="539496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62088" y="4434840"/>
            <a:ext cx="4062679" cy="178308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36047" y="4261103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19" y="4709159"/>
            <a:ext cx="3550615" cy="141731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  <a:p>
            <a:pPr>
              <a:lnSpc>
                <a:spcPct val="110000"/>
              </a:lnSpc>
              <a:spcBef>
                <a:spcPts val="8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→ </a:t>
            </a:r>
            <a:r>
              <a:rPr sz="13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 が存在するので，</a:t>
            </a:r>
            <a:r>
              <a:rPr sz="1350" b="1" i="1">
                <a:solidFill>
                  <a:srgbClr val="FFD98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D98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D98A"/>
                </a:solidFill>
                <a:latin typeface="Meiryo"/>
                <a:ea typeface="Meiryo"/>
              </a:rPr>
              <a:t> からの変更量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を定義できる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6007608" y="2743200"/>
            <a:ext cx="320040" cy="171907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6373368" y="1645920"/>
            <a:ext cx="5251399" cy="25146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74536" y="1737360"/>
            <a:ext cx="4849063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74536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67647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74536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67647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下流工程・外注先
への予定変更の波及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999067" y="4206240"/>
            <a:ext cx="0" cy="365760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373368" y="4626864"/>
            <a:ext cx="5251399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73368" y="4681727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74536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574536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65976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70467" y="5129783"/>
            <a:ext cx="457200" cy="10332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27667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227667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19107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安定性が最良の解は探索せずに得られる．問われるのは，そこから少しの変更で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をどこまで下げられるか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2240280"/>
            <a:ext cx="5342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★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の処理順序を保って遅延を吸収した解（right-shift）は，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も外乱前に最適化済み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●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上の非劣解のうち，変更コストが無視できない場面で選ばれるのは，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の近傍（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）の解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8" y="4160520"/>
            <a:ext cx="5342839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→ この場合，手法は Pareto フロント全体の品質</a:t>
            </a:r>
          </a:p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だけではなく，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高安定領域の品質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が問われる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5029200"/>
            <a:ext cx="5342839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本研究では，Pareto フロントの品質を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に近づける探索操作もない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解を </a:t>
            </a:r>
            <a:r>
              <a:rPr sz="16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152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：安定性は解の評価にだけ入る．交叉や局所探索などの探索操作は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を参照しない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：安定性は探索空間の制限にだけ入る．範囲を事前に決めるので，その外にある変更量の大きい解は探索しない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どちらも，探索の途中で解を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に近づける操作（安定性を探索の移動として扱う操作）を持たない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" y="1645920"/>
            <a:ext cx="960120" cy="310896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11680"/>
            <a:ext cx="5391759" cy="1207008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66544"/>
            <a:ext cx="5099151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962" y="3291840"/>
            <a:ext cx="4613689" cy="3035807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51295" y="1645920"/>
            <a:ext cx="960120" cy="310896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2011680"/>
            <a:ext cx="5391759" cy="1207008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066544"/>
            <a:ext cx="5099151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2042" y="3291840"/>
            <a:ext cx="4613689" cy="303580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主眼は最先端手法との性能競争ではなく，条件を統制して探索構造と演算子の関係を切り分けること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問題設定・探索構造・安定性誘導演算子・仮説の判定・評価指標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8600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402336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4169663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66344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16636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94976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|2−4| ＋ |4−2|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初期解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pic>
        <p:nvPicPr>
          <p:cNvPr id="8" name="Picture 7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356774"/>
            <a:ext cx="4023360" cy="264737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864608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64608" y="1737360"/>
            <a:ext cx="3242919" cy="384048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1768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単点探索（ILS）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1768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1768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76188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01768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BE4CC"/>
          </a:solidFill>
          <a:ln w="20320">
            <a:solidFill>
              <a:srgbClr val="E0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E06C00"/>
                </a:solidFill>
                <a:latin typeface="Meiryo"/>
                <a:ea typeface="Meiryo"/>
              </a:rPr>
              <a:t>摂動：数手の insert 移動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76188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01768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76188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01768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受理判定：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 が改善すれば更新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76188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168896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406640" y="3611880"/>
            <a:ext cx="0" cy="113385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187184" y="3611880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479792" y="3995928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反復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選定理由：局所探索と摂動が別の段にあり，演算子を摂動に組み込める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81847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81847" y="1737360"/>
            <a:ext cx="3242919" cy="384048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19007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多点探索（Memetic）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19007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初期集団：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＋無作為な個体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19007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選択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93427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519007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7E9DC"/>
          </a:solidFill>
          <a:ln w="20320">
            <a:solidFill>
              <a:srgbClr val="0F5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F5C28"/>
                </a:solidFill>
                <a:latin typeface="Meiryo"/>
                <a:ea typeface="Meiryo"/>
              </a:rPr>
              <a:t>交叉：2 親を組み替え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593427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519007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突然変異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593427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519007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近傍（各個体）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593427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686135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923879" y="3044952"/>
            <a:ext cx="0" cy="1700784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0704423" y="3044952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0997031" y="3712463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世代交代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64727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選定理由：先行研究で標準的な，GA に局所探索を組み込んだ構成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760720"/>
            <a:ext cx="11057839" cy="502920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探索構造の差だけを比較するため，局所探索（N5 近傍）・目的関数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・初期解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 を両者で揃える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提案：安定性誘導演算子（PR と PR-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の誘導解を初期スケジュール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に固定し，現在解から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へ swap でたどる経路上の解を返す操作にする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28216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通常の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7" y="1691640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探索中に得た良い解どうしを結び，その間を探索する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12264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2075688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誘導解を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固定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→ 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に近づける操作になる</a:t>
            </a:r>
          </a:p>
        </p:txBody>
      </p:sp>
      <p:pic>
        <p:nvPicPr>
          <p:cNvPr id="12" name="Picture 11" descr="concept_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551176"/>
            <a:ext cx="5532120" cy="364013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373368" y="1691640"/>
            <a:ext cx="5251399" cy="37947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1764792"/>
            <a:ext cx="479419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0528" y="2148840"/>
            <a:ext cx="4977079" cy="54864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2212848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36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4967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9911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5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7" y="2212848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880360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44967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9911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5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880360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7" y="3300984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3648456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4967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9911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34855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9800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79607" y="3648456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7" y="4069080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0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792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4416552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44967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9911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34855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29800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7" y="4416552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4846320"/>
            <a:ext cx="4794199" cy="5669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と順位が異なる作業（その数が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）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73368" y="5623560"/>
            <a:ext cx="5251399" cy="640079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1968" y="5660136"/>
            <a:ext cx="4794199" cy="56692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停滞したときに摂動として発動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各個体に確率的に改善操作として発動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83080"/>
          <a:ext cx="7955280" cy="1152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898648" y="2212848"/>
            <a:ext cx="5577840" cy="292607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6E7A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8648" y="2596896"/>
            <a:ext cx="5577840" cy="292607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2E1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8648" y="2212848"/>
            <a:ext cx="2011679" cy="676655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4015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38404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245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3159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7088" y="47548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を全シナリオで有意に上回れば支持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1389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52578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仮説の外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7088" y="52303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も同じ形で ILS と比較し，演算子の効果が探索構造で異なるかを見る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79008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比較手法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ILS・Memetic と，それぞれに PR-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／PR を組み込んだ 6 手法＋参考の GA（局所探索なし）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の比較：代表 2 シナリオの非劣解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の比較：全 8 シナリオ（仮説の判定）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つだけ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AUC：代表 2 シナリオの推移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系を追い越し，より大きい全域 HV に達する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AUC：全 8 シナリオ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