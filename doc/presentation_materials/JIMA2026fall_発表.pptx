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 lang="ja-JP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 lang="ja-JP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 lang="ja-JP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 lang="ja-JP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 lang="ja-JP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 lang="ja-JP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 lang="ja-JP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 lang="ja-JP">
                <a:solidFill>
                  <a:srgbClr val="AFC2D8"/>
                </a:solidFill>
                <a:latin typeface="Meiryo"/>
                <a:ea typeface="Meiryo"/>
              </a:rPr>
              <a:t>外乱と再スケジューリング・高安定領域・特殊性・先行研究・課題・仮説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 lang="ja-JP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 lang="ja-JP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 lang="ja-JP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 lang="ja-JP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 lang="ja-JP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 lang="ja-JP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 lang="ja-JP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 lang="ja-JP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 lang="ja-JP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lang="ja-JP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 lang="ja-JP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 lang="ja-JP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 lang="ja-JP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 lang="ja-JP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 lang="ja-JP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 lang="ja-JP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 lang="ja-JP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 lang="ja-JP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 lang="ja-JP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 lang="ja-JP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 lang="ja-JP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 lang="ja-JP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 lang="ja-JP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 lang="ja-JP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本研究の着目点：高安定領域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スケジュール変更コストが無視できない場面では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の近傍の解が求められるため，本研究は高安定領域の品質に着目する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● スケジュール変更コストが無視できない場面で求められるのは，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上の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の近傍）の解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→ 本研究では，この</a:t>
            </a: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に着目する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Pareto フロントの品質は hypervolume（HV）で測り，高安定領域に限った HV を</a:t>
            </a: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本研究の出発点：再スケジューリングの特殊性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が探索前に得られているこの問題では，この特性が探索構造の優劣を左右するのではないか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pic>
        <p:nvPicPr>
          <p:cNvPr id="8" name="Picture 7" descr="concept_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★ 再スケジューリングの特殊性：</a:t>
            </a:r>
            <a:br/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初期解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（処理順序を保って遅延を吸収した解）は，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→ この </a:t>
            </a:r>
            <a:r>
              <a:rPr sz="15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1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 の存在が，</a:t>
            </a: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探索構造の優劣に大きな影響を与えるのではないか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1" i="0" lang="ja-JP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350" b="1" i="0" lang="ja-JP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</a:p>
          <a:p>
            <a:r>
              <a:rPr sz="1100" b="0" i="0" lang="ja-JP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安定性の確保は 2 つのアプローチに分かれるが，どちらもメタヒューリスティクスによる解法は多点探索に集中している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507492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507492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 lang="ja-JP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 lang="ja-JP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先行研究に残された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先行研究には，探索構造の比較・高安定領域での評価・解を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に近づける操作が欠けている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 lang="ja-JP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 の存在が単点探索と多点探索の優劣に与える影響は，分析されていない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 lang="ja-JP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</a:t>
            </a:r>
          </a:p>
          <a:p>
            <a:pPr algn="l">
              <a:lnSpc>
                <a:spcPct val="118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 lang="ja-JP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 lang="ja-JP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 lang="ja-JP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 lang="ja-JP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lang="ja-JP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 lang="ja-JP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lang="ja-JP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 lang="ja-JP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 lang="ja-JP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 lang="ja-JP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 lang="ja-JP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lang="ja-JP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 lang="ja-JP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 lang="ja-JP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 lang="ja-JP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 lang="ja-JP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 lang="ja-JP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 lang="ja-JP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AFC2D8"/>
                </a:solidFill>
                <a:latin typeface="Meiryo"/>
                <a:ea typeface="Meiry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312" y="4023360"/>
            <a:ext cx="2808271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lang="ja-JP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 lang="ja-JP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 lang="ja-JP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 lang="ja-JP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 lang="ja-JP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 lang="ja-JP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 lang="ja-JP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lang="ja-JP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 lang="ja-JP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 lang="ja-JP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 lang="ja-JP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lang="ja-JP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 lang="ja-JP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 lang="ja-JP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 lang="ja-JP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lang="ja-JP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 lang="ja-JP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 lang="ja-JP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lang="ja-JP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 lang="ja-JP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lang="ja-JP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lang="ja-JP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lang="ja-JP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lang="ja-JP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 lang="ja-JP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lang="ja-JP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 lang="ja-JP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lang="ja-JP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 lang="ja-JP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 lang="ja-JP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lang="ja-JP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 lang="ja-JP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 lang="ja-JP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lang="ja-JP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 lang="ja-JP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 lang="ja-JP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 lang="ja-JP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 lang="ja-JP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 lang="ja-JP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 lang="ja-JP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 lang="ja-JP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 lang="ja-JP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 lang="ja-JP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 lang="ja-JP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lang="ja-JP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 lang="ja-JP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lang="ja-JP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 lang="ja-JP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 lang="ja-JP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15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 lang="ja-JP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 lang="ja-JP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 lang="ja-JP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AFC2D8"/>
                </a:solidFill>
                <a:latin typeface="Meiryo"/>
                <a:ea typeface="Meiry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 lang="ja-JP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 lang="ja-JP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 lang="ja-JP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 lang="ja-JP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 lang="ja-JP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 lang="ja-JP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 lang="ja-JP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 lang="ja-JP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 lang="ja-JP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 lang="ja-JP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 lang="ja-JP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highstab_zoo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37759"/>
            <a:ext cx="11057839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縦軸は最良値の付近を拡大（↓：範囲外，値を併記）．全 8 シナリオは前のスライド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3036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550" b="0" i="0" lang="ja-JP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650" b="1" i="0" lang="ja-JP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lang="ja-JP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 lang="ja-JP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lang="ja-JP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 lang="ja-JP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 lang="ja-JP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 lang="ja-JP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 lang="ja-JP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 lang="ja-JP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 lang="ja-JP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 lang="ja-JP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 lang="ja-JP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 lang="ja-JP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 lang="ja-JP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AFC2D8"/>
                </a:solidFill>
                <a:latin typeface="Meiryo"/>
                <a:ea typeface="Meiry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 lang="ja-JP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 lang="ja-JP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 lang="ja-JP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 lang="ja-JP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 lang="ja-JP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 lang="ja-JP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 lang="ja-JP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 lang="ja-JP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 lang="ja-JP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 lang="ja-JP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 lang="ja-JP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 lang="ja-JP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 lang="ja-JP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 lang="ja-JP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lang="ja-JP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lang="ja-JP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325880"/>
            <a:ext cx="4805172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 lang="ja-JP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 lang="ja-JP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 lang="ja-JP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 lang="ja-JP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 lang="ja-JP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 lang="ja-JP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 lang="ja-JP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lang="ja-JP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 lang="ja-JP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 lang="ja-JP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 lang="ja-JP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 lang="ja-JP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 lang="ja-JP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lang="ja-JP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 lang="ja-JP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 lang="ja-JP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 lang="ja-JP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lang="ja-JP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 lang="ja-JP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 lang="ja-JP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 lang="ja-JP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 lang="ja-JP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 lang="ja-JP">
                <a:solidFill>
                  <a:srgbClr val="6E7A88"/>
                </a:solidFill>
                <a:latin typeface="Meiryo"/>
                <a:ea typeface="Meiryo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 lang="ja-JP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lang="ja-JP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 lang="ja-JP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 lang="ja-JP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 lang="ja-JP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 lang="ja-JP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 lang="ja-JP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 lang="ja-JP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