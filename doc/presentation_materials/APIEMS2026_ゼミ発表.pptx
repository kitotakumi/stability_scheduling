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68680" y="2084831"/>
            <a:ext cx="2377440" cy="0"/>
          </a:xfrm>
          <a:prstGeom prst="bentConnector3">
            <a:avLst/>
          </a:prstGeom>
          <a:ln w="25400">
            <a:solidFill>
              <a:srgbClr val="3E61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8680" y="2240280"/>
            <a:ext cx="10454335" cy="1737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12000"/>
              </a:lnSpc>
            </a:pPr>
            <a:r>
              <a:rPr sz="3100" b="1" i="0">
                <a:solidFill>
                  <a:srgbClr val="FFFFFF"/>
                </a:solidFill>
                <a:latin typeface="Meiryo"/>
                <a:ea typeface="Meiryo"/>
              </a:rPr>
              <a:t>ジョブショップ再スケジューリングにおける</a:t>
            </a:r>
          </a:p>
          <a:p>
            <a:pPr>
              <a:lnSpc>
                <a:spcPct val="112000"/>
              </a:lnSpc>
            </a:pPr>
            <a:r>
              <a:rPr sz="3100" b="1" i="0">
                <a:solidFill>
                  <a:srgbClr val="FFFFFF"/>
                </a:solidFill>
                <a:latin typeface="Meiryo"/>
                <a:ea typeface="Meiryo"/>
              </a:rPr>
              <a:t>安定性誘導演算子の非対称効果</a:t>
            </a:r>
          </a:p>
          <a:p>
            <a:pPr>
              <a:spcBef>
                <a:spcPts val="1000"/>
              </a:spcBef>
            </a:pPr>
            <a:r>
              <a:rPr sz="1700" b="1" i="0">
                <a:solidFill>
                  <a:srgbClr val="AFC2D8"/>
                </a:solidFill>
                <a:latin typeface="Meiryo"/>
                <a:ea typeface="Meiryo"/>
              </a:rPr>
              <a:t>— 軌道探索と集団探索の横断比較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160520"/>
            <a:ext cx="10454335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1">
                <a:solidFill>
                  <a:srgbClr val="8CA3C0"/>
                </a:solidFill>
                <a:latin typeface="Meiryo"/>
                <a:ea typeface="Meiryo"/>
              </a:rPr>
              <a:t>Asymmetric Effects of Stability-Inducing Operators across Trajectory and Population Search in Job-Shop Rescheduling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86968" y="5074920"/>
            <a:ext cx="3108960" cy="0"/>
          </a:xfrm>
          <a:prstGeom prst="bentConnector3">
            <a:avLst/>
          </a:prstGeom>
          <a:ln w="12700">
            <a:solidFill>
              <a:srgbClr val="3E61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6968" y="5193792"/>
            <a:ext cx="1045433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spcBef>
                <a:spcPts val="0"/>
              </a:spcBef>
            </a:pPr>
            <a:r>
              <a:rPr sz="1450" b="0" i="0">
                <a:solidFill>
                  <a:srgbClr val="AFC2D8"/>
                </a:solidFill>
                <a:latin typeface="Meiryo"/>
                <a:ea typeface="Meiryo"/>
              </a:rPr>
              <a:t>早稲田大学 創造理工学部 経営システム工学科</a:t>
            </a:r>
          </a:p>
          <a:p>
            <a:pPr>
              <a:spcBef>
                <a:spcPts val="500"/>
              </a:spcBef>
            </a:pPr>
            <a:r>
              <a:rPr sz="1800" b="1" i="0">
                <a:solidFill>
                  <a:srgbClr val="FFFFFF"/>
                </a:solidFill>
                <a:latin typeface="Meiryo"/>
                <a:ea typeface="Meiryo"/>
              </a:rPr>
              <a:t>鬼頭 拓海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8CA3C0"/>
                </a:solidFill>
                <a:latin typeface="Meiryo"/>
                <a:ea typeface="Meiryo"/>
              </a:rPr>
              <a:t>ゼミ発表　2026-07-21　｜　投稿先：APIEMS 2026（釜山）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研究概要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同一の安定性誘導演算子が、載せる探索構造しだいで効き方を変える——その非対称性を統制下で切り分ける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予測リアクティブ再スケジューリング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では、外乱前の高品質スケジュール </a:t>
            </a:r>
            <a:r>
              <a:rPr sz="155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116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が既に存在し、修正解には効率（メイクスパン）と安定性（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からの変更量の小ささ）が同時に求められる。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→ 探索の勝負は「大域探索力」ではなく、</a:t>
            </a:r>
            <a:r>
              <a:rPr sz="155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116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 近傍（高安定領域）をどれだけ良く充填できるか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という軸を新たに帯びる。</a:t>
            </a:r>
          </a:p>
          <a:p>
            <a:pPr lvl="1">
              <a:lnSpc>
                <a:spcPct val="106000"/>
              </a:lnSpc>
              <a:spcBef>
                <a:spcPts val="300"/>
              </a:spcBef>
            </a:pPr>
            <a:r>
              <a:rPr sz="1200" b="0" i="0">
                <a:solidFill>
                  <a:srgbClr val="6E7A88"/>
                </a:solidFill>
                <a:latin typeface="Meiryo"/>
                <a:ea typeface="Meiryo"/>
              </a:rPr>
              <a:t>－ 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H1（適合性）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：軌道ベース(ILS)は連続変形でこの近傍を自力充填。集団ベース(Memetic)は交叉ゆえ充填が構造的に粗い。</a:t>
            </a:r>
          </a:p>
          <a:p>
            <a:pPr lvl="1">
              <a:lnSpc>
                <a:spcPct val="106000"/>
              </a:lnSpc>
              <a:spcBef>
                <a:spcPts val="300"/>
              </a:spcBef>
            </a:pPr>
            <a:r>
              <a:rPr sz="1200" b="0" i="0">
                <a:solidFill>
                  <a:srgbClr val="6E7A88"/>
                </a:solidFill>
                <a:latin typeface="Meiryo"/>
                <a:ea typeface="Meiryo"/>
              </a:rPr>
              <a:t>－ 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H2（補完）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：解を </a:t>
            </a:r>
            <a:r>
              <a:rPr sz="14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08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 へ引き寄せる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安定性誘導演算子(PR・repair)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は集団の弱点を補うため、効果が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ホスト依存で非対称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に現れる。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主眼は新手法の性能競争ではなく、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演算子とホスト構造の相互作用を統制下で解明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すること（8 シナリオ × 7 手法 × n=10）。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目次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88720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1. 研究背景・目的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｜ 外乱・再スケジューリング・安定性のトレードオフ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2. 既存研究と本研究の位置づけ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｜ 研究ギャップと 2 仮説（H1 / H2）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3. 問題設定と提案手法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｜ 問題定義・安定性誘導演算子（PR / repair）・評価フレームワーク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4. 計算機実験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｜ H1（適合性）・H2（非対称効果）・総合スコアボード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5. 結論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｜ 相補構造・限界・今後の課題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148840"/>
            <a:ext cx="1554480" cy="1371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7800" b="1" i="0">
                <a:solidFill>
                  <a:srgbClr val="3E618C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148840"/>
            <a:ext cx="8899855" cy="1371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eiryo"/>
                <a:ea typeface="Meiryo"/>
              </a:rPr>
              <a:t>研究背景・目的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AFC2D8"/>
                </a:solidFill>
                <a:latin typeface="Meiryo"/>
                <a:ea typeface="Meiryo"/>
              </a:rPr>
              <a:t>外乱・再スケジューリング・安定性のトレードオフ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42032" y="3913632"/>
            <a:ext cx="4754880" cy="0"/>
          </a:xfrm>
          <a:prstGeom prst="bentConnector3">
            <a:avLst/>
          </a:prstGeom>
          <a:ln w="15875">
            <a:solidFill>
              <a:srgbClr val="3E61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1.1 外乱と再スケジューリング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本研究の対象を「予測リアクティブ再スケジューリング × 作業遅延」に位置づける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1. 研究背景・目的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生産現場では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作業遅延・機械故障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などの外乱が頻発し、当初スケジュールの実行を困難にする。対応は静的・動的の 2 系統に大別される。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2770632"/>
            <a:ext cx="1691640" cy="822960"/>
          </a:xfrm>
          <a:prstGeom prst="roundRect">
            <a:avLst>
              <a:gd name="adj" fmla="val 12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外乱への
対応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2551176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7A88"/>
                </a:solidFill>
                <a:latin typeface="Meiryo"/>
                <a:ea typeface="Meiryo"/>
              </a:rPr>
              <a:t>静的（事前耐性設計）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3355848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 w="13970">
            <a:solidFill>
              <a:srgbClr val="1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385C"/>
                </a:solidFill>
                <a:latin typeface="Meiryo"/>
                <a:ea typeface="Meiryo"/>
              </a:rPr>
              <a:t>動的（事後修正）＝再スケジューリング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16168" y="3355848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eiryo"/>
                <a:ea typeface="Meiryo"/>
              </a:rPr>
              <a:t>予測リアクティブ再スケジューリング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16567" y="335584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6385C"/>
                </a:solidFill>
                <a:latin typeface="Meiryo"/>
                <a:ea typeface="Meiryo"/>
              </a:rPr>
              <a:t>作業遅延に着目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6248" y="3044952"/>
            <a:ext cx="1554480" cy="292608"/>
          </a:xfrm>
          <a:prstGeom prst="roundRect">
            <a:avLst>
              <a:gd name="adj" fmla="val 30000"/>
            </a:avLst>
          </a:prstGeom>
          <a:solidFill>
            <a:srgbClr val="3E6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★ 本研究の対象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04288" y="2825496"/>
            <a:ext cx="502920" cy="201168"/>
          </a:xfrm>
          <a:prstGeom prst="bentConnector3">
            <a:avLst/>
          </a:prstGeom>
          <a:ln w="17780">
            <a:solidFill>
              <a:srgbClr val="3E61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04288" y="3447288"/>
            <a:ext cx="502920" cy="182880"/>
          </a:xfrm>
          <a:prstGeom prst="bentConnector3">
            <a:avLst/>
          </a:prstGeom>
          <a:ln w="17780">
            <a:solidFill>
              <a:srgbClr val="3E61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50408" y="3630168"/>
            <a:ext cx="365760" cy="0"/>
          </a:xfrm>
          <a:prstGeom prst="bentConnector3">
            <a:avLst/>
          </a:prstGeom>
          <a:ln w="17780">
            <a:solidFill>
              <a:srgbClr val="3E61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50807" y="3630168"/>
            <a:ext cx="365760" cy="0"/>
          </a:xfrm>
          <a:prstGeom prst="bentConnector3">
            <a:avLst/>
          </a:prstGeom>
          <a:ln w="17780">
            <a:solidFill>
              <a:srgbClr val="3E61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4224528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作業遅延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に着目する理由：機械割当を保ち、処理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順序の再調整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だけで対処できる ＝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作業集合を変えない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。</a:t>
            </a:r>
          </a:p>
          <a:p>
            <a:pPr lvl="1">
              <a:lnSpc>
                <a:spcPct val="106000"/>
              </a:lnSpc>
              <a:spcBef>
                <a:spcPts val="300"/>
              </a:spcBef>
            </a:pPr>
            <a:r>
              <a:rPr sz="1200" b="0" i="0">
                <a:solidFill>
                  <a:srgbClr val="6E7A88"/>
                </a:solidFill>
                <a:latin typeface="Meiryo"/>
                <a:ea typeface="Meiryo"/>
              </a:rPr>
              <a:t>－ 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ゆえに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修正解を </a:t>
            </a:r>
            <a:r>
              <a:rPr sz="140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008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 近傍に保つ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という本研究の前提が、最も素直に成立する外乱クラスである。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1.2 効率と安定性のトレードオフ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変更コストゆえ安定性は効率(MS)と並ぶ目的——効率と安定性の多目的最適化として定式化する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1. 研究背景・目的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691640"/>
            <a:ext cx="4160520" cy="804672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 w="13970">
            <a:solidFill>
              <a:srgbClr val="1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効率（メイクスパン MS）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6303A"/>
                </a:solidFill>
                <a:latin typeface="Meiryo"/>
                <a:ea typeface="Meiryo"/>
              </a:rPr>
              <a:t>を最小化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27087" y="1691640"/>
            <a:ext cx="4160520" cy="804672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 w="13970">
            <a:solidFill>
              <a:srgbClr val="1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6385C"/>
                </a:solidFill>
                <a:latin typeface="Meiryo"/>
                <a:ea typeface="Meiryo"/>
              </a:rPr>
              <a:t>安定性（</a:t>
            </a:r>
            <a:r>
              <a:rPr sz="125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900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250" b="1" i="0">
                <a:solidFill>
                  <a:srgbClr val="16385C"/>
                </a:solidFill>
                <a:latin typeface="Meiryo"/>
                <a:ea typeface="Meiryo"/>
              </a:rPr>
              <a:t> からの変更量 </a:t>
            </a:r>
            <a:r>
              <a:rPr sz="1250" b="1" i="1">
                <a:solidFill>
                  <a:srgbClr val="16385C"/>
                </a:solidFill>
                <a:latin typeface="Meiryo"/>
                <a:ea typeface="Meiryo"/>
              </a:rPr>
              <a:t>D</a:t>
            </a:r>
            <a:r>
              <a:rPr sz="1250" b="1" i="0">
                <a:solidFill>
                  <a:srgbClr val="16385C"/>
                </a:solidFill>
                <a:latin typeface="Meiryo"/>
                <a:ea typeface="Meiryo"/>
              </a:rPr>
              <a:t>）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6303A"/>
                </a:solidFill>
                <a:latin typeface="Meiryo"/>
                <a:ea typeface="Meiryo"/>
              </a:rPr>
              <a:t>を最小化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8607" y="1664208"/>
            <a:ext cx="1554480" cy="8046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400" b="1" i="0">
                <a:solidFill>
                  <a:srgbClr val="16385C"/>
                </a:solidFill>
                <a:latin typeface="Meiryo"/>
                <a:ea typeface="Meiryo"/>
              </a:rPr>
              <a:t>⇄</a:t>
            </a:r>
          </a:p>
          <a:p>
            <a:pPr algn="ctr"/>
            <a:r>
              <a:rPr sz="1100" b="1" i="0">
                <a:solidFill>
                  <a:srgbClr val="16385C"/>
                </a:solidFill>
                <a:latin typeface="Meiryo"/>
                <a:ea typeface="Meiryo"/>
              </a:rPr>
              <a:t>トレードオフ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61488"/>
            <a:ext cx="50292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1250" b="1" i="0">
                <a:solidFill>
                  <a:srgbClr val="16385C"/>
                </a:solidFill>
                <a:latin typeface="Meiryo"/>
                <a:ea typeface="Meiryo"/>
              </a:rPr>
              <a:t>大幅な変更が生むコスト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127248"/>
            <a:ext cx="2090867" cy="438912"/>
          </a:xfrm>
          <a:prstGeom prst="roundRect">
            <a:avLst>
              <a:gd name="adj" fmla="val 20000"/>
            </a:avLst>
          </a:prstGeom>
          <a:solidFill>
            <a:srgbClr val="EDF2F7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6385C"/>
                </a:solidFill>
                <a:latin typeface="Meiryo"/>
                <a:ea typeface="Meiryo"/>
              </a:rPr>
              <a:t>現場の混乱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1531" y="3127248"/>
            <a:ext cx="2090867" cy="438912"/>
          </a:xfrm>
          <a:prstGeom prst="roundRect">
            <a:avLst>
              <a:gd name="adj" fmla="val 20000"/>
            </a:avLst>
          </a:prstGeom>
          <a:solidFill>
            <a:srgbClr val="EDF2F7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6385C"/>
                </a:solidFill>
                <a:latin typeface="Meiryo"/>
                <a:ea typeface="Meiryo"/>
              </a:rPr>
              <a:t>段取り替え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0414" y="3127248"/>
            <a:ext cx="2090867" cy="438912"/>
          </a:xfrm>
          <a:prstGeom prst="roundRect">
            <a:avLst>
              <a:gd name="adj" fmla="val 20000"/>
            </a:avLst>
          </a:prstGeom>
          <a:solidFill>
            <a:srgbClr val="EDF2F7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6385C"/>
                </a:solidFill>
                <a:latin typeface="Meiryo"/>
                <a:ea typeface="Meiryo"/>
              </a:rPr>
              <a:t>資材・治具の再手配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297" y="3127248"/>
            <a:ext cx="2090867" cy="438912"/>
          </a:xfrm>
          <a:prstGeom prst="roundRect">
            <a:avLst>
              <a:gd name="adj" fmla="val 20000"/>
            </a:avLst>
          </a:prstGeom>
          <a:solidFill>
            <a:srgbClr val="EDF2F7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6385C"/>
                </a:solidFill>
                <a:latin typeface="Meiryo"/>
                <a:ea typeface="Meiryo"/>
              </a:rPr>
              <a:t>作業者の再配置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88180" y="3127248"/>
            <a:ext cx="2090867" cy="438912"/>
          </a:xfrm>
          <a:prstGeom prst="roundRect">
            <a:avLst>
              <a:gd name="adj" fmla="val 20000"/>
            </a:avLst>
          </a:prstGeom>
          <a:solidFill>
            <a:srgbClr val="EDF2F7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6385C"/>
                </a:solidFill>
                <a:latin typeface="Meiryo"/>
                <a:ea typeface="Meiryo"/>
              </a:rPr>
              <a:t>下流・外注への波及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867911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→ 安定性は効率(MS)と並ぶ目的であり、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効率性と安定性の多目的最適化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として定式化する。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681727"/>
            <a:ext cx="11057839" cy="69494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681727"/>
            <a:ext cx="54864" cy="694944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681727"/>
            <a:ext cx="10746943" cy="6949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4000"/>
              </a:lnSpc>
            </a:pP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再スケジューリングの本質的特殊性：</a:t>
            </a: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高品質初期解 </a:t>
            </a:r>
            <a:r>
              <a:rPr sz="130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936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 が既に存在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し、最適解は 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3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近傍に分布しやすい。ゆえに手法の優劣は大域探索力だけでは決まらない。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1.3 研究目的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080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が既にある特性を軸に、探索構造との適合性・安定性誘導演算子・多角的評価の 3 点を目的に据える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1. 研究背景・目的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3442106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74520"/>
            <a:ext cx="3076346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2000"/>
              </a:lnSpc>
            </a:pPr>
            <a:r>
              <a:rPr sz="1800" b="1" i="0">
                <a:solidFill>
                  <a:srgbClr val="16385C"/>
                </a:solidFill>
                <a:latin typeface="Meiryo"/>
                <a:ea typeface="Meiryo"/>
              </a:rPr>
              <a:t>① 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特性と探索構造の適合性分析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15768"/>
            <a:ext cx="3076346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10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高品質初期解 </a:t>
            </a:r>
            <a:r>
              <a:rPr sz="12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00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 の存在が、軌道／集団の探索挙動をどう変えるかを統制下で分析する。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4794" y="1691640"/>
            <a:ext cx="3442106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7674" y="1874520"/>
            <a:ext cx="3076346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2000"/>
              </a:lnSpc>
            </a:pPr>
            <a:r>
              <a:rPr sz="1800" b="1" i="0">
                <a:solidFill>
                  <a:srgbClr val="16385C"/>
                </a:solidFill>
                <a:latin typeface="Meiryo"/>
                <a:ea typeface="Meiryo"/>
              </a:rPr>
              <a:t>② 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安定性誘導演算子の提案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7674" y="2715768"/>
            <a:ext cx="3076346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10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解を </a:t>
            </a:r>
            <a:r>
              <a:rPr sz="12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00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 へ能動的に引き寄せる演算子（PR・repair）を設計し、ベース構造との相互作用を分析する。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2660" y="1691640"/>
            <a:ext cx="3442106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5540" y="1874520"/>
            <a:ext cx="3076346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2000"/>
              </a:lnSpc>
            </a:pPr>
            <a:r>
              <a:rPr sz="1800" b="1" i="0">
                <a:solidFill>
                  <a:srgbClr val="16385C"/>
                </a:solidFill>
                <a:latin typeface="Meiryo"/>
                <a:ea typeface="Meiryo"/>
              </a:rPr>
              <a:t>③ 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多角的評価方法論の構築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5540" y="2715768"/>
            <a:ext cx="3076346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10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Pareto 覆域・安定性帯別・収束速度を統合した評価フレームワークを構築する。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114800"/>
            <a:ext cx="11057839" cy="69494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114800"/>
            <a:ext cx="54864" cy="694944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114800"/>
            <a:ext cx="10746943" cy="6949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4000"/>
              </a:lnSpc>
            </a:pP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主眼は最先端手法との性能競争ではなく、</a:t>
            </a: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演算子とホスト構造の相互作用の構造分析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にある。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148840"/>
            <a:ext cx="1554480" cy="1371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7800" b="1" i="0">
                <a:solidFill>
                  <a:srgbClr val="3E618C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148840"/>
            <a:ext cx="8899855" cy="1371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eiryo"/>
                <a:ea typeface="Meiryo"/>
              </a:rPr>
              <a:t>既存研究と本研究の位置づけ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AFC2D8"/>
                </a:solidFill>
                <a:latin typeface="Meiryo"/>
                <a:ea typeface="Meiryo"/>
              </a:rPr>
              <a:t>研究ギャップと 2 仮説（H1 / H2）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42032" y="3913632"/>
            <a:ext cx="4754880" cy="0"/>
          </a:xfrm>
          <a:prstGeom prst="bentConnector3">
            <a:avLst/>
          </a:prstGeom>
          <a:ln w="15875">
            <a:solidFill>
              <a:srgbClr val="3E61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2.1 研究ギャップと本研究の位置づけ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既存に残る 3 つの課題に、本研究は「統制比較・演算子・多軸評価」で応える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2. 既存研究と位置づけ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効率と安定性の同時最適化は Wu ら[14]以降の中心課題。安定性を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範囲の制限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で担う系譜(match-up[15]・AOR[16]・スコープ[27])もあるが、次の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3 つの課題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が残る。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724911"/>
          <a:ext cx="11057838" cy="120700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66857"/>
                <a:gridCol w="4036111"/>
                <a:gridCol w="4754870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残された課題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既存研究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本研究のアプローチ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① 適合性分析の欠如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GA 中心。</a:t>
                      </a:r>
                      <a:r>
                        <a:rPr sz="11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S</a:t>
                      </a:r>
                      <a:r>
                        <a:rPr sz="827" b="0" i="1" baseline="-2200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p</a:t>
                      </a:r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が既にある特性と軌道／集団の適合性を正面分析した例がない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N5 を揃えた軌道(ILS)と集団(Memetic)の</a:t>
                      </a:r>
                      <a:r>
                        <a:rPr sz="1150" b="1" i="0">
                          <a:solidFill>
                            <a:srgbClr val="16385C"/>
                          </a:solidFill>
                          <a:latin typeface="Meiryo"/>
                          <a:ea typeface="Meiryo"/>
                        </a:rPr>
                        <a:t>統制比較</a:t>
                      </a:r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【H1】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② 演算子としての機構の欠如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安定性の確保は全て</a:t>
                      </a:r>
                      <a:r>
                        <a:rPr sz="1150" b="1" i="0">
                          <a:solidFill>
                            <a:srgbClr val="16385C"/>
                          </a:solidFill>
                          <a:latin typeface="Meiryo"/>
                          <a:ea typeface="Meiryo"/>
                        </a:rPr>
                        <a:t>範囲限定</a:t>
                      </a:r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（探索空間の制限）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解を </a:t>
                      </a:r>
                      <a:r>
                        <a:rPr sz="11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S</a:t>
                      </a:r>
                      <a:r>
                        <a:rPr sz="827" b="0" i="1" baseline="-2200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p</a:t>
                      </a:r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へ引き寄せる</a:t>
                      </a:r>
                      <a:r>
                        <a:rPr sz="1150" b="1" i="0">
                          <a:solidFill>
                            <a:srgbClr val="16385C"/>
                          </a:solidFill>
                          <a:latin typeface="Meiryo"/>
                          <a:ea typeface="Meiryo"/>
                        </a:rPr>
                        <a:t>安定性誘導演算子</a:t>
                      </a:r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(PR・repair)【H2】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③ 評価方法論の不足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単一重みのスカラー比較が主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6385C"/>
                          </a:solidFill>
                          <a:latin typeface="Meiryo"/>
                          <a:ea typeface="Meiryo"/>
                        </a:rPr>
                        <a:t>3 指標</a:t>
                      </a:r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（Pareto 覆域・安定帯別・速度）で評価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4160520"/>
            <a:ext cx="5346039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343400"/>
            <a:ext cx="4980279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2000"/>
              </a:lnSpc>
            </a:pP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H1（適合性）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873752"/>
            <a:ext cx="4980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10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軌道 ILS は </a:t>
            </a:r>
            <a:r>
              <a:rPr sz="12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00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 近傍を充填的に覆う。集団 Memetic は交叉で </a:t>
            </a:r>
            <a:r>
              <a:rPr sz="12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00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 から飛び、近傍が粗い。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4160520"/>
            <a:ext cx="5346039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4343400"/>
            <a:ext cx="4980279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2000"/>
              </a:lnSpc>
            </a:pP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H2（補完）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4873752"/>
            <a:ext cx="4980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10000"/>
              </a:lnSpc>
            </a:pPr>
            <a:r>
              <a:rPr sz="12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00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 誘導演算子(PR・repair)は集団の弱点を補うが、自力充填済みの ILS は伸びしろが小さい ＝ ホスト依存で非対称。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148840"/>
            <a:ext cx="1554480" cy="1371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7800" b="1" i="0">
                <a:solidFill>
                  <a:srgbClr val="3E618C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148840"/>
            <a:ext cx="8899855" cy="1371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eiryo"/>
                <a:ea typeface="Meiryo"/>
              </a:rPr>
              <a:t>問題設定と提案手法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AFC2D8"/>
                </a:solidFill>
                <a:latin typeface="Meiryo"/>
                <a:ea typeface="Meiryo"/>
              </a:rPr>
              <a:t>問題定義・安定性誘導演算子（PR / repair）・評価フレームワーク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42032" y="3913632"/>
            <a:ext cx="4754880" cy="0"/>
          </a:xfrm>
          <a:prstGeom prst="bentConnector3">
            <a:avLst/>
          </a:prstGeom>
          <a:ln w="15875">
            <a:solidFill>
              <a:srgbClr val="3E61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3.1 問題定義 — 再スケジューリングの力学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凍結部を固定し、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t</a:t>
            </a:r>
            <a:r>
              <a:rPr sz="1080" b="1" i="1" baseline="-22000">
                <a:solidFill>
                  <a:srgbClr val="16385C"/>
                </a:solidFill>
                <a:latin typeface="Meiryo"/>
                <a:ea typeface="Meiryo"/>
              </a:rPr>
              <a:t>r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以降の「機械ごとの処理順序」だけを動かす順列最適化に帰着する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3. 問題設定と提案手法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元スケジュール </a:t>
            </a:r>
            <a:r>
              <a:rPr sz="155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116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：静的 JSSP の高品質解（全手法の共通入力）。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外乱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は単一の作業遅延（遅延量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Δ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）。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right-shift 解 </a:t>
            </a:r>
            <a:r>
              <a:rPr sz="155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116" b="1" i="1" baseline="-22000">
                <a:solidFill>
                  <a:srgbClr val="16385C"/>
                </a:solidFill>
                <a:latin typeface="Meiryo"/>
                <a:ea typeface="Meiryo"/>
              </a:rPr>
              <a:t>RSR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：機械上の順序を保ち遅延を吸収した現場の実スケジュール（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D=0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に対応）。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凍結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：再スケ時刻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t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r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前に開始済みの作業は凍結し、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t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r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以降を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最適化対象 </a:t>
            </a:r>
            <a:r>
              <a:rPr sz="1550" b="1" i="1">
                <a:solidFill>
                  <a:srgbClr val="16385C"/>
                </a:solidFill>
                <a:latin typeface="Meiryo"/>
                <a:ea typeface="Meiryo"/>
              </a:rPr>
              <a:t>O</a:t>
            </a:r>
            <a:r>
              <a:rPr sz="1116" b="1" i="1" baseline="-22000">
                <a:solidFill>
                  <a:srgbClr val="16385C"/>
                </a:solidFill>
                <a:latin typeface="Meiryo"/>
                <a:ea typeface="Meiryo"/>
              </a:rPr>
              <a:t>opt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とする。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決定変数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：機械割当は固定 → 対象作業の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機械ごとの処理順序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のみ。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087368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安定性指標（順列偏差）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：探索機構(swap・N5)が動く順列空間と一致し、MS と独立性が高い。</a:t>
            </a:r>
          </a:p>
        </p:txBody>
      </p:sp>
      <p:pic>
        <p:nvPicPr>
          <p:cNvPr id="10" name="Picture 9" descr="eq_s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01" y="4901183"/>
            <a:ext cx="2627092" cy="5303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84687" y="5029199"/>
            <a:ext cx="6400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678423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lvl="1">
              <a:lnSpc>
                <a:spcPct val="106000"/>
              </a:lnSpc>
              <a:spcBef>
                <a:spcPts val="300"/>
              </a:spcBef>
            </a:pPr>
            <a:r>
              <a:rPr sz="1200" b="0" i="0">
                <a:solidFill>
                  <a:srgbClr val="6E7A88"/>
                </a:solidFill>
                <a:latin typeface="Meiryo"/>
                <a:ea typeface="Meiryo"/>
              </a:rPr>
              <a:t>－ </a:t>
            </a:r>
            <a:r>
              <a:rPr sz="1400" b="0" i="1">
                <a:solidFill>
                  <a:srgbClr val="26303A"/>
                </a:solidFill>
                <a:latin typeface="Meiryo"/>
                <a:ea typeface="Meiryo"/>
              </a:rPr>
              <a:t>r</a:t>
            </a:r>
            <a:r>
              <a:rPr sz="1008" b="0" i="1" baseline="-22000">
                <a:solidFill>
                  <a:srgbClr val="26303A"/>
                </a:solidFill>
                <a:latin typeface="Meiryo"/>
                <a:ea typeface="Meiryo"/>
              </a:rPr>
              <a:t>ij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＝機械 </a:t>
            </a:r>
            <a:r>
              <a:rPr sz="1400" b="0" i="1">
                <a:solidFill>
                  <a:srgbClr val="26303A"/>
                </a:solidFill>
                <a:latin typeface="Meiryo"/>
                <a:ea typeface="Meiryo"/>
              </a:rPr>
              <a:t>i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 上のジョブ </a:t>
            </a:r>
            <a:r>
              <a:rPr sz="1400" b="0" i="1">
                <a:solidFill>
                  <a:srgbClr val="26303A"/>
                </a:solidFill>
                <a:latin typeface="Meiryo"/>
                <a:ea typeface="Meiryo"/>
              </a:rPr>
              <a:t>j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 の処理順位。値が小さいほど高安定（</a:t>
            </a:r>
            <a:r>
              <a:rPr sz="1400" b="0" i="1">
                <a:solidFill>
                  <a:srgbClr val="26303A"/>
                </a:solidFill>
                <a:latin typeface="Meiryo"/>
                <a:ea typeface="Meiryo"/>
              </a:rPr>
              <a:t>D=0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＝順序不変の </a:t>
            </a:r>
            <a:r>
              <a:rPr sz="14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08" b="0" i="1" baseline="-22000">
                <a:solidFill>
                  <a:srgbClr val="26303A"/>
                </a:solidFill>
                <a:latin typeface="Meiryo"/>
                <a:ea typeface="Meiryo"/>
              </a:rPr>
              <a:t>RSR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3.1 多目的とスカラー化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重み付き和で掃引——運用の選好設定と整合し、軌道と集団に同一目的を共有させる「統制の共通土台」になる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3. 問題設定と提案手法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min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S_q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(MS(S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q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),  D(S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,S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q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))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を、重み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λ∈[0,1]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の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重み付き和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で解く（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\hat·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は min-max 正規化）。</a:t>
            </a:r>
          </a:p>
        </p:txBody>
      </p:sp>
      <p:pic>
        <p:nvPicPr>
          <p:cNvPr id="9" name="Picture 8" descr="eq_s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433" y="2459736"/>
            <a:ext cx="4484827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84687" y="2578608"/>
            <a:ext cx="6400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18688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なぜ Pareto-native 手法でなく重みスカラー化か</a:t>
            </a:r>
          </a:p>
          <a:p>
            <a:pPr lvl="1">
              <a:lnSpc>
                <a:spcPct val="106000"/>
              </a:lnSpc>
              <a:spcBef>
                <a:spcPts val="300"/>
              </a:spcBef>
            </a:pPr>
            <a:r>
              <a:rPr sz="1200" b="0" i="0">
                <a:solidFill>
                  <a:srgbClr val="6E7A88"/>
                </a:solidFill>
                <a:latin typeface="Meiryo"/>
                <a:ea typeface="Meiryo"/>
              </a:rPr>
              <a:t>－ 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運用形態との整合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：効率と安定の優先度は意思決定者が事前に重みとして与える量（再スケの標準枠組[3]）。</a:t>
            </a:r>
          </a:p>
          <a:p>
            <a:pPr lvl="1">
              <a:lnSpc>
                <a:spcPct val="106000"/>
              </a:lnSpc>
              <a:spcBef>
                <a:spcPts val="300"/>
              </a:spcBef>
            </a:pPr>
            <a:r>
              <a:rPr sz="1200" b="0" i="0">
                <a:solidFill>
                  <a:srgbClr val="6E7A88"/>
                </a:solidFill>
                <a:latin typeface="Meiryo"/>
                <a:ea typeface="Meiryo"/>
              </a:rPr>
              <a:t>－ 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統制比較の共通基盤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：単一解 ILS と集団 Memetic に同一目的 </a:t>
            </a:r>
            <a:r>
              <a:rPr sz="1400" b="0" i="1">
                <a:solidFill>
                  <a:srgbClr val="26303A"/>
                </a:solidFill>
                <a:latin typeface="Meiryo"/>
                <a:ea typeface="Meiryo"/>
              </a:rPr>
              <a:t>F(λ)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 を共有させ、同一機構を無改変で載せ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構造差だけ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を切り出せる。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単一重み依存を避け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λ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を複数点掃引し、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UEA[9]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で全非劣解を統合して評価する。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3.2 ベース探索構造と H1 の機序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軌道は摂動強度＝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080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からの距離を制御でき近傍を充填、集団は破壊的な交叉で子個体が 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080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から飛散する（H1）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3. 問題設定と提案手法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9</a:t>
            </a:r>
          </a:p>
        </p:txBody>
      </p:sp>
      <p:pic>
        <p:nvPicPr>
          <p:cNvPr id="8" name="Picture 7" descr="concept_2str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89" y="1645920"/>
            <a:ext cx="4915408" cy="2697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370832"/>
            <a:ext cx="5504531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集団は交叉で子個体が </a:t>
            </a:r>
            <a:r>
              <a:rPr sz="1050" b="0" i="1">
                <a:solidFill>
                  <a:srgbClr val="6E7A88"/>
                </a:solidFill>
                <a:latin typeface="Meiryo"/>
                <a:ea typeface="Meiryo"/>
              </a:rPr>
              <a:t>S</a:t>
            </a:r>
            <a:r>
              <a:rPr sz="756" b="0" i="1" baseline="-22000">
                <a:solidFill>
                  <a:srgbClr val="6E7A88"/>
                </a:solidFill>
                <a:latin typeface="Meiryo"/>
                <a:ea typeface="Meiryo"/>
              </a:rPr>
              <a:t>p</a:t>
            </a: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 から飛散（左）／軌道は連続変形で </a:t>
            </a:r>
            <a:r>
              <a:rPr sz="1050" b="0" i="1">
                <a:solidFill>
                  <a:srgbClr val="6E7A88"/>
                </a:solidFill>
                <a:latin typeface="Meiryo"/>
                <a:ea typeface="Meiryo"/>
              </a:rPr>
              <a:t>S</a:t>
            </a:r>
            <a:r>
              <a:rPr sz="756" b="0" i="1" baseline="-22000">
                <a:solidFill>
                  <a:srgbClr val="6E7A88"/>
                </a:solidFill>
                <a:latin typeface="Meiryo"/>
                <a:ea typeface="Meiryo"/>
              </a:rPr>
              <a:t>p</a:t>
            </a: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 近傍を充填（右）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355" y="1645920"/>
            <a:ext cx="5242411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軌道(ILS)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：深掘り(局所探索)と脱出(摂動)が分離 →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摂動強度＝</a:t>
            </a:r>
            <a:r>
              <a:rPr sz="155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116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 からの距離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を直接制御でき、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起点に連続変形で近傍を充填。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集団(Memetic)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：GA に N5 を Lamarckian 適用。だが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交叉は 2 親を切り貼りする破壊的操作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で、子個体が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近傍から飛散する。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局所探索 N5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[1] は両者で共有（統制）→ 高安定充填の差は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交叉の有無＝探索構造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だけに帰属。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∴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H1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：同じ N5 でも集団は高安定領域の充填が構造的に粗い。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815584"/>
            <a:ext cx="11057839" cy="69494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815584"/>
            <a:ext cx="54864" cy="694944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815584"/>
            <a:ext cx="10746943" cy="6949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4000"/>
              </a:lnSpc>
            </a:pP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集団が 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3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から遠い解を多数保つこの性質は、次節の</a:t>
            </a: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安定性誘導演算子（PR・repair）が働く土壌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になる（→ H2）。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3.3 安定性誘導演算子 — PR・repair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guiding solution を 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080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に固定＝解を「安定性アンカー」へ方向づける移動。同一演算子が両ホストに載る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3. 問題設定と提案手法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10</a:t>
            </a:r>
          </a:p>
        </p:txBody>
      </p:sp>
      <p:pic>
        <p:nvPicPr>
          <p:cNvPr id="8" name="Picture 7" descr="concept_direct_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291" y="1645920"/>
            <a:ext cx="4221804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82355" y="1645920"/>
            <a:ext cx="5242411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PR（Path Relinking）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[5]：現在解→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の経路を swap で辿り経路上最良解を返す。評価回数を </a:t>
            </a:r>
            <a:r>
              <a:rPr sz="1550" b="1" i="1">
                <a:solidFill>
                  <a:srgbClr val="16385C"/>
                </a:solidFill>
                <a:latin typeface="Meiryo"/>
                <a:ea typeface="Meiryo"/>
              </a:rPr>
              <a:t>O(d)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（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=不一致数）に抑える。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repair（Mini-PR kick）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：PR を数手で打ち切り、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方向へ引き戻してから局所探索で再最適化。深さで安定側フロントを面で覆う。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両ホストに載るのは同一演算子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。異なるのは発動法だけ：軌道＝停滞時の摂動／集団＝個体ごとの精緻化。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3.4 評価フレームワーク — 3 指標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単一指標では相補構造が見えない——「総合品質・高安定充填・速度」の 3 問を 3 指標で切り分ける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3. 問題設定と提案手法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45920"/>
          <a:ext cx="5748364" cy="120700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93543"/>
                <a:gridCol w="2699989"/>
                <a:gridCol w="1654832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指標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意味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役割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統合 HV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全領域の hypervolume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総合品質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高安定 HV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D&lt;</a:t>
                      </a:r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P50（</a:t>
                      </a:r>
                      <a:r>
                        <a:rPr sz="11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S</a:t>
                      </a:r>
                      <a:r>
                        <a:rPr sz="827" b="0" i="1" baseline="-2200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p</a:t>
                      </a:r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近傍）限定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本命（充填度）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AOC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HV-対-log 時間曲線の時間平均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アンタイム（速さ）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9" name="Picture 8" descr="core_v3_metrics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188" y="1645920"/>
            <a:ext cx="4998578" cy="19225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842770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HV は各シナリオで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[0,1]</a:t>
            </a:r>
            <a:r>
              <a:rPr sz="1116" b="0" i="1" baseline="30000">
                <a:solidFill>
                  <a:srgbClr val="26303A"/>
                </a:solidFill>
                <a:latin typeface="Meiryo"/>
                <a:ea typeface="Meiryo"/>
              </a:rPr>
              <a:t>2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正規化 ＋ 参照点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(1.1,1.1)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。AOC は壁時計・対数時間で手法間 apples-to-apples。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統計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：各シナリオ内で片側 Wilcoxon ＋ Cliff's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δ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。横断は Friedman 平均順位 ＋ Kendall's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W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（相関シナリオゆえ探索的要約）。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|δ|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=1.0 は完全分離（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p≈0.001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148840"/>
            <a:ext cx="1554480" cy="1371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7800" b="1" i="0">
                <a:solidFill>
                  <a:srgbClr val="3E618C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148840"/>
            <a:ext cx="8899855" cy="1371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eiryo"/>
                <a:ea typeface="Meiryo"/>
              </a:rPr>
              <a:t>計算機実験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AFC2D8"/>
                </a:solidFill>
                <a:latin typeface="Meiryo"/>
                <a:ea typeface="Meiryo"/>
              </a:rPr>
              <a:t>H1（適合性）・H2（非対称効果）・総合スコアボード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42032" y="3913632"/>
            <a:ext cx="4754880" cy="0"/>
          </a:xfrm>
          <a:prstGeom prst="bentConnector3">
            <a:avLst/>
          </a:prstGeom>
          <a:ln w="15875">
            <a:solidFill>
              <a:srgbClr val="3E61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4.1 実験設定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同一 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080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のまま再スケ率 ρ だけを段階変化させ、手法差の ρ 依存を交絡なく切り分ける設計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4. 計算機実験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45920"/>
          <a:ext cx="11057837" cy="9052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866847"/>
                <a:gridCol w="2730330"/>
                <a:gridCol w="2730330"/>
                <a:gridCol w="2730330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対象 7 手法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baseline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＋ repair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＋ PR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軌道（ILS）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ILS-baseline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ILS+repair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ILS+PR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集団（Memetic）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Memetic-LS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Memetic+repair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Memetic+PR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2734056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lvl="1">
              <a:lnSpc>
                <a:spcPct val="106000"/>
              </a:lnSpc>
              <a:spcBef>
                <a:spcPts val="300"/>
              </a:spcBef>
            </a:pPr>
            <a:r>
              <a:rPr sz="1200" b="0" i="0">
                <a:solidFill>
                  <a:srgbClr val="6E7A88"/>
                </a:solidFill>
                <a:latin typeface="Meiryo"/>
                <a:ea typeface="Meiryo"/>
              </a:rPr>
              <a:t>－ 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＋ 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GA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（局所探索なしの参考ベースライン）で計 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7 手法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。</a:t>
            </a:r>
            <a:r>
              <a:rPr sz="14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08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（GA-500 の高品質解）を全手法で共有。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3547872"/>
          <a:ext cx="5242410" cy="1508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77571"/>
                <a:gridCol w="3564839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項目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設定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インスタンス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mt10・la21・la36・la40・ta21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重み λ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10 点（0〜0.9・0.1 刻み）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Trial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n=10（解析単位＝1 trial）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計算予算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ILS 3000 反復／GA・Memetic 500 世代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0235" y="3547872"/>
            <a:ext cx="5504531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各シナリオの%は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再スケ率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ρ=n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res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/ops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（統制軸）：la36 27/54/73・ta21 32/82・mt10 72・la21 35・la40 32。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la36 ラダー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・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ta21 対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は同一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で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ρ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だけ段階変化 →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ρ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依存を交絡なく分離。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外乱は単一作業の完了遅延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Δ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=60〜148。環境：Ryzen 5 7530U／Python 3.12・全乱数シード固定。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4.2 結果1：軌道(ILS) vs 集団(Memetic)【H1】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同じ N5 を積んでも、高安定領域は ILS が全 8 シナリオで完全分離——差は局所探索でなく探索構造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4. 計算機実験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13</a:t>
            </a:r>
          </a:p>
        </p:txBody>
      </p:sp>
      <p:pic>
        <p:nvPicPr>
          <p:cNvPr id="8" name="Picture 7" descr="core_v3_clai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45920"/>
            <a:ext cx="11057839" cy="28258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499244"/>
            <a:ext cx="110578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局所探索(N5)を揃えた ILS-baseline vs Memetic-LS ｜ 統合HV=互角／高安定HV=ILS完全優越／AOC=6/8でILS優位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901580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高安定 HV：ILS が全 8 シナリオを完全分離で上回る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（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=0.001,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|δ|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=1.0）。低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ρ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の 3 シナリオでは Memetic は高安定域に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1 解も到達できず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、残る 5 でも ILS が 2〜4.5 倍。Holm 補正後も全シナリオ有意。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統合 HV は互角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（ILS 5 勝・Memetic 3 勝、勝者は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ρ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で入れ替わる）。差は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局所探索の有無でなく探索構造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に由来する。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4.2 H1 の構造的原因 — 訪問密度差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ILS は低 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D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フロント帯に集中、集団は交叉ゆえ低 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D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でも MS を煮詰めきれず充填できない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4. 計算機実験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14</a:t>
            </a:r>
          </a:p>
        </p:txBody>
      </p:sp>
      <p:pic>
        <p:nvPicPr>
          <p:cNvPr id="8" name="Picture 7" descr="h1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132" y="1645920"/>
            <a:ext cx="4035567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83801" y="1645920"/>
            <a:ext cx="484096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訪問密度差マップ（赤＝ILS 密／青＝Memetic 密、手法ごと総和 1 で正規化）。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ILS は低 </a:t>
            </a:r>
            <a:r>
              <a:rPr sz="1550" b="1" i="1">
                <a:solidFill>
                  <a:srgbClr val="16385C"/>
                </a:solidFill>
                <a:latin typeface="Meiryo"/>
                <a:ea typeface="Meiryo"/>
              </a:rPr>
              <a:t>D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 のフロント帯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（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近傍で良 MS を保てる帯）に集中。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Memetic は高 </a:t>
            </a:r>
            <a:r>
              <a:rPr sz="1550" b="1" i="1">
                <a:solidFill>
                  <a:srgbClr val="16385C"/>
                </a:solidFill>
                <a:latin typeface="Meiryo"/>
                <a:ea typeface="Meiryo"/>
              </a:rPr>
              <a:t>D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 の不安定領域に分散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＝ 同じ低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でも交叉ゆえ MS を煮詰めきれず Pareto 的に充填できない。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→ これが高安定 HV 差の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構造的原因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。集団が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から遠い解を多数持つ性質は、次の H2 の土壌になる。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4.3 結果2：PR・repair の非対称効果【H2】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同一演算子が集団の高安定 HV を 2 倍超に引き上げ ILS 水準へ。だが自力充填済みの軌道はほぼ頭打ち＝非対称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4. 計算機実験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15</a:t>
            </a:r>
          </a:p>
        </p:txBody>
      </p:sp>
      <p:pic>
        <p:nvPicPr>
          <p:cNvPr id="8" name="Picture 7" descr="core_v3_clai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147" y="1645920"/>
            <a:ext cx="8915400" cy="3154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828032"/>
            <a:ext cx="110578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baseline に機構を追加したときの高安定 HV の伸び（ホスト別）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230368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集団(Memetic)：高安定 HV を大幅改善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（全 8 シナリオで 2 倍以上,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=0.001,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|δ|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=1.0）。届かなかった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近傍を機構が直接充填 →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高安定で ILS に追いつき、統合 HV では追い越す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軌道(ILS)：ほぼ頭打ち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。baseline 時点で自力充填済み。機構が有意なのは最高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ρ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帯の la36L(73%)・ta21L(82%)のみ（Holm 後は ta21L のみ残存,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adj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≈0.008）。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4.3 H2 の機構的原因 — PR 経路統計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集団は経路が長く道中で改善を 30〜65% 発見、ILS は経路が短く発見ほぼ 0%——方向づけは軌道では空振り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4. 計算機実験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16</a:t>
            </a:r>
          </a:p>
        </p:txBody>
      </p:sp>
      <p:pic>
        <p:nvPicPr>
          <p:cNvPr id="8" name="Picture 7" descr="mech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45920"/>
            <a:ext cx="5861969" cy="1983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39793" y="1645920"/>
            <a:ext cx="4884974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Memetic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：経路長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0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が大きく、経路上で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約 30〜65%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の確率で改善解を発見。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ILS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近傍に張り付き経路が短く、改善発見率は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全シナリオほぼ 0%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（ta21L でも 0.4%）。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方向づけ移動は ILS では空振り。la36L・ta21L で僅かに効くのは、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キック後の局所探索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が埋め残しを再最適化する寄与による。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4.3 PR か repair か — ホスト依存の使い分け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使い分けが要るのは集団だけ：最終品質なら PR、アンタイム重視なら repair（軌道はどちらでも同じ）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4. 計算機実験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45920"/>
          <a:ext cx="11057837" cy="9052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3491"/>
                <a:gridCol w="3156042"/>
                <a:gridCol w="3623604"/>
                <a:gridCol w="2454700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ホスト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統合／高安定 HV（品質）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AOC（アンタイム）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使い分け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ILS（</a:t>
                      </a:r>
                      <a:r>
                        <a:rPr sz="11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d</a:t>
                      </a:r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小）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機構を足しても頭打ち＝タイ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全 8 でタイ（発動が停滞時・経路短く </a:t>
                      </a:r>
                      <a:r>
                        <a:rPr sz="11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O(d)</a:t>
                      </a:r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）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選択は問題にならない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Memetic（</a:t>
                      </a:r>
                      <a:r>
                        <a:rPr sz="11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d</a:t>
                      </a:r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大）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PR が僅かに優る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repair が全 8 で PR に優る（</a:t>
                      </a:r>
                      <a:r>
                        <a:rPr sz="11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δ</a:t>
                      </a:r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最大 +1.0）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品質＝PR ／ 予算厳＝repair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2734056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PR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は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までの長い経路を辿り切ってから最良中間解を返すため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立ち上がりが遅い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。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repair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は数手で打ち切り即座に incumbent を更新するため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アンタイムに強い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→ 最終品質最優先なら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Memetic+PR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、計算予算が厳しくアンタイム重視なら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repair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。ILS では既定 repair で足りる。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4.4 総合スコアボード — 指標で首位が替わる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評価軸が変われば首位も替わる：総合品質＝Memetic+機構／安定・速度＝ILS系。万能手法は存在しない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4. 計算機実験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18</a:t>
            </a:r>
          </a:p>
        </p:txBody>
      </p:sp>
      <p:pic>
        <p:nvPicPr>
          <p:cNvPr id="8" name="Picture 7" descr="scoreboard_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45920"/>
            <a:ext cx="3533546" cy="14105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3083949"/>
            <a:ext cx="3533546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(a) 統合HV — 首位 Memetic+PR</a:t>
            </a:r>
          </a:p>
        </p:txBody>
      </p:sp>
      <p:pic>
        <p:nvPicPr>
          <p:cNvPr id="10" name="Picture 9" descr="scoreboard_highs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074" y="1645920"/>
            <a:ext cx="3533546" cy="14098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29074" y="3083245"/>
            <a:ext cx="3533546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(b) 高安定HV — 首位 ILS 系</a:t>
            </a:r>
          </a:p>
        </p:txBody>
      </p:sp>
      <p:pic>
        <p:nvPicPr>
          <p:cNvPr id="12" name="Picture 11" descr="scoreboard_a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220" y="1645920"/>
            <a:ext cx="3533546" cy="14088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1220" y="3082186"/>
            <a:ext cx="3533546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(c) AOC — 首位 ILS 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623445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Friedman 平均順位は 3 指標とも明確に分離（Kendall's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W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=0.59／0.81／0.63,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&lt;0.0001, 相関ゆえ探索的要約）。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機構なしの素の集団(GA・Memetic-LS)だけが高安定 HV で ARPD≈70〜78% と壊滅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し、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近傍に届かず二分される（H1・H2 の予言どおり）。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4.4 結果の統合 — 相補構造と閾値頑健性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「素の集団だけが高安定で壊滅」する二分構造は閾値 P25〜P75 で不変——相補構造は頑健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4. 計算機実験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統合 HV（品質）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：機構込み集団が首位群（Memetic+PR 2.0・+repair 2.5）。素の集団と互角だった ILS の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上に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機構込み Memetic が立つ（首位は leave-one-out に頑健）。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高安定 HV（本命）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：ILS 系と機構込み Memetic が首位群(2.6〜3.4)、素の集団だけ壊滅（GA 6.4・Memetic-LS 6.6）。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AOC（速さ）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：ILS 系 3 種が首位群(2.5〜2.8)。ウォームアップの遅い Memetic+PR・GA が下位。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閾値頑健性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：高安定 HV の P50 を P25〜P75 で掃引しても「素の集団＝最下位群／ILS系・機構込Memetic＝上位群」の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二分構造は不変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。動くのは首位群内の僅差順位のみ。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882896"/>
            <a:ext cx="11057839" cy="941832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882896"/>
            <a:ext cx="54864" cy="941832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882896"/>
            <a:ext cx="1074694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4000"/>
              </a:lnSpc>
            </a:pP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発散型 ILS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（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3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起点に外へ）と</a:t>
            </a: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収束型 Memetic+PR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（散った集団を 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3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へ）は逆向きだが類似の最終 Pareto に到達。ILS は早期から良い incumbent を持ち、AOC でこの交差が ILS 優位として現れる。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4.4【探索的】統合 HV の勝者と再スケ率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総合HVの勝者は ρ≈50% で二分——ただし交絡ゆえ見立て。本命の結論はこれに依存しない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4. 計算機実験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統合 HV の勝者は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ρ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と対応し、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~50% を境に低で ILS・中〜高で Memetic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に二分（同一 la36 ラダー 27/54/73% で ILS→Memetic→Memetic）。可動工程の絶対数や問題規模では捉えられない。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機序の見立て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：安定性項は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(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=0) を引力点とする。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ρ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小では良解が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近傍に限られ ILS の近傍充填で足りる。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ρ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増で効率端が遠のくと、単一軌道の ILS は引力圏を脱しにくく、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 から離れた個体を保つ Memetic だけが届く（H1 と同型）。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886200"/>
            <a:ext cx="11057839" cy="941832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886200"/>
            <a:ext cx="54864" cy="941832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886200"/>
            <a:ext cx="1074694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4000"/>
              </a:lnSpc>
            </a:pP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ただし ta21L(82%)は例外（≒タイ, 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=0.053）で、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3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品質の交絡と順列偏差表現への依存も残るため</a:t>
            </a: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探索的見立て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に留める。本命の高安定 HV 優位・機構非対称はこの対応に依存せず、全 8 シナリオの直接検定で独立に確立している。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148840"/>
            <a:ext cx="1554480" cy="1371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7800" b="1" i="0">
                <a:solidFill>
                  <a:srgbClr val="3E618C"/>
                </a:solidFill>
                <a:latin typeface="Meiryo"/>
                <a:ea typeface="Meiryo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148840"/>
            <a:ext cx="8899855" cy="1371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eiryo"/>
                <a:ea typeface="Meiryo"/>
              </a:rPr>
              <a:t>結論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AFC2D8"/>
                </a:solidFill>
                <a:latin typeface="Meiryo"/>
                <a:ea typeface="Meiryo"/>
              </a:rPr>
              <a:t>相補構造・限界・今後の課題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42032" y="3913632"/>
            <a:ext cx="4754880" cy="0"/>
          </a:xfrm>
          <a:prstGeom prst="bentConnector3">
            <a:avLst/>
          </a:prstGeom>
          <a:ln w="15875">
            <a:solidFill>
              <a:srgbClr val="3E61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5. 結論 — 3 つの主張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安定性を「演算子」化して同一機構を両ホストへ移植し、そのホスト依存の非対称性を統制下で切り分けた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5. 結論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① 軌道(ILS)は高安定領域を効率的に充填する【H1】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：総合品質は互角だが、本命の高安定領域で同一 N5 の集団を全 8 シナリオで完全分離で上回る（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=0.001,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|δ|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=1.0）。局所探索の有無でなく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探索構造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に由来。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② PR・repair の効果はホスト依存で非対称【H2】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：集団の高安定 HV を 2 倍以上押し上げ ILS 水準へ。自力充填済みの軌道はほぼ頭打ち（ただし極端な高 </a:t>
            </a:r>
            <a:r>
              <a:rPr sz="1550" b="0" i="1">
                <a:solidFill>
                  <a:srgbClr val="26303A"/>
                </a:solidFill>
                <a:latin typeface="Meiryo"/>
                <a:ea typeface="Meiryo"/>
              </a:rPr>
              <a:t>ρ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=ta21L 82% では軌道にも有意に残る）。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③ 軌道と集団の相補構造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：総合品質＝Memetic+機構／安定性＝ILS と Memetic+機構の双方／速度＝ILS 系。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評価指標により最良手法が替わる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——両構造は再スケの異なる要求を補い合う。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517136"/>
            <a:ext cx="11057839" cy="69494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517136"/>
            <a:ext cx="54864" cy="694944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517136"/>
            <a:ext cx="10746943" cy="6949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4000"/>
              </a:lnSpc>
            </a:pP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中心的貢献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：安定性レバーを演算子として実装したことで同一機構を両ホストへ移植でき、そのホスト依存の非対称性を統制下で切り分けたこと。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5. 限界と今後の課題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主結論は「作業集合を保つ作業遅延・順列偏差」で確立——集合を変える外乱や開始時刻偏差が次の射程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5. 結論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5373471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限界</a:t>
            </a:r>
          </a:p>
          <a:p>
            <a:pPr lvl="1">
              <a:lnSpc>
                <a:spcPct val="106000"/>
              </a:lnSpc>
              <a:spcBef>
                <a:spcPts val="300"/>
              </a:spcBef>
            </a:pPr>
            <a:r>
              <a:rPr sz="1200" b="0" i="0">
                <a:solidFill>
                  <a:srgbClr val="6E7A88"/>
                </a:solidFill>
                <a:latin typeface="Meiryo"/>
                <a:ea typeface="Meiryo"/>
              </a:rPr>
              <a:t>－ 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n=10 に基づく（飽和した主結論は頑健、境界事例は別）。</a:t>
            </a:r>
          </a:p>
          <a:p>
            <a:pPr lvl="1">
              <a:lnSpc>
                <a:spcPct val="106000"/>
              </a:lnSpc>
              <a:spcBef>
                <a:spcPts val="300"/>
              </a:spcBef>
            </a:pPr>
            <a:r>
              <a:rPr sz="1200" b="0" i="0">
                <a:solidFill>
                  <a:srgbClr val="6E7A88"/>
                </a:solidFill>
                <a:latin typeface="Meiryo"/>
                <a:ea typeface="Meiryo"/>
              </a:rPr>
              <a:t>－ 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安定性を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順列偏差でのみ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測定。開始時刻偏差下での妥当性は未検証。</a:t>
            </a:r>
          </a:p>
          <a:p>
            <a:pPr lvl="1">
              <a:lnSpc>
                <a:spcPct val="106000"/>
              </a:lnSpc>
              <a:spcBef>
                <a:spcPts val="300"/>
              </a:spcBef>
            </a:pPr>
            <a:r>
              <a:rPr sz="1200" b="0" i="0">
                <a:solidFill>
                  <a:srgbClr val="6E7A88"/>
                </a:solidFill>
                <a:latin typeface="Meiryo"/>
                <a:ea typeface="Meiryo"/>
              </a:rPr>
              <a:t>－ 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H1・H2 は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作業集合を保つ作業遅延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で確立。作業集合を変える外乱では </a:t>
            </a:r>
            <a:r>
              <a:rPr sz="14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08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 が完全な参照解でなくなり、式(1)の定義自体が変わる。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1295" y="1645920"/>
            <a:ext cx="5373471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今後の課題</a:t>
            </a:r>
          </a:p>
          <a:p>
            <a:pPr lvl="1">
              <a:lnSpc>
                <a:spcPct val="106000"/>
              </a:lnSpc>
              <a:spcBef>
                <a:spcPts val="300"/>
              </a:spcBef>
            </a:pPr>
            <a:r>
              <a:rPr sz="1200" b="0" i="0">
                <a:solidFill>
                  <a:srgbClr val="6E7A88"/>
                </a:solidFill>
                <a:latin typeface="Meiryo"/>
                <a:ea typeface="Meiryo"/>
              </a:rPr>
              <a:t>－ 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開始時刻偏差下での再検証。</a:t>
            </a:r>
          </a:p>
          <a:p>
            <a:pPr lvl="1">
              <a:lnSpc>
                <a:spcPct val="106000"/>
              </a:lnSpc>
              <a:spcBef>
                <a:spcPts val="300"/>
              </a:spcBef>
            </a:pPr>
            <a:r>
              <a:rPr sz="1200" b="0" i="0">
                <a:solidFill>
                  <a:srgbClr val="6E7A88"/>
                </a:solidFill>
                <a:latin typeface="Meiryo"/>
                <a:ea typeface="Meiryo"/>
              </a:rPr>
              <a:t>－ 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特急ジョブ割込み・ジョブ削除など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作業集合を変える外乱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への拡張。</a:t>
            </a:r>
          </a:p>
          <a:p>
            <a:pPr lvl="1">
              <a:lnSpc>
                <a:spcPct val="106000"/>
              </a:lnSpc>
              <a:spcBef>
                <a:spcPts val="300"/>
              </a:spcBef>
            </a:pPr>
            <a:r>
              <a:rPr sz="1200" b="0" i="0">
                <a:solidFill>
                  <a:srgbClr val="6E7A88"/>
                </a:solidFill>
                <a:latin typeface="Meiryo"/>
                <a:ea typeface="Meiryo"/>
              </a:rPr>
              <a:t>－ 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範囲レバーと演算子レバーの統合（波及範囲内での誘導演算子併用）。</a:t>
            </a:r>
          </a:p>
          <a:p>
            <a:pPr lvl="1">
              <a:lnSpc>
                <a:spcPct val="106000"/>
              </a:lnSpc>
              <a:spcBef>
                <a:spcPts val="300"/>
              </a:spcBef>
            </a:pPr>
            <a:r>
              <a:rPr sz="1200" b="0" i="0">
                <a:solidFill>
                  <a:srgbClr val="6E7A88"/>
                </a:solidFill>
                <a:latin typeface="Meiryo"/>
                <a:ea typeface="Meiryo"/>
              </a:rPr>
              <a:t>－ 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集団側の代替処方（</a:t>
            </a:r>
            <a:r>
              <a:rPr sz="14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08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 偏向交叉）との比較、Pareto-native 手法(NSGA-II 等)での再検証。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