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48" d="100"/>
          <a:sy n="48" d="100"/>
        </p:scale>
        <p:origin x="53" y="7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9EC948-1FB9-42A6-9C1B-24005A45411A}" type="datetimeFigureOut">
              <a:rPr kumimoji="1" lang="ja-JP" altLang="en-US" smtClean="0"/>
              <a:t>2026/7/24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CB5B8E-7AC2-4FB5-8968-20832B80BB12}" type="slidenum">
              <a:rPr kumimoji="1" lang="ja-JP" altLang="en-US" smtClean="0"/>
              <a:t>‹#›</a:t>
            </a:fld>
            <a:endParaRPr kumimoji="1" lang="ja-JP" altLang="en-US"/>
          </a:p>
        </p:txBody>
      </p:sp>
    </p:spTree>
    <p:extLst>
      <p:ext uri="{BB962C8B-B14F-4D97-AF65-F5344CB8AC3E}">
        <p14:creationId xmlns:p14="http://schemas.microsoft.com/office/powerpoint/2010/main" val="270872034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2ACB5B8E-7AC2-4FB5-8968-20832B80BB12}" type="slidenum">
              <a:rPr kumimoji="1" lang="ja-JP" altLang="en-US" smtClean="0"/>
              <a:t>21</a:t>
            </a:fld>
            <a:endParaRPr kumimoji="1" lang="ja-JP" altLang="en-US"/>
          </a:p>
        </p:txBody>
      </p:sp>
    </p:spTree>
    <p:extLst>
      <p:ext uri="{BB962C8B-B14F-4D97-AF65-F5344CB8AC3E}">
        <p14:creationId xmlns:p14="http://schemas.microsoft.com/office/powerpoint/2010/main" val="34104581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2ACB5B8E-7AC2-4FB5-8968-20832B80BB12}" type="slidenum">
              <a:rPr kumimoji="1" lang="ja-JP" altLang="en-US" smtClean="0"/>
              <a:t>26</a:t>
            </a:fld>
            <a:endParaRPr kumimoji="1" lang="ja-JP" altLang="en-US"/>
          </a:p>
        </p:txBody>
      </p:sp>
    </p:spTree>
    <p:extLst>
      <p:ext uri="{BB962C8B-B14F-4D97-AF65-F5344CB8AC3E}">
        <p14:creationId xmlns:p14="http://schemas.microsoft.com/office/powerpoint/2010/main" val="2905545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1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868680" y="2084831"/>
            <a:ext cx="2377440" cy="0"/>
          </a:xfrm>
          <a:prstGeom prst="bentConnector3">
            <a:avLst/>
          </a:prstGeom>
          <a:ln w="25400">
            <a:solidFill>
              <a:srgbClr val="3E618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68680" y="2240280"/>
            <a:ext cx="10454335" cy="1737360"/>
          </a:xfrm>
          <a:prstGeom prst="rect">
            <a:avLst/>
          </a:prstGeom>
          <a:noFill/>
        </p:spPr>
        <p:txBody>
          <a:bodyPr wrap="square" lIns="18288" tIns="9144" rIns="18288" bIns="9144" anchor="t">
            <a:spAutoFit/>
          </a:bodyPr>
          <a:lstStyle/>
          <a:p>
            <a:pPr>
              <a:lnSpc>
                <a:spcPct val="112000"/>
              </a:lnSpc>
            </a:pPr>
            <a:r>
              <a:rPr sz="3100" b="1" i="0">
                <a:solidFill>
                  <a:srgbClr val="FFFFFF"/>
                </a:solidFill>
                <a:latin typeface="Meiryo"/>
                <a:ea typeface="Meiryo"/>
              </a:rPr>
              <a:t>ジョブショップ再スケジューリングにおける</a:t>
            </a:r>
          </a:p>
          <a:p>
            <a:pPr>
              <a:lnSpc>
                <a:spcPct val="112000"/>
              </a:lnSpc>
            </a:pPr>
            <a:r>
              <a:rPr sz="3100" b="1" i="0">
                <a:solidFill>
                  <a:srgbClr val="FFFFFF"/>
                </a:solidFill>
                <a:latin typeface="Meiryo"/>
                <a:ea typeface="Meiryo"/>
              </a:rPr>
              <a:t>安定性誘導演算子の非対称効果</a:t>
            </a:r>
          </a:p>
          <a:p>
            <a:pPr>
              <a:spcBef>
                <a:spcPts val="1000"/>
              </a:spcBef>
            </a:pPr>
            <a:r>
              <a:rPr sz="1700" b="1" i="0">
                <a:solidFill>
                  <a:srgbClr val="AFC2D8"/>
                </a:solidFill>
                <a:latin typeface="Meiryo"/>
                <a:ea typeface="Meiryo"/>
              </a:rPr>
              <a:t>— 軌道探索と集団探索の横断比較 —</a:t>
            </a:r>
          </a:p>
        </p:txBody>
      </p:sp>
      <p:sp>
        <p:nvSpPr>
          <p:cNvPr id="5" name="TextBox 4"/>
          <p:cNvSpPr txBox="1"/>
          <p:nvPr/>
        </p:nvSpPr>
        <p:spPr>
          <a:xfrm>
            <a:off x="886968" y="4160520"/>
            <a:ext cx="10454335" cy="640080"/>
          </a:xfrm>
          <a:prstGeom prst="rect">
            <a:avLst/>
          </a:prstGeom>
          <a:noFill/>
        </p:spPr>
        <p:txBody>
          <a:bodyPr wrap="square" lIns="18288" tIns="9144" rIns="18288" bIns="9144" anchor="t">
            <a:spAutoFit/>
          </a:bodyPr>
          <a:lstStyle/>
          <a:p>
            <a:pPr>
              <a:lnSpc>
                <a:spcPct val="105000"/>
              </a:lnSpc>
            </a:pPr>
            <a:r>
              <a:rPr sz="1250" b="0" i="1">
                <a:solidFill>
                  <a:srgbClr val="8CA3C0"/>
                </a:solidFill>
                <a:latin typeface="Meiryo"/>
                <a:ea typeface="Meiryo"/>
              </a:rPr>
              <a:t>Asymmetric Effects of Stability-Inducing Operators across Trajectory and Population Search in Job-Shop Rescheduling</a:t>
            </a:r>
          </a:p>
        </p:txBody>
      </p:sp>
      <p:cxnSp>
        <p:nvCxnSpPr>
          <p:cNvPr id="6" name="Connector 5"/>
          <p:cNvCxnSpPr/>
          <p:nvPr/>
        </p:nvCxnSpPr>
        <p:spPr>
          <a:xfrm>
            <a:off x="886968" y="5074920"/>
            <a:ext cx="3108960" cy="0"/>
          </a:xfrm>
          <a:prstGeom prst="bentConnector3">
            <a:avLst/>
          </a:prstGeom>
          <a:ln w="12700">
            <a:solidFill>
              <a:srgbClr val="3E618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86968" y="5193792"/>
            <a:ext cx="10454335" cy="1188720"/>
          </a:xfrm>
          <a:prstGeom prst="rect">
            <a:avLst/>
          </a:prstGeom>
          <a:noFill/>
        </p:spPr>
        <p:txBody>
          <a:bodyPr wrap="square" lIns="18288" tIns="9144" rIns="18288" bIns="9144" anchor="t">
            <a:spAutoFit/>
          </a:bodyPr>
          <a:lstStyle/>
          <a:p>
            <a:pPr>
              <a:spcBef>
                <a:spcPts val="0"/>
              </a:spcBef>
            </a:pPr>
            <a:r>
              <a:rPr sz="1450" b="0" i="0">
                <a:solidFill>
                  <a:srgbClr val="AFC2D8"/>
                </a:solidFill>
                <a:latin typeface="Meiryo"/>
                <a:ea typeface="Meiryo"/>
              </a:rPr>
              <a:t>早稲田大学 創造理工学部 経営システム工学科</a:t>
            </a:r>
          </a:p>
          <a:p>
            <a:pPr>
              <a:spcBef>
                <a:spcPts val="500"/>
              </a:spcBef>
            </a:pPr>
            <a:r>
              <a:rPr sz="1800" b="1" i="0">
                <a:solidFill>
                  <a:srgbClr val="FFFFFF"/>
                </a:solidFill>
                <a:latin typeface="Meiryo"/>
                <a:ea typeface="Meiryo"/>
              </a:rPr>
              <a:t>鬼頭 拓海</a:t>
            </a:r>
          </a:p>
          <a:p>
            <a:pPr>
              <a:spcBef>
                <a:spcPts val="500"/>
              </a:spcBef>
            </a:pPr>
            <a:r>
              <a:rPr sz="1200" b="0" i="0">
                <a:solidFill>
                  <a:srgbClr val="8CA3C0"/>
                </a:solidFill>
                <a:latin typeface="Meiryo"/>
                <a:ea typeface="Meiryo"/>
              </a:rPr>
              <a:t>ゼミ発表　2026-07-21　｜　投稿先：APIEMS 2026（釜山）</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研究概要</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66928" y="1060704"/>
            <a:ext cx="59436" cy="310896"/>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042415"/>
            <a:ext cx="10856671" cy="384048"/>
          </a:xfrm>
          <a:prstGeom prst="rect">
            <a:avLst/>
          </a:prstGeom>
          <a:noFill/>
        </p:spPr>
        <p:txBody>
          <a:bodyPr wrap="square" lIns="18288" tIns="9144" rIns="18288" bIns="9144" anchor="ctr">
            <a:spAutoFit/>
          </a:bodyPr>
          <a:lstStyle/>
          <a:p>
            <a:pPr>
              <a:lnSpc>
                <a:spcPct val="100000"/>
              </a:lnSpc>
            </a:pPr>
            <a:r>
              <a:rPr sz="1500" b="1" i="0">
                <a:solidFill>
                  <a:srgbClr val="16385C"/>
                </a:solidFill>
                <a:latin typeface="Meiryo"/>
                <a:ea typeface="Meiryo"/>
              </a:rPr>
              <a:t>同一の安定性誘導演算子が、載せる探索構造しだいで効き方を変える——その非対称性を統制下で切り分ける</a:t>
            </a:r>
          </a:p>
        </p:txBody>
      </p:sp>
      <p:sp>
        <p:nvSpPr>
          <p:cNvPr id="6" name="TextBox 5"/>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Overview</a:t>
            </a:r>
          </a:p>
        </p:txBody>
      </p:sp>
      <p:sp>
        <p:nvSpPr>
          <p:cNvPr id="7" name="TextBox 6"/>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1</a:t>
            </a:r>
          </a:p>
        </p:txBody>
      </p:sp>
      <p:sp>
        <p:nvSpPr>
          <p:cNvPr id="8" name="TextBox 7"/>
          <p:cNvSpPr txBox="1"/>
          <p:nvPr/>
        </p:nvSpPr>
        <p:spPr>
          <a:xfrm>
            <a:off x="566928" y="1645920"/>
            <a:ext cx="11057839"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予測リアクティブ再スケジューリング</a:t>
            </a:r>
            <a:r>
              <a:rPr sz="1550" b="0" i="0">
                <a:solidFill>
                  <a:srgbClr val="26303A"/>
                </a:solidFill>
                <a:latin typeface="Meiryo"/>
                <a:ea typeface="Meiryo"/>
              </a:rPr>
              <a:t>では、外乱前の高品質スケジュール </a:t>
            </a:r>
            <a:r>
              <a:rPr sz="1550" b="0" i="1">
                <a:solidFill>
                  <a:srgbClr val="26303A"/>
                </a:solidFill>
                <a:latin typeface="Meiryo"/>
                <a:ea typeface="Meiryo"/>
              </a:rPr>
              <a:t>S</a:t>
            </a:r>
            <a:r>
              <a:rPr sz="1116" b="0" i="1" baseline="-22000">
                <a:solidFill>
                  <a:srgbClr val="26303A"/>
                </a:solidFill>
                <a:latin typeface="Meiryo"/>
                <a:ea typeface="Meiryo"/>
              </a:rPr>
              <a:t>p</a:t>
            </a:r>
            <a:r>
              <a:rPr sz="1550" b="0" i="0">
                <a:solidFill>
                  <a:srgbClr val="26303A"/>
                </a:solidFill>
                <a:latin typeface="Meiryo"/>
                <a:ea typeface="Meiryo"/>
              </a:rPr>
              <a:t> が既に存在し、修正解には効率（メイクスパン）と安定性（</a:t>
            </a:r>
            <a:r>
              <a:rPr sz="1550" b="0" i="1">
                <a:solidFill>
                  <a:srgbClr val="26303A"/>
                </a:solidFill>
                <a:latin typeface="Meiryo"/>
                <a:ea typeface="Meiryo"/>
              </a:rPr>
              <a:t>S</a:t>
            </a:r>
            <a:r>
              <a:rPr sz="1116" b="0" i="1" baseline="-22000">
                <a:solidFill>
                  <a:srgbClr val="26303A"/>
                </a:solidFill>
                <a:latin typeface="Meiryo"/>
                <a:ea typeface="Meiryo"/>
              </a:rPr>
              <a:t>p</a:t>
            </a:r>
            <a:r>
              <a:rPr sz="1550" b="0" i="0">
                <a:solidFill>
                  <a:srgbClr val="26303A"/>
                </a:solidFill>
                <a:latin typeface="Meiryo"/>
                <a:ea typeface="Meiryo"/>
              </a:rPr>
              <a:t> からの変更量の小ささ）が同時に求められる。</a:t>
            </a:r>
          </a:p>
          <a:p>
            <a:pPr>
              <a:lnSpc>
                <a:spcPct val="106000"/>
              </a:lnSpc>
              <a:spcBef>
                <a:spcPts val="700"/>
              </a:spcBef>
            </a:pPr>
            <a:r>
              <a:rPr sz="1200" b="1" i="0">
                <a:solidFill>
                  <a:srgbClr val="16385C"/>
                </a:solidFill>
                <a:latin typeface="Meiryo"/>
                <a:ea typeface="Meiryo"/>
              </a:rPr>
              <a:t>▪ </a:t>
            </a:r>
            <a:r>
              <a:rPr sz="1550" b="0" i="0">
                <a:solidFill>
                  <a:srgbClr val="26303A"/>
                </a:solidFill>
                <a:latin typeface="Meiryo"/>
                <a:ea typeface="Meiryo"/>
              </a:rPr>
              <a:t>→ 探索の勝負は「大域探索力」ではなく、</a:t>
            </a:r>
            <a:r>
              <a:rPr sz="1550" b="1" i="1">
                <a:solidFill>
                  <a:srgbClr val="16385C"/>
                </a:solidFill>
                <a:latin typeface="Meiryo"/>
                <a:ea typeface="Meiryo"/>
              </a:rPr>
              <a:t>S</a:t>
            </a:r>
            <a:r>
              <a:rPr sz="1116" b="1" i="1" baseline="-22000">
                <a:solidFill>
                  <a:srgbClr val="16385C"/>
                </a:solidFill>
                <a:latin typeface="Meiryo"/>
                <a:ea typeface="Meiryo"/>
              </a:rPr>
              <a:t>p</a:t>
            </a:r>
            <a:r>
              <a:rPr sz="1550" b="1" i="0">
                <a:solidFill>
                  <a:srgbClr val="16385C"/>
                </a:solidFill>
                <a:latin typeface="Meiryo"/>
                <a:ea typeface="Meiryo"/>
              </a:rPr>
              <a:t> 近傍（高安定領域）をどれだけ良く充填できるか</a:t>
            </a:r>
            <a:r>
              <a:rPr sz="1550" b="0" i="0">
                <a:solidFill>
                  <a:srgbClr val="26303A"/>
                </a:solidFill>
                <a:latin typeface="Meiryo"/>
                <a:ea typeface="Meiryo"/>
              </a:rPr>
              <a:t>という軸を新たに帯びる。</a:t>
            </a:r>
          </a:p>
          <a:p>
            <a:pPr lvl="1">
              <a:lnSpc>
                <a:spcPct val="106000"/>
              </a:lnSpc>
              <a:spcBef>
                <a:spcPts val="300"/>
              </a:spcBef>
            </a:pPr>
            <a:r>
              <a:rPr sz="1200" b="0" i="0">
                <a:solidFill>
                  <a:srgbClr val="6E7A88"/>
                </a:solidFill>
                <a:latin typeface="Meiryo"/>
                <a:ea typeface="Meiryo"/>
              </a:rPr>
              <a:t>－ </a:t>
            </a:r>
            <a:r>
              <a:rPr sz="1400" b="1" i="0">
                <a:solidFill>
                  <a:srgbClr val="16385C"/>
                </a:solidFill>
                <a:latin typeface="Meiryo"/>
                <a:ea typeface="Meiryo"/>
              </a:rPr>
              <a:t>H1（適合性）</a:t>
            </a:r>
            <a:r>
              <a:rPr sz="1400" b="0" i="0">
                <a:solidFill>
                  <a:srgbClr val="26303A"/>
                </a:solidFill>
                <a:latin typeface="Meiryo"/>
                <a:ea typeface="Meiryo"/>
              </a:rPr>
              <a:t>：軌道ベースは連続変形でこの近傍を自力充填できるが、集団ベースは交叉ゆえ充填が構造的に粗い。</a:t>
            </a:r>
          </a:p>
          <a:p>
            <a:pPr lvl="1">
              <a:lnSpc>
                <a:spcPct val="106000"/>
              </a:lnSpc>
              <a:spcBef>
                <a:spcPts val="300"/>
              </a:spcBef>
            </a:pPr>
            <a:r>
              <a:rPr sz="1200" b="0" i="0">
                <a:solidFill>
                  <a:srgbClr val="6E7A88"/>
                </a:solidFill>
                <a:latin typeface="Meiryo"/>
                <a:ea typeface="Meiryo"/>
              </a:rPr>
              <a:t>－ </a:t>
            </a:r>
            <a:r>
              <a:rPr sz="1400" b="1" i="0">
                <a:solidFill>
                  <a:srgbClr val="16385C"/>
                </a:solidFill>
                <a:latin typeface="Meiryo"/>
                <a:ea typeface="Meiryo"/>
              </a:rPr>
              <a:t>H2（補完性）</a:t>
            </a:r>
            <a:r>
              <a:rPr sz="1400" b="0" i="0">
                <a:solidFill>
                  <a:srgbClr val="26303A"/>
                </a:solidFill>
                <a:latin typeface="Meiryo"/>
                <a:ea typeface="Meiryo"/>
              </a:rPr>
              <a:t>：</a:t>
            </a:r>
            <a:r>
              <a:rPr sz="1400" b="0" i="1">
                <a:solidFill>
                  <a:srgbClr val="26303A"/>
                </a:solidFill>
                <a:latin typeface="Meiryo"/>
                <a:ea typeface="Meiryo"/>
              </a:rPr>
              <a:t>S</a:t>
            </a:r>
            <a:r>
              <a:rPr sz="1008" b="0" i="1" baseline="-22000">
                <a:solidFill>
                  <a:srgbClr val="26303A"/>
                </a:solidFill>
                <a:latin typeface="Meiryo"/>
                <a:ea typeface="Meiryo"/>
              </a:rPr>
              <a:t>p</a:t>
            </a:r>
            <a:r>
              <a:rPr sz="1400" b="0" i="0">
                <a:solidFill>
                  <a:srgbClr val="26303A"/>
                </a:solidFill>
                <a:latin typeface="Meiryo"/>
                <a:ea typeface="Meiryo"/>
              </a:rPr>
              <a:t> へ引き寄せる安定性誘導演算子(PR・repair)が供給する力はまさに集団に欠け軌道は既に持つもの ＝ 効果は</a:t>
            </a:r>
            <a:r>
              <a:rPr sz="1400" b="1" i="0">
                <a:solidFill>
                  <a:srgbClr val="16385C"/>
                </a:solidFill>
                <a:latin typeface="Meiryo"/>
                <a:ea typeface="Meiryo"/>
              </a:rPr>
              <a:t>ホスト依存で非対称</a:t>
            </a:r>
            <a:r>
              <a:rPr sz="1400" b="0" i="0">
                <a:solidFill>
                  <a:srgbClr val="26303A"/>
                </a:solidFill>
                <a:latin typeface="Meiryo"/>
                <a:ea typeface="Meiryo"/>
              </a:rPr>
              <a:t>に現れる。</a:t>
            </a:r>
          </a:p>
          <a:p>
            <a:pPr>
              <a:lnSpc>
                <a:spcPct val="106000"/>
              </a:lnSpc>
              <a:spcBef>
                <a:spcPts val="700"/>
              </a:spcBef>
            </a:pPr>
            <a:r>
              <a:rPr sz="1200" b="1" i="0">
                <a:solidFill>
                  <a:srgbClr val="16385C"/>
                </a:solidFill>
                <a:latin typeface="Meiryo"/>
                <a:ea typeface="Meiryo"/>
              </a:rPr>
              <a:t>▪ </a:t>
            </a:r>
            <a:r>
              <a:rPr sz="1550" b="0" i="0">
                <a:solidFill>
                  <a:srgbClr val="26303A"/>
                </a:solidFill>
                <a:latin typeface="Meiryo"/>
                <a:ea typeface="Meiryo"/>
              </a:rPr>
              <a:t>主眼は新手法の性能競争ではなく、</a:t>
            </a:r>
            <a:r>
              <a:rPr sz="1550" b="1" i="0">
                <a:solidFill>
                  <a:srgbClr val="16385C"/>
                </a:solidFill>
                <a:latin typeface="Meiryo"/>
                <a:ea typeface="Meiryo"/>
              </a:rPr>
              <a:t>演算子とホスト構造の相互作用を統制下で解明</a:t>
            </a:r>
            <a:r>
              <a:rPr sz="1550" b="0" i="0">
                <a:solidFill>
                  <a:srgbClr val="26303A"/>
                </a:solidFill>
                <a:latin typeface="Meiryo"/>
                <a:ea typeface="Meiryo"/>
              </a:rPr>
              <a:t>すること（8 シナリオ × 7 手法 × n=10）。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目次</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Contents</a:t>
            </a:r>
          </a:p>
        </p:txBody>
      </p:sp>
      <p:sp>
        <p:nvSpPr>
          <p:cNvPr id="5" name="TextBox 4"/>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2</a:t>
            </a:r>
          </a:p>
        </p:txBody>
      </p:sp>
      <p:sp>
        <p:nvSpPr>
          <p:cNvPr id="6" name="TextBox 5"/>
          <p:cNvSpPr txBox="1"/>
          <p:nvPr/>
        </p:nvSpPr>
        <p:spPr>
          <a:xfrm>
            <a:off x="566928" y="1188720"/>
            <a:ext cx="11057839"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1. 研究背景・目的</a:t>
            </a:r>
            <a:r>
              <a:rPr sz="1550" b="0" i="0">
                <a:solidFill>
                  <a:srgbClr val="26303A"/>
                </a:solidFill>
                <a:latin typeface="Meiryo"/>
                <a:ea typeface="Meiryo"/>
              </a:rPr>
              <a:t> ｜ 外乱・再スケジューリング・安定性のトレードオフ</a:t>
            </a:r>
          </a:p>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2. 既存研究と本研究の位置づけ</a:t>
            </a:r>
            <a:r>
              <a:rPr sz="1550" b="0" i="0">
                <a:solidFill>
                  <a:srgbClr val="26303A"/>
                </a:solidFill>
                <a:latin typeface="Meiryo"/>
                <a:ea typeface="Meiryo"/>
              </a:rPr>
              <a:t> ｜ 先行研究の 2 系譜・残された課題・2 仮説（H1 / H2）</a:t>
            </a:r>
          </a:p>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3. 探索構造と提案手法</a:t>
            </a:r>
            <a:r>
              <a:rPr sz="1550" b="0" i="0">
                <a:solidFill>
                  <a:srgbClr val="26303A"/>
                </a:solidFill>
                <a:latin typeface="Meiryo"/>
                <a:ea typeface="Meiryo"/>
              </a:rPr>
              <a:t> ｜ 軌道／集団の 2 系統・安定性誘導演算子（PR / repair）・問題設定</a:t>
            </a:r>
          </a:p>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4. 計算機実験</a:t>
            </a:r>
            <a:r>
              <a:rPr sz="1550" b="0" i="0">
                <a:solidFill>
                  <a:srgbClr val="26303A"/>
                </a:solidFill>
                <a:latin typeface="Meiryo"/>
                <a:ea typeface="Meiryo"/>
              </a:rPr>
              <a:t> ｜ H1（適合性）・H2（非対称効果）・総合スコアボード</a:t>
            </a:r>
          </a:p>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5. 結論</a:t>
            </a:r>
            <a:r>
              <a:rPr sz="1550" b="0" i="0">
                <a:solidFill>
                  <a:srgbClr val="26303A"/>
                </a:solidFill>
                <a:latin typeface="Meiryo"/>
                <a:ea typeface="Meiryo"/>
              </a:rPr>
              <a:t> ｜ 相補構造・限界・今後の課題</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1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51560" y="2148840"/>
            <a:ext cx="1554480" cy="1371600"/>
          </a:xfrm>
          <a:prstGeom prst="rect">
            <a:avLst/>
          </a:prstGeom>
          <a:noFill/>
        </p:spPr>
        <p:txBody>
          <a:bodyPr wrap="square" lIns="18288" tIns="9144" rIns="18288" bIns="9144" anchor="ctr">
            <a:spAutoFit/>
          </a:bodyPr>
          <a:lstStyle/>
          <a:p>
            <a:r>
              <a:rPr sz="7800" b="1" i="0">
                <a:solidFill>
                  <a:srgbClr val="3E618C"/>
                </a:solidFill>
                <a:latin typeface="Meiryo"/>
                <a:ea typeface="Meiryo"/>
              </a:rPr>
              <a:t>1</a:t>
            </a:r>
          </a:p>
        </p:txBody>
      </p:sp>
      <p:sp>
        <p:nvSpPr>
          <p:cNvPr id="4" name="TextBox 3"/>
          <p:cNvSpPr txBox="1"/>
          <p:nvPr/>
        </p:nvSpPr>
        <p:spPr>
          <a:xfrm>
            <a:off x="2514600" y="2148840"/>
            <a:ext cx="8899855" cy="1371600"/>
          </a:xfrm>
          <a:prstGeom prst="rect">
            <a:avLst/>
          </a:prstGeom>
          <a:noFill/>
        </p:spPr>
        <p:txBody>
          <a:bodyPr wrap="square" lIns="18288" tIns="9144" rIns="18288" bIns="9144" anchor="ctr">
            <a:spAutoFit/>
          </a:bodyPr>
          <a:lstStyle/>
          <a:p>
            <a:r>
              <a:rPr sz="3000" b="1" i="0">
                <a:solidFill>
                  <a:srgbClr val="FFFFFF"/>
                </a:solidFill>
                <a:latin typeface="Meiryo"/>
                <a:ea typeface="Meiryo"/>
              </a:rPr>
              <a:t>研究背景・目的</a:t>
            </a:r>
          </a:p>
          <a:p>
            <a:pPr>
              <a:spcBef>
                <a:spcPts val="1000"/>
              </a:spcBef>
            </a:pPr>
            <a:r>
              <a:rPr sz="1400" b="0" i="0">
                <a:solidFill>
                  <a:srgbClr val="AFC2D8"/>
                </a:solidFill>
                <a:latin typeface="Meiryo"/>
                <a:ea typeface="Meiryo"/>
              </a:rPr>
              <a:t>外乱・再スケジューリング・安定性のトレードオフ</a:t>
            </a:r>
          </a:p>
        </p:txBody>
      </p:sp>
      <p:cxnSp>
        <p:nvCxnSpPr>
          <p:cNvPr id="5" name="Connector 4"/>
          <p:cNvCxnSpPr/>
          <p:nvPr/>
        </p:nvCxnSpPr>
        <p:spPr>
          <a:xfrm>
            <a:off x="2542032" y="3913632"/>
            <a:ext cx="4754880" cy="0"/>
          </a:xfrm>
          <a:prstGeom prst="bentConnector3">
            <a:avLst/>
          </a:prstGeom>
          <a:ln w="15875">
            <a:solidFill>
              <a:srgbClr val="3E618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1.1 外乱と再スケジューリング</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66928" y="1060704"/>
            <a:ext cx="59436" cy="310896"/>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042415"/>
            <a:ext cx="10856671" cy="384048"/>
          </a:xfrm>
          <a:prstGeom prst="rect">
            <a:avLst/>
          </a:prstGeom>
          <a:noFill/>
        </p:spPr>
        <p:txBody>
          <a:bodyPr wrap="square" lIns="18288" tIns="9144" rIns="18288" bIns="9144" anchor="ctr">
            <a:spAutoFit/>
          </a:bodyPr>
          <a:lstStyle/>
          <a:p>
            <a:pPr>
              <a:lnSpc>
                <a:spcPct val="100000"/>
              </a:lnSpc>
            </a:pPr>
            <a:r>
              <a:rPr sz="1500" b="1" i="0">
                <a:solidFill>
                  <a:srgbClr val="16385C"/>
                </a:solidFill>
                <a:latin typeface="Meiryo"/>
                <a:ea typeface="Meiryo"/>
              </a:rPr>
              <a:t>本研究の対象を「予測リアクティブ再スケジューリング × 作業遅延」に位置づける</a:t>
            </a:r>
          </a:p>
        </p:txBody>
      </p:sp>
      <p:sp>
        <p:nvSpPr>
          <p:cNvPr id="6" name="TextBox 5"/>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1. 研究背景・目的</a:t>
            </a:r>
          </a:p>
        </p:txBody>
      </p:sp>
      <p:sp>
        <p:nvSpPr>
          <p:cNvPr id="7" name="TextBox 6"/>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3</a:t>
            </a:r>
          </a:p>
        </p:txBody>
      </p:sp>
      <p:sp>
        <p:nvSpPr>
          <p:cNvPr id="8" name="TextBox 7"/>
          <p:cNvSpPr txBox="1"/>
          <p:nvPr/>
        </p:nvSpPr>
        <p:spPr>
          <a:xfrm>
            <a:off x="566928" y="1645920"/>
            <a:ext cx="11057839"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0" i="0">
                <a:solidFill>
                  <a:srgbClr val="26303A"/>
                </a:solidFill>
                <a:latin typeface="Meiryo"/>
                <a:ea typeface="Meiryo"/>
              </a:rPr>
              <a:t>生産現場では</a:t>
            </a:r>
            <a:r>
              <a:rPr sz="1550" b="1" i="0">
                <a:solidFill>
                  <a:srgbClr val="16385C"/>
                </a:solidFill>
                <a:latin typeface="Meiryo"/>
                <a:ea typeface="Meiryo"/>
              </a:rPr>
              <a:t>作業遅延・機械故障</a:t>
            </a:r>
            <a:r>
              <a:rPr sz="1550" b="0" i="0">
                <a:solidFill>
                  <a:srgbClr val="26303A"/>
                </a:solidFill>
                <a:latin typeface="Meiryo"/>
                <a:ea typeface="Meiryo"/>
              </a:rPr>
              <a:t>などの外乱が頻発し、当初スケジュールの実行を困難にする。対応は静的・動的の 2 系統に大別される。</a:t>
            </a:r>
          </a:p>
        </p:txBody>
      </p:sp>
      <p:sp>
        <p:nvSpPr>
          <p:cNvPr id="9" name="Rounded Rectangle 8"/>
          <p:cNvSpPr/>
          <p:nvPr/>
        </p:nvSpPr>
        <p:spPr>
          <a:xfrm>
            <a:off x="612648" y="2770632"/>
            <a:ext cx="1691640" cy="822960"/>
          </a:xfrm>
          <a:prstGeom prst="roundRect">
            <a:avLst>
              <a:gd name="adj" fmla="val 12000"/>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00000"/>
              </a:lnSpc>
            </a:pPr>
            <a:r>
              <a:rPr sz="1300" b="1" i="0">
                <a:solidFill>
                  <a:srgbClr val="FFFFFF"/>
                </a:solidFill>
                <a:latin typeface="Meiryo"/>
                <a:ea typeface="Meiryo"/>
              </a:rPr>
              <a:t>外乱への
対応</a:t>
            </a:r>
          </a:p>
        </p:txBody>
      </p:sp>
      <p:sp>
        <p:nvSpPr>
          <p:cNvPr id="10" name="Rounded Rectangle 9"/>
          <p:cNvSpPr/>
          <p:nvPr/>
        </p:nvSpPr>
        <p:spPr>
          <a:xfrm>
            <a:off x="2807208" y="2551176"/>
            <a:ext cx="2743200" cy="548640"/>
          </a:xfrm>
          <a:prstGeom prst="roundRect">
            <a:avLst>
              <a:gd name="adj" fmla="val 10000"/>
            </a:avLst>
          </a:prstGeom>
          <a:solidFill>
            <a:srgbClr val="EDF2F7"/>
          </a:solidFill>
          <a:ln w="13970">
            <a:solidFill>
              <a:srgbClr val="C9D6E5"/>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00000"/>
              </a:lnSpc>
            </a:pPr>
            <a:r>
              <a:rPr sz="1200" b="0" i="0">
                <a:solidFill>
                  <a:srgbClr val="6E7A88"/>
                </a:solidFill>
                <a:latin typeface="Meiryo"/>
                <a:ea typeface="Meiryo"/>
              </a:rPr>
              <a:t>静的（事前耐性設計）</a:t>
            </a:r>
          </a:p>
        </p:txBody>
      </p:sp>
      <p:sp>
        <p:nvSpPr>
          <p:cNvPr id="11" name="Rounded Rectangle 10"/>
          <p:cNvSpPr/>
          <p:nvPr/>
        </p:nvSpPr>
        <p:spPr>
          <a:xfrm>
            <a:off x="2807208" y="3355848"/>
            <a:ext cx="2743200" cy="548640"/>
          </a:xfrm>
          <a:prstGeom prst="roundRect">
            <a:avLst>
              <a:gd name="adj" fmla="val 10000"/>
            </a:avLst>
          </a:prstGeom>
          <a:solidFill>
            <a:srgbClr val="EDF2F7"/>
          </a:solidFill>
          <a:ln w="13970">
            <a:solidFill>
              <a:srgbClr val="16385C"/>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00000"/>
              </a:lnSpc>
            </a:pPr>
            <a:r>
              <a:rPr sz="1100" b="1" i="0">
                <a:solidFill>
                  <a:srgbClr val="16385C"/>
                </a:solidFill>
                <a:latin typeface="Meiryo"/>
                <a:ea typeface="Meiryo"/>
              </a:rPr>
              <a:t>動的（事後修正）＝再スケジューリング</a:t>
            </a:r>
          </a:p>
        </p:txBody>
      </p:sp>
      <p:sp>
        <p:nvSpPr>
          <p:cNvPr id="12" name="Rounded Rectangle 11"/>
          <p:cNvSpPr/>
          <p:nvPr/>
        </p:nvSpPr>
        <p:spPr>
          <a:xfrm>
            <a:off x="5916168" y="3355848"/>
            <a:ext cx="2834640" cy="548640"/>
          </a:xfrm>
          <a:prstGeom prst="roundRect">
            <a:avLst>
              <a:gd name="adj" fmla="val 10000"/>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00000"/>
              </a:lnSpc>
            </a:pPr>
            <a:r>
              <a:rPr sz="1150" b="1" i="0">
                <a:solidFill>
                  <a:srgbClr val="FFFFFF"/>
                </a:solidFill>
                <a:latin typeface="Meiryo"/>
                <a:ea typeface="Meiryo"/>
              </a:rPr>
              <a:t>予測リアクティブ再スケジューリング</a:t>
            </a:r>
          </a:p>
        </p:txBody>
      </p:sp>
      <p:sp>
        <p:nvSpPr>
          <p:cNvPr id="13" name="Rounded Rectangle 12"/>
          <p:cNvSpPr/>
          <p:nvPr/>
        </p:nvSpPr>
        <p:spPr>
          <a:xfrm>
            <a:off x="9116567" y="3355848"/>
            <a:ext cx="2377440" cy="548640"/>
          </a:xfrm>
          <a:prstGeom prst="roundRect">
            <a:avLst>
              <a:gd name="adj" fmla="val 10000"/>
            </a:avLst>
          </a:prstGeom>
          <a:solidFill>
            <a:srgbClr val="FFFFFF"/>
          </a:solidFill>
          <a:ln w="13970">
            <a:solidFill>
              <a:srgbClr val="16385C"/>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00000"/>
              </a:lnSpc>
            </a:pPr>
            <a:r>
              <a:rPr sz="1250" b="1" i="0">
                <a:solidFill>
                  <a:srgbClr val="16385C"/>
                </a:solidFill>
                <a:latin typeface="Meiryo"/>
                <a:ea typeface="Meiryo"/>
              </a:rPr>
              <a:t>作業遅延に着目</a:t>
            </a:r>
          </a:p>
        </p:txBody>
      </p:sp>
      <p:sp>
        <p:nvSpPr>
          <p:cNvPr id="14" name="Rounded Rectangle 13"/>
          <p:cNvSpPr/>
          <p:nvPr/>
        </p:nvSpPr>
        <p:spPr>
          <a:xfrm>
            <a:off x="6556248" y="3044952"/>
            <a:ext cx="1554480" cy="292608"/>
          </a:xfrm>
          <a:prstGeom prst="roundRect">
            <a:avLst>
              <a:gd name="adj" fmla="val 30000"/>
            </a:avLst>
          </a:prstGeom>
          <a:solidFill>
            <a:srgbClr val="3E618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00000"/>
              </a:lnSpc>
            </a:pPr>
            <a:r>
              <a:rPr sz="1050" b="1" i="0">
                <a:solidFill>
                  <a:srgbClr val="FFFFFF"/>
                </a:solidFill>
                <a:latin typeface="Meiryo"/>
                <a:ea typeface="Meiryo"/>
              </a:rPr>
              <a:t>★ 本研究の対象</a:t>
            </a:r>
          </a:p>
        </p:txBody>
      </p:sp>
      <p:cxnSp>
        <p:nvCxnSpPr>
          <p:cNvPr id="15" name="Connector 14"/>
          <p:cNvCxnSpPr/>
          <p:nvPr/>
        </p:nvCxnSpPr>
        <p:spPr>
          <a:xfrm flipV="1">
            <a:off x="2304288" y="2825496"/>
            <a:ext cx="502920" cy="201168"/>
          </a:xfrm>
          <a:prstGeom prst="bentConnector3">
            <a:avLst/>
          </a:prstGeom>
          <a:ln w="17780">
            <a:solidFill>
              <a:srgbClr val="3E618C"/>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304288" y="3447288"/>
            <a:ext cx="502920" cy="182880"/>
          </a:xfrm>
          <a:prstGeom prst="bentConnector3">
            <a:avLst/>
          </a:prstGeom>
          <a:ln w="17780">
            <a:solidFill>
              <a:srgbClr val="3E618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550408" y="3630168"/>
            <a:ext cx="365760" cy="0"/>
          </a:xfrm>
          <a:prstGeom prst="bentConnector3">
            <a:avLst/>
          </a:prstGeom>
          <a:ln w="17780">
            <a:solidFill>
              <a:srgbClr val="3E618C"/>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750807" y="3630168"/>
            <a:ext cx="365760" cy="0"/>
          </a:xfrm>
          <a:prstGeom prst="bentConnector3">
            <a:avLst/>
          </a:prstGeom>
          <a:ln w="17780">
            <a:solidFill>
              <a:srgbClr val="3E618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66928" y="4224528"/>
            <a:ext cx="11057839"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作業遅延</a:t>
            </a:r>
            <a:r>
              <a:rPr sz="1550" b="0" i="0">
                <a:solidFill>
                  <a:srgbClr val="26303A"/>
                </a:solidFill>
                <a:latin typeface="Meiryo"/>
                <a:ea typeface="Meiryo"/>
              </a:rPr>
              <a:t>に着目する理由：機械割当を保ち、処理</a:t>
            </a:r>
            <a:r>
              <a:rPr sz="1550" b="1" i="0">
                <a:solidFill>
                  <a:srgbClr val="16385C"/>
                </a:solidFill>
                <a:latin typeface="Meiryo"/>
                <a:ea typeface="Meiryo"/>
              </a:rPr>
              <a:t>順序の再調整</a:t>
            </a:r>
            <a:r>
              <a:rPr sz="1550" b="0" i="0">
                <a:solidFill>
                  <a:srgbClr val="26303A"/>
                </a:solidFill>
                <a:latin typeface="Meiryo"/>
                <a:ea typeface="Meiryo"/>
              </a:rPr>
              <a:t>だけで対処できる ＝ </a:t>
            </a:r>
            <a:r>
              <a:rPr sz="1550" b="1" i="0">
                <a:solidFill>
                  <a:srgbClr val="16385C"/>
                </a:solidFill>
                <a:latin typeface="Meiryo"/>
                <a:ea typeface="Meiryo"/>
              </a:rPr>
              <a:t>作業集合を変えない</a:t>
            </a:r>
            <a:r>
              <a:rPr sz="1550" b="0" i="0">
                <a:solidFill>
                  <a:srgbClr val="26303A"/>
                </a:solidFill>
                <a:latin typeface="Meiryo"/>
                <a:ea typeface="Meiryo"/>
              </a:rPr>
              <a:t>。</a:t>
            </a:r>
          </a:p>
          <a:p>
            <a:pPr lvl="1">
              <a:lnSpc>
                <a:spcPct val="106000"/>
              </a:lnSpc>
              <a:spcBef>
                <a:spcPts val="300"/>
              </a:spcBef>
            </a:pPr>
            <a:r>
              <a:rPr sz="1200" b="0" i="0">
                <a:solidFill>
                  <a:srgbClr val="6E7A88"/>
                </a:solidFill>
                <a:latin typeface="Meiryo"/>
                <a:ea typeface="Meiryo"/>
              </a:rPr>
              <a:t>－ </a:t>
            </a:r>
            <a:r>
              <a:rPr sz="1400" b="0" i="0">
                <a:solidFill>
                  <a:srgbClr val="26303A"/>
                </a:solidFill>
                <a:latin typeface="Meiryo"/>
                <a:ea typeface="Meiryo"/>
              </a:rPr>
              <a:t>ゆえに</a:t>
            </a:r>
            <a:r>
              <a:rPr sz="1400" b="1" i="0">
                <a:solidFill>
                  <a:srgbClr val="16385C"/>
                </a:solidFill>
                <a:latin typeface="Meiryo"/>
                <a:ea typeface="Meiryo"/>
              </a:rPr>
              <a:t>修正解を </a:t>
            </a:r>
            <a:r>
              <a:rPr sz="1400" b="1" i="1">
                <a:solidFill>
                  <a:srgbClr val="16385C"/>
                </a:solidFill>
                <a:latin typeface="Meiryo"/>
                <a:ea typeface="Meiryo"/>
              </a:rPr>
              <a:t>S</a:t>
            </a:r>
            <a:r>
              <a:rPr sz="1008" b="1" i="1" baseline="-22000">
                <a:solidFill>
                  <a:srgbClr val="16385C"/>
                </a:solidFill>
                <a:latin typeface="Meiryo"/>
                <a:ea typeface="Meiryo"/>
              </a:rPr>
              <a:t>p</a:t>
            </a:r>
            <a:r>
              <a:rPr sz="1400" b="1" i="0">
                <a:solidFill>
                  <a:srgbClr val="16385C"/>
                </a:solidFill>
                <a:latin typeface="Meiryo"/>
                <a:ea typeface="Meiryo"/>
              </a:rPr>
              <a:t> 近傍に保つ</a:t>
            </a:r>
            <a:r>
              <a:rPr sz="1400" b="0" i="0">
                <a:solidFill>
                  <a:srgbClr val="26303A"/>
                </a:solidFill>
                <a:latin typeface="Meiryo"/>
                <a:ea typeface="Meiryo"/>
              </a:rPr>
              <a:t>という本研究の前提が、最も素直に成立する外乱クラスである。</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1.2 効率と安定性のトレードオフ</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66928" y="1060704"/>
            <a:ext cx="59436" cy="310896"/>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042415"/>
            <a:ext cx="10856671" cy="384048"/>
          </a:xfrm>
          <a:prstGeom prst="rect">
            <a:avLst/>
          </a:prstGeom>
          <a:noFill/>
        </p:spPr>
        <p:txBody>
          <a:bodyPr wrap="square" lIns="18288" tIns="9144" rIns="18288" bIns="9144" anchor="ctr">
            <a:spAutoFit/>
          </a:bodyPr>
          <a:lstStyle/>
          <a:p>
            <a:pPr>
              <a:lnSpc>
                <a:spcPct val="100000"/>
              </a:lnSpc>
            </a:pPr>
            <a:r>
              <a:rPr sz="1500" b="1" i="0">
                <a:solidFill>
                  <a:srgbClr val="16385C"/>
                </a:solidFill>
                <a:latin typeface="Meiryo"/>
                <a:ea typeface="Meiryo"/>
              </a:rPr>
              <a:t>変更コストゆえ安定性は効率(MS)と並ぶ目的——効率と安定性の多目的最適化として定式化する</a:t>
            </a:r>
          </a:p>
        </p:txBody>
      </p:sp>
      <p:sp>
        <p:nvSpPr>
          <p:cNvPr id="6" name="TextBox 5"/>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1. 研究背景・目的</a:t>
            </a:r>
          </a:p>
        </p:txBody>
      </p:sp>
      <p:sp>
        <p:nvSpPr>
          <p:cNvPr id="7" name="TextBox 6"/>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4</a:t>
            </a:r>
          </a:p>
        </p:txBody>
      </p:sp>
      <p:sp>
        <p:nvSpPr>
          <p:cNvPr id="8" name="Rounded Rectangle 7"/>
          <p:cNvSpPr/>
          <p:nvPr/>
        </p:nvSpPr>
        <p:spPr>
          <a:xfrm>
            <a:off x="1409547" y="2194560"/>
            <a:ext cx="4160520" cy="960120"/>
          </a:xfrm>
          <a:prstGeom prst="roundRect">
            <a:avLst>
              <a:gd name="adj" fmla="val 10000"/>
            </a:avLst>
          </a:prstGeom>
          <a:solidFill>
            <a:srgbClr val="EDF2F7"/>
          </a:solidFill>
          <a:ln w="13970">
            <a:solidFill>
              <a:srgbClr val="16385C"/>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00000"/>
              </a:lnSpc>
            </a:pPr>
            <a:r>
              <a:rPr sz="1300" b="1" i="0">
                <a:solidFill>
                  <a:srgbClr val="16385C"/>
                </a:solidFill>
                <a:latin typeface="Meiryo"/>
                <a:ea typeface="Meiryo"/>
              </a:rPr>
              <a:t>効率（メイクスパン MS）</a:t>
            </a:r>
          </a:p>
          <a:p>
            <a:pPr algn="ctr">
              <a:lnSpc>
                <a:spcPct val="100000"/>
              </a:lnSpc>
            </a:pPr>
            <a:r>
              <a:rPr sz="1050" b="0" i="0">
                <a:solidFill>
                  <a:srgbClr val="26303A"/>
                </a:solidFill>
                <a:latin typeface="Meiryo"/>
                <a:ea typeface="Meiryo"/>
              </a:rPr>
              <a:t>を最小化</a:t>
            </a:r>
          </a:p>
        </p:txBody>
      </p:sp>
      <p:sp>
        <p:nvSpPr>
          <p:cNvPr id="9" name="Rounded Rectangle 8"/>
          <p:cNvSpPr/>
          <p:nvPr/>
        </p:nvSpPr>
        <p:spPr>
          <a:xfrm>
            <a:off x="6621627" y="2194560"/>
            <a:ext cx="4160520" cy="960120"/>
          </a:xfrm>
          <a:prstGeom prst="roundRect">
            <a:avLst>
              <a:gd name="adj" fmla="val 10000"/>
            </a:avLst>
          </a:prstGeom>
          <a:solidFill>
            <a:srgbClr val="EDF2F7"/>
          </a:solidFill>
          <a:ln w="13970">
            <a:solidFill>
              <a:srgbClr val="16385C"/>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00000"/>
              </a:lnSpc>
            </a:pPr>
            <a:r>
              <a:rPr sz="1250" b="1" i="0">
                <a:solidFill>
                  <a:srgbClr val="16385C"/>
                </a:solidFill>
                <a:latin typeface="Meiryo"/>
                <a:ea typeface="Meiryo"/>
              </a:rPr>
              <a:t>安定性（</a:t>
            </a:r>
            <a:r>
              <a:rPr sz="1250" b="1" i="1">
                <a:solidFill>
                  <a:srgbClr val="16385C"/>
                </a:solidFill>
                <a:latin typeface="Meiryo"/>
                <a:ea typeface="Meiryo"/>
              </a:rPr>
              <a:t>S</a:t>
            </a:r>
            <a:r>
              <a:rPr sz="900" b="1" i="1" baseline="-22000">
                <a:solidFill>
                  <a:srgbClr val="16385C"/>
                </a:solidFill>
                <a:latin typeface="Meiryo"/>
                <a:ea typeface="Meiryo"/>
              </a:rPr>
              <a:t>p</a:t>
            </a:r>
            <a:r>
              <a:rPr sz="1250" b="1" i="0">
                <a:solidFill>
                  <a:srgbClr val="16385C"/>
                </a:solidFill>
                <a:latin typeface="Meiryo"/>
                <a:ea typeface="Meiryo"/>
              </a:rPr>
              <a:t> からの変更量 </a:t>
            </a:r>
            <a:r>
              <a:rPr sz="1250" b="1" i="1">
                <a:solidFill>
                  <a:srgbClr val="16385C"/>
                </a:solidFill>
                <a:latin typeface="Meiryo"/>
                <a:ea typeface="Meiryo"/>
              </a:rPr>
              <a:t>D</a:t>
            </a:r>
            <a:r>
              <a:rPr sz="1250" b="1" i="0">
                <a:solidFill>
                  <a:srgbClr val="16385C"/>
                </a:solidFill>
                <a:latin typeface="Meiryo"/>
                <a:ea typeface="Meiryo"/>
              </a:rPr>
              <a:t>）</a:t>
            </a:r>
          </a:p>
          <a:p>
            <a:pPr algn="ctr">
              <a:lnSpc>
                <a:spcPct val="100000"/>
              </a:lnSpc>
            </a:pPr>
            <a:r>
              <a:rPr sz="1050" b="0" i="0">
                <a:solidFill>
                  <a:srgbClr val="26303A"/>
                </a:solidFill>
                <a:latin typeface="Meiryo"/>
                <a:ea typeface="Meiryo"/>
              </a:rPr>
              <a:t>を最小化</a:t>
            </a:r>
          </a:p>
        </p:txBody>
      </p:sp>
      <p:sp>
        <p:nvSpPr>
          <p:cNvPr id="10" name="TextBox 9"/>
          <p:cNvSpPr txBox="1"/>
          <p:nvPr/>
        </p:nvSpPr>
        <p:spPr>
          <a:xfrm>
            <a:off x="5592927" y="2167128"/>
            <a:ext cx="1005840" cy="960120"/>
          </a:xfrm>
          <a:prstGeom prst="rect">
            <a:avLst/>
          </a:prstGeom>
          <a:noFill/>
        </p:spPr>
        <p:txBody>
          <a:bodyPr wrap="square" lIns="18288" tIns="9144" rIns="18288" bIns="9144" anchor="ctr">
            <a:spAutoFit/>
          </a:bodyPr>
          <a:lstStyle/>
          <a:p>
            <a:pPr algn="ctr"/>
            <a:r>
              <a:rPr sz="2400" b="1" i="0">
                <a:solidFill>
                  <a:srgbClr val="16385C"/>
                </a:solidFill>
                <a:latin typeface="Meiryo"/>
                <a:ea typeface="Meiryo"/>
              </a:rPr>
              <a:t>⇄</a:t>
            </a:r>
          </a:p>
          <a:p>
            <a:pPr algn="ctr"/>
            <a:r>
              <a:rPr sz="1050" b="1" i="0">
                <a:solidFill>
                  <a:srgbClr val="16385C"/>
                </a:solidFill>
                <a:latin typeface="Meiryo"/>
                <a:ea typeface="Meiryo"/>
              </a:rPr>
              <a:t>トレードオフ</a:t>
            </a:r>
          </a:p>
        </p:txBody>
      </p:sp>
      <p:sp>
        <p:nvSpPr>
          <p:cNvPr id="11" name="TextBox 10"/>
          <p:cNvSpPr txBox="1"/>
          <p:nvPr/>
        </p:nvSpPr>
        <p:spPr>
          <a:xfrm>
            <a:off x="566928" y="3611880"/>
            <a:ext cx="11057839"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0" i="0">
                <a:solidFill>
                  <a:srgbClr val="26303A"/>
                </a:solidFill>
                <a:latin typeface="Meiryo"/>
                <a:ea typeface="Meiryo"/>
              </a:rPr>
              <a:t>大幅な変更は現場に</a:t>
            </a:r>
            <a:r>
              <a:rPr sz="1550" b="1" i="0">
                <a:solidFill>
                  <a:srgbClr val="16385C"/>
                </a:solidFill>
                <a:latin typeface="Meiryo"/>
                <a:ea typeface="Meiryo"/>
              </a:rPr>
              <a:t>実コスト</a:t>
            </a:r>
            <a:r>
              <a:rPr sz="1550" b="0" i="0">
                <a:solidFill>
                  <a:srgbClr val="26303A"/>
                </a:solidFill>
                <a:latin typeface="Meiryo"/>
                <a:ea typeface="Meiryo"/>
              </a:rPr>
              <a:t>を生む。</a:t>
            </a:r>
          </a:p>
          <a:p>
            <a:pPr lvl="1">
              <a:lnSpc>
                <a:spcPct val="106000"/>
              </a:lnSpc>
              <a:spcBef>
                <a:spcPts val="300"/>
              </a:spcBef>
            </a:pPr>
            <a:r>
              <a:rPr sz="1200" b="0" i="0">
                <a:solidFill>
                  <a:srgbClr val="6E7A88"/>
                </a:solidFill>
                <a:latin typeface="Meiryo"/>
                <a:ea typeface="Meiryo"/>
              </a:rPr>
              <a:t>－ </a:t>
            </a:r>
            <a:r>
              <a:rPr sz="1400" b="0" i="0">
                <a:solidFill>
                  <a:srgbClr val="26303A"/>
                </a:solidFill>
                <a:latin typeface="Meiryo"/>
                <a:ea typeface="Meiryo"/>
              </a:rPr>
              <a:t>現場の混乱・段取り替え／資材・治具の再手配・作業者の再配置／下流工程・外注への波及</a:t>
            </a:r>
          </a:p>
        </p:txBody>
      </p:sp>
      <p:sp>
        <p:nvSpPr>
          <p:cNvPr id="12" name="Rectangle 11"/>
          <p:cNvSpPr/>
          <p:nvPr/>
        </p:nvSpPr>
        <p:spPr>
          <a:xfrm>
            <a:off x="566928" y="5074920"/>
            <a:ext cx="11057839" cy="694944"/>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5074920"/>
            <a:ext cx="54864" cy="694944"/>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8096" y="5074920"/>
            <a:ext cx="10746943" cy="694944"/>
          </a:xfrm>
          <a:prstGeom prst="rect">
            <a:avLst/>
          </a:prstGeom>
          <a:noFill/>
        </p:spPr>
        <p:txBody>
          <a:bodyPr wrap="square" lIns="18288" tIns="9144" rIns="18288" bIns="9144" anchor="ctr">
            <a:spAutoFit/>
          </a:bodyPr>
          <a:lstStyle/>
          <a:p>
            <a:pPr>
              <a:lnSpc>
                <a:spcPct val="104000"/>
              </a:lnSpc>
            </a:pPr>
            <a:r>
              <a:rPr sz="1300" b="0" i="0">
                <a:solidFill>
                  <a:srgbClr val="26303A"/>
                </a:solidFill>
                <a:latin typeface="Meiryo"/>
                <a:ea typeface="Meiryo"/>
              </a:rPr>
              <a:t>これらのコストゆえ、</a:t>
            </a:r>
            <a:r>
              <a:rPr sz="1300" b="1" i="0">
                <a:solidFill>
                  <a:srgbClr val="16385C"/>
                </a:solidFill>
                <a:latin typeface="Meiryo"/>
                <a:ea typeface="Meiryo"/>
              </a:rPr>
              <a:t>安定性は効率(MS)と並ぶ目的</a:t>
            </a:r>
            <a:r>
              <a:rPr sz="1300" b="0" i="0">
                <a:solidFill>
                  <a:srgbClr val="26303A"/>
                </a:solidFill>
                <a:latin typeface="Meiryo"/>
                <a:ea typeface="Meiryo"/>
              </a:rPr>
              <a:t>。本研究は効率と安定性の</a:t>
            </a:r>
            <a:r>
              <a:rPr sz="1300" b="1" i="0">
                <a:solidFill>
                  <a:srgbClr val="16385C"/>
                </a:solidFill>
                <a:latin typeface="Meiryo"/>
                <a:ea typeface="Meiryo"/>
              </a:rPr>
              <a:t>多目的最適化</a:t>
            </a:r>
            <a:r>
              <a:rPr sz="1300" b="0" i="0">
                <a:solidFill>
                  <a:srgbClr val="26303A"/>
                </a:solidFill>
                <a:latin typeface="Meiryo"/>
                <a:ea typeface="Meiryo"/>
              </a:rPr>
              <a:t>として定式化する。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1.3 再スケジューリングの特殊性と研究目的</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66928" y="1060704"/>
            <a:ext cx="59436" cy="310896"/>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042415"/>
            <a:ext cx="10856671" cy="384048"/>
          </a:xfrm>
          <a:prstGeom prst="rect">
            <a:avLst/>
          </a:prstGeom>
          <a:noFill/>
        </p:spPr>
        <p:txBody>
          <a:bodyPr wrap="square" lIns="18288" tIns="9144" rIns="18288" bIns="9144" anchor="ctr">
            <a:spAutoFit/>
          </a:bodyPr>
          <a:lstStyle/>
          <a:p>
            <a:pPr>
              <a:lnSpc>
                <a:spcPct val="100000"/>
              </a:lnSpc>
            </a:pPr>
            <a:r>
              <a:rPr sz="1500" b="1" i="0">
                <a:solidFill>
                  <a:srgbClr val="16385C"/>
                </a:solidFill>
                <a:latin typeface="Meiryo"/>
                <a:ea typeface="Meiryo"/>
              </a:rPr>
              <a:t>特殊性＝高品質初期解 </a:t>
            </a:r>
            <a:r>
              <a:rPr sz="1500" b="1" i="1">
                <a:solidFill>
                  <a:srgbClr val="16385C"/>
                </a:solidFill>
                <a:latin typeface="Meiryo"/>
                <a:ea typeface="Meiryo"/>
              </a:rPr>
              <a:t>S</a:t>
            </a:r>
            <a:r>
              <a:rPr sz="1080" b="1" i="1" baseline="-22000">
                <a:solidFill>
                  <a:srgbClr val="16385C"/>
                </a:solidFill>
                <a:latin typeface="Meiryo"/>
                <a:ea typeface="Meiryo"/>
              </a:rPr>
              <a:t>p</a:t>
            </a:r>
            <a:r>
              <a:rPr sz="1500" b="1" i="0">
                <a:solidFill>
                  <a:srgbClr val="16385C"/>
                </a:solidFill>
                <a:latin typeface="Meiryo"/>
                <a:ea typeface="Meiryo"/>
              </a:rPr>
              <a:t> が既に存在する。本研究の目的は、この特殊性が探索構造に与える影響を多角的に検証すること</a:t>
            </a:r>
          </a:p>
        </p:txBody>
      </p:sp>
      <p:sp>
        <p:nvSpPr>
          <p:cNvPr id="6" name="TextBox 5"/>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1. 研究背景・目的</a:t>
            </a:r>
          </a:p>
        </p:txBody>
      </p:sp>
      <p:sp>
        <p:nvSpPr>
          <p:cNvPr id="7" name="TextBox 6"/>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5</a:t>
            </a:r>
          </a:p>
        </p:txBody>
      </p:sp>
      <p:sp>
        <p:nvSpPr>
          <p:cNvPr id="8" name="TextBox 7"/>
          <p:cNvSpPr txBox="1"/>
          <p:nvPr/>
        </p:nvSpPr>
        <p:spPr>
          <a:xfrm>
            <a:off x="566928" y="1783080"/>
            <a:ext cx="11057839"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特殊性</a:t>
            </a:r>
            <a:r>
              <a:rPr sz="1550" b="0" i="0">
                <a:solidFill>
                  <a:srgbClr val="26303A"/>
                </a:solidFill>
                <a:latin typeface="Meiryo"/>
                <a:ea typeface="Meiryo"/>
              </a:rPr>
              <a:t>：静的スケジューリングと違い、外乱前の高品質な初期解 </a:t>
            </a:r>
            <a:r>
              <a:rPr sz="1550" b="0" i="1">
                <a:solidFill>
                  <a:srgbClr val="26303A"/>
                </a:solidFill>
                <a:latin typeface="Meiryo"/>
                <a:ea typeface="Meiryo"/>
              </a:rPr>
              <a:t>S</a:t>
            </a:r>
            <a:r>
              <a:rPr sz="1116" b="0" i="1" baseline="-22000">
                <a:solidFill>
                  <a:srgbClr val="26303A"/>
                </a:solidFill>
                <a:latin typeface="Meiryo"/>
                <a:ea typeface="Meiryo"/>
              </a:rPr>
              <a:t>p</a:t>
            </a:r>
            <a:r>
              <a:rPr sz="1550" b="0" i="0">
                <a:solidFill>
                  <a:srgbClr val="26303A"/>
                </a:solidFill>
                <a:latin typeface="Meiryo"/>
                <a:ea typeface="Meiryo"/>
              </a:rPr>
              <a:t> が既に存在する。</a:t>
            </a:r>
          </a:p>
          <a:p>
            <a:pPr lvl="1">
              <a:lnSpc>
                <a:spcPct val="106000"/>
              </a:lnSpc>
              <a:spcBef>
                <a:spcPts val="300"/>
              </a:spcBef>
            </a:pPr>
            <a:r>
              <a:rPr sz="1200" b="0" i="0">
                <a:solidFill>
                  <a:srgbClr val="6E7A88"/>
                </a:solidFill>
                <a:latin typeface="Meiryo"/>
                <a:ea typeface="Meiryo"/>
              </a:rPr>
              <a:t>－ </a:t>
            </a:r>
            <a:r>
              <a:rPr sz="1400" b="0" i="0">
                <a:solidFill>
                  <a:srgbClr val="26303A"/>
                </a:solidFill>
                <a:latin typeface="Meiryo"/>
                <a:ea typeface="Meiryo"/>
              </a:rPr>
              <a:t>最適解は </a:t>
            </a:r>
            <a:r>
              <a:rPr sz="1400" b="0" i="1">
                <a:solidFill>
                  <a:srgbClr val="26303A"/>
                </a:solidFill>
                <a:latin typeface="Meiryo"/>
                <a:ea typeface="Meiryo"/>
              </a:rPr>
              <a:t>S</a:t>
            </a:r>
            <a:r>
              <a:rPr sz="1008" b="0" i="1" baseline="-22000">
                <a:solidFill>
                  <a:srgbClr val="26303A"/>
                </a:solidFill>
                <a:latin typeface="Meiryo"/>
                <a:ea typeface="Meiryo"/>
              </a:rPr>
              <a:t>p</a:t>
            </a:r>
            <a:r>
              <a:rPr sz="1400" b="0" i="0">
                <a:solidFill>
                  <a:srgbClr val="26303A"/>
                </a:solidFill>
                <a:latin typeface="Meiryo"/>
                <a:ea typeface="Meiryo"/>
              </a:rPr>
              <a:t> 近傍に分布しやすく、手法の優劣は</a:t>
            </a:r>
            <a:r>
              <a:rPr sz="1400" b="1" i="0">
                <a:solidFill>
                  <a:srgbClr val="16385C"/>
                </a:solidFill>
                <a:latin typeface="Meiryo"/>
                <a:ea typeface="Meiryo"/>
              </a:rPr>
              <a:t>大域探索力だけでは決まらない</a:t>
            </a:r>
            <a:r>
              <a:rPr sz="1400" b="0" i="0">
                <a:solidFill>
                  <a:srgbClr val="26303A"/>
                </a:solidFill>
                <a:latin typeface="Meiryo"/>
                <a:ea typeface="Meiryo"/>
              </a:rPr>
              <a:t>。</a:t>
            </a:r>
          </a:p>
        </p:txBody>
      </p:sp>
      <p:sp>
        <p:nvSpPr>
          <p:cNvPr id="9" name="TextBox 8"/>
          <p:cNvSpPr txBox="1"/>
          <p:nvPr/>
        </p:nvSpPr>
        <p:spPr>
          <a:xfrm>
            <a:off x="566928" y="2880360"/>
            <a:ext cx="11057839"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研究目的</a:t>
            </a:r>
            <a:r>
              <a:rPr sz="1550" b="0" i="0">
                <a:solidFill>
                  <a:srgbClr val="26303A"/>
                </a:solidFill>
                <a:latin typeface="Meiryo"/>
                <a:ea typeface="Meiryo"/>
              </a:rPr>
              <a:t>：この特殊性が</a:t>
            </a:r>
            <a:r>
              <a:rPr sz="1550" b="1" i="0">
                <a:solidFill>
                  <a:srgbClr val="16385C"/>
                </a:solidFill>
                <a:latin typeface="Meiryo"/>
                <a:ea typeface="Meiryo"/>
              </a:rPr>
              <a:t>探索構造に与える影響を多角的に検証する</a:t>
            </a:r>
            <a:r>
              <a:rPr sz="1550" b="0" i="0">
                <a:solidFill>
                  <a:srgbClr val="26303A"/>
                </a:solidFill>
                <a:latin typeface="Meiryo"/>
                <a:ea typeface="Meiryo"/>
              </a:rPr>
              <a:t>。</a:t>
            </a:r>
          </a:p>
          <a:p>
            <a:pPr lvl="1">
              <a:lnSpc>
                <a:spcPct val="106000"/>
              </a:lnSpc>
              <a:spcBef>
                <a:spcPts val="300"/>
              </a:spcBef>
            </a:pPr>
            <a:r>
              <a:rPr sz="1200" b="0" i="0">
                <a:solidFill>
                  <a:srgbClr val="6E7A88"/>
                </a:solidFill>
                <a:latin typeface="Meiryo"/>
                <a:ea typeface="Meiryo"/>
              </a:rPr>
              <a:t>－ </a:t>
            </a:r>
            <a:r>
              <a:rPr sz="1400" b="0" i="0">
                <a:solidFill>
                  <a:srgbClr val="26303A"/>
                </a:solidFill>
                <a:latin typeface="Meiryo"/>
                <a:ea typeface="Meiryo"/>
              </a:rPr>
              <a:t>二系統の探索構造（軌道／集団）の力関係が、この特性下でどう変わるかを統制下で明らかにする。</a:t>
            </a:r>
          </a:p>
          <a:p>
            <a:pPr lvl="1">
              <a:lnSpc>
                <a:spcPct val="106000"/>
              </a:lnSpc>
              <a:spcBef>
                <a:spcPts val="300"/>
              </a:spcBef>
            </a:pPr>
            <a:r>
              <a:rPr sz="1200" b="0" i="0">
                <a:solidFill>
                  <a:srgbClr val="6E7A88"/>
                </a:solidFill>
                <a:latin typeface="Meiryo"/>
                <a:ea typeface="Meiryo"/>
              </a:rPr>
              <a:t>－ </a:t>
            </a:r>
            <a:r>
              <a:rPr sz="1400" b="0" i="0">
                <a:solidFill>
                  <a:srgbClr val="26303A"/>
                </a:solidFill>
                <a:latin typeface="Meiryo"/>
                <a:ea typeface="Meiryo"/>
              </a:rPr>
              <a:t>その力関係を踏まえ、解を安定側へ誘導する探索演算子（PR・repair）を設計し、相互作用を検証する。</a:t>
            </a:r>
          </a:p>
        </p:txBody>
      </p:sp>
      <p:sp>
        <p:nvSpPr>
          <p:cNvPr id="10" name="Rectangle 9"/>
          <p:cNvSpPr/>
          <p:nvPr/>
        </p:nvSpPr>
        <p:spPr>
          <a:xfrm>
            <a:off x="566928" y="4434840"/>
            <a:ext cx="11057839" cy="694944"/>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6928" y="4434840"/>
            <a:ext cx="54864" cy="694944"/>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8096" y="4434840"/>
            <a:ext cx="10746943" cy="694944"/>
          </a:xfrm>
          <a:prstGeom prst="rect">
            <a:avLst/>
          </a:prstGeom>
          <a:noFill/>
        </p:spPr>
        <p:txBody>
          <a:bodyPr wrap="square" lIns="18288" tIns="9144" rIns="18288" bIns="9144" anchor="ctr">
            <a:spAutoFit/>
          </a:bodyPr>
          <a:lstStyle/>
          <a:p>
            <a:pPr>
              <a:lnSpc>
                <a:spcPct val="104000"/>
              </a:lnSpc>
            </a:pPr>
            <a:r>
              <a:rPr sz="1300" b="0" i="0">
                <a:solidFill>
                  <a:srgbClr val="26303A"/>
                </a:solidFill>
                <a:latin typeface="Meiryo"/>
                <a:ea typeface="Meiryo"/>
              </a:rPr>
              <a:t>主眼は最先端手法との性能競争ではなく、</a:t>
            </a:r>
            <a:r>
              <a:rPr sz="1300" b="1" i="0">
                <a:solidFill>
                  <a:srgbClr val="16385C"/>
                </a:solidFill>
                <a:latin typeface="Meiryo"/>
                <a:ea typeface="Meiryo"/>
              </a:rPr>
              <a:t>演算子と探索構造の相互作用の構造分析</a:t>
            </a:r>
            <a:r>
              <a:rPr sz="1300" b="0" i="0">
                <a:solidFill>
                  <a:srgbClr val="26303A"/>
                </a:solidFill>
                <a:latin typeface="Meiryo"/>
                <a:ea typeface="Meiryo"/>
              </a:rPr>
              <a:t>にある[28]。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1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51560" y="2148840"/>
            <a:ext cx="1554480" cy="1371600"/>
          </a:xfrm>
          <a:prstGeom prst="rect">
            <a:avLst/>
          </a:prstGeom>
          <a:noFill/>
        </p:spPr>
        <p:txBody>
          <a:bodyPr wrap="square" lIns="18288" tIns="9144" rIns="18288" bIns="9144" anchor="ctr">
            <a:spAutoFit/>
          </a:bodyPr>
          <a:lstStyle/>
          <a:p>
            <a:r>
              <a:rPr sz="7800" b="1" i="0">
                <a:solidFill>
                  <a:srgbClr val="3E618C"/>
                </a:solidFill>
                <a:latin typeface="Meiryo"/>
                <a:ea typeface="Meiryo"/>
              </a:rPr>
              <a:t>2</a:t>
            </a:r>
          </a:p>
        </p:txBody>
      </p:sp>
      <p:sp>
        <p:nvSpPr>
          <p:cNvPr id="4" name="TextBox 3"/>
          <p:cNvSpPr txBox="1"/>
          <p:nvPr/>
        </p:nvSpPr>
        <p:spPr>
          <a:xfrm>
            <a:off x="2514600" y="2148840"/>
            <a:ext cx="8899855" cy="1371600"/>
          </a:xfrm>
          <a:prstGeom prst="rect">
            <a:avLst/>
          </a:prstGeom>
          <a:noFill/>
        </p:spPr>
        <p:txBody>
          <a:bodyPr wrap="square" lIns="18288" tIns="9144" rIns="18288" bIns="9144" anchor="ctr">
            <a:spAutoFit/>
          </a:bodyPr>
          <a:lstStyle/>
          <a:p>
            <a:r>
              <a:rPr sz="3000" b="1" i="0">
                <a:solidFill>
                  <a:srgbClr val="FFFFFF"/>
                </a:solidFill>
                <a:latin typeface="Meiryo"/>
                <a:ea typeface="Meiryo"/>
              </a:rPr>
              <a:t>既存研究と本研究の位置づけ</a:t>
            </a:r>
          </a:p>
          <a:p>
            <a:pPr>
              <a:spcBef>
                <a:spcPts val="1000"/>
              </a:spcBef>
            </a:pPr>
            <a:r>
              <a:rPr sz="1400" b="0" i="0">
                <a:solidFill>
                  <a:srgbClr val="AFC2D8"/>
                </a:solidFill>
                <a:latin typeface="Meiryo"/>
                <a:ea typeface="Meiryo"/>
              </a:rPr>
              <a:t>先行研究の 2 系譜・残された課題・2 仮説（H1 / H2）</a:t>
            </a:r>
          </a:p>
        </p:txBody>
      </p:sp>
      <p:cxnSp>
        <p:nvCxnSpPr>
          <p:cNvPr id="5" name="Connector 4"/>
          <p:cNvCxnSpPr/>
          <p:nvPr/>
        </p:nvCxnSpPr>
        <p:spPr>
          <a:xfrm>
            <a:off x="2542032" y="3913632"/>
            <a:ext cx="4754880" cy="0"/>
          </a:xfrm>
          <a:prstGeom prst="bentConnector3">
            <a:avLst/>
          </a:prstGeom>
          <a:ln w="15875">
            <a:solidFill>
              <a:srgbClr val="3E618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2.1 先行研究の 2 系譜と残された課題</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66928" y="1060704"/>
            <a:ext cx="59436" cy="310896"/>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042415"/>
            <a:ext cx="10856671" cy="384048"/>
          </a:xfrm>
          <a:prstGeom prst="rect">
            <a:avLst/>
          </a:prstGeom>
          <a:noFill/>
        </p:spPr>
        <p:txBody>
          <a:bodyPr wrap="square" lIns="18288" tIns="9144" rIns="18288" bIns="9144" anchor="ctr">
            <a:spAutoFit/>
          </a:bodyPr>
          <a:lstStyle/>
          <a:p>
            <a:pPr>
              <a:lnSpc>
                <a:spcPct val="100000"/>
              </a:lnSpc>
            </a:pPr>
            <a:r>
              <a:rPr sz="1500" b="1" i="0">
                <a:solidFill>
                  <a:srgbClr val="16385C"/>
                </a:solidFill>
                <a:latin typeface="Meiryo"/>
                <a:ea typeface="Meiryo"/>
              </a:rPr>
              <a:t>既存は安定性を「目的関数に畳み込む(受動)」か「再スケ範囲を限定する」かの 2 系譜——そこに 3 つの課題が残る</a:t>
            </a:r>
          </a:p>
        </p:txBody>
      </p:sp>
      <p:sp>
        <p:nvSpPr>
          <p:cNvPr id="6" name="TextBox 5"/>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2. 既存研究と位置づけ</a:t>
            </a:r>
          </a:p>
        </p:txBody>
      </p:sp>
      <p:sp>
        <p:nvSpPr>
          <p:cNvPr id="7" name="TextBox 6"/>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6</a:t>
            </a:r>
          </a:p>
        </p:txBody>
      </p:sp>
      <p:sp>
        <p:nvSpPr>
          <p:cNvPr id="8" name="TextBox 7"/>
          <p:cNvSpPr txBox="1"/>
          <p:nvPr/>
        </p:nvSpPr>
        <p:spPr>
          <a:xfrm>
            <a:off x="566928" y="1645920"/>
            <a:ext cx="11057839"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① 併合型（目的関数で確保）</a:t>
            </a:r>
            <a:r>
              <a:rPr sz="1550" b="0" i="0">
                <a:solidFill>
                  <a:srgbClr val="26303A"/>
                </a:solidFill>
                <a:latin typeface="Meiryo"/>
                <a:ea typeface="Meiryo"/>
              </a:rPr>
              <a:t>：安定性をスカラー目的（多くは重み付き和）に畳み込み、</a:t>
            </a:r>
            <a:r>
              <a:rPr sz="1550" b="1" i="0">
                <a:solidFill>
                  <a:srgbClr val="16385C"/>
                </a:solidFill>
                <a:latin typeface="Meiryo"/>
                <a:ea typeface="Meiryo"/>
              </a:rPr>
              <a:t>一評価項として受動的に</a:t>
            </a:r>
            <a:r>
              <a:rPr sz="1550" b="0" i="0">
                <a:solidFill>
                  <a:srgbClr val="26303A"/>
                </a:solidFill>
                <a:latin typeface="Meiryo"/>
                <a:ea typeface="Meiryo"/>
              </a:rPr>
              <a:t>扱う。</a:t>
            </a:r>
          </a:p>
          <a:p>
            <a:pPr lvl="1">
              <a:lnSpc>
                <a:spcPct val="106000"/>
              </a:lnSpc>
              <a:spcBef>
                <a:spcPts val="300"/>
              </a:spcBef>
            </a:pPr>
            <a:r>
              <a:rPr sz="1200" b="0" i="0">
                <a:solidFill>
                  <a:srgbClr val="6E7A88"/>
                </a:solidFill>
                <a:latin typeface="Meiryo"/>
                <a:ea typeface="Meiryo"/>
              </a:rPr>
              <a:t>－ </a:t>
            </a:r>
            <a:r>
              <a:rPr sz="1400" b="0" i="0">
                <a:solidFill>
                  <a:srgbClr val="26303A"/>
                </a:solidFill>
                <a:latin typeface="Meiryo"/>
                <a:ea typeface="Meiryo"/>
              </a:rPr>
              <a:t>Wu ら[14]（先駆）・Rangsaritratsamee ら[3]（ハイブリッド GA）・Katragjini ら[19]（フローショップ）</a:t>
            </a:r>
          </a:p>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② 範囲限定型（探索空間で確保）</a:t>
            </a:r>
            <a:r>
              <a:rPr sz="1550" b="0" i="0">
                <a:solidFill>
                  <a:srgbClr val="26303A"/>
                </a:solidFill>
                <a:latin typeface="Meiryo"/>
                <a:ea typeface="Meiryo"/>
              </a:rPr>
              <a:t>：</a:t>
            </a:r>
            <a:r>
              <a:rPr sz="1550" b="1" i="0">
                <a:solidFill>
                  <a:srgbClr val="16385C"/>
                </a:solidFill>
                <a:latin typeface="Meiryo"/>
                <a:ea typeface="Meiryo"/>
              </a:rPr>
              <a:t>再スケジュール範囲を限定</a:t>
            </a:r>
            <a:r>
              <a:rPr sz="1550" b="0" i="0">
                <a:solidFill>
                  <a:srgbClr val="26303A"/>
                </a:solidFill>
                <a:latin typeface="Meiryo"/>
                <a:ea typeface="Meiryo"/>
              </a:rPr>
              <a:t>し、探索空間の制限で構造的に保証する。</a:t>
            </a:r>
          </a:p>
          <a:p>
            <a:pPr lvl="1">
              <a:lnSpc>
                <a:spcPct val="106000"/>
              </a:lnSpc>
              <a:spcBef>
                <a:spcPts val="300"/>
              </a:spcBef>
            </a:pPr>
            <a:r>
              <a:rPr sz="1200" b="0" i="0">
                <a:solidFill>
                  <a:srgbClr val="6E7A88"/>
                </a:solidFill>
                <a:latin typeface="Meiryo"/>
                <a:ea typeface="Meiryo"/>
              </a:rPr>
              <a:t>－ </a:t>
            </a:r>
            <a:r>
              <a:rPr sz="1400" b="0" i="0">
                <a:solidFill>
                  <a:srgbClr val="26303A"/>
                </a:solidFill>
                <a:latin typeface="Meiryo"/>
                <a:ea typeface="Meiryo"/>
              </a:rPr>
              <a:t>match-up[15]・AOR[16]（影響波及作業のみ再スケ）・Zakaria &amp; Petrovic[17]（染色体を区間に限定）・Sun ら[27]（範囲を 4 階層に定式化）</a:t>
            </a:r>
          </a:p>
        </p:txBody>
      </p:sp>
      <p:graphicFrame>
        <p:nvGraphicFramePr>
          <p:cNvPr id="9" name="Table 8"/>
          <p:cNvGraphicFramePr>
            <a:graphicFrameLocks noGrp="1"/>
          </p:cNvGraphicFramePr>
          <p:nvPr/>
        </p:nvGraphicFramePr>
        <p:xfrm>
          <a:off x="566928" y="3383280"/>
          <a:ext cx="11057837" cy="1469136"/>
        </p:xfrm>
        <a:graphic>
          <a:graphicData uri="http://schemas.openxmlformats.org/drawingml/2006/table">
            <a:tbl>
              <a:tblPr>
                <a:tableStyleId>{5940675A-B579-460E-94D1-54222C63F5DA}</a:tableStyleId>
              </a:tblPr>
              <a:tblGrid>
                <a:gridCol w="2211567">
                  <a:extLst>
                    <a:ext uri="{9D8B030D-6E8A-4147-A177-3AD203B41FA5}">
                      <a16:colId xmlns:a16="http://schemas.microsoft.com/office/drawing/2014/main" val="20000"/>
                    </a:ext>
                  </a:extLst>
                </a:gridCol>
                <a:gridCol w="3814954">
                  <a:extLst>
                    <a:ext uri="{9D8B030D-6E8A-4147-A177-3AD203B41FA5}">
                      <a16:colId xmlns:a16="http://schemas.microsoft.com/office/drawing/2014/main" val="20001"/>
                    </a:ext>
                  </a:extLst>
                </a:gridCol>
                <a:gridCol w="5031316">
                  <a:extLst>
                    <a:ext uri="{9D8B030D-6E8A-4147-A177-3AD203B41FA5}">
                      <a16:colId xmlns:a16="http://schemas.microsoft.com/office/drawing/2014/main" val="20002"/>
                    </a:ext>
                  </a:extLst>
                </a:gridCol>
              </a:tblGrid>
              <a:tr h="301752">
                <a:tc>
                  <a:txBody>
                    <a:bodyPr/>
                    <a:lstStyle/>
                    <a:p>
                      <a:pPr algn="l"/>
                      <a:r>
                        <a:rPr sz="1300" b="1" i="0">
                          <a:solidFill>
                            <a:srgbClr val="FFFFFF"/>
                          </a:solidFill>
                          <a:latin typeface="Meiryo"/>
                          <a:ea typeface="Meiryo"/>
                        </a:rPr>
                        <a:t>残された課題</a:t>
                      </a:r>
                    </a:p>
                  </a:txBody>
                  <a:tcPr marL="82296" marR="54864" marT="18288" marB="18288" anchor="ctr">
                    <a:solidFill>
                      <a:srgbClr val="16385C"/>
                    </a:solidFill>
                  </a:tcPr>
                </a:tc>
                <a:tc>
                  <a:txBody>
                    <a:bodyPr/>
                    <a:lstStyle/>
                    <a:p>
                      <a:pPr algn="ctr"/>
                      <a:r>
                        <a:rPr sz="1300" b="1" i="0">
                          <a:solidFill>
                            <a:srgbClr val="FFFFFF"/>
                          </a:solidFill>
                          <a:latin typeface="Meiryo"/>
                          <a:ea typeface="Meiryo"/>
                        </a:rPr>
                        <a:t>既存研究</a:t>
                      </a:r>
                    </a:p>
                  </a:txBody>
                  <a:tcPr marL="82296" marR="54864" marT="18288" marB="18288" anchor="ctr">
                    <a:solidFill>
                      <a:srgbClr val="16385C"/>
                    </a:solidFill>
                  </a:tcPr>
                </a:tc>
                <a:tc>
                  <a:txBody>
                    <a:bodyPr/>
                    <a:lstStyle/>
                    <a:p>
                      <a:pPr algn="ctr"/>
                      <a:r>
                        <a:rPr sz="1300" b="1" i="0">
                          <a:solidFill>
                            <a:srgbClr val="FFFFFF"/>
                          </a:solidFill>
                          <a:latin typeface="Meiryo"/>
                          <a:ea typeface="Meiryo"/>
                        </a:rPr>
                        <a:t>本研究のアプローチ</a:t>
                      </a:r>
                    </a:p>
                  </a:txBody>
                  <a:tcPr marL="82296" marR="54864" marT="18288" marB="18288" anchor="ctr">
                    <a:solidFill>
                      <a:srgbClr val="16385C"/>
                    </a:solidFill>
                  </a:tcPr>
                </a:tc>
                <a:extLst>
                  <a:ext uri="{0D108BD9-81ED-4DB2-BD59-A6C34878D82A}">
                    <a16:rowId xmlns:a16="http://schemas.microsoft.com/office/drawing/2014/main" val="10000"/>
                  </a:ext>
                </a:extLst>
              </a:tr>
              <a:tr h="301752">
                <a:tc>
                  <a:txBody>
                    <a:bodyPr/>
                    <a:lstStyle/>
                    <a:p>
                      <a:pPr algn="l"/>
                      <a:r>
                        <a:rPr sz="1300" b="0" i="0">
                          <a:solidFill>
                            <a:srgbClr val="26303A"/>
                          </a:solidFill>
                          <a:latin typeface="Meiryo"/>
                          <a:ea typeface="Meiryo"/>
                        </a:rPr>
                        <a:t>① 適合性分析の欠如</a:t>
                      </a:r>
                    </a:p>
                  </a:txBody>
                  <a:tcPr marL="82296" marR="54864" marT="18288" marB="18288" anchor="ctr">
                    <a:solidFill>
                      <a:srgbClr val="FFFFFF"/>
                    </a:solidFill>
                  </a:tcPr>
                </a:tc>
                <a:tc>
                  <a:txBody>
                    <a:bodyPr/>
                    <a:lstStyle/>
                    <a:p>
                      <a:pPr algn="ctr"/>
                      <a:r>
                        <a:rPr sz="1300" b="1" i="0">
                          <a:solidFill>
                            <a:srgbClr val="16385C"/>
                          </a:solidFill>
                          <a:latin typeface="Meiryo"/>
                          <a:ea typeface="Meiryo"/>
                        </a:rPr>
                        <a:t>GA 中心</a:t>
                      </a:r>
                      <a:r>
                        <a:rPr sz="1300" b="0" i="0">
                          <a:solidFill>
                            <a:srgbClr val="26303A"/>
                          </a:solidFill>
                          <a:latin typeface="Meiryo"/>
                          <a:ea typeface="Meiryo"/>
                        </a:rPr>
                        <a:t>で、探索手法ごとの比較が十分にされていない</a:t>
                      </a:r>
                    </a:p>
                  </a:txBody>
                  <a:tcPr marL="82296" marR="54864" marT="18288" marB="18288" anchor="ctr">
                    <a:solidFill>
                      <a:srgbClr val="FFFFFF"/>
                    </a:solidFill>
                  </a:tcPr>
                </a:tc>
                <a:tc>
                  <a:txBody>
                    <a:bodyPr/>
                    <a:lstStyle/>
                    <a:p>
                      <a:pPr algn="ctr"/>
                      <a:r>
                        <a:rPr sz="1300" b="1" i="0">
                          <a:solidFill>
                            <a:srgbClr val="16385C"/>
                          </a:solidFill>
                          <a:latin typeface="Meiryo"/>
                          <a:ea typeface="Meiryo"/>
                        </a:rPr>
                        <a:t>軌道ベース</a:t>
                      </a:r>
                      <a:r>
                        <a:rPr sz="1300" b="0" i="0">
                          <a:solidFill>
                            <a:srgbClr val="26303A"/>
                          </a:solidFill>
                          <a:latin typeface="Meiryo"/>
                          <a:ea typeface="Meiryo"/>
                        </a:rPr>
                        <a:t>と</a:t>
                      </a:r>
                      <a:r>
                        <a:rPr sz="1300" b="1" i="0">
                          <a:solidFill>
                            <a:srgbClr val="16385C"/>
                          </a:solidFill>
                          <a:latin typeface="Meiryo"/>
                          <a:ea typeface="Meiryo"/>
                        </a:rPr>
                        <a:t>集団ベース</a:t>
                      </a:r>
                      <a:r>
                        <a:rPr sz="1300" b="0" i="0">
                          <a:solidFill>
                            <a:srgbClr val="26303A"/>
                          </a:solidFill>
                          <a:latin typeface="Meiryo"/>
                          <a:ea typeface="Meiryo"/>
                        </a:rPr>
                        <a:t>を局所探索まで揃えて</a:t>
                      </a:r>
                      <a:r>
                        <a:rPr sz="1300" b="1" i="0">
                          <a:solidFill>
                            <a:srgbClr val="16385C"/>
                          </a:solidFill>
                          <a:latin typeface="Meiryo"/>
                          <a:ea typeface="Meiryo"/>
                        </a:rPr>
                        <a:t>統制比較</a:t>
                      </a:r>
                      <a:r>
                        <a:rPr sz="1300" b="0" i="0">
                          <a:solidFill>
                            <a:srgbClr val="26303A"/>
                          </a:solidFill>
                          <a:latin typeface="Meiryo"/>
                          <a:ea typeface="Meiryo"/>
                        </a:rPr>
                        <a:t>【H1】</a:t>
                      </a:r>
                    </a:p>
                  </a:txBody>
                  <a:tcPr marL="82296" marR="54864" marT="18288" marB="18288" anchor="ctr">
                    <a:solidFill>
                      <a:srgbClr val="FFFFFF"/>
                    </a:solidFill>
                  </a:tcPr>
                </a:tc>
                <a:extLst>
                  <a:ext uri="{0D108BD9-81ED-4DB2-BD59-A6C34878D82A}">
                    <a16:rowId xmlns:a16="http://schemas.microsoft.com/office/drawing/2014/main" val="10001"/>
                  </a:ext>
                </a:extLst>
              </a:tr>
              <a:tr h="301752">
                <a:tc>
                  <a:txBody>
                    <a:bodyPr/>
                    <a:lstStyle/>
                    <a:p>
                      <a:pPr algn="l"/>
                      <a:r>
                        <a:rPr sz="1300" b="0" i="0">
                          <a:solidFill>
                            <a:srgbClr val="26303A"/>
                          </a:solidFill>
                          <a:latin typeface="Meiryo"/>
                          <a:ea typeface="Meiryo"/>
                        </a:rPr>
                        <a:t>② 演算子としての機構の欠如</a:t>
                      </a:r>
                    </a:p>
                  </a:txBody>
                  <a:tcPr marL="82296" marR="54864" marT="18288" marB="18288" anchor="ctr">
                    <a:solidFill>
                      <a:srgbClr val="F6F9FB"/>
                    </a:solidFill>
                  </a:tcPr>
                </a:tc>
                <a:tc>
                  <a:txBody>
                    <a:bodyPr/>
                    <a:lstStyle/>
                    <a:p>
                      <a:pPr algn="ctr"/>
                      <a:r>
                        <a:rPr sz="1300" b="0" i="0">
                          <a:solidFill>
                            <a:srgbClr val="26303A"/>
                          </a:solidFill>
                          <a:latin typeface="Meiryo"/>
                          <a:ea typeface="Meiryo"/>
                        </a:rPr>
                        <a:t>①併合型・②範囲限定型のどちらも、探索を安定側へ</a:t>
                      </a:r>
                      <a:r>
                        <a:rPr sz="1300" b="1" i="0">
                          <a:solidFill>
                            <a:srgbClr val="16385C"/>
                          </a:solidFill>
                          <a:latin typeface="Meiryo"/>
                          <a:ea typeface="Meiryo"/>
                        </a:rPr>
                        <a:t>能動的には導かない</a:t>
                      </a:r>
                    </a:p>
                  </a:txBody>
                  <a:tcPr marL="82296" marR="54864" marT="18288" marB="18288" anchor="ctr">
                    <a:solidFill>
                      <a:srgbClr val="F6F9FB"/>
                    </a:solidFill>
                  </a:tcPr>
                </a:tc>
                <a:tc>
                  <a:txBody>
                    <a:bodyPr/>
                    <a:lstStyle/>
                    <a:p>
                      <a:pPr algn="ctr"/>
                      <a:r>
                        <a:rPr sz="1300" b="0" i="0">
                          <a:solidFill>
                            <a:srgbClr val="26303A"/>
                          </a:solidFill>
                          <a:latin typeface="Meiryo"/>
                          <a:ea typeface="Meiryo"/>
                        </a:rPr>
                        <a:t>解を </a:t>
                      </a:r>
                      <a:r>
                        <a:rPr sz="1300" b="0" i="1">
                          <a:solidFill>
                            <a:srgbClr val="26303A"/>
                          </a:solidFill>
                          <a:latin typeface="Meiryo"/>
                          <a:ea typeface="Meiryo"/>
                        </a:rPr>
                        <a:t>S</a:t>
                      </a:r>
                      <a:r>
                        <a:rPr sz="936" b="0" i="1" baseline="-22000">
                          <a:solidFill>
                            <a:srgbClr val="26303A"/>
                          </a:solidFill>
                          <a:latin typeface="Meiryo"/>
                          <a:ea typeface="Meiryo"/>
                        </a:rPr>
                        <a:t>p</a:t>
                      </a:r>
                      <a:r>
                        <a:rPr sz="1300" b="0" i="0">
                          <a:solidFill>
                            <a:srgbClr val="26303A"/>
                          </a:solidFill>
                          <a:latin typeface="Meiryo"/>
                          <a:ea typeface="Meiryo"/>
                        </a:rPr>
                        <a:t> へ</a:t>
                      </a:r>
                      <a:r>
                        <a:rPr sz="1300" b="1" i="0">
                          <a:solidFill>
                            <a:srgbClr val="16385C"/>
                          </a:solidFill>
                          <a:latin typeface="Meiryo"/>
                          <a:ea typeface="Meiryo"/>
                        </a:rPr>
                        <a:t>能動的に</a:t>
                      </a:r>
                      <a:r>
                        <a:rPr sz="1300" b="0" i="0">
                          <a:solidFill>
                            <a:srgbClr val="26303A"/>
                          </a:solidFill>
                          <a:latin typeface="Meiryo"/>
                          <a:ea typeface="Meiryo"/>
                        </a:rPr>
                        <a:t>引き寄せる</a:t>
                      </a:r>
                      <a:r>
                        <a:rPr sz="1300" b="1" i="0">
                          <a:solidFill>
                            <a:srgbClr val="16385C"/>
                          </a:solidFill>
                          <a:latin typeface="Meiryo"/>
                          <a:ea typeface="Meiryo"/>
                        </a:rPr>
                        <a:t>安定性誘導演算子</a:t>
                      </a:r>
                      <a:r>
                        <a:rPr sz="1300" b="0" i="0">
                          <a:solidFill>
                            <a:srgbClr val="26303A"/>
                          </a:solidFill>
                          <a:latin typeface="Meiryo"/>
                          <a:ea typeface="Meiryo"/>
                        </a:rPr>
                        <a:t>(PR・repair)【H2】</a:t>
                      </a:r>
                    </a:p>
                  </a:txBody>
                  <a:tcPr marL="82296" marR="54864" marT="18288" marB="18288" anchor="ctr">
                    <a:solidFill>
                      <a:srgbClr val="F6F9FB"/>
                    </a:solidFill>
                  </a:tcPr>
                </a:tc>
                <a:extLst>
                  <a:ext uri="{0D108BD9-81ED-4DB2-BD59-A6C34878D82A}">
                    <a16:rowId xmlns:a16="http://schemas.microsoft.com/office/drawing/2014/main" val="10002"/>
                  </a:ext>
                </a:extLst>
              </a:tr>
              <a:tr h="301752">
                <a:tc>
                  <a:txBody>
                    <a:bodyPr/>
                    <a:lstStyle/>
                    <a:p>
                      <a:pPr algn="l"/>
                      <a:r>
                        <a:rPr sz="1300" b="0" i="0">
                          <a:solidFill>
                            <a:srgbClr val="26303A"/>
                          </a:solidFill>
                          <a:latin typeface="Meiryo"/>
                          <a:ea typeface="Meiryo"/>
                        </a:rPr>
                        <a:t>③ 評価方法論の不足</a:t>
                      </a:r>
                    </a:p>
                  </a:txBody>
                  <a:tcPr marL="82296" marR="54864" marT="18288" marB="18288" anchor="ctr">
                    <a:solidFill>
                      <a:srgbClr val="FFFFFF"/>
                    </a:solidFill>
                  </a:tcPr>
                </a:tc>
                <a:tc>
                  <a:txBody>
                    <a:bodyPr/>
                    <a:lstStyle/>
                    <a:p>
                      <a:pPr algn="ctr"/>
                      <a:r>
                        <a:rPr sz="1300" b="0" i="0">
                          <a:solidFill>
                            <a:srgbClr val="26303A"/>
                          </a:solidFill>
                          <a:latin typeface="Meiryo"/>
                          <a:ea typeface="Meiryo"/>
                        </a:rPr>
                        <a:t>単一重みのスカラー比較が主</a:t>
                      </a:r>
                    </a:p>
                  </a:txBody>
                  <a:tcPr marL="82296" marR="54864" marT="18288" marB="18288" anchor="ctr">
                    <a:solidFill>
                      <a:srgbClr val="FFFFFF"/>
                    </a:solidFill>
                  </a:tcPr>
                </a:tc>
                <a:tc>
                  <a:txBody>
                    <a:bodyPr/>
                    <a:lstStyle/>
                    <a:p>
                      <a:pPr algn="ctr"/>
                      <a:r>
                        <a:rPr sz="1300" b="1" i="0">
                          <a:solidFill>
                            <a:srgbClr val="16385C"/>
                          </a:solidFill>
                          <a:latin typeface="Meiryo"/>
                          <a:ea typeface="Meiryo"/>
                        </a:rPr>
                        <a:t>3 指標</a:t>
                      </a:r>
                      <a:r>
                        <a:rPr sz="1300" b="0" i="0">
                          <a:solidFill>
                            <a:srgbClr val="26303A"/>
                          </a:solidFill>
                          <a:latin typeface="Meiryo"/>
                          <a:ea typeface="Meiryo"/>
                        </a:rPr>
                        <a:t>（Pareto 覆域・安定帯別・速度）で評価</a:t>
                      </a:r>
                    </a:p>
                  </a:txBody>
                  <a:tcPr marL="82296" marR="54864"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0" name="Rectangle 9"/>
          <p:cNvSpPr/>
          <p:nvPr/>
        </p:nvSpPr>
        <p:spPr>
          <a:xfrm>
            <a:off x="566928" y="5349240"/>
            <a:ext cx="11057839" cy="694944"/>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6928" y="5349240"/>
            <a:ext cx="54864" cy="694944"/>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8096" y="5349240"/>
            <a:ext cx="10746943" cy="694944"/>
          </a:xfrm>
          <a:prstGeom prst="rect">
            <a:avLst/>
          </a:prstGeom>
          <a:noFill/>
        </p:spPr>
        <p:txBody>
          <a:bodyPr wrap="square" lIns="18288" tIns="9144" rIns="18288" bIns="9144" anchor="ctr">
            <a:spAutoFit/>
          </a:bodyPr>
          <a:lstStyle/>
          <a:p>
            <a:pPr>
              <a:lnSpc>
                <a:spcPct val="104000"/>
              </a:lnSpc>
            </a:pPr>
            <a:r>
              <a:rPr sz="1300" b="0" i="0">
                <a:solidFill>
                  <a:srgbClr val="26303A"/>
                </a:solidFill>
                <a:latin typeface="Meiryo"/>
                <a:ea typeface="Meiryo"/>
              </a:rPr>
              <a:t>安定性を</a:t>
            </a:r>
            <a:r>
              <a:rPr sz="1300" b="1" i="0">
                <a:solidFill>
                  <a:srgbClr val="16385C"/>
                </a:solidFill>
                <a:latin typeface="Meiryo"/>
                <a:ea typeface="Meiryo"/>
              </a:rPr>
              <a:t>探索空間の制限ではなく演算子として確保する</a:t>
            </a:r>
            <a:r>
              <a:rPr sz="1300" b="0" i="0">
                <a:solidFill>
                  <a:srgbClr val="26303A"/>
                </a:solidFill>
                <a:latin typeface="Meiryo"/>
                <a:ea typeface="Meiryo"/>
              </a:rPr>
              <a:t>——これが範囲限定型に対する、本研究の核心的な設計上の主張である。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2.2 本研究の仮説</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66928" y="1060704"/>
            <a:ext cx="59436" cy="310896"/>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042415"/>
            <a:ext cx="10856671" cy="384048"/>
          </a:xfrm>
          <a:prstGeom prst="rect">
            <a:avLst/>
          </a:prstGeom>
          <a:noFill/>
        </p:spPr>
        <p:txBody>
          <a:bodyPr wrap="square" lIns="18288" tIns="9144" rIns="18288" bIns="9144" anchor="ctr">
            <a:spAutoFit/>
          </a:bodyPr>
          <a:lstStyle/>
          <a:p>
            <a:pPr>
              <a:lnSpc>
                <a:spcPct val="100000"/>
              </a:lnSpc>
            </a:pPr>
            <a:r>
              <a:rPr sz="1500" b="1" i="1">
                <a:solidFill>
                  <a:srgbClr val="16385C"/>
                </a:solidFill>
                <a:latin typeface="Meiryo"/>
                <a:ea typeface="Meiryo"/>
              </a:rPr>
              <a:t>S</a:t>
            </a:r>
            <a:r>
              <a:rPr sz="1080" b="1" i="1" baseline="-22000">
                <a:solidFill>
                  <a:srgbClr val="16385C"/>
                </a:solidFill>
                <a:latin typeface="Meiryo"/>
                <a:ea typeface="Meiryo"/>
              </a:rPr>
              <a:t>p</a:t>
            </a:r>
            <a:r>
              <a:rPr sz="1500" b="1" i="0">
                <a:solidFill>
                  <a:srgbClr val="16385C"/>
                </a:solidFill>
                <a:latin typeface="Meiryo"/>
                <a:ea typeface="Meiryo"/>
              </a:rPr>
              <a:t> が既に存在することから、探索構造の適合性（H1）と、誘導演算子のホスト依存な非対称効果（H2）を立てる</a:t>
            </a:r>
          </a:p>
        </p:txBody>
      </p:sp>
      <p:sp>
        <p:nvSpPr>
          <p:cNvPr id="6" name="TextBox 5"/>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2. 既存研究と位置づけ</a:t>
            </a:r>
          </a:p>
        </p:txBody>
      </p:sp>
      <p:sp>
        <p:nvSpPr>
          <p:cNvPr id="7" name="TextBox 6"/>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7</a:t>
            </a:r>
          </a:p>
        </p:txBody>
      </p:sp>
      <p:sp>
        <p:nvSpPr>
          <p:cNvPr id="8" name="Rounded Rectangle 7"/>
          <p:cNvSpPr/>
          <p:nvPr/>
        </p:nvSpPr>
        <p:spPr>
          <a:xfrm>
            <a:off x="566928" y="2331720"/>
            <a:ext cx="2148840" cy="2514600"/>
          </a:xfrm>
          <a:prstGeom prst="roundRect">
            <a:avLst>
              <a:gd name="adj" fmla="val 5000"/>
            </a:avLst>
          </a:prstGeom>
          <a:solidFill>
            <a:srgbClr val="12315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00000"/>
              </a:lnSpc>
            </a:pPr>
            <a:r>
              <a:rPr sz="1200" b="0" i="0">
                <a:solidFill>
                  <a:srgbClr val="AFC2D8"/>
                </a:solidFill>
                <a:latin typeface="Meiryo"/>
                <a:ea typeface="Meiryo"/>
              </a:rPr>
              <a:t>起点</a:t>
            </a:r>
          </a:p>
          <a:p>
            <a:pPr algn="ctr">
              <a:lnSpc>
                <a:spcPct val="100000"/>
              </a:lnSpc>
            </a:pPr>
            <a:r>
              <a:rPr sz="1700" b="1" i="1">
                <a:solidFill>
                  <a:srgbClr val="FFFFFF"/>
                </a:solidFill>
                <a:latin typeface="Meiryo"/>
                <a:ea typeface="Meiryo"/>
              </a:rPr>
              <a:t>S</a:t>
            </a:r>
            <a:r>
              <a:rPr sz="1224" b="1" i="1" baseline="-22000">
                <a:solidFill>
                  <a:srgbClr val="FFFFFF"/>
                </a:solidFill>
                <a:latin typeface="Meiryo"/>
                <a:ea typeface="Meiryo"/>
              </a:rPr>
              <a:t>p</a:t>
            </a:r>
            <a:r>
              <a:rPr sz="1700" b="1" i="0">
                <a:solidFill>
                  <a:srgbClr val="FFFFFF"/>
                </a:solidFill>
                <a:latin typeface="Meiryo"/>
                <a:ea typeface="Meiryo"/>
              </a:rPr>
              <a:t> が
既に存在する</a:t>
            </a:r>
          </a:p>
        </p:txBody>
      </p:sp>
      <p:sp>
        <p:nvSpPr>
          <p:cNvPr id="9" name="Rounded Rectangle 8"/>
          <p:cNvSpPr/>
          <p:nvPr/>
        </p:nvSpPr>
        <p:spPr>
          <a:xfrm>
            <a:off x="3172968" y="2331720"/>
            <a:ext cx="3997299" cy="2514600"/>
          </a:xfrm>
          <a:prstGeom prst="roundRect">
            <a:avLst>
              <a:gd name="adj" fmla="val 4000"/>
            </a:avLst>
          </a:prstGeom>
          <a:solidFill>
            <a:srgbClr val="FFFFFF"/>
          </a:solidFill>
          <a:ln w="15240">
            <a:solidFill>
              <a:srgbClr val="1638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92424" y="2514600"/>
            <a:ext cx="3558387" cy="365760"/>
          </a:xfrm>
          <a:prstGeom prst="rect">
            <a:avLst/>
          </a:prstGeom>
          <a:noFill/>
        </p:spPr>
        <p:txBody>
          <a:bodyPr wrap="square" lIns="18288" tIns="9144" rIns="18288" bIns="9144" anchor="t">
            <a:spAutoFit/>
          </a:bodyPr>
          <a:lstStyle/>
          <a:p>
            <a:r>
              <a:rPr sz="1700" b="1" i="0">
                <a:solidFill>
                  <a:srgbClr val="16385C"/>
                </a:solidFill>
                <a:latin typeface="Meiryo"/>
                <a:ea typeface="Meiryo"/>
              </a:rPr>
              <a:t>H1（適合性）</a:t>
            </a:r>
          </a:p>
        </p:txBody>
      </p:sp>
      <p:sp>
        <p:nvSpPr>
          <p:cNvPr id="11" name="TextBox 10"/>
          <p:cNvSpPr txBox="1"/>
          <p:nvPr/>
        </p:nvSpPr>
        <p:spPr>
          <a:xfrm>
            <a:off x="3392424" y="2990087"/>
            <a:ext cx="3558387" cy="1728216"/>
          </a:xfrm>
          <a:prstGeom prst="rect">
            <a:avLst/>
          </a:prstGeom>
          <a:noFill/>
        </p:spPr>
        <p:txBody>
          <a:bodyPr wrap="square" lIns="18288" tIns="9144" rIns="18288" bIns="9144" anchor="t">
            <a:spAutoFit/>
          </a:bodyPr>
          <a:lstStyle/>
          <a:p>
            <a:pPr>
              <a:lnSpc>
                <a:spcPct val="124000"/>
              </a:lnSpc>
            </a:pPr>
            <a:r>
              <a:rPr sz="1450" b="0" i="1">
                <a:solidFill>
                  <a:srgbClr val="26303A"/>
                </a:solidFill>
                <a:latin typeface="Meiryo"/>
                <a:ea typeface="Meiryo"/>
              </a:rPr>
              <a:t>S</a:t>
            </a:r>
            <a:r>
              <a:rPr sz="1044" b="0" i="1" baseline="-22000">
                <a:solidFill>
                  <a:srgbClr val="26303A"/>
                </a:solidFill>
                <a:latin typeface="Meiryo"/>
                <a:ea typeface="Meiryo"/>
              </a:rPr>
              <a:t>p</a:t>
            </a:r>
            <a:r>
              <a:rPr sz="1450" b="0" i="0">
                <a:solidFill>
                  <a:srgbClr val="26303A"/>
                </a:solidFill>
                <a:latin typeface="Meiryo"/>
                <a:ea typeface="Meiryo"/>
              </a:rPr>
              <a:t> から</a:t>
            </a:r>
            <a:r>
              <a:rPr sz="1450" b="1" i="0">
                <a:solidFill>
                  <a:srgbClr val="16385C"/>
                </a:solidFill>
                <a:latin typeface="Meiryo"/>
                <a:ea typeface="Meiryo"/>
              </a:rPr>
              <a:t>連続変形</a:t>
            </a:r>
            <a:r>
              <a:rPr sz="1450" b="0" i="0">
                <a:solidFill>
                  <a:srgbClr val="26303A"/>
                </a:solidFill>
                <a:latin typeface="Meiryo"/>
                <a:ea typeface="Meiryo"/>
              </a:rPr>
              <a:t>を重ねる</a:t>
            </a:r>
            <a:r>
              <a:rPr sz="1450" b="1" i="0">
                <a:solidFill>
                  <a:srgbClr val="16385C"/>
                </a:solidFill>
                <a:latin typeface="Meiryo"/>
                <a:ea typeface="Meiryo"/>
              </a:rPr>
              <a:t>軌道ベース</a:t>
            </a:r>
            <a:r>
              <a:rPr sz="1450" b="0" i="0">
                <a:solidFill>
                  <a:srgbClr val="26303A"/>
                </a:solidFill>
                <a:latin typeface="Meiryo"/>
                <a:ea typeface="Meiryo"/>
              </a:rPr>
              <a:t>は高安定領域を小刻みに覆える。対して</a:t>
            </a:r>
            <a:r>
              <a:rPr sz="1450" b="1" i="0">
                <a:solidFill>
                  <a:srgbClr val="16385C"/>
                </a:solidFill>
                <a:latin typeface="Meiryo"/>
                <a:ea typeface="Meiryo"/>
              </a:rPr>
              <a:t>交叉</a:t>
            </a:r>
            <a:r>
              <a:rPr sz="1450" b="0" i="0">
                <a:solidFill>
                  <a:srgbClr val="26303A"/>
                </a:solidFill>
                <a:latin typeface="Meiryo"/>
                <a:ea typeface="Meiryo"/>
              </a:rPr>
              <a:t>で2親を組み替える</a:t>
            </a:r>
            <a:r>
              <a:rPr sz="1450" b="1" i="0">
                <a:solidFill>
                  <a:srgbClr val="16385C"/>
                </a:solidFill>
                <a:latin typeface="Meiryo"/>
                <a:ea typeface="Meiryo"/>
              </a:rPr>
              <a:t>集団ベース</a:t>
            </a:r>
            <a:r>
              <a:rPr sz="1450" b="0" i="0">
                <a:solidFill>
                  <a:srgbClr val="26303A"/>
                </a:solidFill>
                <a:latin typeface="Meiryo"/>
                <a:ea typeface="Meiryo"/>
              </a:rPr>
              <a:t>は子個体が </a:t>
            </a:r>
            <a:r>
              <a:rPr sz="1450" b="0" i="1">
                <a:solidFill>
                  <a:srgbClr val="26303A"/>
                </a:solidFill>
                <a:latin typeface="Meiryo"/>
                <a:ea typeface="Meiryo"/>
              </a:rPr>
              <a:t>S</a:t>
            </a:r>
            <a:r>
              <a:rPr sz="1044" b="0" i="1" baseline="-22000">
                <a:solidFill>
                  <a:srgbClr val="26303A"/>
                </a:solidFill>
                <a:latin typeface="Meiryo"/>
                <a:ea typeface="Meiryo"/>
              </a:rPr>
              <a:t>p</a:t>
            </a:r>
            <a:r>
              <a:rPr sz="1450" b="0" i="0">
                <a:solidFill>
                  <a:srgbClr val="26303A"/>
                </a:solidFill>
                <a:latin typeface="Meiryo"/>
                <a:ea typeface="Meiryo"/>
              </a:rPr>
              <a:t> 近傍から飛び、同じ局所探索でも充填が</a:t>
            </a:r>
            <a:r>
              <a:rPr sz="1450" b="1" i="0">
                <a:solidFill>
                  <a:srgbClr val="16385C"/>
                </a:solidFill>
                <a:latin typeface="Meiryo"/>
                <a:ea typeface="Meiryo"/>
              </a:rPr>
              <a:t>構造的に粗い</a:t>
            </a:r>
            <a:r>
              <a:rPr sz="1450" b="0" i="0">
                <a:solidFill>
                  <a:srgbClr val="26303A"/>
                </a:solidFill>
                <a:latin typeface="Meiryo"/>
                <a:ea typeface="Meiryo"/>
              </a:rPr>
              <a:t>はず。</a:t>
            </a:r>
          </a:p>
        </p:txBody>
      </p:sp>
      <p:sp>
        <p:nvSpPr>
          <p:cNvPr id="12" name="Rounded Rectangle 11"/>
          <p:cNvSpPr/>
          <p:nvPr/>
        </p:nvSpPr>
        <p:spPr>
          <a:xfrm>
            <a:off x="7627467" y="2331720"/>
            <a:ext cx="3997299" cy="2514600"/>
          </a:xfrm>
          <a:prstGeom prst="roundRect">
            <a:avLst>
              <a:gd name="adj" fmla="val 4000"/>
            </a:avLst>
          </a:prstGeom>
          <a:solidFill>
            <a:srgbClr val="FFFFFF"/>
          </a:solidFill>
          <a:ln w="15240">
            <a:solidFill>
              <a:srgbClr val="1638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46923" y="2514600"/>
            <a:ext cx="3558387" cy="365760"/>
          </a:xfrm>
          <a:prstGeom prst="rect">
            <a:avLst/>
          </a:prstGeom>
          <a:noFill/>
        </p:spPr>
        <p:txBody>
          <a:bodyPr wrap="square" lIns="18288" tIns="9144" rIns="18288" bIns="9144" anchor="t">
            <a:spAutoFit/>
          </a:bodyPr>
          <a:lstStyle/>
          <a:p>
            <a:r>
              <a:rPr sz="1700" b="1" i="0">
                <a:solidFill>
                  <a:srgbClr val="16385C"/>
                </a:solidFill>
                <a:latin typeface="Meiryo"/>
                <a:ea typeface="Meiryo"/>
              </a:rPr>
              <a:t>H2（補完性）</a:t>
            </a:r>
          </a:p>
        </p:txBody>
      </p:sp>
      <p:sp>
        <p:nvSpPr>
          <p:cNvPr id="14" name="TextBox 13"/>
          <p:cNvSpPr txBox="1"/>
          <p:nvPr/>
        </p:nvSpPr>
        <p:spPr>
          <a:xfrm>
            <a:off x="7846923" y="2990087"/>
            <a:ext cx="3558387" cy="1728216"/>
          </a:xfrm>
          <a:prstGeom prst="rect">
            <a:avLst/>
          </a:prstGeom>
          <a:noFill/>
        </p:spPr>
        <p:txBody>
          <a:bodyPr wrap="square" lIns="18288" tIns="9144" rIns="18288" bIns="9144" anchor="t">
            <a:spAutoFit/>
          </a:bodyPr>
          <a:lstStyle/>
          <a:p>
            <a:pPr>
              <a:lnSpc>
                <a:spcPct val="124000"/>
              </a:lnSpc>
            </a:pPr>
            <a:r>
              <a:rPr sz="1450" b="0" i="0">
                <a:solidFill>
                  <a:srgbClr val="26303A"/>
                </a:solidFill>
                <a:latin typeface="Meiryo"/>
                <a:ea typeface="Meiryo"/>
              </a:rPr>
              <a:t>誘導演算子(PR・repair)が供給する力は、</a:t>
            </a:r>
            <a:r>
              <a:rPr sz="1450" b="1" i="0">
                <a:solidFill>
                  <a:srgbClr val="16385C"/>
                </a:solidFill>
                <a:latin typeface="Meiryo"/>
                <a:ea typeface="Meiryo"/>
              </a:rPr>
              <a:t>まさに集団に欠け・軌道は既に自力で持つ</a:t>
            </a:r>
            <a:r>
              <a:rPr sz="1450" b="0" i="0">
                <a:solidFill>
                  <a:srgbClr val="26303A"/>
                </a:solidFill>
                <a:latin typeface="Meiryo"/>
                <a:ea typeface="Meiryo"/>
              </a:rPr>
              <a:t>もの。ゆえに同一演算子でも効果は</a:t>
            </a:r>
            <a:r>
              <a:rPr sz="1450" b="1" i="0">
                <a:solidFill>
                  <a:srgbClr val="16385C"/>
                </a:solidFill>
                <a:latin typeface="Meiryo"/>
                <a:ea typeface="Meiryo"/>
              </a:rPr>
              <a:t>ホスト依存で非対称</a:t>
            </a:r>
            <a:r>
              <a:rPr sz="1450" b="0" i="0">
                <a:solidFill>
                  <a:srgbClr val="26303A"/>
                </a:solidFill>
                <a:latin typeface="Meiryo"/>
                <a:ea typeface="Meiryo"/>
              </a:rPr>
              <a:t>——集団に大・軌道に僅少。</a:t>
            </a:r>
          </a:p>
        </p:txBody>
      </p:sp>
      <p:cxnSp>
        <p:nvCxnSpPr>
          <p:cNvPr id="15" name="Connector 14"/>
          <p:cNvCxnSpPr/>
          <p:nvPr/>
        </p:nvCxnSpPr>
        <p:spPr>
          <a:xfrm>
            <a:off x="2770632" y="3589020"/>
            <a:ext cx="347472" cy="0"/>
          </a:xfrm>
          <a:prstGeom prst="line">
            <a:avLst/>
          </a:prstGeom>
          <a:ln w="30480">
            <a:solidFill>
              <a:srgbClr val="3E618C"/>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225131" y="3589020"/>
            <a:ext cx="347472" cy="0"/>
          </a:xfrm>
          <a:prstGeom prst="line">
            <a:avLst/>
          </a:prstGeom>
          <a:ln w="30480">
            <a:solidFill>
              <a:srgbClr val="3E618C"/>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1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51560" y="2148840"/>
            <a:ext cx="1554480" cy="1371600"/>
          </a:xfrm>
          <a:prstGeom prst="rect">
            <a:avLst/>
          </a:prstGeom>
          <a:noFill/>
        </p:spPr>
        <p:txBody>
          <a:bodyPr wrap="square" lIns="18288" tIns="9144" rIns="18288" bIns="9144" anchor="ctr">
            <a:spAutoFit/>
          </a:bodyPr>
          <a:lstStyle/>
          <a:p>
            <a:r>
              <a:rPr sz="7800" b="1" i="0">
                <a:solidFill>
                  <a:srgbClr val="3E618C"/>
                </a:solidFill>
                <a:latin typeface="Meiryo"/>
                <a:ea typeface="Meiryo"/>
              </a:rPr>
              <a:t>3</a:t>
            </a:r>
          </a:p>
        </p:txBody>
      </p:sp>
      <p:sp>
        <p:nvSpPr>
          <p:cNvPr id="4" name="TextBox 3"/>
          <p:cNvSpPr txBox="1"/>
          <p:nvPr/>
        </p:nvSpPr>
        <p:spPr>
          <a:xfrm>
            <a:off x="2514600" y="2148840"/>
            <a:ext cx="8899855" cy="1371600"/>
          </a:xfrm>
          <a:prstGeom prst="rect">
            <a:avLst/>
          </a:prstGeom>
          <a:noFill/>
        </p:spPr>
        <p:txBody>
          <a:bodyPr wrap="square" lIns="18288" tIns="9144" rIns="18288" bIns="9144" anchor="ctr">
            <a:spAutoFit/>
          </a:bodyPr>
          <a:lstStyle/>
          <a:p>
            <a:r>
              <a:rPr sz="3000" b="1" i="0">
                <a:solidFill>
                  <a:srgbClr val="FFFFFF"/>
                </a:solidFill>
                <a:latin typeface="Meiryo"/>
                <a:ea typeface="Meiryo"/>
              </a:rPr>
              <a:t>探索構造と提案手法</a:t>
            </a:r>
          </a:p>
          <a:p>
            <a:pPr>
              <a:spcBef>
                <a:spcPts val="1000"/>
              </a:spcBef>
            </a:pPr>
            <a:r>
              <a:rPr sz="1400" b="0" i="0">
                <a:solidFill>
                  <a:srgbClr val="AFC2D8"/>
                </a:solidFill>
                <a:latin typeface="Meiryo"/>
                <a:ea typeface="Meiryo"/>
              </a:rPr>
              <a:t>軌道／集団の2系統・安定性誘導演算子（PR / repair）・問題設定</a:t>
            </a:r>
          </a:p>
        </p:txBody>
      </p:sp>
      <p:cxnSp>
        <p:nvCxnSpPr>
          <p:cNvPr id="5" name="Connector 4"/>
          <p:cNvCxnSpPr/>
          <p:nvPr/>
        </p:nvCxnSpPr>
        <p:spPr>
          <a:xfrm>
            <a:off x="2542032" y="3913632"/>
            <a:ext cx="4754880" cy="0"/>
          </a:xfrm>
          <a:prstGeom prst="bentConnector3">
            <a:avLst/>
          </a:prstGeom>
          <a:ln w="15875">
            <a:solidFill>
              <a:srgbClr val="3E618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3.1 探索構造の2系統 — 軌道ベースと集団ベース</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66928" y="1060704"/>
            <a:ext cx="59436" cy="310896"/>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042415"/>
            <a:ext cx="10856671" cy="384048"/>
          </a:xfrm>
          <a:prstGeom prst="rect">
            <a:avLst/>
          </a:prstGeom>
          <a:noFill/>
        </p:spPr>
        <p:txBody>
          <a:bodyPr wrap="square" lIns="18288" tIns="9144" rIns="18288" bIns="9144" anchor="ctr">
            <a:spAutoFit/>
          </a:bodyPr>
          <a:lstStyle/>
          <a:p>
            <a:pPr>
              <a:lnSpc>
                <a:spcPct val="100000"/>
              </a:lnSpc>
            </a:pPr>
            <a:r>
              <a:rPr sz="1500" b="1" i="0">
                <a:solidFill>
                  <a:srgbClr val="16385C"/>
                </a:solidFill>
                <a:latin typeface="Meiryo"/>
                <a:ea typeface="Meiryo"/>
              </a:rPr>
              <a:t>メタヒューリスティクスは「1解を動かす」軌道ベースと「多数解を組み替える」集団ベースに大別される</a:t>
            </a:r>
          </a:p>
        </p:txBody>
      </p:sp>
      <p:sp>
        <p:nvSpPr>
          <p:cNvPr id="6" name="TextBox 5"/>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3. 探索構造と提案手法</a:t>
            </a:r>
          </a:p>
        </p:txBody>
      </p:sp>
      <p:sp>
        <p:nvSpPr>
          <p:cNvPr id="7" name="TextBox 6"/>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8</a:t>
            </a:r>
          </a:p>
        </p:txBody>
      </p:sp>
      <p:sp>
        <p:nvSpPr>
          <p:cNvPr id="8" name="Rounded Rectangle 7"/>
          <p:cNvSpPr/>
          <p:nvPr/>
        </p:nvSpPr>
        <p:spPr>
          <a:xfrm>
            <a:off x="566928" y="1645920"/>
            <a:ext cx="5336895" cy="3621024"/>
          </a:xfrm>
          <a:prstGeom prst="roundRect">
            <a:avLst>
              <a:gd name="adj" fmla="val 4000"/>
            </a:avLst>
          </a:prstGeom>
          <a:solidFill>
            <a:srgbClr val="FFFFFF"/>
          </a:solidFill>
          <a:ln w="13970">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1645920"/>
            <a:ext cx="5336895" cy="566928"/>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664208"/>
            <a:ext cx="5007711" cy="530352"/>
          </a:xfrm>
          <a:prstGeom prst="rect">
            <a:avLst/>
          </a:prstGeom>
          <a:noFill/>
        </p:spPr>
        <p:txBody>
          <a:bodyPr wrap="square" lIns="18288" tIns="9144" rIns="18288" bIns="9144" anchor="ctr">
            <a:spAutoFit/>
          </a:bodyPr>
          <a:lstStyle/>
          <a:p>
            <a:r>
              <a:rPr sz="1550" b="1" i="0">
                <a:solidFill>
                  <a:srgbClr val="FFFFFF"/>
                </a:solidFill>
                <a:latin typeface="Meiryo"/>
                <a:ea typeface="Meiryo"/>
              </a:rPr>
              <a:t>軌道ベース（trajectory-based）</a:t>
            </a:r>
            <a:r>
              <a:rPr sz="1200" b="0" i="0">
                <a:solidFill>
                  <a:srgbClr val="AFC2D8"/>
                </a:solidFill>
                <a:latin typeface="Meiryo"/>
                <a:ea typeface="Meiryo"/>
              </a:rPr>
              <a:t>　｜　解を1つだけ持つ</a:t>
            </a:r>
          </a:p>
        </p:txBody>
      </p:sp>
      <p:sp>
        <p:nvSpPr>
          <p:cNvPr id="11" name="Rectangle 10"/>
          <p:cNvSpPr/>
          <p:nvPr/>
        </p:nvSpPr>
        <p:spPr>
          <a:xfrm>
            <a:off x="731520" y="2340864"/>
            <a:ext cx="5007711" cy="137160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 name="Connector 11"/>
          <p:cNvCxnSpPr/>
          <p:nvPr/>
        </p:nvCxnSpPr>
        <p:spPr>
          <a:xfrm flipV="1">
            <a:off x="1113579" y="2882920"/>
            <a:ext cx="518661" cy="348203"/>
          </a:xfrm>
          <a:prstGeom prst="line">
            <a:avLst/>
          </a:prstGeom>
          <a:ln w="15240">
            <a:solidFill>
              <a:srgbClr val="E88B2E"/>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632240" y="2882920"/>
            <a:ext cx="565813" cy="184343"/>
          </a:xfrm>
          <a:prstGeom prst="line">
            <a:avLst/>
          </a:prstGeom>
          <a:ln w="15240">
            <a:solidFill>
              <a:srgbClr val="E88B2E"/>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198053" y="2698577"/>
            <a:ext cx="565812" cy="368686"/>
          </a:xfrm>
          <a:prstGeom prst="line">
            <a:avLst/>
          </a:prstGeom>
          <a:ln w="15240">
            <a:solidFill>
              <a:srgbClr val="E88B2E"/>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763865" y="2698577"/>
            <a:ext cx="612963" cy="245791"/>
          </a:xfrm>
          <a:prstGeom prst="line">
            <a:avLst/>
          </a:prstGeom>
          <a:ln w="15240">
            <a:solidFill>
              <a:srgbClr val="E88B2E"/>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376828" y="2637129"/>
            <a:ext cx="612964" cy="307239"/>
          </a:xfrm>
          <a:prstGeom prst="line">
            <a:avLst/>
          </a:prstGeom>
          <a:ln w="15240">
            <a:solidFill>
              <a:srgbClr val="E88B2E"/>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989792" y="2637129"/>
            <a:ext cx="612963" cy="245791"/>
          </a:xfrm>
          <a:prstGeom prst="line">
            <a:avLst/>
          </a:prstGeom>
          <a:ln w="15240">
            <a:solidFill>
              <a:srgbClr val="E88B2E"/>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4602755" y="2596164"/>
            <a:ext cx="612964" cy="286756"/>
          </a:xfrm>
          <a:prstGeom prst="line">
            <a:avLst/>
          </a:prstGeom>
          <a:ln w="15240">
            <a:solidFill>
              <a:srgbClr val="E88B2E"/>
            </a:solidFill>
          </a:ln>
          <a:effectLst/>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054143" y="3171687"/>
            <a:ext cx="118872" cy="118872"/>
          </a:xfrm>
          <a:prstGeom prst="ellipse">
            <a:avLst/>
          </a:prstGeom>
          <a:solidFill>
            <a:srgbClr val="F2B9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572804" y="2823484"/>
            <a:ext cx="118872" cy="118872"/>
          </a:xfrm>
          <a:prstGeom prst="ellipse">
            <a:avLst/>
          </a:prstGeom>
          <a:solidFill>
            <a:srgbClr val="F2B9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138617" y="3007827"/>
            <a:ext cx="118872" cy="118872"/>
          </a:xfrm>
          <a:prstGeom prst="ellipse">
            <a:avLst/>
          </a:prstGeom>
          <a:solidFill>
            <a:srgbClr val="F2B9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2704429" y="2639141"/>
            <a:ext cx="118872" cy="118872"/>
          </a:xfrm>
          <a:prstGeom prst="ellipse">
            <a:avLst/>
          </a:prstGeom>
          <a:solidFill>
            <a:srgbClr val="F2B9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3317392" y="2884932"/>
            <a:ext cx="118872" cy="118872"/>
          </a:xfrm>
          <a:prstGeom prst="ellipse">
            <a:avLst/>
          </a:prstGeom>
          <a:solidFill>
            <a:srgbClr val="F2B9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930356" y="2577693"/>
            <a:ext cx="118872" cy="118872"/>
          </a:xfrm>
          <a:prstGeom prst="ellipse">
            <a:avLst/>
          </a:prstGeom>
          <a:solidFill>
            <a:srgbClr val="F2B9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4543319" y="2823484"/>
            <a:ext cx="118872" cy="118872"/>
          </a:xfrm>
          <a:prstGeom prst="ellipse">
            <a:avLst/>
          </a:prstGeom>
          <a:solidFill>
            <a:srgbClr val="F2B9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5124279" y="2504724"/>
            <a:ext cx="182880" cy="182880"/>
          </a:xfrm>
          <a:prstGeom prst="ellipse">
            <a:avLst/>
          </a:prstGeom>
          <a:solidFill>
            <a:srgbClr val="E88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77824" y="3474720"/>
            <a:ext cx="4715103" cy="256032"/>
          </a:xfrm>
          <a:prstGeom prst="rect">
            <a:avLst/>
          </a:prstGeom>
          <a:noFill/>
        </p:spPr>
        <p:txBody>
          <a:bodyPr wrap="square" lIns="18288" tIns="9144" rIns="18288" bIns="9144" anchor="t">
            <a:spAutoFit/>
          </a:bodyPr>
          <a:lstStyle/>
          <a:p>
            <a:pPr algn="ctr"/>
            <a:r>
              <a:rPr sz="1150" b="0" i="0">
                <a:solidFill>
                  <a:srgbClr val="6E7A88"/>
                </a:solidFill>
                <a:latin typeface="Meiryo"/>
                <a:ea typeface="Meiryo"/>
              </a:rPr>
              <a:t>1 つの解が少しずつ変形しながら動く</a:t>
            </a:r>
          </a:p>
        </p:txBody>
      </p:sp>
      <p:sp>
        <p:nvSpPr>
          <p:cNvPr id="28" name="TextBox 27"/>
          <p:cNvSpPr txBox="1"/>
          <p:nvPr/>
        </p:nvSpPr>
        <p:spPr>
          <a:xfrm>
            <a:off x="768096" y="3803904"/>
            <a:ext cx="4934559" cy="1371600"/>
          </a:xfrm>
          <a:prstGeom prst="rect">
            <a:avLst/>
          </a:prstGeom>
          <a:noFill/>
        </p:spPr>
        <p:txBody>
          <a:bodyPr wrap="square" lIns="18288" tIns="9144" rIns="18288" bIns="9144" anchor="t">
            <a:spAutoFit/>
          </a:bodyPr>
          <a:lstStyle/>
          <a:p>
            <a:pPr>
              <a:lnSpc>
                <a:spcPct val="108000"/>
              </a:lnSpc>
              <a:spcBef>
                <a:spcPts val="0"/>
              </a:spcBef>
            </a:pPr>
            <a:r>
              <a:rPr sz="1100" b="1" i="0">
                <a:solidFill>
                  <a:srgbClr val="16385C"/>
                </a:solidFill>
                <a:latin typeface="Meiryo"/>
                <a:ea typeface="Meiryo"/>
              </a:rPr>
              <a:t>▪ </a:t>
            </a:r>
            <a:r>
              <a:rPr sz="1300" b="0" i="0">
                <a:solidFill>
                  <a:srgbClr val="26303A"/>
                </a:solidFill>
                <a:latin typeface="Meiryo"/>
                <a:ea typeface="Meiryo"/>
              </a:rPr>
              <a:t>解を1つだけ保持し、</a:t>
            </a:r>
            <a:r>
              <a:rPr sz="1300" b="1" i="0">
                <a:solidFill>
                  <a:srgbClr val="16385C"/>
                </a:solidFill>
                <a:latin typeface="Meiryo"/>
                <a:ea typeface="Meiryo"/>
              </a:rPr>
              <a:t>近傍への移動を繰り返して1本の探索軌跡</a:t>
            </a:r>
            <a:r>
              <a:rPr sz="1300" b="0" i="0">
                <a:solidFill>
                  <a:srgbClr val="26303A"/>
                </a:solidFill>
                <a:latin typeface="Meiryo"/>
                <a:ea typeface="Meiryo"/>
              </a:rPr>
              <a:t>を描く。</a:t>
            </a:r>
          </a:p>
          <a:p>
            <a:pPr>
              <a:lnSpc>
                <a:spcPct val="108000"/>
              </a:lnSpc>
              <a:spcBef>
                <a:spcPts val="800"/>
              </a:spcBef>
            </a:pPr>
            <a:r>
              <a:rPr sz="1100" b="1" i="0">
                <a:solidFill>
                  <a:srgbClr val="16385C"/>
                </a:solidFill>
                <a:latin typeface="Meiryo"/>
                <a:ea typeface="Meiryo"/>
              </a:rPr>
              <a:t>▪ </a:t>
            </a:r>
            <a:r>
              <a:rPr sz="1300" b="0" i="0">
                <a:solidFill>
                  <a:srgbClr val="26303A"/>
                </a:solidFill>
                <a:latin typeface="Meiryo"/>
                <a:ea typeface="Meiryo"/>
              </a:rPr>
              <a:t>現在地が常に1点 ＝ </a:t>
            </a:r>
            <a:r>
              <a:rPr sz="1300" b="1" i="0">
                <a:solidFill>
                  <a:srgbClr val="16385C"/>
                </a:solidFill>
                <a:latin typeface="Meiryo"/>
                <a:ea typeface="Meiryo"/>
              </a:rPr>
              <a:t>どの解から何手離れたか</a:t>
            </a:r>
            <a:r>
              <a:rPr sz="1300" b="0" i="0">
                <a:solidFill>
                  <a:srgbClr val="26303A"/>
                </a:solidFill>
                <a:latin typeface="Meiryo"/>
                <a:ea typeface="Meiryo"/>
              </a:rPr>
              <a:t>を制御できる。</a:t>
            </a:r>
          </a:p>
          <a:p>
            <a:pPr>
              <a:lnSpc>
                <a:spcPct val="108000"/>
              </a:lnSpc>
              <a:spcBef>
                <a:spcPts val="800"/>
              </a:spcBef>
            </a:pPr>
            <a:r>
              <a:rPr sz="1100" b="1" i="0">
                <a:solidFill>
                  <a:srgbClr val="16385C"/>
                </a:solidFill>
                <a:latin typeface="Meiryo"/>
                <a:ea typeface="Meiryo"/>
              </a:rPr>
              <a:t>▪ </a:t>
            </a:r>
            <a:r>
              <a:rPr sz="1300" b="0" i="0">
                <a:solidFill>
                  <a:srgbClr val="26303A"/>
                </a:solidFill>
                <a:latin typeface="Meiryo"/>
                <a:ea typeface="Meiryo"/>
              </a:rPr>
              <a:t>局所最適からの</a:t>
            </a:r>
            <a:r>
              <a:rPr sz="1300" b="1" i="0">
                <a:solidFill>
                  <a:srgbClr val="16385C"/>
                </a:solidFill>
                <a:latin typeface="Meiryo"/>
                <a:ea typeface="Meiryo"/>
              </a:rPr>
              <a:t>脱出法</a:t>
            </a:r>
            <a:r>
              <a:rPr sz="1300" b="0" i="0">
                <a:solidFill>
                  <a:srgbClr val="26303A"/>
                </a:solidFill>
                <a:latin typeface="Meiryo"/>
                <a:ea typeface="Meiryo"/>
              </a:rPr>
              <a:t>が手法差：</a:t>
            </a:r>
            <a:r>
              <a:rPr sz="1300" b="1" i="0">
                <a:solidFill>
                  <a:srgbClr val="16385C"/>
                </a:solidFill>
                <a:latin typeface="Meiryo"/>
                <a:ea typeface="Meiryo"/>
              </a:rPr>
              <a:t>ILS</a:t>
            </a:r>
            <a:r>
              <a:rPr sz="1300" b="0" i="0">
                <a:solidFill>
                  <a:srgbClr val="26303A"/>
                </a:solidFill>
                <a:latin typeface="Meiryo"/>
                <a:ea typeface="Meiryo"/>
              </a:rPr>
              <a:t>＝摂動／</a:t>
            </a:r>
            <a:r>
              <a:rPr sz="1300" b="1" i="0">
                <a:solidFill>
                  <a:srgbClr val="16385C"/>
                </a:solidFill>
                <a:latin typeface="Meiryo"/>
                <a:ea typeface="Meiryo"/>
              </a:rPr>
              <a:t>タブーサーチ</a:t>
            </a:r>
            <a:r>
              <a:rPr sz="1300" b="0" i="0">
                <a:solidFill>
                  <a:srgbClr val="26303A"/>
                </a:solidFill>
                <a:latin typeface="Meiryo"/>
                <a:ea typeface="Meiryo"/>
              </a:rPr>
              <a:t>＝再訪の禁止／</a:t>
            </a:r>
            <a:r>
              <a:rPr sz="1300" b="1" i="0">
                <a:solidFill>
                  <a:srgbClr val="16385C"/>
                </a:solidFill>
                <a:latin typeface="Meiryo"/>
                <a:ea typeface="Meiryo"/>
              </a:rPr>
              <a:t>SA</a:t>
            </a:r>
            <a:r>
              <a:rPr sz="1300" b="0" i="0">
                <a:solidFill>
                  <a:srgbClr val="26303A"/>
                </a:solidFill>
                <a:latin typeface="Meiryo"/>
                <a:ea typeface="Meiryo"/>
              </a:rPr>
              <a:t>＝悪化も確率的に受理</a:t>
            </a:r>
          </a:p>
        </p:txBody>
      </p:sp>
      <p:sp>
        <p:nvSpPr>
          <p:cNvPr id="29" name="Rounded Rectangle 28"/>
          <p:cNvSpPr/>
          <p:nvPr/>
        </p:nvSpPr>
        <p:spPr>
          <a:xfrm>
            <a:off x="6287871" y="1645920"/>
            <a:ext cx="5336895" cy="3621024"/>
          </a:xfrm>
          <a:prstGeom prst="roundRect">
            <a:avLst>
              <a:gd name="adj" fmla="val 4000"/>
            </a:avLst>
          </a:prstGeom>
          <a:solidFill>
            <a:srgbClr val="FFFFFF"/>
          </a:solidFill>
          <a:ln w="13970">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287871" y="1645920"/>
            <a:ext cx="5336895" cy="566928"/>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52463" y="1664208"/>
            <a:ext cx="5007711" cy="530352"/>
          </a:xfrm>
          <a:prstGeom prst="rect">
            <a:avLst/>
          </a:prstGeom>
          <a:noFill/>
        </p:spPr>
        <p:txBody>
          <a:bodyPr wrap="square" lIns="18288" tIns="9144" rIns="18288" bIns="9144" anchor="ctr">
            <a:spAutoFit/>
          </a:bodyPr>
          <a:lstStyle/>
          <a:p>
            <a:r>
              <a:rPr sz="1550" b="1" i="0">
                <a:solidFill>
                  <a:srgbClr val="FFFFFF"/>
                </a:solidFill>
                <a:latin typeface="Meiryo"/>
                <a:ea typeface="Meiryo"/>
              </a:rPr>
              <a:t>集団ベース（population-based）</a:t>
            </a:r>
            <a:r>
              <a:rPr sz="1200" b="0" i="0">
                <a:solidFill>
                  <a:srgbClr val="AFC2D8"/>
                </a:solidFill>
                <a:latin typeface="Meiryo"/>
                <a:ea typeface="Meiryo"/>
              </a:rPr>
              <a:t>　｜　解を多数持つ</a:t>
            </a:r>
          </a:p>
        </p:txBody>
      </p:sp>
      <p:sp>
        <p:nvSpPr>
          <p:cNvPr id="32" name="Rectangle 31"/>
          <p:cNvSpPr/>
          <p:nvPr/>
        </p:nvSpPr>
        <p:spPr>
          <a:xfrm>
            <a:off x="6452463" y="2340864"/>
            <a:ext cx="5007711" cy="137160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p:cNvCxnSpPr/>
          <p:nvPr/>
        </p:nvCxnSpPr>
        <p:spPr>
          <a:xfrm>
            <a:off x="6975975" y="2732958"/>
            <a:ext cx="1980344" cy="235915"/>
          </a:xfrm>
          <a:prstGeom prst="line">
            <a:avLst/>
          </a:prstGeom>
          <a:ln w="11430">
            <a:solidFill>
              <a:srgbClr val="C7C5E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975975" y="2921690"/>
            <a:ext cx="1980344" cy="424648"/>
          </a:xfrm>
          <a:prstGeom prst="line">
            <a:avLst/>
          </a:prstGeom>
          <a:ln w="11430">
            <a:solidFill>
              <a:srgbClr val="C7C5EC"/>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6975975" y="2795869"/>
            <a:ext cx="1980344" cy="314554"/>
          </a:xfrm>
          <a:prstGeom prst="line">
            <a:avLst/>
          </a:prstGeom>
          <a:ln w="11430">
            <a:solidFill>
              <a:srgbClr val="C7C5EC"/>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6975975" y="3157606"/>
            <a:ext cx="1980344" cy="141549"/>
          </a:xfrm>
          <a:prstGeom prst="line">
            <a:avLst/>
          </a:prstGeom>
          <a:ln w="11430">
            <a:solidFill>
              <a:srgbClr val="C7C5EC"/>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956319" y="2795869"/>
            <a:ext cx="1980343" cy="298826"/>
          </a:xfrm>
          <a:prstGeom prst="line">
            <a:avLst/>
          </a:prstGeom>
          <a:ln w="11430">
            <a:solidFill>
              <a:srgbClr val="C7C5EC"/>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8956319" y="2701503"/>
            <a:ext cx="1980343" cy="267370"/>
          </a:xfrm>
          <a:prstGeom prst="line">
            <a:avLst/>
          </a:prstGeom>
          <a:ln w="11430">
            <a:solidFill>
              <a:srgbClr val="C7C5E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956319" y="3157606"/>
            <a:ext cx="1980343" cy="125821"/>
          </a:xfrm>
          <a:prstGeom prst="line">
            <a:avLst/>
          </a:prstGeom>
          <a:ln w="11430">
            <a:solidFill>
              <a:srgbClr val="C7C5E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8956319" y="2905963"/>
            <a:ext cx="1980343" cy="440375"/>
          </a:xfrm>
          <a:prstGeom prst="line">
            <a:avLst/>
          </a:prstGeom>
          <a:ln w="11430">
            <a:solidFill>
              <a:srgbClr val="C7C5EC"/>
            </a:solidFill>
          </a:ln>
          <a:effectLst/>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6907395" y="2664378"/>
            <a:ext cx="137160" cy="137160"/>
          </a:xfrm>
          <a:prstGeom prst="ellipse">
            <a:avLst/>
          </a:prstGeom>
          <a:solidFill>
            <a:srgbClr val="F2B9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6907395" y="2853110"/>
            <a:ext cx="137160" cy="137160"/>
          </a:xfrm>
          <a:prstGeom prst="ellipse">
            <a:avLst/>
          </a:prstGeom>
          <a:solidFill>
            <a:srgbClr val="F2B9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907395" y="3041843"/>
            <a:ext cx="137160" cy="137160"/>
          </a:xfrm>
          <a:prstGeom prst="ellipse">
            <a:avLst/>
          </a:prstGeom>
          <a:solidFill>
            <a:srgbClr val="F2B9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6907395" y="3230575"/>
            <a:ext cx="137160" cy="137160"/>
          </a:xfrm>
          <a:prstGeom prst="ellipse">
            <a:avLst/>
          </a:prstGeom>
          <a:solidFill>
            <a:srgbClr val="F2B9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8887739" y="2727289"/>
            <a:ext cx="137160" cy="137160"/>
          </a:xfrm>
          <a:prstGeom prst="ellipse">
            <a:avLst/>
          </a:prstGeom>
          <a:solidFill>
            <a:srgbClr val="8A8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8887739" y="2900293"/>
            <a:ext cx="137160" cy="137160"/>
          </a:xfrm>
          <a:prstGeom prst="ellipse">
            <a:avLst/>
          </a:prstGeom>
          <a:solidFill>
            <a:srgbClr val="8A8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8887739" y="3089026"/>
            <a:ext cx="137160" cy="137160"/>
          </a:xfrm>
          <a:prstGeom prst="ellipse">
            <a:avLst/>
          </a:prstGeom>
          <a:solidFill>
            <a:srgbClr val="8A8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8887739" y="3277758"/>
            <a:ext cx="137160" cy="137160"/>
          </a:xfrm>
          <a:prstGeom prst="ellipse">
            <a:avLst/>
          </a:prstGeom>
          <a:solidFill>
            <a:srgbClr val="8A8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0868082" y="2632923"/>
            <a:ext cx="137160" cy="137160"/>
          </a:xfrm>
          <a:prstGeom prst="ellipse">
            <a:avLst/>
          </a:prstGeom>
          <a:solidFill>
            <a:srgbClr val="8A8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0868082" y="2837383"/>
            <a:ext cx="137160" cy="137160"/>
          </a:xfrm>
          <a:prstGeom prst="ellipse">
            <a:avLst/>
          </a:prstGeom>
          <a:solidFill>
            <a:srgbClr val="8A8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0868082" y="3026115"/>
            <a:ext cx="137160" cy="137160"/>
          </a:xfrm>
          <a:prstGeom prst="ellipse">
            <a:avLst/>
          </a:prstGeom>
          <a:solidFill>
            <a:srgbClr val="8A8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10868082" y="3214847"/>
            <a:ext cx="137160" cy="137160"/>
          </a:xfrm>
          <a:prstGeom prst="ellipse">
            <a:avLst/>
          </a:prstGeom>
          <a:solidFill>
            <a:srgbClr val="8A8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409047" y="2404872"/>
            <a:ext cx="1133856" cy="237744"/>
          </a:xfrm>
          <a:prstGeom prst="rect">
            <a:avLst/>
          </a:prstGeom>
          <a:noFill/>
        </p:spPr>
        <p:txBody>
          <a:bodyPr wrap="square" lIns="18288" tIns="9144" rIns="18288" bIns="9144" anchor="t">
            <a:spAutoFit/>
          </a:bodyPr>
          <a:lstStyle/>
          <a:p>
            <a:pPr algn="ctr"/>
            <a:r>
              <a:rPr sz="1050" b="0" i="0">
                <a:solidFill>
                  <a:srgbClr val="6E7A88"/>
                </a:solidFill>
                <a:latin typeface="Meiryo"/>
                <a:ea typeface="Meiryo"/>
              </a:rPr>
              <a:t>親世代</a:t>
            </a:r>
          </a:p>
        </p:txBody>
      </p:sp>
      <p:sp>
        <p:nvSpPr>
          <p:cNvPr id="54" name="TextBox 53"/>
          <p:cNvSpPr txBox="1"/>
          <p:nvPr/>
        </p:nvSpPr>
        <p:spPr>
          <a:xfrm>
            <a:off x="8389391" y="2404872"/>
            <a:ext cx="1133856" cy="237744"/>
          </a:xfrm>
          <a:prstGeom prst="rect">
            <a:avLst/>
          </a:prstGeom>
          <a:noFill/>
        </p:spPr>
        <p:txBody>
          <a:bodyPr wrap="square" lIns="18288" tIns="9144" rIns="18288" bIns="9144" anchor="t">
            <a:spAutoFit/>
          </a:bodyPr>
          <a:lstStyle/>
          <a:p>
            <a:pPr algn="ctr"/>
            <a:r>
              <a:rPr sz="1050" b="0" i="0">
                <a:solidFill>
                  <a:srgbClr val="6E7A88"/>
                </a:solidFill>
                <a:latin typeface="Meiryo"/>
                <a:ea typeface="Meiryo"/>
              </a:rPr>
              <a:t>交叉・選択</a:t>
            </a:r>
          </a:p>
        </p:txBody>
      </p:sp>
      <p:sp>
        <p:nvSpPr>
          <p:cNvPr id="55" name="TextBox 54"/>
          <p:cNvSpPr txBox="1"/>
          <p:nvPr/>
        </p:nvSpPr>
        <p:spPr>
          <a:xfrm>
            <a:off x="10369734" y="2404872"/>
            <a:ext cx="1133856" cy="237744"/>
          </a:xfrm>
          <a:prstGeom prst="rect">
            <a:avLst/>
          </a:prstGeom>
          <a:noFill/>
        </p:spPr>
        <p:txBody>
          <a:bodyPr wrap="square" lIns="18288" tIns="9144" rIns="18288" bIns="9144" anchor="t">
            <a:spAutoFit/>
          </a:bodyPr>
          <a:lstStyle/>
          <a:p>
            <a:pPr algn="ctr"/>
            <a:r>
              <a:rPr sz="1050" b="0" i="0">
                <a:solidFill>
                  <a:srgbClr val="6E7A88"/>
                </a:solidFill>
                <a:latin typeface="Meiryo"/>
                <a:ea typeface="Meiryo"/>
              </a:rPr>
              <a:t>次世代</a:t>
            </a:r>
          </a:p>
        </p:txBody>
      </p:sp>
      <p:sp>
        <p:nvSpPr>
          <p:cNvPr id="56" name="TextBox 55"/>
          <p:cNvSpPr txBox="1"/>
          <p:nvPr/>
        </p:nvSpPr>
        <p:spPr>
          <a:xfrm>
            <a:off x="6598767" y="3474720"/>
            <a:ext cx="4715103" cy="256032"/>
          </a:xfrm>
          <a:prstGeom prst="rect">
            <a:avLst/>
          </a:prstGeom>
          <a:noFill/>
        </p:spPr>
        <p:txBody>
          <a:bodyPr wrap="square" lIns="18288" tIns="9144" rIns="18288" bIns="9144" anchor="t">
            <a:spAutoFit/>
          </a:bodyPr>
          <a:lstStyle/>
          <a:p>
            <a:pPr algn="ctr"/>
            <a:r>
              <a:rPr sz="1150" b="0" i="0">
                <a:solidFill>
                  <a:srgbClr val="6E7A88"/>
                </a:solidFill>
                <a:latin typeface="Meiryo"/>
                <a:ea typeface="Meiryo"/>
              </a:rPr>
              <a:t>多数の解を保持し、組み替えて入れ替える</a:t>
            </a:r>
          </a:p>
        </p:txBody>
      </p:sp>
      <p:sp>
        <p:nvSpPr>
          <p:cNvPr id="57" name="TextBox 56"/>
          <p:cNvSpPr txBox="1"/>
          <p:nvPr/>
        </p:nvSpPr>
        <p:spPr>
          <a:xfrm>
            <a:off x="6489039" y="3803904"/>
            <a:ext cx="4934559" cy="1371600"/>
          </a:xfrm>
          <a:prstGeom prst="rect">
            <a:avLst/>
          </a:prstGeom>
          <a:noFill/>
        </p:spPr>
        <p:txBody>
          <a:bodyPr wrap="square" lIns="18288" tIns="9144" rIns="18288" bIns="9144" anchor="t">
            <a:spAutoFit/>
          </a:bodyPr>
          <a:lstStyle/>
          <a:p>
            <a:pPr>
              <a:lnSpc>
                <a:spcPct val="108000"/>
              </a:lnSpc>
              <a:spcBef>
                <a:spcPts val="0"/>
              </a:spcBef>
            </a:pPr>
            <a:r>
              <a:rPr sz="1100" b="1" i="0">
                <a:solidFill>
                  <a:srgbClr val="16385C"/>
                </a:solidFill>
                <a:latin typeface="Meiryo"/>
                <a:ea typeface="Meiryo"/>
              </a:rPr>
              <a:t>▪ </a:t>
            </a:r>
            <a:r>
              <a:rPr sz="1300" b="1" i="0">
                <a:solidFill>
                  <a:srgbClr val="16385C"/>
                </a:solidFill>
                <a:latin typeface="Meiryo"/>
                <a:ea typeface="Meiryo"/>
              </a:rPr>
              <a:t>交叉で2つの親を組み替え</a:t>
            </a:r>
            <a:r>
              <a:rPr sz="1300" b="0" i="0">
                <a:solidFill>
                  <a:srgbClr val="26303A"/>
                </a:solidFill>
                <a:latin typeface="Meiryo"/>
                <a:ea typeface="Meiryo"/>
              </a:rPr>
              <a:t>、選択で世代を更新。多様性が駆動力。</a:t>
            </a:r>
          </a:p>
          <a:p>
            <a:pPr>
              <a:lnSpc>
                <a:spcPct val="108000"/>
              </a:lnSpc>
              <a:spcBef>
                <a:spcPts val="800"/>
              </a:spcBef>
            </a:pPr>
            <a:r>
              <a:rPr sz="1100" b="1" i="0">
                <a:solidFill>
                  <a:srgbClr val="16385C"/>
                </a:solidFill>
                <a:latin typeface="Meiryo"/>
                <a:ea typeface="Meiryo"/>
              </a:rPr>
              <a:t>▪ </a:t>
            </a:r>
            <a:r>
              <a:rPr sz="1300" b="0" i="0">
                <a:solidFill>
                  <a:srgbClr val="26303A"/>
                </a:solidFill>
                <a:latin typeface="Meiryo"/>
                <a:ea typeface="Meiryo"/>
              </a:rPr>
              <a:t>個体は空間全体に散らばる ＝ 広く探せるが、</a:t>
            </a:r>
            <a:r>
              <a:rPr sz="1300" b="1" i="0">
                <a:solidFill>
                  <a:srgbClr val="16385C"/>
                </a:solidFill>
                <a:latin typeface="Meiryo"/>
                <a:ea typeface="Meiryo"/>
              </a:rPr>
              <a:t>1点からの距離は制御しない</a:t>
            </a:r>
            <a:r>
              <a:rPr sz="1300" b="0" i="0">
                <a:solidFill>
                  <a:srgbClr val="26303A"/>
                </a:solidFill>
                <a:latin typeface="Meiryo"/>
                <a:ea typeface="Meiryo"/>
              </a:rPr>
              <a:t>。</a:t>
            </a:r>
          </a:p>
          <a:p>
            <a:pPr>
              <a:lnSpc>
                <a:spcPct val="108000"/>
              </a:lnSpc>
              <a:spcBef>
                <a:spcPts val="800"/>
              </a:spcBef>
            </a:pPr>
            <a:r>
              <a:rPr sz="1100" b="1" i="0">
                <a:solidFill>
                  <a:srgbClr val="16385C"/>
                </a:solidFill>
                <a:latin typeface="Meiryo"/>
                <a:ea typeface="Meiryo"/>
              </a:rPr>
              <a:t>▪ </a:t>
            </a:r>
            <a:r>
              <a:rPr sz="1300" b="0" i="0">
                <a:solidFill>
                  <a:srgbClr val="26303A"/>
                </a:solidFill>
                <a:latin typeface="Meiryo"/>
                <a:ea typeface="Meiryo"/>
              </a:rPr>
              <a:t>代表：</a:t>
            </a:r>
            <a:r>
              <a:rPr sz="1300" b="1" i="0">
                <a:solidFill>
                  <a:srgbClr val="16385C"/>
                </a:solidFill>
                <a:latin typeface="Meiryo"/>
                <a:ea typeface="Meiryo"/>
              </a:rPr>
              <a:t>GA</a:t>
            </a:r>
            <a:r>
              <a:rPr sz="1300" b="0" i="0">
                <a:solidFill>
                  <a:srgbClr val="26303A"/>
                </a:solidFill>
                <a:latin typeface="Meiryo"/>
                <a:ea typeface="Meiryo"/>
              </a:rPr>
              <a:t>・</a:t>
            </a:r>
            <a:r>
              <a:rPr sz="1300" b="1" i="0">
                <a:solidFill>
                  <a:srgbClr val="16385C"/>
                </a:solidFill>
                <a:latin typeface="Meiryo"/>
                <a:ea typeface="Meiryo"/>
              </a:rPr>
              <a:t>Memetic（GA＋局所探索）</a:t>
            </a:r>
          </a:p>
        </p:txBody>
      </p:sp>
      <p:sp>
        <p:nvSpPr>
          <p:cNvPr id="58" name="Rectangle 57"/>
          <p:cNvSpPr/>
          <p:nvPr/>
        </p:nvSpPr>
        <p:spPr>
          <a:xfrm>
            <a:off x="566928" y="5404104"/>
            <a:ext cx="11057839" cy="694944"/>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566928" y="5404104"/>
            <a:ext cx="54864" cy="694944"/>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68096" y="5404104"/>
            <a:ext cx="10746943" cy="694944"/>
          </a:xfrm>
          <a:prstGeom prst="rect">
            <a:avLst/>
          </a:prstGeom>
          <a:noFill/>
        </p:spPr>
        <p:txBody>
          <a:bodyPr wrap="square" lIns="18288" tIns="9144" rIns="18288" bIns="9144" anchor="ctr">
            <a:spAutoFit/>
          </a:bodyPr>
          <a:lstStyle/>
          <a:p>
            <a:pPr>
              <a:lnSpc>
                <a:spcPct val="104000"/>
              </a:lnSpc>
            </a:pPr>
            <a:r>
              <a:rPr sz="1300" b="0" i="0">
                <a:solidFill>
                  <a:srgbClr val="26303A"/>
                </a:solidFill>
                <a:latin typeface="Meiryo"/>
                <a:ea typeface="Meiryo"/>
              </a:rPr>
              <a:t>本研究は両系統の代表として </a:t>
            </a:r>
            <a:r>
              <a:rPr sz="1300" b="1" i="0">
                <a:solidFill>
                  <a:srgbClr val="16385C"/>
                </a:solidFill>
                <a:latin typeface="Meiryo"/>
                <a:ea typeface="Meiryo"/>
              </a:rPr>
              <a:t>ILS（軌道）</a:t>
            </a:r>
            <a:r>
              <a:rPr sz="1300" b="0" i="0">
                <a:solidFill>
                  <a:srgbClr val="26303A"/>
                </a:solidFill>
                <a:latin typeface="Meiryo"/>
                <a:ea typeface="Meiryo"/>
              </a:rPr>
              <a:t> と </a:t>
            </a:r>
            <a:r>
              <a:rPr sz="1300" b="1" i="0">
                <a:solidFill>
                  <a:srgbClr val="16385C"/>
                </a:solidFill>
                <a:latin typeface="Meiryo"/>
                <a:ea typeface="Meiryo"/>
              </a:rPr>
              <a:t>Memetic（集団）</a:t>
            </a:r>
            <a:r>
              <a:rPr sz="1300" b="0" i="0">
                <a:solidFill>
                  <a:srgbClr val="26303A"/>
                </a:solidFill>
                <a:latin typeface="Meiryo"/>
                <a:ea typeface="Meiryo"/>
              </a:rPr>
              <a:t> を採り、局所探索 </a:t>
            </a:r>
            <a:r>
              <a:rPr sz="1300" b="1" i="0">
                <a:solidFill>
                  <a:srgbClr val="16385C"/>
                </a:solidFill>
                <a:latin typeface="Meiryo"/>
                <a:ea typeface="Meiryo"/>
              </a:rPr>
              <a:t>N5</a:t>
            </a:r>
            <a:r>
              <a:rPr sz="1300" b="0" i="0">
                <a:solidFill>
                  <a:srgbClr val="26303A"/>
                </a:solidFill>
                <a:latin typeface="Meiryo"/>
                <a:ea typeface="Meiryo"/>
              </a:rPr>
              <a:t> を両者で揃える → 観測される差を</a:t>
            </a:r>
            <a:r>
              <a:rPr sz="1300" b="1" i="0">
                <a:solidFill>
                  <a:srgbClr val="16385C"/>
                </a:solidFill>
                <a:latin typeface="Meiryo"/>
                <a:ea typeface="Meiryo"/>
              </a:rPr>
              <a:t>探索構造だけ</a:t>
            </a:r>
            <a:r>
              <a:rPr sz="1300" b="0" i="0">
                <a:solidFill>
                  <a:srgbClr val="26303A"/>
                </a:solidFill>
                <a:latin typeface="Meiryo"/>
                <a:ea typeface="Meiryo"/>
              </a:rPr>
              <a:t>に帰属させる。</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3.2 再スケジューリングでの効き方の違い</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66928" y="1060704"/>
            <a:ext cx="59436" cy="310896"/>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042415"/>
            <a:ext cx="10856671" cy="384048"/>
          </a:xfrm>
          <a:prstGeom prst="rect">
            <a:avLst/>
          </a:prstGeom>
          <a:noFill/>
        </p:spPr>
        <p:txBody>
          <a:bodyPr wrap="square" lIns="18288" tIns="9144" rIns="18288" bIns="9144" anchor="ctr">
            <a:spAutoFit/>
          </a:bodyPr>
          <a:lstStyle/>
          <a:p>
            <a:pPr>
              <a:lnSpc>
                <a:spcPct val="100000"/>
              </a:lnSpc>
            </a:pPr>
            <a:r>
              <a:rPr sz="1500" b="1" i="1">
                <a:solidFill>
                  <a:srgbClr val="16385C"/>
                </a:solidFill>
                <a:latin typeface="Meiryo"/>
                <a:ea typeface="Meiryo"/>
              </a:rPr>
              <a:t>S</a:t>
            </a:r>
            <a:r>
              <a:rPr sz="1080" b="1" i="1" baseline="-22000">
                <a:solidFill>
                  <a:srgbClr val="16385C"/>
                </a:solidFill>
                <a:latin typeface="Meiryo"/>
                <a:ea typeface="Meiryo"/>
              </a:rPr>
              <a:t>p</a:t>
            </a:r>
            <a:r>
              <a:rPr sz="1500" b="1" i="0">
                <a:solidFill>
                  <a:srgbClr val="16385C"/>
                </a:solidFill>
                <a:latin typeface="Meiryo"/>
                <a:ea typeface="Meiryo"/>
              </a:rPr>
              <a:t> が既にある再スケでは、「</a:t>
            </a:r>
            <a:r>
              <a:rPr sz="1500" b="1" i="1">
                <a:solidFill>
                  <a:srgbClr val="16385C"/>
                </a:solidFill>
                <a:latin typeface="Meiryo"/>
                <a:ea typeface="Meiryo"/>
              </a:rPr>
              <a:t>S</a:t>
            </a:r>
            <a:r>
              <a:rPr sz="1080" b="1" i="1" baseline="-22000">
                <a:solidFill>
                  <a:srgbClr val="16385C"/>
                </a:solidFill>
                <a:latin typeface="Meiryo"/>
                <a:ea typeface="Meiryo"/>
              </a:rPr>
              <a:t>p</a:t>
            </a:r>
            <a:r>
              <a:rPr sz="1500" b="1" i="0">
                <a:solidFill>
                  <a:srgbClr val="16385C"/>
                </a:solidFill>
                <a:latin typeface="Meiryo"/>
                <a:ea typeface="Meiryo"/>
              </a:rPr>
              <a:t> からどれだけ離れたか」を制御できるか否かが決定的に効く</a:t>
            </a:r>
          </a:p>
        </p:txBody>
      </p:sp>
      <p:sp>
        <p:nvSpPr>
          <p:cNvPr id="6" name="TextBox 5"/>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3. 探索構造と提案手法</a:t>
            </a:r>
          </a:p>
        </p:txBody>
      </p:sp>
      <p:sp>
        <p:nvSpPr>
          <p:cNvPr id="7" name="TextBox 6"/>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9</a:t>
            </a:r>
          </a:p>
        </p:txBody>
      </p:sp>
      <p:pic>
        <p:nvPicPr>
          <p:cNvPr id="8" name="Picture 7" descr="concept_2struct.png"/>
          <p:cNvPicPr>
            <a:picLocks noChangeAspect="1"/>
          </p:cNvPicPr>
          <p:nvPr/>
        </p:nvPicPr>
        <p:blipFill>
          <a:blip r:embed="rId2"/>
          <a:stretch>
            <a:fillRect/>
          </a:stretch>
        </p:blipFill>
        <p:spPr>
          <a:xfrm>
            <a:off x="566928" y="1645920"/>
            <a:ext cx="5504531" cy="3020779"/>
          </a:xfrm>
          <a:prstGeom prst="rect">
            <a:avLst/>
          </a:prstGeom>
        </p:spPr>
      </p:pic>
      <p:sp>
        <p:nvSpPr>
          <p:cNvPr id="9" name="TextBox 8"/>
          <p:cNvSpPr txBox="1"/>
          <p:nvPr/>
        </p:nvSpPr>
        <p:spPr>
          <a:xfrm>
            <a:off x="566928" y="4694131"/>
            <a:ext cx="5504531" cy="274320"/>
          </a:xfrm>
          <a:prstGeom prst="rect">
            <a:avLst/>
          </a:prstGeom>
          <a:noFill/>
        </p:spPr>
        <p:txBody>
          <a:bodyPr wrap="square" lIns="18288" tIns="9144" rIns="18288" bIns="9144" anchor="t">
            <a:spAutoFit/>
          </a:bodyPr>
          <a:lstStyle/>
          <a:p>
            <a:pPr algn="ctr"/>
            <a:r>
              <a:rPr sz="1050" b="0" i="0">
                <a:solidFill>
                  <a:srgbClr val="6E7A88"/>
                </a:solidFill>
                <a:latin typeface="Meiryo"/>
                <a:ea typeface="Meiryo"/>
              </a:rPr>
              <a:t>集団は交叉で子が </a:t>
            </a:r>
            <a:r>
              <a:rPr sz="1050" b="0" i="1">
                <a:solidFill>
                  <a:srgbClr val="6E7A88"/>
                </a:solidFill>
                <a:latin typeface="Meiryo"/>
                <a:ea typeface="Meiryo"/>
              </a:rPr>
              <a:t>S</a:t>
            </a:r>
            <a:r>
              <a:rPr sz="756" b="0" i="1" baseline="-22000">
                <a:solidFill>
                  <a:srgbClr val="6E7A88"/>
                </a:solidFill>
                <a:latin typeface="Meiryo"/>
                <a:ea typeface="Meiryo"/>
              </a:rPr>
              <a:t>p</a:t>
            </a:r>
            <a:r>
              <a:rPr sz="1050" b="0" i="0">
                <a:solidFill>
                  <a:srgbClr val="6E7A88"/>
                </a:solidFill>
                <a:latin typeface="Meiryo"/>
                <a:ea typeface="Meiryo"/>
              </a:rPr>
              <a:t> から飛散（左）／軌道は連続変形で </a:t>
            </a:r>
            <a:r>
              <a:rPr sz="1050" b="0" i="1">
                <a:solidFill>
                  <a:srgbClr val="6E7A88"/>
                </a:solidFill>
                <a:latin typeface="Meiryo"/>
                <a:ea typeface="Meiryo"/>
              </a:rPr>
              <a:t>S</a:t>
            </a:r>
            <a:r>
              <a:rPr sz="756" b="0" i="1" baseline="-22000">
                <a:solidFill>
                  <a:srgbClr val="6E7A88"/>
                </a:solidFill>
                <a:latin typeface="Meiryo"/>
                <a:ea typeface="Meiryo"/>
              </a:rPr>
              <a:t>p</a:t>
            </a:r>
            <a:r>
              <a:rPr sz="1050" b="0" i="0">
                <a:solidFill>
                  <a:srgbClr val="6E7A88"/>
                </a:solidFill>
                <a:latin typeface="Meiryo"/>
                <a:ea typeface="Meiryo"/>
              </a:rPr>
              <a:t> 近傍を充填（右）</a:t>
            </a:r>
          </a:p>
        </p:txBody>
      </p:sp>
      <p:sp>
        <p:nvSpPr>
          <p:cNvPr id="10" name="TextBox 9"/>
          <p:cNvSpPr txBox="1"/>
          <p:nvPr/>
        </p:nvSpPr>
        <p:spPr>
          <a:xfrm>
            <a:off x="6382355" y="1645920"/>
            <a:ext cx="5242411"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軌道ベース＝本研究では ILS（反復局所探索）を採用</a:t>
            </a:r>
            <a:r>
              <a:rPr sz="1550" b="0" i="0">
                <a:solidFill>
                  <a:srgbClr val="26303A"/>
                </a:solidFill>
                <a:latin typeface="Meiryo"/>
                <a:ea typeface="Meiryo"/>
              </a:rPr>
              <a:t>：深掘り(局所探索)と脱出(摂動)が分離 → </a:t>
            </a:r>
            <a:r>
              <a:rPr sz="1550" b="1" i="0">
                <a:solidFill>
                  <a:srgbClr val="16385C"/>
                </a:solidFill>
                <a:latin typeface="Meiryo"/>
                <a:ea typeface="Meiryo"/>
              </a:rPr>
              <a:t>摂動強度＝</a:t>
            </a:r>
            <a:r>
              <a:rPr sz="1550" b="1" i="1">
                <a:solidFill>
                  <a:srgbClr val="16385C"/>
                </a:solidFill>
                <a:latin typeface="Meiryo"/>
                <a:ea typeface="Meiryo"/>
              </a:rPr>
              <a:t>S</a:t>
            </a:r>
            <a:r>
              <a:rPr sz="1116" b="1" i="1" baseline="-22000">
                <a:solidFill>
                  <a:srgbClr val="16385C"/>
                </a:solidFill>
                <a:latin typeface="Meiryo"/>
                <a:ea typeface="Meiryo"/>
              </a:rPr>
              <a:t>p</a:t>
            </a:r>
            <a:r>
              <a:rPr sz="1550" b="1" i="0">
                <a:solidFill>
                  <a:srgbClr val="16385C"/>
                </a:solidFill>
                <a:latin typeface="Meiryo"/>
                <a:ea typeface="Meiryo"/>
              </a:rPr>
              <a:t> からの距離</a:t>
            </a:r>
            <a:r>
              <a:rPr sz="1550" b="0" i="0">
                <a:solidFill>
                  <a:srgbClr val="26303A"/>
                </a:solidFill>
                <a:latin typeface="Meiryo"/>
                <a:ea typeface="Meiryo"/>
              </a:rPr>
              <a:t>を直接制御でき、</a:t>
            </a:r>
            <a:r>
              <a:rPr sz="1550" b="0" i="1">
                <a:solidFill>
                  <a:srgbClr val="26303A"/>
                </a:solidFill>
                <a:latin typeface="Meiryo"/>
                <a:ea typeface="Meiryo"/>
              </a:rPr>
              <a:t>S</a:t>
            </a:r>
            <a:r>
              <a:rPr sz="1116" b="0" i="1" baseline="-22000">
                <a:solidFill>
                  <a:srgbClr val="26303A"/>
                </a:solidFill>
                <a:latin typeface="Meiryo"/>
                <a:ea typeface="Meiryo"/>
              </a:rPr>
              <a:t>p</a:t>
            </a:r>
            <a:r>
              <a:rPr sz="1550" b="0" i="0">
                <a:solidFill>
                  <a:srgbClr val="26303A"/>
                </a:solidFill>
                <a:latin typeface="Meiryo"/>
                <a:ea typeface="Meiryo"/>
              </a:rPr>
              <a:t> を起点に近傍を塗りつぶせる。</a:t>
            </a:r>
          </a:p>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集団ベース＝本研究では Memetic（GA＋N5 局所探索）を採用</a:t>
            </a:r>
            <a:r>
              <a:rPr sz="1550" b="0" i="0">
                <a:solidFill>
                  <a:srgbClr val="26303A"/>
                </a:solidFill>
                <a:latin typeface="Meiryo"/>
                <a:ea typeface="Meiryo"/>
              </a:rPr>
              <a:t>：</a:t>
            </a:r>
            <a:r>
              <a:rPr sz="1550" b="1" i="0">
                <a:solidFill>
                  <a:srgbClr val="16385C"/>
                </a:solidFill>
                <a:latin typeface="Meiryo"/>
                <a:ea typeface="Meiryo"/>
              </a:rPr>
              <a:t>交叉は2親を切り貼りする破壊的操作</a:t>
            </a:r>
            <a:r>
              <a:rPr sz="1550" b="0" i="0">
                <a:solidFill>
                  <a:srgbClr val="26303A"/>
                </a:solidFill>
                <a:latin typeface="Meiryo"/>
                <a:ea typeface="Meiryo"/>
              </a:rPr>
              <a:t>。子個体は </a:t>
            </a:r>
            <a:r>
              <a:rPr sz="1550" b="0" i="1">
                <a:solidFill>
                  <a:srgbClr val="26303A"/>
                </a:solidFill>
                <a:latin typeface="Meiryo"/>
                <a:ea typeface="Meiryo"/>
              </a:rPr>
              <a:t>S</a:t>
            </a:r>
            <a:r>
              <a:rPr sz="1116" b="0" i="1" baseline="-22000">
                <a:solidFill>
                  <a:srgbClr val="26303A"/>
                </a:solidFill>
                <a:latin typeface="Meiryo"/>
                <a:ea typeface="Meiryo"/>
              </a:rPr>
              <a:t>p</a:t>
            </a:r>
            <a:r>
              <a:rPr sz="1550" b="0" i="0">
                <a:solidFill>
                  <a:srgbClr val="26303A"/>
                </a:solidFill>
                <a:latin typeface="Meiryo"/>
                <a:ea typeface="Meiryo"/>
              </a:rPr>
              <a:t> 近傍から飛散し、そこに留まる仕組みを持たない。</a:t>
            </a:r>
          </a:p>
          <a:p>
            <a:pPr>
              <a:lnSpc>
                <a:spcPct val="106000"/>
              </a:lnSpc>
              <a:spcBef>
                <a:spcPts val="700"/>
              </a:spcBef>
            </a:pPr>
            <a:r>
              <a:rPr sz="1200" b="1" i="0">
                <a:solidFill>
                  <a:srgbClr val="16385C"/>
                </a:solidFill>
                <a:latin typeface="Meiryo"/>
                <a:ea typeface="Meiryo"/>
              </a:rPr>
              <a:t>▪ </a:t>
            </a:r>
            <a:r>
              <a:rPr sz="1550" b="0" i="0">
                <a:solidFill>
                  <a:srgbClr val="26303A"/>
                </a:solidFill>
                <a:latin typeface="Meiryo"/>
                <a:ea typeface="Meiryo"/>
              </a:rPr>
              <a:t>局所探索 N5[1] は両者で共有（統制）→ 充填力の差は</a:t>
            </a:r>
            <a:r>
              <a:rPr sz="1550" b="1" i="0">
                <a:solidFill>
                  <a:srgbClr val="16385C"/>
                </a:solidFill>
                <a:latin typeface="Meiryo"/>
                <a:ea typeface="Meiryo"/>
              </a:rPr>
              <a:t>交叉の有無＝探索構造</a:t>
            </a:r>
            <a:r>
              <a:rPr sz="1550" b="0" i="0">
                <a:solidFill>
                  <a:srgbClr val="26303A"/>
                </a:solidFill>
                <a:latin typeface="Meiryo"/>
                <a:ea typeface="Meiryo"/>
              </a:rPr>
              <a:t>だけに帰属する。</a:t>
            </a:r>
          </a:p>
        </p:txBody>
      </p:sp>
      <p:sp>
        <p:nvSpPr>
          <p:cNvPr id="11" name="Rounded Rectangle 10"/>
          <p:cNvSpPr/>
          <p:nvPr/>
        </p:nvSpPr>
        <p:spPr>
          <a:xfrm>
            <a:off x="566928" y="5504688"/>
            <a:ext cx="11057839" cy="786384"/>
          </a:xfrm>
          <a:prstGeom prst="roundRect">
            <a:avLst>
              <a:gd name="adj" fmla="val 5000"/>
            </a:avLst>
          </a:prstGeom>
          <a:solidFill>
            <a:srgbClr val="1231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49808" y="5705855"/>
            <a:ext cx="2148840" cy="384048"/>
          </a:xfrm>
          <a:prstGeom prst="roundRect">
            <a:avLst>
              <a:gd name="adj" fmla="val 2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00000"/>
              </a:lnSpc>
            </a:pPr>
            <a:r>
              <a:rPr sz="1300" b="1" i="0">
                <a:solidFill>
                  <a:srgbClr val="123150"/>
                </a:solidFill>
                <a:latin typeface="Meiryo"/>
                <a:ea typeface="Meiryo"/>
              </a:rPr>
              <a:t>仮説 H1（適合性）</a:t>
            </a:r>
          </a:p>
        </p:txBody>
      </p:sp>
      <p:sp>
        <p:nvSpPr>
          <p:cNvPr id="13" name="TextBox 12"/>
          <p:cNvSpPr txBox="1"/>
          <p:nvPr/>
        </p:nvSpPr>
        <p:spPr>
          <a:xfrm>
            <a:off x="3054096" y="5504688"/>
            <a:ext cx="8387791" cy="786384"/>
          </a:xfrm>
          <a:prstGeom prst="rect">
            <a:avLst/>
          </a:prstGeom>
          <a:noFill/>
        </p:spPr>
        <p:txBody>
          <a:bodyPr wrap="square" lIns="18288" tIns="9144" rIns="18288" bIns="9144" anchor="ctr">
            <a:spAutoFit/>
          </a:bodyPr>
          <a:lstStyle/>
          <a:p>
            <a:pPr>
              <a:lnSpc>
                <a:spcPct val="106000"/>
              </a:lnSpc>
            </a:pPr>
            <a:r>
              <a:rPr sz="1500" b="0" i="0">
                <a:solidFill>
                  <a:srgbClr val="FFFFFF"/>
                </a:solidFill>
                <a:latin typeface="Meiryo"/>
                <a:ea typeface="Meiryo"/>
              </a:rPr>
              <a:t>同じ局所探索を積んでも、</a:t>
            </a:r>
            <a:r>
              <a:rPr sz="1500" b="1" i="0">
                <a:solidFill>
                  <a:srgbClr val="FFD98A"/>
                </a:solidFill>
                <a:latin typeface="Meiryo"/>
                <a:ea typeface="Meiryo"/>
              </a:rPr>
              <a:t>軌道ベース</a:t>
            </a:r>
            <a:r>
              <a:rPr sz="1500" b="0" i="0">
                <a:solidFill>
                  <a:srgbClr val="FFFFFF"/>
                </a:solidFill>
                <a:latin typeface="Meiryo"/>
                <a:ea typeface="Meiryo"/>
              </a:rPr>
              <a:t>は高安定領域（</a:t>
            </a:r>
            <a:r>
              <a:rPr sz="1500" b="0" i="1">
                <a:solidFill>
                  <a:srgbClr val="FFFFFF"/>
                </a:solidFill>
                <a:latin typeface="Meiryo"/>
                <a:ea typeface="Meiryo"/>
              </a:rPr>
              <a:t>S</a:t>
            </a:r>
            <a:r>
              <a:rPr sz="1080" b="0" i="1" baseline="-22000">
                <a:solidFill>
                  <a:srgbClr val="FFFFFF"/>
                </a:solidFill>
                <a:latin typeface="Meiryo"/>
                <a:ea typeface="Meiryo"/>
              </a:rPr>
              <a:t>p</a:t>
            </a:r>
            <a:r>
              <a:rPr sz="1500" b="0" i="0">
                <a:solidFill>
                  <a:srgbClr val="FFFFFF"/>
                </a:solidFill>
                <a:latin typeface="Meiryo"/>
                <a:ea typeface="Meiryo"/>
              </a:rPr>
              <a:t> 近傍）を充填でき、</a:t>
            </a:r>
            <a:r>
              <a:rPr sz="1500" b="1" i="0">
                <a:solidFill>
                  <a:srgbClr val="FFD98A"/>
                </a:solidFill>
                <a:latin typeface="Meiryo"/>
                <a:ea typeface="Meiryo"/>
              </a:rPr>
              <a:t>集団ベース</a:t>
            </a:r>
            <a:r>
              <a:rPr sz="1500" b="0" i="0">
                <a:solidFill>
                  <a:srgbClr val="FFFFFF"/>
                </a:solidFill>
                <a:latin typeface="Meiryo"/>
                <a:ea typeface="Meiryo"/>
              </a:rPr>
              <a:t>は構造的に粗い。</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3.3 安定性誘導演算子 — PR・repair</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66928" y="1060704"/>
            <a:ext cx="59436" cy="310896"/>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042415"/>
            <a:ext cx="10856671" cy="384048"/>
          </a:xfrm>
          <a:prstGeom prst="rect">
            <a:avLst/>
          </a:prstGeom>
          <a:noFill/>
        </p:spPr>
        <p:txBody>
          <a:bodyPr wrap="square" lIns="18288" tIns="9144" rIns="18288" bIns="9144" anchor="ctr">
            <a:spAutoFit/>
          </a:bodyPr>
          <a:lstStyle/>
          <a:p>
            <a:pPr>
              <a:lnSpc>
                <a:spcPct val="100000"/>
              </a:lnSpc>
            </a:pPr>
            <a:r>
              <a:rPr sz="1500" b="1" i="0">
                <a:solidFill>
                  <a:srgbClr val="16385C"/>
                </a:solidFill>
                <a:latin typeface="Meiryo"/>
                <a:ea typeface="Meiryo"/>
              </a:rPr>
              <a:t>解を「安定性アンカー」</a:t>
            </a:r>
            <a:r>
              <a:rPr sz="1500" b="1" i="1">
                <a:solidFill>
                  <a:srgbClr val="16385C"/>
                </a:solidFill>
                <a:latin typeface="Meiryo"/>
                <a:ea typeface="Meiryo"/>
              </a:rPr>
              <a:t>S</a:t>
            </a:r>
            <a:r>
              <a:rPr sz="1080" b="1" i="1" baseline="-22000">
                <a:solidFill>
                  <a:srgbClr val="16385C"/>
                </a:solidFill>
                <a:latin typeface="Meiryo"/>
                <a:ea typeface="Meiryo"/>
              </a:rPr>
              <a:t>p</a:t>
            </a:r>
            <a:r>
              <a:rPr sz="1500" b="1" i="0">
                <a:solidFill>
                  <a:srgbClr val="16385C"/>
                </a:solidFill>
                <a:latin typeface="Meiryo"/>
                <a:ea typeface="Meiryo"/>
              </a:rPr>
              <a:t> へ能動的に引き寄せる移動を演算子として実装し、同一演算子を両ホストへ載せる</a:t>
            </a:r>
          </a:p>
        </p:txBody>
      </p:sp>
      <p:sp>
        <p:nvSpPr>
          <p:cNvPr id="6" name="TextBox 5"/>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3. 探索構造と提案手法</a:t>
            </a:r>
          </a:p>
        </p:txBody>
      </p:sp>
      <p:sp>
        <p:nvSpPr>
          <p:cNvPr id="7" name="TextBox 6"/>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10</a:t>
            </a:r>
          </a:p>
        </p:txBody>
      </p:sp>
      <p:pic>
        <p:nvPicPr>
          <p:cNvPr id="8" name="Picture 7" descr="concept_direct_swap.png"/>
          <p:cNvPicPr>
            <a:picLocks noChangeAspect="1"/>
          </p:cNvPicPr>
          <p:nvPr/>
        </p:nvPicPr>
        <p:blipFill>
          <a:blip r:embed="rId2"/>
          <a:stretch>
            <a:fillRect/>
          </a:stretch>
        </p:blipFill>
        <p:spPr>
          <a:xfrm>
            <a:off x="765683" y="1645920"/>
            <a:ext cx="5107021" cy="3429000"/>
          </a:xfrm>
          <a:prstGeom prst="rect">
            <a:avLst/>
          </a:prstGeom>
        </p:spPr>
      </p:pic>
      <p:sp>
        <p:nvSpPr>
          <p:cNvPr id="9" name="TextBox 8"/>
          <p:cNvSpPr txBox="1"/>
          <p:nvPr/>
        </p:nvSpPr>
        <p:spPr>
          <a:xfrm>
            <a:off x="6382355" y="1645920"/>
            <a:ext cx="5242411"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0" i="0">
                <a:solidFill>
                  <a:srgbClr val="26303A"/>
                </a:solidFill>
                <a:latin typeface="Meiryo"/>
                <a:ea typeface="Meiryo"/>
              </a:rPr>
              <a:t>集団ベースが </a:t>
            </a:r>
            <a:r>
              <a:rPr sz="1550" b="0" i="1">
                <a:solidFill>
                  <a:srgbClr val="26303A"/>
                </a:solidFill>
                <a:latin typeface="Meiryo"/>
                <a:ea typeface="Meiryo"/>
              </a:rPr>
              <a:t>S</a:t>
            </a:r>
            <a:r>
              <a:rPr sz="1116" b="0" i="1" baseline="-22000">
                <a:solidFill>
                  <a:srgbClr val="26303A"/>
                </a:solidFill>
                <a:latin typeface="Meiryo"/>
                <a:ea typeface="Meiryo"/>
              </a:rPr>
              <a:t>p</a:t>
            </a:r>
            <a:r>
              <a:rPr sz="1550" b="0" i="0">
                <a:solidFill>
                  <a:srgbClr val="26303A"/>
                </a:solidFill>
                <a:latin typeface="Meiryo"/>
                <a:ea typeface="Meiryo"/>
              </a:rPr>
              <a:t> から遠い解を多数抱える性質は、逆に</a:t>
            </a:r>
            <a:r>
              <a:rPr sz="1550" b="1" i="0">
                <a:solidFill>
                  <a:srgbClr val="16385C"/>
                </a:solidFill>
                <a:latin typeface="Meiryo"/>
                <a:ea typeface="Meiryo"/>
              </a:rPr>
              <a:t>引き戻す演算子が働く土壌</a:t>
            </a:r>
            <a:r>
              <a:rPr sz="1550" b="0" i="0">
                <a:solidFill>
                  <a:srgbClr val="26303A"/>
                </a:solidFill>
                <a:latin typeface="Meiryo"/>
                <a:ea typeface="Meiryo"/>
              </a:rPr>
              <a:t>になる。</a:t>
            </a:r>
          </a:p>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PR（Path Relinking）</a:t>
            </a:r>
            <a:r>
              <a:rPr sz="1550" b="0" i="0">
                <a:solidFill>
                  <a:srgbClr val="26303A"/>
                </a:solidFill>
                <a:latin typeface="Meiryo"/>
                <a:ea typeface="Meiryo"/>
              </a:rPr>
              <a:t>[5]：現在解→</a:t>
            </a:r>
            <a:r>
              <a:rPr sz="1550" b="0" i="1">
                <a:solidFill>
                  <a:srgbClr val="26303A"/>
                </a:solidFill>
                <a:latin typeface="Meiryo"/>
                <a:ea typeface="Meiryo"/>
              </a:rPr>
              <a:t>S</a:t>
            </a:r>
            <a:r>
              <a:rPr sz="1116" b="0" i="1" baseline="-22000">
                <a:solidFill>
                  <a:srgbClr val="26303A"/>
                </a:solidFill>
                <a:latin typeface="Meiryo"/>
                <a:ea typeface="Meiryo"/>
              </a:rPr>
              <a:t>p</a:t>
            </a:r>
            <a:r>
              <a:rPr sz="1550" b="0" i="0">
                <a:solidFill>
                  <a:srgbClr val="26303A"/>
                </a:solidFill>
                <a:latin typeface="Meiryo"/>
                <a:ea typeface="Meiryo"/>
              </a:rPr>
              <a:t> の経路を swap で辿り経路上最良解を返す。評価回数は </a:t>
            </a:r>
            <a:r>
              <a:rPr sz="1550" b="1" i="1">
                <a:solidFill>
                  <a:srgbClr val="16385C"/>
                </a:solidFill>
                <a:latin typeface="Meiryo"/>
                <a:ea typeface="Meiryo"/>
              </a:rPr>
              <a:t>O(d)</a:t>
            </a:r>
            <a:r>
              <a:rPr sz="1550" b="0" i="0">
                <a:solidFill>
                  <a:srgbClr val="26303A"/>
                </a:solidFill>
                <a:latin typeface="Meiryo"/>
                <a:ea typeface="Meiryo"/>
              </a:rPr>
              <a:t>（</a:t>
            </a:r>
            <a:r>
              <a:rPr sz="1550" b="0" i="1">
                <a:solidFill>
                  <a:srgbClr val="26303A"/>
                </a:solidFill>
                <a:latin typeface="Meiryo"/>
                <a:ea typeface="Meiryo"/>
              </a:rPr>
              <a:t>d</a:t>
            </a:r>
            <a:r>
              <a:rPr sz="1550" b="0" i="0">
                <a:solidFill>
                  <a:srgbClr val="26303A"/>
                </a:solidFill>
                <a:latin typeface="Meiryo"/>
                <a:ea typeface="Meiryo"/>
              </a:rPr>
              <a:t>=不一致数）。</a:t>
            </a:r>
          </a:p>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repair（Mini-PR kick）</a:t>
            </a:r>
            <a:r>
              <a:rPr sz="1550" b="0" i="0">
                <a:solidFill>
                  <a:srgbClr val="26303A"/>
                </a:solidFill>
                <a:latin typeface="Meiryo"/>
                <a:ea typeface="Meiryo"/>
              </a:rPr>
              <a:t>：PR を数手で打ち切り </a:t>
            </a:r>
            <a:r>
              <a:rPr sz="1550" b="0" i="1">
                <a:solidFill>
                  <a:srgbClr val="26303A"/>
                </a:solidFill>
                <a:latin typeface="Meiryo"/>
                <a:ea typeface="Meiryo"/>
              </a:rPr>
              <a:t>S</a:t>
            </a:r>
            <a:r>
              <a:rPr sz="1116" b="0" i="1" baseline="-22000">
                <a:solidFill>
                  <a:srgbClr val="26303A"/>
                </a:solidFill>
                <a:latin typeface="Meiryo"/>
                <a:ea typeface="Meiryo"/>
              </a:rPr>
              <a:t>p</a:t>
            </a:r>
            <a:r>
              <a:rPr sz="1550" b="0" i="0">
                <a:solidFill>
                  <a:srgbClr val="26303A"/>
                </a:solidFill>
                <a:latin typeface="Meiryo"/>
                <a:ea typeface="Meiryo"/>
              </a:rPr>
              <a:t> 方向へ引き戻し、局所探索で再最適化。深さで安定側フロントを面で覆う。</a:t>
            </a:r>
          </a:p>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両ホストに載るのは同一演算子</a:t>
            </a:r>
            <a:r>
              <a:rPr sz="1550" b="0" i="0">
                <a:solidFill>
                  <a:srgbClr val="26303A"/>
                </a:solidFill>
                <a:latin typeface="Meiryo"/>
                <a:ea typeface="Meiryo"/>
              </a:rPr>
              <a:t>。違うのは発動法だけ：軌道＝停滞時の摂動／集団＝個体ごとの精緻化。</a:t>
            </a:r>
          </a:p>
        </p:txBody>
      </p:sp>
      <p:sp>
        <p:nvSpPr>
          <p:cNvPr id="10" name="Rounded Rectangle 9"/>
          <p:cNvSpPr/>
          <p:nvPr/>
        </p:nvSpPr>
        <p:spPr>
          <a:xfrm>
            <a:off x="566928" y="5504688"/>
            <a:ext cx="11057839" cy="786384"/>
          </a:xfrm>
          <a:prstGeom prst="roundRect">
            <a:avLst>
              <a:gd name="adj" fmla="val 5000"/>
            </a:avLst>
          </a:prstGeom>
          <a:solidFill>
            <a:srgbClr val="1231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49808" y="5705855"/>
            <a:ext cx="2148840" cy="384048"/>
          </a:xfrm>
          <a:prstGeom prst="roundRect">
            <a:avLst>
              <a:gd name="adj" fmla="val 2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00000"/>
              </a:lnSpc>
            </a:pPr>
            <a:r>
              <a:rPr sz="1300" b="1" i="0">
                <a:solidFill>
                  <a:srgbClr val="123150"/>
                </a:solidFill>
                <a:latin typeface="Meiryo"/>
                <a:ea typeface="Meiryo"/>
              </a:rPr>
              <a:t>仮説 H2（補完・非対称）</a:t>
            </a:r>
          </a:p>
        </p:txBody>
      </p:sp>
      <p:sp>
        <p:nvSpPr>
          <p:cNvPr id="12" name="TextBox 11"/>
          <p:cNvSpPr txBox="1"/>
          <p:nvPr/>
        </p:nvSpPr>
        <p:spPr>
          <a:xfrm>
            <a:off x="3054096" y="5504688"/>
            <a:ext cx="8387791" cy="786384"/>
          </a:xfrm>
          <a:prstGeom prst="rect">
            <a:avLst/>
          </a:prstGeom>
          <a:noFill/>
        </p:spPr>
        <p:txBody>
          <a:bodyPr wrap="square" lIns="18288" tIns="9144" rIns="18288" bIns="9144" anchor="ctr">
            <a:spAutoFit/>
          </a:bodyPr>
          <a:lstStyle/>
          <a:p>
            <a:pPr>
              <a:lnSpc>
                <a:spcPct val="106000"/>
              </a:lnSpc>
            </a:pPr>
            <a:r>
              <a:rPr sz="1500" b="0" i="1">
                <a:solidFill>
                  <a:srgbClr val="FFFFFF"/>
                </a:solidFill>
                <a:latin typeface="Meiryo"/>
                <a:ea typeface="Meiryo"/>
              </a:rPr>
              <a:t>S</a:t>
            </a:r>
            <a:r>
              <a:rPr sz="1080" b="0" i="1" baseline="-22000">
                <a:solidFill>
                  <a:srgbClr val="FFFFFF"/>
                </a:solidFill>
                <a:latin typeface="Meiryo"/>
                <a:ea typeface="Meiryo"/>
              </a:rPr>
              <a:t>p</a:t>
            </a:r>
            <a:r>
              <a:rPr sz="1500" b="0" i="0">
                <a:solidFill>
                  <a:srgbClr val="FFFFFF"/>
                </a:solidFill>
                <a:latin typeface="Meiryo"/>
                <a:ea typeface="Meiryo"/>
              </a:rPr>
              <a:t> 誘導演算子は</a:t>
            </a:r>
            <a:r>
              <a:rPr sz="1500" b="1" i="0">
                <a:solidFill>
                  <a:srgbClr val="FFD98A"/>
                </a:solidFill>
                <a:latin typeface="Meiryo"/>
                <a:ea typeface="Meiryo"/>
              </a:rPr>
              <a:t>集団ベース</a:t>
            </a:r>
            <a:r>
              <a:rPr sz="1500" b="0" i="0">
                <a:solidFill>
                  <a:srgbClr val="FFFFFF"/>
                </a:solidFill>
                <a:latin typeface="Meiryo"/>
                <a:ea typeface="Meiryo"/>
              </a:rPr>
              <a:t>の弱点を直接補う。一方、自力で充填済みの</a:t>
            </a:r>
            <a:r>
              <a:rPr sz="1500" b="1" i="0">
                <a:solidFill>
                  <a:srgbClr val="FFD98A"/>
                </a:solidFill>
                <a:latin typeface="Meiryo"/>
                <a:ea typeface="Meiryo"/>
              </a:rPr>
              <a:t>軌道ベース</a:t>
            </a:r>
            <a:r>
              <a:rPr sz="1500" b="0" i="0">
                <a:solidFill>
                  <a:srgbClr val="FFFFFF"/>
                </a:solidFill>
                <a:latin typeface="Meiryo"/>
                <a:ea typeface="Meiryo"/>
              </a:rPr>
              <a:t>には伸びしろが乏しい ＝ 効果は</a:t>
            </a:r>
            <a:r>
              <a:rPr sz="1500" b="1" i="0">
                <a:solidFill>
                  <a:srgbClr val="FFD98A"/>
                </a:solidFill>
                <a:latin typeface="Meiryo"/>
                <a:ea typeface="Meiryo"/>
              </a:rPr>
              <a:t>ホスト依存で非対称</a:t>
            </a:r>
            <a:r>
              <a:rPr sz="1500" b="0" i="0">
                <a:solidFill>
                  <a:srgbClr val="FFFFFF"/>
                </a:solidFill>
                <a:latin typeface="Meiryo"/>
                <a:ea typeface="Meiryo"/>
              </a:rPr>
              <a:t>に現れる。</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3.4 全体像 — 3 つの探索構造</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66928" y="1060704"/>
            <a:ext cx="59436" cy="310896"/>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042415"/>
            <a:ext cx="10856671" cy="384048"/>
          </a:xfrm>
          <a:prstGeom prst="rect">
            <a:avLst/>
          </a:prstGeom>
          <a:noFill/>
        </p:spPr>
        <p:txBody>
          <a:bodyPr wrap="square" lIns="18288" tIns="9144" rIns="18288" bIns="9144" anchor="ctr">
            <a:spAutoFit/>
          </a:bodyPr>
          <a:lstStyle/>
          <a:p>
            <a:pPr>
              <a:lnSpc>
                <a:spcPct val="100000"/>
              </a:lnSpc>
            </a:pPr>
            <a:r>
              <a:rPr sz="1500" b="1" i="0">
                <a:solidFill>
                  <a:srgbClr val="16385C"/>
                </a:solidFill>
                <a:latin typeface="Meiryo"/>
                <a:ea typeface="Meiryo"/>
              </a:rPr>
              <a:t>集団は散る／軌道は </a:t>
            </a:r>
            <a:r>
              <a:rPr sz="1500" b="1" i="1">
                <a:solidFill>
                  <a:srgbClr val="16385C"/>
                </a:solidFill>
                <a:latin typeface="Meiryo"/>
                <a:ea typeface="Meiryo"/>
              </a:rPr>
              <a:t>S</a:t>
            </a:r>
            <a:r>
              <a:rPr sz="1080" b="1" i="1" baseline="-22000">
                <a:solidFill>
                  <a:srgbClr val="16385C"/>
                </a:solidFill>
                <a:latin typeface="Meiryo"/>
                <a:ea typeface="Meiryo"/>
              </a:rPr>
              <a:t>p</a:t>
            </a:r>
            <a:r>
              <a:rPr sz="1500" b="1" i="0">
                <a:solidFill>
                  <a:srgbClr val="16385C"/>
                </a:solidFill>
                <a:latin typeface="Meiryo"/>
                <a:ea typeface="Meiryo"/>
              </a:rPr>
              <a:t> 近傍を充填する／集団＋誘導演算子は散った解を </a:t>
            </a:r>
            <a:r>
              <a:rPr sz="1500" b="1" i="1">
                <a:solidFill>
                  <a:srgbClr val="16385C"/>
                </a:solidFill>
                <a:latin typeface="Meiryo"/>
                <a:ea typeface="Meiryo"/>
              </a:rPr>
              <a:t>S</a:t>
            </a:r>
            <a:r>
              <a:rPr sz="1080" b="1" i="1" baseline="-22000">
                <a:solidFill>
                  <a:srgbClr val="16385C"/>
                </a:solidFill>
                <a:latin typeface="Meiryo"/>
                <a:ea typeface="Meiryo"/>
              </a:rPr>
              <a:t>p</a:t>
            </a:r>
            <a:r>
              <a:rPr sz="1500" b="1" i="0">
                <a:solidFill>
                  <a:srgbClr val="16385C"/>
                </a:solidFill>
                <a:latin typeface="Meiryo"/>
                <a:ea typeface="Meiryo"/>
              </a:rPr>
              <a:t> へ引き戻す</a:t>
            </a:r>
          </a:p>
        </p:txBody>
      </p:sp>
      <p:sp>
        <p:nvSpPr>
          <p:cNvPr id="6" name="TextBox 5"/>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3. 探索構造と提案手法</a:t>
            </a:r>
          </a:p>
        </p:txBody>
      </p:sp>
      <p:sp>
        <p:nvSpPr>
          <p:cNvPr id="7" name="TextBox 6"/>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11</a:t>
            </a:r>
          </a:p>
        </p:txBody>
      </p:sp>
      <p:pic>
        <p:nvPicPr>
          <p:cNvPr id="8" name="Picture 7" descr="concept_3struct.png"/>
          <p:cNvPicPr>
            <a:picLocks noChangeAspect="1"/>
          </p:cNvPicPr>
          <p:nvPr/>
        </p:nvPicPr>
        <p:blipFill>
          <a:blip r:embed="rId2"/>
          <a:stretch>
            <a:fillRect/>
          </a:stretch>
        </p:blipFill>
        <p:spPr>
          <a:xfrm>
            <a:off x="764311" y="1645920"/>
            <a:ext cx="10663071" cy="4041648"/>
          </a:xfrm>
          <a:prstGeom prst="rect">
            <a:avLst/>
          </a:prstGeom>
        </p:spPr>
      </p:pic>
      <p:sp>
        <p:nvSpPr>
          <p:cNvPr id="9" name="Rounded Rectangle 8"/>
          <p:cNvSpPr/>
          <p:nvPr/>
        </p:nvSpPr>
        <p:spPr>
          <a:xfrm>
            <a:off x="566928" y="5705856"/>
            <a:ext cx="3503066" cy="566928"/>
          </a:xfrm>
          <a:prstGeom prst="roundRect">
            <a:avLst>
              <a:gd name="adj" fmla="val 10000"/>
            </a:avLst>
          </a:prstGeom>
          <a:solidFill>
            <a:srgbClr val="EDF2F7"/>
          </a:solidFill>
          <a:ln w="13970">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94944" y="5705856"/>
            <a:ext cx="3247034" cy="566928"/>
          </a:xfrm>
          <a:prstGeom prst="rect">
            <a:avLst/>
          </a:prstGeom>
          <a:noFill/>
        </p:spPr>
        <p:txBody>
          <a:bodyPr wrap="square" lIns="18288" tIns="9144" rIns="18288" bIns="9144" anchor="ctr">
            <a:spAutoFit/>
          </a:bodyPr>
          <a:lstStyle/>
          <a:p>
            <a:pPr>
              <a:lnSpc>
                <a:spcPct val="100000"/>
              </a:lnSpc>
            </a:pPr>
            <a:r>
              <a:rPr sz="1300" b="1" i="0">
                <a:solidFill>
                  <a:srgbClr val="16385C"/>
                </a:solidFill>
                <a:latin typeface="Meiryo"/>
                <a:ea typeface="Meiryo"/>
              </a:rPr>
              <a:t>① 集団ベース</a:t>
            </a:r>
          </a:p>
          <a:p>
            <a:pPr>
              <a:lnSpc>
                <a:spcPct val="100000"/>
              </a:lnSpc>
            </a:pPr>
            <a:r>
              <a:rPr sz="1150" b="0" i="0">
                <a:solidFill>
                  <a:srgbClr val="26303A"/>
                </a:solidFill>
                <a:latin typeface="Meiryo"/>
                <a:ea typeface="Meiryo"/>
              </a:rPr>
              <a:t>交叉で子が </a:t>
            </a:r>
            <a:r>
              <a:rPr sz="1150" b="0" i="1">
                <a:solidFill>
                  <a:srgbClr val="26303A"/>
                </a:solidFill>
                <a:latin typeface="Meiryo"/>
                <a:ea typeface="Meiryo"/>
              </a:rPr>
              <a:t>S</a:t>
            </a:r>
            <a:r>
              <a:rPr sz="827" b="0" i="1" baseline="-22000">
                <a:solidFill>
                  <a:srgbClr val="26303A"/>
                </a:solidFill>
                <a:latin typeface="Meiryo"/>
                <a:ea typeface="Meiryo"/>
              </a:rPr>
              <a:t>p</a:t>
            </a:r>
            <a:r>
              <a:rPr sz="1150" b="0" i="0">
                <a:solidFill>
                  <a:srgbClr val="26303A"/>
                </a:solidFill>
                <a:latin typeface="Meiryo"/>
                <a:ea typeface="Meiryo"/>
              </a:rPr>
              <a:t> から飛散し、高安定域が空く</a:t>
            </a:r>
          </a:p>
        </p:txBody>
      </p:sp>
      <p:sp>
        <p:nvSpPr>
          <p:cNvPr id="11" name="Rounded Rectangle 10"/>
          <p:cNvSpPr/>
          <p:nvPr/>
        </p:nvSpPr>
        <p:spPr>
          <a:xfrm>
            <a:off x="4344314" y="5705856"/>
            <a:ext cx="3503066" cy="566928"/>
          </a:xfrm>
          <a:prstGeom prst="roundRect">
            <a:avLst>
              <a:gd name="adj" fmla="val 10000"/>
            </a:avLst>
          </a:prstGeom>
          <a:solidFill>
            <a:srgbClr val="EDF2F7"/>
          </a:solidFill>
          <a:ln w="13970">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72330" y="5705856"/>
            <a:ext cx="3247034" cy="566928"/>
          </a:xfrm>
          <a:prstGeom prst="rect">
            <a:avLst/>
          </a:prstGeom>
          <a:noFill/>
        </p:spPr>
        <p:txBody>
          <a:bodyPr wrap="square" lIns="18288" tIns="9144" rIns="18288" bIns="9144" anchor="ctr">
            <a:spAutoFit/>
          </a:bodyPr>
          <a:lstStyle/>
          <a:p>
            <a:pPr>
              <a:lnSpc>
                <a:spcPct val="100000"/>
              </a:lnSpc>
            </a:pPr>
            <a:r>
              <a:rPr sz="1300" b="1" i="0">
                <a:solidFill>
                  <a:srgbClr val="16385C"/>
                </a:solidFill>
                <a:latin typeface="Meiryo"/>
                <a:ea typeface="Meiryo"/>
              </a:rPr>
              <a:t>② 軌道ベース</a:t>
            </a:r>
          </a:p>
          <a:p>
            <a:pPr>
              <a:lnSpc>
                <a:spcPct val="100000"/>
              </a:lnSpc>
            </a:pPr>
            <a:r>
              <a:rPr sz="1150" b="0" i="0">
                <a:solidFill>
                  <a:srgbClr val="26303A"/>
                </a:solidFill>
                <a:latin typeface="Meiryo"/>
                <a:ea typeface="Meiryo"/>
              </a:rPr>
              <a:t>連続変形で </a:t>
            </a:r>
            <a:r>
              <a:rPr sz="1150" b="0" i="1">
                <a:solidFill>
                  <a:srgbClr val="26303A"/>
                </a:solidFill>
                <a:latin typeface="Meiryo"/>
                <a:ea typeface="Meiryo"/>
              </a:rPr>
              <a:t>S</a:t>
            </a:r>
            <a:r>
              <a:rPr sz="827" b="0" i="1" baseline="-22000">
                <a:solidFill>
                  <a:srgbClr val="26303A"/>
                </a:solidFill>
                <a:latin typeface="Meiryo"/>
                <a:ea typeface="Meiryo"/>
              </a:rPr>
              <a:t>p</a:t>
            </a:r>
            <a:r>
              <a:rPr sz="1150" b="0" i="0">
                <a:solidFill>
                  <a:srgbClr val="26303A"/>
                </a:solidFill>
                <a:latin typeface="Meiryo"/>
                <a:ea typeface="Meiryo"/>
              </a:rPr>
              <a:t> 近傍をそのまま充填する</a:t>
            </a:r>
          </a:p>
        </p:txBody>
      </p:sp>
      <p:sp>
        <p:nvSpPr>
          <p:cNvPr id="13" name="Rounded Rectangle 12"/>
          <p:cNvSpPr/>
          <p:nvPr/>
        </p:nvSpPr>
        <p:spPr>
          <a:xfrm>
            <a:off x="8121700" y="5705856"/>
            <a:ext cx="3503066" cy="566928"/>
          </a:xfrm>
          <a:prstGeom prst="roundRect">
            <a:avLst>
              <a:gd name="adj" fmla="val 10000"/>
            </a:avLst>
          </a:prstGeom>
          <a:solidFill>
            <a:srgbClr val="EDF2F7"/>
          </a:solidFill>
          <a:ln w="13970">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49716" y="5705856"/>
            <a:ext cx="3247034" cy="566928"/>
          </a:xfrm>
          <a:prstGeom prst="rect">
            <a:avLst/>
          </a:prstGeom>
          <a:noFill/>
        </p:spPr>
        <p:txBody>
          <a:bodyPr wrap="square" lIns="18288" tIns="9144" rIns="18288" bIns="9144" anchor="ctr">
            <a:spAutoFit/>
          </a:bodyPr>
          <a:lstStyle/>
          <a:p>
            <a:pPr>
              <a:lnSpc>
                <a:spcPct val="100000"/>
              </a:lnSpc>
            </a:pPr>
            <a:r>
              <a:rPr sz="1300" b="1" i="0">
                <a:solidFill>
                  <a:srgbClr val="16385C"/>
                </a:solidFill>
                <a:latin typeface="Meiryo"/>
                <a:ea typeface="Meiryo"/>
              </a:rPr>
              <a:t>③ 集団 ＋ PR / repair</a:t>
            </a:r>
          </a:p>
          <a:p>
            <a:pPr>
              <a:lnSpc>
                <a:spcPct val="100000"/>
              </a:lnSpc>
            </a:pPr>
            <a:r>
              <a:rPr sz="1150" b="0" i="0">
                <a:solidFill>
                  <a:srgbClr val="26303A"/>
                </a:solidFill>
                <a:latin typeface="Meiryo"/>
                <a:ea typeface="Meiryo"/>
              </a:rPr>
              <a:t>散った解を </a:t>
            </a:r>
            <a:r>
              <a:rPr sz="1150" b="0" i="1">
                <a:solidFill>
                  <a:srgbClr val="26303A"/>
                </a:solidFill>
                <a:latin typeface="Meiryo"/>
                <a:ea typeface="Meiryo"/>
              </a:rPr>
              <a:t>S</a:t>
            </a:r>
            <a:r>
              <a:rPr sz="827" b="0" i="1" baseline="-22000">
                <a:solidFill>
                  <a:srgbClr val="26303A"/>
                </a:solidFill>
                <a:latin typeface="Meiryo"/>
                <a:ea typeface="Meiryo"/>
              </a:rPr>
              <a:t>p</a:t>
            </a:r>
            <a:r>
              <a:rPr sz="1150" b="0" i="0">
                <a:solidFill>
                  <a:srgbClr val="26303A"/>
                </a:solidFill>
                <a:latin typeface="Meiryo"/>
                <a:ea typeface="Meiryo"/>
              </a:rPr>
              <a:t> へ引き戻し、空白を埋める</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3.5 問題定義 — 再スケジューリングの力学</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66928" y="1060704"/>
            <a:ext cx="59436" cy="310896"/>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042415"/>
            <a:ext cx="10856671" cy="384048"/>
          </a:xfrm>
          <a:prstGeom prst="rect">
            <a:avLst/>
          </a:prstGeom>
          <a:noFill/>
        </p:spPr>
        <p:txBody>
          <a:bodyPr wrap="square" lIns="18288" tIns="9144" rIns="18288" bIns="9144" anchor="ctr">
            <a:spAutoFit/>
          </a:bodyPr>
          <a:lstStyle/>
          <a:p>
            <a:pPr>
              <a:lnSpc>
                <a:spcPct val="100000"/>
              </a:lnSpc>
            </a:pPr>
            <a:r>
              <a:rPr sz="1500" b="1" i="0">
                <a:solidFill>
                  <a:srgbClr val="16385C"/>
                </a:solidFill>
                <a:latin typeface="Meiryo"/>
                <a:ea typeface="Meiryo"/>
              </a:rPr>
              <a:t>凍結部を固定し、</a:t>
            </a:r>
            <a:r>
              <a:rPr sz="1500" b="1" i="1">
                <a:solidFill>
                  <a:srgbClr val="16385C"/>
                </a:solidFill>
                <a:latin typeface="Meiryo"/>
                <a:ea typeface="Meiryo"/>
              </a:rPr>
              <a:t>t</a:t>
            </a:r>
            <a:r>
              <a:rPr sz="1080" b="1" i="1" baseline="-22000">
                <a:solidFill>
                  <a:srgbClr val="16385C"/>
                </a:solidFill>
                <a:latin typeface="Meiryo"/>
                <a:ea typeface="Meiryo"/>
              </a:rPr>
              <a:t>r</a:t>
            </a:r>
            <a:r>
              <a:rPr sz="1500" b="1" i="0">
                <a:solidFill>
                  <a:srgbClr val="16385C"/>
                </a:solidFill>
                <a:latin typeface="Meiryo"/>
                <a:ea typeface="Meiryo"/>
              </a:rPr>
              <a:t> 以降の「機械ごとの処理順序」だけを動かす順列最適化に帰着する</a:t>
            </a:r>
          </a:p>
        </p:txBody>
      </p:sp>
      <p:sp>
        <p:nvSpPr>
          <p:cNvPr id="6" name="TextBox 5"/>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3. 探索構造と提案手法</a:t>
            </a:r>
          </a:p>
        </p:txBody>
      </p:sp>
      <p:sp>
        <p:nvSpPr>
          <p:cNvPr id="7" name="TextBox 6"/>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12</a:t>
            </a:r>
          </a:p>
        </p:txBody>
      </p:sp>
      <p:sp>
        <p:nvSpPr>
          <p:cNvPr id="8" name="TextBox 7"/>
          <p:cNvSpPr txBox="1"/>
          <p:nvPr/>
        </p:nvSpPr>
        <p:spPr>
          <a:xfrm>
            <a:off x="566928" y="1645920"/>
            <a:ext cx="11057839"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元スケジュール </a:t>
            </a:r>
            <a:r>
              <a:rPr sz="1550" b="1" i="1">
                <a:solidFill>
                  <a:srgbClr val="16385C"/>
                </a:solidFill>
                <a:latin typeface="Meiryo"/>
                <a:ea typeface="Meiryo"/>
              </a:rPr>
              <a:t>S</a:t>
            </a:r>
            <a:r>
              <a:rPr sz="1116" b="1" i="1" baseline="-22000">
                <a:solidFill>
                  <a:srgbClr val="16385C"/>
                </a:solidFill>
                <a:latin typeface="Meiryo"/>
                <a:ea typeface="Meiryo"/>
              </a:rPr>
              <a:t>p</a:t>
            </a:r>
            <a:r>
              <a:rPr sz="1550" b="0" i="0">
                <a:solidFill>
                  <a:srgbClr val="26303A"/>
                </a:solidFill>
                <a:latin typeface="Meiryo"/>
                <a:ea typeface="Meiryo"/>
              </a:rPr>
              <a:t>：静的 JSSP の高品質解（全手法の共通入力）。</a:t>
            </a:r>
            <a:r>
              <a:rPr sz="1550" b="1" i="0">
                <a:solidFill>
                  <a:srgbClr val="16385C"/>
                </a:solidFill>
                <a:latin typeface="Meiryo"/>
                <a:ea typeface="Meiryo"/>
              </a:rPr>
              <a:t>外乱</a:t>
            </a:r>
            <a:r>
              <a:rPr sz="1550" b="0" i="0">
                <a:solidFill>
                  <a:srgbClr val="26303A"/>
                </a:solidFill>
                <a:latin typeface="Meiryo"/>
                <a:ea typeface="Meiryo"/>
              </a:rPr>
              <a:t>は単一の作業遅延（遅延量 </a:t>
            </a:r>
            <a:r>
              <a:rPr sz="1550" b="0" i="1">
                <a:solidFill>
                  <a:srgbClr val="26303A"/>
                </a:solidFill>
                <a:latin typeface="Meiryo"/>
                <a:ea typeface="Meiryo"/>
              </a:rPr>
              <a:t>Δ</a:t>
            </a:r>
            <a:r>
              <a:rPr sz="1550" b="0" i="0">
                <a:solidFill>
                  <a:srgbClr val="26303A"/>
                </a:solidFill>
                <a:latin typeface="Meiryo"/>
                <a:ea typeface="Meiryo"/>
              </a:rPr>
              <a:t>）。</a:t>
            </a:r>
          </a:p>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right-shift 解 </a:t>
            </a:r>
            <a:r>
              <a:rPr sz="1550" b="1" i="1">
                <a:solidFill>
                  <a:srgbClr val="16385C"/>
                </a:solidFill>
                <a:latin typeface="Meiryo"/>
                <a:ea typeface="Meiryo"/>
              </a:rPr>
              <a:t>S</a:t>
            </a:r>
            <a:r>
              <a:rPr sz="1116" b="1" i="1" baseline="-22000">
                <a:solidFill>
                  <a:srgbClr val="16385C"/>
                </a:solidFill>
                <a:latin typeface="Meiryo"/>
                <a:ea typeface="Meiryo"/>
              </a:rPr>
              <a:t>RSR</a:t>
            </a:r>
            <a:r>
              <a:rPr sz="1550" b="0" i="0">
                <a:solidFill>
                  <a:srgbClr val="26303A"/>
                </a:solidFill>
                <a:latin typeface="Meiryo"/>
                <a:ea typeface="Meiryo"/>
              </a:rPr>
              <a:t>：機械上の順序を保ち遅延を吸収した現場の実スケジュール（</a:t>
            </a:r>
            <a:r>
              <a:rPr sz="1550" b="0" i="1">
                <a:solidFill>
                  <a:srgbClr val="26303A"/>
                </a:solidFill>
                <a:latin typeface="Meiryo"/>
                <a:ea typeface="Meiryo"/>
              </a:rPr>
              <a:t>D=0</a:t>
            </a:r>
            <a:r>
              <a:rPr sz="1550" b="0" i="0">
                <a:solidFill>
                  <a:srgbClr val="26303A"/>
                </a:solidFill>
                <a:latin typeface="Meiryo"/>
                <a:ea typeface="Meiryo"/>
              </a:rPr>
              <a:t> に対応）。</a:t>
            </a:r>
          </a:p>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凍結</a:t>
            </a:r>
            <a:r>
              <a:rPr sz="1550" b="0" i="0">
                <a:solidFill>
                  <a:srgbClr val="26303A"/>
                </a:solidFill>
                <a:latin typeface="Meiryo"/>
                <a:ea typeface="Meiryo"/>
              </a:rPr>
              <a:t>：再スケ時刻 </a:t>
            </a:r>
            <a:r>
              <a:rPr sz="1550" b="0" i="1">
                <a:solidFill>
                  <a:srgbClr val="26303A"/>
                </a:solidFill>
                <a:latin typeface="Meiryo"/>
                <a:ea typeface="Meiryo"/>
              </a:rPr>
              <a:t>t</a:t>
            </a:r>
            <a:r>
              <a:rPr sz="1116" b="0" i="1" baseline="-22000">
                <a:solidFill>
                  <a:srgbClr val="26303A"/>
                </a:solidFill>
                <a:latin typeface="Meiryo"/>
                <a:ea typeface="Meiryo"/>
              </a:rPr>
              <a:t>r</a:t>
            </a:r>
            <a:r>
              <a:rPr sz="1550" b="0" i="0">
                <a:solidFill>
                  <a:srgbClr val="26303A"/>
                </a:solidFill>
                <a:latin typeface="Meiryo"/>
                <a:ea typeface="Meiryo"/>
              </a:rPr>
              <a:t> 前に開始済みの作業は凍結し、</a:t>
            </a:r>
            <a:r>
              <a:rPr sz="1550" b="0" i="1">
                <a:solidFill>
                  <a:srgbClr val="26303A"/>
                </a:solidFill>
                <a:latin typeface="Meiryo"/>
                <a:ea typeface="Meiryo"/>
              </a:rPr>
              <a:t>t</a:t>
            </a:r>
            <a:r>
              <a:rPr sz="1116" b="0" i="1" baseline="-22000">
                <a:solidFill>
                  <a:srgbClr val="26303A"/>
                </a:solidFill>
                <a:latin typeface="Meiryo"/>
                <a:ea typeface="Meiryo"/>
              </a:rPr>
              <a:t>r</a:t>
            </a:r>
            <a:r>
              <a:rPr sz="1550" b="0" i="0">
                <a:solidFill>
                  <a:srgbClr val="26303A"/>
                </a:solidFill>
                <a:latin typeface="Meiryo"/>
                <a:ea typeface="Meiryo"/>
              </a:rPr>
              <a:t> 以降を</a:t>
            </a:r>
            <a:r>
              <a:rPr sz="1550" b="1" i="0">
                <a:solidFill>
                  <a:srgbClr val="16385C"/>
                </a:solidFill>
                <a:latin typeface="Meiryo"/>
                <a:ea typeface="Meiryo"/>
              </a:rPr>
              <a:t>最適化対象 </a:t>
            </a:r>
            <a:r>
              <a:rPr sz="1550" b="1" i="1">
                <a:solidFill>
                  <a:srgbClr val="16385C"/>
                </a:solidFill>
                <a:latin typeface="Meiryo"/>
                <a:ea typeface="Meiryo"/>
              </a:rPr>
              <a:t>O</a:t>
            </a:r>
            <a:r>
              <a:rPr sz="1116" b="1" i="1" baseline="-22000">
                <a:solidFill>
                  <a:srgbClr val="16385C"/>
                </a:solidFill>
                <a:latin typeface="Meiryo"/>
                <a:ea typeface="Meiryo"/>
              </a:rPr>
              <a:t>opt</a:t>
            </a:r>
            <a:r>
              <a:rPr sz="1550" b="0" i="0">
                <a:solidFill>
                  <a:srgbClr val="26303A"/>
                </a:solidFill>
                <a:latin typeface="Meiryo"/>
                <a:ea typeface="Meiryo"/>
              </a:rPr>
              <a:t> とする。</a:t>
            </a:r>
          </a:p>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決定変数</a:t>
            </a:r>
            <a:r>
              <a:rPr sz="1550" b="0" i="0">
                <a:solidFill>
                  <a:srgbClr val="26303A"/>
                </a:solidFill>
                <a:latin typeface="Meiryo"/>
                <a:ea typeface="Meiryo"/>
              </a:rPr>
              <a:t>：機械割当は固定 → 対象作業の</a:t>
            </a:r>
            <a:r>
              <a:rPr sz="1550" b="1" i="0">
                <a:solidFill>
                  <a:srgbClr val="16385C"/>
                </a:solidFill>
                <a:latin typeface="Meiryo"/>
                <a:ea typeface="Meiryo"/>
              </a:rPr>
              <a:t>機械ごとの処理順序</a:t>
            </a:r>
            <a:r>
              <a:rPr sz="1550" b="0" i="0">
                <a:solidFill>
                  <a:srgbClr val="26303A"/>
                </a:solidFill>
                <a:latin typeface="Meiryo"/>
                <a:ea typeface="Meiryo"/>
              </a:rPr>
              <a:t>のみ。</a:t>
            </a:r>
          </a:p>
        </p:txBody>
      </p:sp>
      <p:sp>
        <p:nvSpPr>
          <p:cNvPr id="9" name="TextBox 8"/>
          <p:cNvSpPr txBox="1"/>
          <p:nvPr/>
        </p:nvSpPr>
        <p:spPr>
          <a:xfrm>
            <a:off x="566928" y="4087368"/>
            <a:ext cx="11057839"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安定性指標（順列偏差）</a:t>
            </a:r>
            <a:r>
              <a:rPr sz="1550" b="0" i="0">
                <a:solidFill>
                  <a:srgbClr val="26303A"/>
                </a:solidFill>
                <a:latin typeface="Meiryo"/>
                <a:ea typeface="Meiryo"/>
              </a:rPr>
              <a:t>：探索機構(swap・N5)が動く順列空間と一致し、MS と独立性が高い。</a:t>
            </a:r>
          </a:p>
        </p:txBody>
      </p:sp>
      <p:pic>
        <p:nvPicPr>
          <p:cNvPr id="10" name="Picture 9" descr="eq_stab.png"/>
          <p:cNvPicPr>
            <a:picLocks noChangeAspect="1"/>
          </p:cNvPicPr>
          <p:nvPr/>
        </p:nvPicPr>
        <p:blipFill>
          <a:blip r:embed="rId2"/>
          <a:stretch>
            <a:fillRect/>
          </a:stretch>
        </p:blipFill>
        <p:spPr>
          <a:xfrm>
            <a:off x="4782301" y="4901183"/>
            <a:ext cx="2627092" cy="530352"/>
          </a:xfrm>
          <a:prstGeom prst="rect">
            <a:avLst/>
          </a:prstGeom>
        </p:spPr>
      </p:pic>
      <p:sp>
        <p:nvSpPr>
          <p:cNvPr id="11" name="TextBox 10"/>
          <p:cNvSpPr txBox="1"/>
          <p:nvPr/>
        </p:nvSpPr>
        <p:spPr>
          <a:xfrm>
            <a:off x="10984687" y="5029199"/>
            <a:ext cx="640080" cy="274320"/>
          </a:xfrm>
          <a:prstGeom prst="rect">
            <a:avLst/>
          </a:prstGeom>
          <a:noFill/>
        </p:spPr>
        <p:txBody>
          <a:bodyPr wrap="square" lIns="18288" tIns="9144" rIns="18288" bIns="9144" anchor="t">
            <a:spAutoFit/>
          </a:bodyPr>
          <a:lstStyle/>
          <a:p>
            <a:pPr algn="r"/>
            <a:r>
              <a:rPr sz="1300" b="0" i="0">
                <a:solidFill>
                  <a:srgbClr val="26303A"/>
                </a:solidFill>
                <a:latin typeface="Meiryo"/>
                <a:ea typeface="Meiryo"/>
              </a:rPr>
              <a:t>(1)</a:t>
            </a:r>
          </a:p>
        </p:txBody>
      </p:sp>
      <p:sp>
        <p:nvSpPr>
          <p:cNvPr id="12" name="TextBox 11"/>
          <p:cNvSpPr txBox="1"/>
          <p:nvPr/>
        </p:nvSpPr>
        <p:spPr>
          <a:xfrm>
            <a:off x="566928" y="5678423"/>
            <a:ext cx="11057839" cy="365760"/>
          </a:xfrm>
          <a:prstGeom prst="rect">
            <a:avLst/>
          </a:prstGeom>
          <a:noFill/>
        </p:spPr>
        <p:txBody>
          <a:bodyPr wrap="square" lIns="18288" tIns="9144" rIns="18288" bIns="9144" anchor="t">
            <a:spAutoFit/>
          </a:bodyPr>
          <a:lstStyle/>
          <a:p>
            <a:pPr lvl="1">
              <a:lnSpc>
                <a:spcPct val="106000"/>
              </a:lnSpc>
              <a:spcBef>
                <a:spcPts val="300"/>
              </a:spcBef>
            </a:pPr>
            <a:r>
              <a:rPr sz="1200" b="0" i="0">
                <a:solidFill>
                  <a:srgbClr val="6E7A88"/>
                </a:solidFill>
                <a:latin typeface="Meiryo"/>
                <a:ea typeface="Meiryo"/>
              </a:rPr>
              <a:t>－ </a:t>
            </a:r>
            <a:r>
              <a:rPr sz="1400" b="0" i="1">
                <a:solidFill>
                  <a:srgbClr val="26303A"/>
                </a:solidFill>
                <a:latin typeface="Meiryo"/>
                <a:ea typeface="Meiryo"/>
              </a:rPr>
              <a:t>r</a:t>
            </a:r>
            <a:r>
              <a:rPr sz="1008" b="0" i="1" baseline="-22000">
                <a:solidFill>
                  <a:srgbClr val="26303A"/>
                </a:solidFill>
                <a:latin typeface="Meiryo"/>
                <a:ea typeface="Meiryo"/>
              </a:rPr>
              <a:t>ij</a:t>
            </a:r>
            <a:r>
              <a:rPr sz="1400" b="0" i="0">
                <a:solidFill>
                  <a:srgbClr val="26303A"/>
                </a:solidFill>
                <a:latin typeface="Meiryo"/>
                <a:ea typeface="Meiryo"/>
              </a:rPr>
              <a:t>＝機械 </a:t>
            </a:r>
            <a:r>
              <a:rPr sz="1400" b="0" i="1">
                <a:solidFill>
                  <a:srgbClr val="26303A"/>
                </a:solidFill>
                <a:latin typeface="Meiryo"/>
                <a:ea typeface="Meiryo"/>
              </a:rPr>
              <a:t>i</a:t>
            </a:r>
            <a:r>
              <a:rPr sz="1400" b="0" i="0">
                <a:solidFill>
                  <a:srgbClr val="26303A"/>
                </a:solidFill>
                <a:latin typeface="Meiryo"/>
                <a:ea typeface="Meiryo"/>
              </a:rPr>
              <a:t> 上のジョブ </a:t>
            </a:r>
            <a:r>
              <a:rPr sz="1400" b="0" i="1">
                <a:solidFill>
                  <a:srgbClr val="26303A"/>
                </a:solidFill>
                <a:latin typeface="Meiryo"/>
                <a:ea typeface="Meiryo"/>
              </a:rPr>
              <a:t>j</a:t>
            </a:r>
            <a:r>
              <a:rPr sz="1400" b="0" i="0">
                <a:solidFill>
                  <a:srgbClr val="26303A"/>
                </a:solidFill>
                <a:latin typeface="Meiryo"/>
                <a:ea typeface="Meiryo"/>
              </a:rPr>
              <a:t> の処理順位。値が小さいほど高安定（</a:t>
            </a:r>
            <a:r>
              <a:rPr sz="1400" b="0" i="1">
                <a:solidFill>
                  <a:srgbClr val="26303A"/>
                </a:solidFill>
                <a:latin typeface="Meiryo"/>
                <a:ea typeface="Meiryo"/>
              </a:rPr>
              <a:t>D=0</a:t>
            </a:r>
            <a:r>
              <a:rPr sz="1400" b="0" i="0">
                <a:solidFill>
                  <a:srgbClr val="26303A"/>
                </a:solidFill>
                <a:latin typeface="Meiryo"/>
                <a:ea typeface="Meiryo"/>
              </a:rPr>
              <a:t>＝順序不変の </a:t>
            </a:r>
            <a:r>
              <a:rPr sz="1400" b="0" i="1">
                <a:solidFill>
                  <a:srgbClr val="26303A"/>
                </a:solidFill>
                <a:latin typeface="Meiryo"/>
                <a:ea typeface="Meiryo"/>
              </a:rPr>
              <a:t>S</a:t>
            </a:r>
            <a:r>
              <a:rPr sz="1008" b="0" i="1" baseline="-22000">
                <a:solidFill>
                  <a:srgbClr val="26303A"/>
                </a:solidFill>
                <a:latin typeface="Meiryo"/>
                <a:ea typeface="Meiryo"/>
              </a:rPr>
              <a:t>RSR</a:t>
            </a:r>
            <a:r>
              <a:rPr sz="1400" b="0" i="0">
                <a:solidFill>
                  <a:srgbClr val="26303A"/>
                </a:solidFill>
                <a:latin typeface="Meiryo"/>
                <a:ea typeface="Meiryo"/>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3.6 多目的とスカラー化</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66928" y="1060704"/>
            <a:ext cx="59436" cy="310896"/>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042415"/>
            <a:ext cx="10856671" cy="384048"/>
          </a:xfrm>
          <a:prstGeom prst="rect">
            <a:avLst/>
          </a:prstGeom>
          <a:noFill/>
        </p:spPr>
        <p:txBody>
          <a:bodyPr wrap="square" lIns="18288" tIns="9144" rIns="18288" bIns="9144" anchor="ctr">
            <a:spAutoFit/>
          </a:bodyPr>
          <a:lstStyle/>
          <a:p>
            <a:pPr>
              <a:lnSpc>
                <a:spcPct val="100000"/>
              </a:lnSpc>
            </a:pPr>
            <a:r>
              <a:rPr sz="1500" b="1" i="0">
                <a:solidFill>
                  <a:srgbClr val="16385C"/>
                </a:solidFill>
                <a:latin typeface="Meiryo"/>
                <a:ea typeface="Meiryo"/>
              </a:rPr>
              <a:t>重み付き和で掃引——運用の選好設定と整合し、軌道と集団に同一目的を共有させる「統制の共通土台」になる</a:t>
            </a:r>
          </a:p>
        </p:txBody>
      </p:sp>
      <p:sp>
        <p:nvSpPr>
          <p:cNvPr id="6" name="TextBox 5"/>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3. 探索構造と提案手法</a:t>
            </a:r>
          </a:p>
        </p:txBody>
      </p:sp>
      <p:sp>
        <p:nvSpPr>
          <p:cNvPr id="7" name="TextBox 6"/>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13</a:t>
            </a:r>
          </a:p>
        </p:txBody>
      </p:sp>
      <p:sp>
        <p:nvSpPr>
          <p:cNvPr id="8" name="TextBox 7"/>
          <p:cNvSpPr txBox="1"/>
          <p:nvPr/>
        </p:nvSpPr>
        <p:spPr>
          <a:xfrm>
            <a:off x="566928" y="1645920"/>
            <a:ext cx="11057839"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0" i="1">
                <a:solidFill>
                  <a:srgbClr val="26303A"/>
                </a:solidFill>
                <a:latin typeface="Meiryo"/>
                <a:ea typeface="Meiryo"/>
              </a:rPr>
              <a:t>min</a:t>
            </a:r>
            <a:r>
              <a:rPr sz="1116" b="0" i="1" baseline="-22000">
                <a:solidFill>
                  <a:srgbClr val="26303A"/>
                </a:solidFill>
                <a:latin typeface="Meiryo"/>
                <a:ea typeface="Meiryo"/>
              </a:rPr>
              <a:t>S_q</a:t>
            </a:r>
            <a:r>
              <a:rPr sz="1550" b="0" i="1">
                <a:solidFill>
                  <a:srgbClr val="26303A"/>
                </a:solidFill>
                <a:latin typeface="Meiryo"/>
                <a:ea typeface="Meiryo"/>
              </a:rPr>
              <a:t>(MS(S</a:t>
            </a:r>
            <a:r>
              <a:rPr sz="1116" b="0" i="1" baseline="-22000">
                <a:solidFill>
                  <a:srgbClr val="26303A"/>
                </a:solidFill>
                <a:latin typeface="Meiryo"/>
                <a:ea typeface="Meiryo"/>
              </a:rPr>
              <a:t>q</a:t>
            </a:r>
            <a:r>
              <a:rPr sz="1550" b="0" i="1">
                <a:solidFill>
                  <a:srgbClr val="26303A"/>
                </a:solidFill>
                <a:latin typeface="Meiryo"/>
                <a:ea typeface="Meiryo"/>
              </a:rPr>
              <a:t>),  D(S</a:t>
            </a:r>
            <a:r>
              <a:rPr sz="1116" b="0" i="1" baseline="-22000">
                <a:solidFill>
                  <a:srgbClr val="26303A"/>
                </a:solidFill>
                <a:latin typeface="Meiryo"/>
                <a:ea typeface="Meiryo"/>
              </a:rPr>
              <a:t>p</a:t>
            </a:r>
            <a:r>
              <a:rPr sz="1550" b="0" i="1">
                <a:solidFill>
                  <a:srgbClr val="26303A"/>
                </a:solidFill>
                <a:latin typeface="Meiryo"/>
                <a:ea typeface="Meiryo"/>
              </a:rPr>
              <a:t>,S</a:t>
            </a:r>
            <a:r>
              <a:rPr sz="1116" b="0" i="1" baseline="-22000">
                <a:solidFill>
                  <a:srgbClr val="26303A"/>
                </a:solidFill>
                <a:latin typeface="Meiryo"/>
                <a:ea typeface="Meiryo"/>
              </a:rPr>
              <a:t>q</a:t>
            </a:r>
            <a:r>
              <a:rPr sz="1550" b="0" i="1">
                <a:solidFill>
                  <a:srgbClr val="26303A"/>
                </a:solidFill>
                <a:latin typeface="Meiryo"/>
                <a:ea typeface="Meiryo"/>
              </a:rPr>
              <a:t>))</a:t>
            </a:r>
            <a:r>
              <a:rPr sz="1550" b="0" i="0">
                <a:solidFill>
                  <a:srgbClr val="26303A"/>
                </a:solidFill>
                <a:latin typeface="Meiryo"/>
                <a:ea typeface="Meiryo"/>
              </a:rPr>
              <a:t> を、重み </a:t>
            </a:r>
            <a:r>
              <a:rPr sz="1550" b="0" i="1">
                <a:solidFill>
                  <a:srgbClr val="26303A"/>
                </a:solidFill>
                <a:latin typeface="Meiryo"/>
                <a:ea typeface="Meiryo"/>
              </a:rPr>
              <a:t>λ∈[0,1]</a:t>
            </a:r>
            <a:r>
              <a:rPr sz="1550" b="0" i="0">
                <a:solidFill>
                  <a:srgbClr val="26303A"/>
                </a:solidFill>
                <a:latin typeface="Meiryo"/>
                <a:ea typeface="Meiryo"/>
              </a:rPr>
              <a:t> の</a:t>
            </a:r>
            <a:r>
              <a:rPr sz="1550" b="1" i="0">
                <a:solidFill>
                  <a:srgbClr val="16385C"/>
                </a:solidFill>
                <a:latin typeface="Meiryo"/>
                <a:ea typeface="Meiryo"/>
              </a:rPr>
              <a:t>重み付き和</a:t>
            </a:r>
            <a:r>
              <a:rPr sz="1550" b="0" i="0">
                <a:solidFill>
                  <a:srgbClr val="26303A"/>
                </a:solidFill>
                <a:latin typeface="Meiryo"/>
                <a:ea typeface="Meiryo"/>
              </a:rPr>
              <a:t>で解く（</a:t>
            </a:r>
            <a:r>
              <a:rPr sz="1550" b="0" i="1">
                <a:solidFill>
                  <a:srgbClr val="26303A"/>
                </a:solidFill>
                <a:latin typeface="Meiryo"/>
                <a:ea typeface="Meiryo"/>
              </a:rPr>
              <a:t>\hat·</a:t>
            </a:r>
            <a:r>
              <a:rPr sz="1550" b="0" i="0">
                <a:solidFill>
                  <a:srgbClr val="26303A"/>
                </a:solidFill>
                <a:latin typeface="Meiryo"/>
                <a:ea typeface="Meiryo"/>
              </a:rPr>
              <a:t> は min-max 正規化）。</a:t>
            </a:r>
          </a:p>
        </p:txBody>
      </p:sp>
      <p:pic>
        <p:nvPicPr>
          <p:cNvPr id="9" name="Picture 8" descr="eq_scal.png"/>
          <p:cNvPicPr>
            <a:picLocks noChangeAspect="1"/>
          </p:cNvPicPr>
          <p:nvPr/>
        </p:nvPicPr>
        <p:blipFill>
          <a:blip r:embed="rId2"/>
          <a:stretch>
            <a:fillRect/>
          </a:stretch>
        </p:blipFill>
        <p:spPr>
          <a:xfrm>
            <a:off x="3853433" y="2459736"/>
            <a:ext cx="4484827" cy="512064"/>
          </a:xfrm>
          <a:prstGeom prst="rect">
            <a:avLst/>
          </a:prstGeom>
        </p:spPr>
      </p:pic>
      <p:sp>
        <p:nvSpPr>
          <p:cNvPr id="10" name="TextBox 9"/>
          <p:cNvSpPr txBox="1"/>
          <p:nvPr/>
        </p:nvSpPr>
        <p:spPr>
          <a:xfrm>
            <a:off x="10984687" y="2578608"/>
            <a:ext cx="640080" cy="274320"/>
          </a:xfrm>
          <a:prstGeom prst="rect">
            <a:avLst/>
          </a:prstGeom>
          <a:noFill/>
        </p:spPr>
        <p:txBody>
          <a:bodyPr wrap="square" lIns="18288" tIns="9144" rIns="18288" bIns="9144" anchor="t">
            <a:spAutoFit/>
          </a:bodyPr>
          <a:lstStyle/>
          <a:p>
            <a:pPr algn="r"/>
            <a:r>
              <a:rPr sz="1300" b="0" i="0">
                <a:solidFill>
                  <a:srgbClr val="26303A"/>
                </a:solidFill>
                <a:latin typeface="Meiryo"/>
                <a:ea typeface="Meiryo"/>
              </a:rPr>
              <a:t>(2)</a:t>
            </a:r>
          </a:p>
        </p:txBody>
      </p:sp>
      <p:sp>
        <p:nvSpPr>
          <p:cNvPr id="11" name="TextBox 10"/>
          <p:cNvSpPr txBox="1"/>
          <p:nvPr/>
        </p:nvSpPr>
        <p:spPr>
          <a:xfrm>
            <a:off x="566928" y="3218688"/>
            <a:ext cx="11057839"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なぜ Pareto-native 手法でなく重みスカラー化か</a:t>
            </a:r>
          </a:p>
          <a:p>
            <a:pPr lvl="1">
              <a:lnSpc>
                <a:spcPct val="106000"/>
              </a:lnSpc>
              <a:spcBef>
                <a:spcPts val="300"/>
              </a:spcBef>
            </a:pPr>
            <a:r>
              <a:rPr sz="1200" b="0" i="0">
                <a:solidFill>
                  <a:srgbClr val="6E7A88"/>
                </a:solidFill>
                <a:latin typeface="Meiryo"/>
                <a:ea typeface="Meiryo"/>
              </a:rPr>
              <a:t>－ </a:t>
            </a:r>
            <a:r>
              <a:rPr sz="1400" b="1" i="0">
                <a:solidFill>
                  <a:srgbClr val="16385C"/>
                </a:solidFill>
                <a:latin typeface="Meiryo"/>
                <a:ea typeface="Meiryo"/>
              </a:rPr>
              <a:t>運用形態との整合</a:t>
            </a:r>
            <a:r>
              <a:rPr sz="1400" b="0" i="0">
                <a:solidFill>
                  <a:srgbClr val="26303A"/>
                </a:solidFill>
                <a:latin typeface="Meiryo"/>
                <a:ea typeface="Meiryo"/>
              </a:rPr>
              <a:t>：効率と安定の優先度は意思決定者が事前に重みとして与える量（再スケの標準枠組[3]）。</a:t>
            </a:r>
          </a:p>
          <a:p>
            <a:pPr lvl="1">
              <a:lnSpc>
                <a:spcPct val="106000"/>
              </a:lnSpc>
              <a:spcBef>
                <a:spcPts val="300"/>
              </a:spcBef>
            </a:pPr>
            <a:r>
              <a:rPr sz="1200" b="0" i="0">
                <a:solidFill>
                  <a:srgbClr val="6E7A88"/>
                </a:solidFill>
                <a:latin typeface="Meiryo"/>
                <a:ea typeface="Meiryo"/>
              </a:rPr>
              <a:t>－ </a:t>
            </a:r>
            <a:r>
              <a:rPr sz="1400" b="1" i="0">
                <a:solidFill>
                  <a:srgbClr val="16385C"/>
                </a:solidFill>
                <a:latin typeface="Meiryo"/>
                <a:ea typeface="Meiryo"/>
              </a:rPr>
              <a:t>統制比較の共通基盤</a:t>
            </a:r>
            <a:r>
              <a:rPr sz="1400" b="0" i="0">
                <a:solidFill>
                  <a:srgbClr val="26303A"/>
                </a:solidFill>
                <a:latin typeface="Meiryo"/>
                <a:ea typeface="Meiryo"/>
              </a:rPr>
              <a:t>：単一解 ILS と集団 Memetic に同一目的 </a:t>
            </a:r>
            <a:r>
              <a:rPr sz="1400" b="0" i="1">
                <a:solidFill>
                  <a:srgbClr val="26303A"/>
                </a:solidFill>
                <a:latin typeface="Meiryo"/>
                <a:ea typeface="Meiryo"/>
              </a:rPr>
              <a:t>F(λ)</a:t>
            </a:r>
            <a:r>
              <a:rPr sz="1400" b="0" i="0">
                <a:solidFill>
                  <a:srgbClr val="26303A"/>
                </a:solidFill>
                <a:latin typeface="Meiryo"/>
                <a:ea typeface="Meiryo"/>
              </a:rPr>
              <a:t> を共有させ、同一機構を無改変で載せ</a:t>
            </a:r>
            <a:r>
              <a:rPr sz="1400" b="1" i="0">
                <a:solidFill>
                  <a:srgbClr val="16385C"/>
                </a:solidFill>
                <a:latin typeface="Meiryo"/>
                <a:ea typeface="Meiryo"/>
              </a:rPr>
              <a:t>構造差だけ</a:t>
            </a:r>
            <a:r>
              <a:rPr sz="1400" b="0" i="0">
                <a:solidFill>
                  <a:srgbClr val="26303A"/>
                </a:solidFill>
                <a:latin typeface="Meiryo"/>
                <a:ea typeface="Meiryo"/>
              </a:rPr>
              <a:t>を切り出せる。</a:t>
            </a:r>
          </a:p>
          <a:p>
            <a:pPr>
              <a:lnSpc>
                <a:spcPct val="106000"/>
              </a:lnSpc>
              <a:spcBef>
                <a:spcPts val="700"/>
              </a:spcBef>
            </a:pPr>
            <a:r>
              <a:rPr sz="1200" b="1" i="0">
                <a:solidFill>
                  <a:srgbClr val="16385C"/>
                </a:solidFill>
                <a:latin typeface="Meiryo"/>
                <a:ea typeface="Meiryo"/>
              </a:rPr>
              <a:t>▪ </a:t>
            </a:r>
            <a:r>
              <a:rPr sz="1550" b="0" i="0">
                <a:solidFill>
                  <a:srgbClr val="26303A"/>
                </a:solidFill>
                <a:latin typeface="Meiryo"/>
                <a:ea typeface="Meiryo"/>
              </a:rPr>
              <a:t>単一重み依存を避け </a:t>
            </a:r>
            <a:r>
              <a:rPr sz="1550" b="0" i="1">
                <a:solidFill>
                  <a:srgbClr val="26303A"/>
                </a:solidFill>
                <a:latin typeface="Meiryo"/>
                <a:ea typeface="Meiryo"/>
              </a:rPr>
              <a:t>λ</a:t>
            </a:r>
            <a:r>
              <a:rPr sz="1550" b="0" i="0">
                <a:solidFill>
                  <a:srgbClr val="26303A"/>
                </a:solidFill>
                <a:latin typeface="Meiryo"/>
                <a:ea typeface="Meiryo"/>
              </a:rPr>
              <a:t> を複数点掃引し、</a:t>
            </a:r>
            <a:r>
              <a:rPr sz="1550" b="1" i="0">
                <a:solidFill>
                  <a:srgbClr val="16385C"/>
                </a:solidFill>
                <a:latin typeface="Meiryo"/>
                <a:ea typeface="Meiryo"/>
              </a:rPr>
              <a:t>UEA[9]</a:t>
            </a:r>
            <a:r>
              <a:rPr sz="1550" b="0" i="0">
                <a:solidFill>
                  <a:srgbClr val="26303A"/>
                </a:solidFill>
                <a:latin typeface="Meiryo"/>
                <a:ea typeface="Meiryo"/>
              </a:rPr>
              <a:t> で全非劣解を統合して評価する。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3.7 評価フレームワーク — 3 指標</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66928" y="1060704"/>
            <a:ext cx="59436" cy="310896"/>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042415"/>
            <a:ext cx="10856671" cy="384048"/>
          </a:xfrm>
          <a:prstGeom prst="rect">
            <a:avLst/>
          </a:prstGeom>
          <a:noFill/>
        </p:spPr>
        <p:txBody>
          <a:bodyPr wrap="square" lIns="18288" tIns="9144" rIns="18288" bIns="9144" anchor="ctr">
            <a:spAutoFit/>
          </a:bodyPr>
          <a:lstStyle/>
          <a:p>
            <a:pPr>
              <a:lnSpc>
                <a:spcPct val="100000"/>
              </a:lnSpc>
            </a:pPr>
            <a:r>
              <a:rPr sz="1500" b="1" i="0">
                <a:solidFill>
                  <a:srgbClr val="16385C"/>
                </a:solidFill>
                <a:latin typeface="Meiryo"/>
                <a:ea typeface="Meiryo"/>
              </a:rPr>
              <a:t>単一指標では相補構造が見えない——「総合品質・高安定充填・速度」の 3 問を 3 指標で切り分ける</a:t>
            </a:r>
          </a:p>
        </p:txBody>
      </p:sp>
      <p:sp>
        <p:nvSpPr>
          <p:cNvPr id="6" name="TextBox 5"/>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3. 探索構造と提案手法</a:t>
            </a:r>
          </a:p>
        </p:txBody>
      </p:sp>
      <p:sp>
        <p:nvSpPr>
          <p:cNvPr id="7" name="TextBox 6"/>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14</a:t>
            </a:r>
          </a:p>
        </p:txBody>
      </p:sp>
      <p:pic>
        <p:nvPicPr>
          <p:cNvPr id="8" name="Picture 7" descr="core_v3_metrics_explained.png"/>
          <p:cNvPicPr>
            <a:picLocks noChangeAspect="1"/>
          </p:cNvPicPr>
          <p:nvPr/>
        </p:nvPicPr>
        <p:blipFill>
          <a:blip r:embed="rId2"/>
          <a:stretch>
            <a:fillRect/>
          </a:stretch>
        </p:blipFill>
        <p:spPr>
          <a:xfrm>
            <a:off x="2470251" y="1645920"/>
            <a:ext cx="7251192" cy="2788920"/>
          </a:xfrm>
          <a:prstGeom prst="rect">
            <a:avLst/>
          </a:prstGeom>
        </p:spPr>
      </p:pic>
      <p:sp>
        <p:nvSpPr>
          <p:cNvPr id="9" name="TextBox 8"/>
          <p:cNvSpPr txBox="1"/>
          <p:nvPr/>
        </p:nvSpPr>
        <p:spPr>
          <a:xfrm>
            <a:off x="566928" y="4526280"/>
            <a:ext cx="11057839"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統合 HV</a:t>
            </a:r>
            <a:r>
              <a:rPr sz="1550" b="0" i="0">
                <a:solidFill>
                  <a:srgbClr val="26303A"/>
                </a:solidFill>
                <a:latin typeface="Meiryo"/>
                <a:ea typeface="Meiryo"/>
              </a:rPr>
              <a:t>：全領域の hypervolume ＝ 総合品質。</a:t>
            </a:r>
          </a:p>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高安定 HV</a:t>
            </a:r>
            <a:r>
              <a:rPr sz="1550" b="0" i="0">
                <a:solidFill>
                  <a:srgbClr val="26303A"/>
                </a:solidFill>
                <a:latin typeface="Meiryo"/>
                <a:ea typeface="Meiryo"/>
              </a:rPr>
              <a:t>：</a:t>
            </a:r>
            <a:r>
              <a:rPr sz="1550" b="0" i="1">
                <a:solidFill>
                  <a:srgbClr val="26303A"/>
                </a:solidFill>
                <a:latin typeface="Meiryo"/>
                <a:ea typeface="Meiryo"/>
              </a:rPr>
              <a:t>D&lt;</a:t>
            </a:r>
            <a:r>
              <a:rPr sz="1550" b="0" i="0">
                <a:solidFill>
                  <a:srgbClr val="26303A"/>
                </a:solidFill>
                <a:latin typeface="Meiryo"/>
                <a:ea typeface="Meiryo"/>
              </a:rPr>
              <a:t>P50（</a:t>
            </a:r>
            <a:r>
              <a:rPr sz="1550" b="0" i="1">
                <a:solidFill>
                  <a:srgbClr val="26303A"/>
                </a:solidFill>
                <a:latin typeface="Meiryo"/>
                <a:ea typeface="Meiryo"/>
              </a:rPr>
              <a:t>S</a:t>
            </a:r>
            <a:r>
              <a:rPr sz="1116" b="0" i="1" baseline="-22000">
                <a:solidFill>
                  <a:srgbClr val="26303A"/>
                </a:solidFill>
                <a:latin typeface="Meiryo"/>
                <a:ea typeface="Meiryo"/>
              </a:rPr>
              <a:t>p</a:t>
            </a:r>
            <a:r>
              <a:rPr sz="1550" b="0" i="0">
                <a:solidFill>
                  <a:srgbClr val="26303A"/>
                </a:solidFill>
                <a:latin typeface="Meiryo"/>
                <a:ea typeface="Meiryo"/>
              </a:rPr>
              <a:t> 近傍）に限定 ＝ </a:t>
            </a:r>
            <a:r>
              <a:rPr sz="1550" b="1" i="0">
                <a:solidFill>
                  <a:srgbClr val="16385C"/>
                </a:solidFill>
                <a:latin typeface="Meiryo"/>
                <a:ea typeface="Meiryo"/>
              </a:rPr>
              <a:t>本命の充填度</a:t>
            </a:r>
            <a:r>
              <a:rPr sz="1550" b="0" i="0">
                <a:solidFill>
                  <a:srgbClr val="26303A"/>
                </a:solidFill>
                <a:latin typeface="Meiryo"/>
                <a:ea typeface="Meiryo"/>
              </a:rPr>
              <a:t>。</a:t>
            </a:r>
          </a:p>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AOC</a:t>
            </a:r>
            <a:r>
              <a:rPr sz="1550" b="0" i="0">
                <a:solidFill>
                  <a:srgbClr val="26303A"/>
                </a:solidFill>
                <a:latin typeface="Meiryo"/>
                <a:ea typeface="Meiryo"/>
              </a:rPr>
              <a:t>：HV-対-log 時間曲線の時間平均 ＝ アンタイム（速さ）。</a:t>
            </a:r>
          </a:p>
        </p:txBody>
      </p:sp>
      <p:sp>
        <p:nvSpPr>
          <p:cNvPr id="10" name="TextBox 9"/>
          <p:cNvSpPr txBox="1"/>
          <p:nvPr/>
        </p:nvSpPr>
        <p:spPr>
          <a:xfrm>
            <a:off x="566928" y="5989320"/>
            <a:ext cx="11057839" cy="365760"/>
          </a:xfrm>
          <a:prstGeom prst="rect">
            <a:avLst/>
          </a:prstGeom>
          <a:noFill/>
        </p:spPr>
        <p:txBody>
          <a:bodyPr wrap="square" lIns="18288" tIns="9144" rIns="18288" bIns="9144" anchor="t">
            <a:spAutoFit/>
          </a:bodyPr>
          <a:lstStyle/>
          <a:p>
            <a:pPr>
              <a:lnSpc>
                <a:spcPct val="106000"/>
              </a:lnSpc>
              <a:spcBef>
                <a:spcPts val="400"/>
              </a:spcBef>
            </a:pPr>
            <a:r>
              <a:rPr sz="1200" b="0" i="0">
                <a:solidFill>
                  <a:srgbClr val="6E7A88"/>
                </a:solidFill>
                <a:latin typeface="Meiryo"/>
                <a:ea typeface="Meiryo"/>
              </a:rPr>
              <a:t>HV は各シナリオで </a:t>
            </a:r>
            <a:r>
              <a:rPr sz="1200" b="0" i="1">
                <a:solidFill>
                  <a:srgbClr val="6E7A88"/>
                </a:solidFill>
                <a:latin typeface="Meiryo"/>
                <a:ea typeface="Meiryo"/>
              </a:rPr>
              <a:t>[0,1]</a:t>
            </a:r>
            <a:r>
              <a:rPr sz="864" b="0" i="1" baseline="30000">
                <a:solidFill>
                  <a:srgbClr val="6E7A88"/>
                </a:solidFill>
                <a:latin typeface="Meiryo"/>
                <a:ea typeface="Meiryo"/>
              </a:rPr>
              <a:t>2</a:t>
            </a:r>
            <a:r>
              <a:rPr sz="1200" b="0" i="0">
                <a:solidFill>
                  <a:srgbClr val="6E7A88"/>
                </a:solidFill>
                <a:latin typeface="Meiryo"/>
                <a:ea typeface="Meiryo"/>
              </a:rPr>
              <a:t> 正規化＋参照点 </a:t>
            </a:r>
            <a:r>
              <a:rPr sz="1200" b="0" i="1">
                <a:solidFill>
                  <a:srgbClr val="6E7A88"/>
                </a:solidFill>
                <a:latin typeface="Meiryo"/>
                <a:ea typeface="Meiryo"/>
              </a:rPr>
              <a:t>(1.1,1.1)</a:t>
            </a:r>
            <a:r>
              <a:rPr sz="1200" b="0" i="0">
                <a:solidFill>
                  <a:srgbClr val="6E7A88"/>
                </a:solidFill>
                <a:latin typeface="Meiryo"/>
                <a:ea typeface="Meiryo"/>
              </a:rPr>
              <a:t>。統計は片側 Wilcoxon＋Cliff's δ、横断は Friedman 平均順位＋Kendall's W（探索的要約）。|δ|=1.0 は完全分離（p≈0.001）。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1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51560" y="2148840"/>
            <a:ext cx="1554480" cy="1371600"/>
          </a:xfrm>
          <a:prstGeom prst="rect">
            <a:avLst/>
          </a:prstGeom>
          <a:noFill/>
        </p:spPr>
        <p:txBody>
          <a:bodyPr wrap="square" lIns="18288" tIns="9144" rIns="18288" bIns="9144" anchor="ctr">
            <a:spAutoFit/>
          </a:bodyPr>
          <a:lstStyle/>
          <a:p>
            <a:r>
              <a:rPr sz="7800" b="1" i="0">
                <a:solidFill>
                  <a:srgbClr val="3E618C"/>
                </a:solidFill>
                <a:latin typeface="Meiryo"/>
                <a:ea typeface="Meiryo"/>
              </a:rPr>
              <a:t>4</a:t>
            </a:r>
          </a:p>
        </p:txBody>
      </p:sp>
      <p:sp>
        <p:nvSpPr>
          <p:cNvPr id="4" name="TextBox 3"/>
          <p:cNvSpPr txBox="1"/>
          <p:nvPr/>
        </p:nvSpPr>
        <p:spPr>
          <a:xfrm>
            <a:off x="2514600" y="2148840"/>
            <a:ext cx="8899855" cy="1371600"/>
          </a:xfrm>
          <a:prstGeom prst="rect">
            <a:avLst/>
          </a:prstGeom>
          <a:noFill/>
        </p:spPr>
        <p:txBody>
          <a:bodyPr wrap="square" lIns="18288" tIns="9144" rIns="18288" bIns="9144" anchor="ctr">
            <a:spAutoFit/>
          </a:bodyPr>
          <a:lstStyle/>
          <a:p>
            <a:r>
              <a:rPr sz="3000" b="1" i="0">
                <a:solidFill>
                  <a:srgbClr val="FFFFFF"/>
                </a:solidFill>
                <a:latin typeface="Meiryo"/>
                <a:ea typeface="Meiryo"/>
              </a:rPr>
              <a:t>計算機実験</a:t>
            </a:r>
          </a:p>
          <a:p>
            <a:pPr>
              <a:spcBef>
                <a:spcPts val="1000"/>
              </a:spcBef>
            </a:pPr>
            <a:r>
              <a:rPr sz="1400" b="0" i="0">
                <a:solidFill>
                  <a:srgbClr val="AFC2D8"/>
                </a:solidFill>
                <a:latin typeface="Meiryo"/>
                <a:ea typeface="Meiryo"/>
              </a:rPr>
              <a:t>H1（適合性）・H2（非対称効果）・総合スコアボード</a:t>
            </a:r>
          </a:p>
        </p:txBody>
      </p:sp>
      <p:cxnSp>
        <p:nvCxnSpPr>
          <p:cNvPr id="5" name="Connector 4"/>
          <p:cNvCxnSpPr/>
          <p:nvPr/>
        </p:nvCxnSpPr>
        <p:spPr>
          <a:xfrm>
            <a:off x="2542032" y="3913632"/>
            <a:ext cx="4754880" cy="0"/>
          </a:xfrm>
          <a:prstGeom prst="bentConnector3">
            <a:avLst/>
          </a:prstGeom>
          <a:ln w="15875">
            <a:solidFill>
              <a:srgbClr val="3E618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4.1 実験設定</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66928" y="1060704"/>
            <a:ext cx="59436" cy="310896"/>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042415"/>
            <a:ext cx="10856671" cy="384048"/>
          </a:xfrm>
          <a:prstGeom prst="rect">
            <a:avLst/>
          </a:prstGeom>
          <a:noFill/>
        </p:spPr>
        <p:txBody>
          <a:bodyPr wrap="square" lIns="18288" tIns="9144" rIns="18288" bIns="9144" anchor="ctr">
            <a:spAutoFit/>
          </a:bodyPr>
          <a:lstStyle/>
          <a:p>
            <a:pPr>
              <a:lnSpc>
                <a:spcPct val="100000"/>
              </a:lnSpc>
            </a:pPr>
            <a:r>
              <a:rPr sz="1500" b="1" i="0">
                <a:solidFill>
                  <a:srgbClr val="16385C"/>
                </a:solidFill>
                <a:latin typeface="Meiryo"/>
                <a:ea typeface="Meiryo"/>
              </a:rPr>
              <a:t>同一 </a:t>
            </a:r>
            <a:r>
              <a:rPr sz="1500" b="1" i="1">
                <a:solidFill>
                  <a:srgbClr val="16385C"/>
                </a:solidFill>
                <a:latin typeface="Meiryo"/>
                <a:ea typeface="Meiryo"/>
              </a:rPr>
              <a:t>S</a:t>
            </a:r>
            <a:r>
              <a:rPr sz="1080" b="1" i="1" baseline="-22000">
                <a:solidFill>
                  <a:srgbClr val="16385C"/>
                </a:solidFill>
                <a:latin typeface="Meiryo"/>
                <a:ea typeface="Meiryo"/>
              </a:rPr>
              <a:t>p</a:t>
            </a:r>
            <a:r>
              <a:rPr sz="1500" b="1" i="0">
                <a:solidFill>
                  <a:srgbClr val="16385C"/>
                </a:solidFill>
                <a:latin typeface="Meiryo"/>
                <a:ea typeface="Meiryo"/>
              </a:rPr>
              <a:t> のまま再スケ率 ρ だけを段階変化させ、手法差の ρ 依存を交絡なく切り分ける設計</a:t>
            </a:r>
          </a:p>
        </p:txBody>
      </p:sp>
      <p:sp>
        <p:nvSpPr>
          <p:cNvPr id="6" name="TextBox 5"/>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4. 計算機実験</a:t>
            </a:r>
          </a:p>
        </p:txBody>
      </p:sp>
      <p:sp>
        <p:nvSpPr>
          <p:cNvPr id="7" name="TextBox 6"/>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15</a:t>
            </a:r>
          </a:p>
        </p:txBody>
      </p:sp>
      <p:graphicFrame>
        <p:nvGraphicFramePr>
          <p:cNvPr id="8" name="Table 7"/>
          <p:cNvGraphicFramePr>
            <a:graphicFrameLocks noGrp="1"/>
          </p:cNvGraphicFramePr>
          <p:nvPr/>
        </p:nvGraphicFramePr>
        <p:xfrm>
          <a:off x="566928" y="1645920"/>
          <a:ext cx="11057837" cy="905256"/>
        </p:xfrm>
        <a:graphic>
          <a:graphicData uri="http://schemas.openxmlformats.org/drawingml/2006/table">
            <a:tbl>
              <a:tblPr>
                <a:tableStyleId>{5940675A-B579-460E-94D1-54222C63F5DA}</a:tableStyleId>
              </a:tblPr>
              <a:tblGrid>
                <a:gridCol w="2866847">
                  <a:extLst>
                    <a:ext uri="{9D8B030D-6E8A-4147-A177-3AD203B41FA5}">
                      <a16:colId xmlns:a16="http://schemas.microsoft.com/office/drawing/2014/main" val="20000"/>
                    </a:ext>
                  </a:extLst>
                </a:gridCol>
                <a:gridCol w="2730330">
                  <a:extLst>
                    <a:ext uri="{9D8B030D-6E8A-4147-A177-3AD203B41FA5}">
                      <a16:colId xmlns:a16="http://schemas.microsoft.com/office/drawing/2014/main" val="20001"/>
                    </a:ext>
                  </a:extLst>
                </a:gridCol>
                <a:gridCol w="2730330">
                  <a:extLst>
                    <a:ext uri="{9D8B030D-6E8A-4147-A177-3AD203B41FA5}">
                      <a16:colId xmlns:a16="http://schemas.microsoft.com/office/drawing/2014/main" val="20002"/>
                    </a:ext>
                  </a:extLst>
                </a:gridCol>
                <a:gridCol w="2730330">
                  <a:extLst>
                    <a:ext uri="{9D8B030D-6E8A-4147-A177-3AD203B41FA5}">
                      <a16:colId xmlns:a16="http://schemas.microsoft.com/office/drawing/2014/main" val="20003"/>
                    </a:ext>
                  </a:extLst>
                </a:gridCol>
              </a:tblGrid>
              <a:tr h="301752">
                <a:tc>
                  <a:txBody>
                    <a:bodyPr/>
                    <a:lstStyle/>
                    <a:p>
                      <a:pPr algn="l"/>
                      <a:r>
                        <a:rPr sz="1200" b="1" i="0">
                          <a:solidFill>
                            <a:srgbClr val="FFFFFF"/>
                          </a:solidFill>
                          <a:latin typeface="Meiryo"/>
                          <a:ea typeface="Meiryo"/>
                        </a:rPr>
                        <a:t>対象 7 手法</a:t>
                      </a:r>
                    </a:p>
                  </a:txBody>
                  <a:tcPr marL="82296" marR="54864" marT="18288" marB="18288" anchor="ctr">
                    <a:solidFill>
                      <a:srgbClr val="16385C"/>
                    </a:solidFill>
                  </a:tcPr>
                </a:tc>
                <a:tc>
                  <a:txBody>
                    <a:bodyPr/>
                    <a:lstStyle/>
                    <a:p>
                      <a:pPr algn="ctr"/>
                      <a:r>
                        <a:rPr sz="1200" b="1" i="0">
                          <a:solidFill>
                            <a:srgbClr val="FFFFFF"/>
                          </a:solidFill>
                          <a:latin typeface="Meiryo"/>
                          <a:ea typeface="Meiryo"/>
                        </a:rPr>
                        <a:t>baseline</a:t>
                      </a:r>
                    </a:p>
                  </a:txBody>
                  <a:tcPr marL="82296" marR="54864" marT="18288" marB="18288" anchor="ctr">
                    <a:solidFill>
                      <a:srgbClr val="16385C"/>
                    </a:solidFill>
                  </a:tcPr>
                </a:tc>
                <a:tc>
                  <a:txBody>
                    <a:bodyPr/>
                    <a:lstStyle/>
                    <a:p>
                      <a:pPr algn="ctr"/>
                      <a:r>
                        <a:rPr sz="1200" b="1" i="0">
                          <a:solidFill>
                            <a:srgbClr val="FFFFFF"/>
                          </a:solidFill>
                          <a:latin typeface="Meiryo"/>
                          <a:ea typeface="Meiryo"/>
                        </a:rPr>
                        <a:t>＋ repair</a:t>
                      </a:r>
                    </a:p>
                  </a:txBody>
                  <a:tcPr marL="82296" marR="54864" marT="18288" marB="18288" anchor="ctr">
                    <a:solidFill>
                      <a:srgbClr val="16385C"/>
                    </a:solidFill>
                  </a:tcPr>
                </a:tc>
                <a:tc>
                  <a:txBody>
                    <a:bodyPr/>
                    <a:lstStyle/>
                    <a:p>
                      <a:pPr algn="ctr"/>
                      <a:r>
                        <a:rPr sz="1200" b="1" i="0">
                          <a:solidFill>
                            <a:srgbClr val="FFFFFF"/>
                          </a:solidFill>
                          <a:latin typeface="Meiryo"/>
                          <a:ea typeface="Meiryo"/>
                        </a:rPr>
                        <a:t>＋ PR</a:t>
                      </a:r>
                    </a:p>
                  </a:txBody>
                  <a:tcPr marL="82296" marR="54864" marT="18288" marB="18288" anchor="ctr">
                    <a:solidFill>
                      <a:srgbClr val="16385C"/>
                    </a:solidFill>
                  </a:tcPr>
                </a:tc>
                <a:extLst>
                  <a:ext uri="{0D108BD9-81ED-4DB2-BD59-A6C34878D82A}">
                    <a16:rowId xmlns:a16="http://schemas.microsoft.com/office/drawing/2014/main" val="10000"/>
                  </a:ext>
                </a:extLst>
              </a:tr>
              <a:tr h="301752">
                <a:tc>
                  <a:txBody>
                    <a:bodyPr/>
                    <a:lstStyle/>
                    <a:p>
                      <a:pPr algn="l"/>
                      <a:r>
                        <a:rPr sz="1200" b="0" i="0">
                          <a:solidFill>
                            <a:srgbClr val="26303A"/>
                          </a:solidFill>
                          <a:latin typeface="Meiryo"/>
                          <a:ea typeface="Meiryo"/>
                        </a:rPr>
                        <a:t>軌道（ILS）</a:t>
                      </a:r>
                    </a:p>
                  </a:txBody>
                  <a:tcPr marL="82296" marR="54864" marT="18288" marB="18288" anchor="ctr">
                    <a:solidFill>
                      <a:srgbClr val="FFFFFF"/>
                    </a:solidFill>
                  </a:tcPr>
                </a:tc>
                <a:tc>
                  <a:txBody>
                    <a:bodyPr/>
                    <a:lstStyle/>
                    <a:p>
                      <a:pPr algn="ctr"/>
                      <a:r>
                        <a:rPr sz="1200" b="0" i="0">
                          <a:solidFill>
                            <a:srgbClr val="26303A"/>
                          </a:solidFill>
                          <a:latin typeface="Meiryo"/>
                          <a:ea typeface="Meiryo"/>
                        </a:rPr>
                        <a:t>ILS-baseline</a:t>
                      </a:r>
                    </a:p>
                  </a:txBody>
                  <a:tcPr marL="82296" marR="54864" marT="18288" marB="18288" anchor="ctr">
                    <a:solidFill>
                      <a:srgbClr val="FFFFFF"/>
                    </a:solidFill>
                  </a:tcPr>
                </a:tc>
                <a:tc>
                  <a:txBody>
                    <a:bodyPr/>
                    <a:lstStyle/>
                    <a:p>
                      <a:pPr algn="ctr"/>
                      <a:r>
                        <a:rPr sz="1200" b="0" i="0">
                          <a:solidFill>
                            <a:srgbClr val="26303A"/>
                          </a:solidFill>
                          <a:latin typeface="Meiryo"/>
                          <a:ea typeface="Meiryo"/>
                        </a:rPr>
                        <a:t>ILS+repair</a:t>
                      </a:r>
                    </a:p>
                  </a:txBody>
                  <a:tcPr marL="82296" marR="54864" marT="18288" marB="18288" anchor="ctr">
                    <a:solidFill>
                      <a:srgbClr val="FFFFFF"/>
                    </a:solidFill>
                  </a:tcPr>
                </a:tc>
                <a:tc>
                  <a:txBody>
                    <a:bodyPr/>
                    <a:lstStyle/>
                    <a:p>
                      <a:pPr algn="ctr"/>
                      <a:r>
                        <a:rPr sz="1200" b="0" i="0">
                          <a:solidFill>
                            <a:srgbClr val="26303A"/>
                          </a:solidFill>
                          <a:latin typeface="Meiryo"/>
                          <a:ea typeface="Meiryo"/>
                        </a:rPr>
                        <a:t>ILS+PR</a:t>
                      </a:r>
                    </a:p>
                  </a:txBody>
                  <a:tcPr marL="82296" marR="54864" marT="18288" marB="18288" anchor="ctr">
                    <a:solidFill>
                      <a:srgbClr val="FFFFFF"/>
                    </a:solidFill>
                  </a:tcPr>
                </a:tc>
                <a:extLst>
                  <a:ext uri="{0D108BD9-81ED-4DB2-BD59-A6C34878D82A}">
                    <a16:rowId xmlns:a16="http://schemas.microsoft.com/office/drawing/2014/main" val="10001"/>
                  </a:ext>
                </a:extLst>
              </a:tr>
              <a:tr h="301752">
                <a:tc>
                  <a:txBody>
                    <a:bodyPr/>
                    <a:lstStyle/>
                    <a:p>
                      <a:pPr algn="l"/>
                      <a:r>
                        <a:rPr sz="1200" b="0" i="0">
                          <a:solidFill>
                            <a:srgbClr val="26303A"/>
                          </a:solidFill>
                          <a:latin typeface="Meiryo"/>
                          <a:ea typeface="Meiryo"/>
                        </a:rPr>
                        <a:t>集団（Memetic）</a:t>
                      </a:r>
                    </a:p>
                  </a:txBody>
                  <a:tcPr marL="82296" marR="54864" marT="18288" marB="18288" anchor="ctr">
                    <a:solidFill>
                      <a:srgbClr val="F6F9FB"/>
                    </a:solidFill>
                  </a:tcPr>
                </a:tc>
                <a:tc>
                  <a:txBody>
                    <a:bodyPr/>
                    <a:lstStyle/>
                    <a:p>
                      <a:pPr algn="ctr"/>
                      <a:r>
                        <a:rPr sz="1200" b="0" i="0">
                          <a:solidFill>
                            <a:srgbClr val="26303A"/>
                          </a:solidFill>
                          <a:latin typeface="Meiryo"/>
                          <a:ea typeface="Meiryo"/>
                        </a:rPr>
                        <a:t>Memetic-LS</a:t>
                      </a:r>
                    </a:p>
                  </a:txBody>
                  <a:tcPr marL="82296" marR="54864" marT="18288" marB="18288" anchor="ctr">
                    <a:solidFill>
                      <a:srgbClr val="F6F9FB"/>
                    </a:solidFill>
                  </a:tcPr>
                </a:tc>
                <a:tc>
                  <a:txBody>
                    <a:bodyPr/>
                    <a:lstStyle/>
                    <a:p>
                      <a:pPr algn="ctr"/>
                      <a:r>
                        <a:rPr sz="1200" b="0" i="0">
                          <a:solidFill>
                            <a:srgbClr val="26303A"/>
                          </a:solidFill>
                          <a:latin typeface="Meiryo"/>
                          <a:ea typeface="Meiryo"/>
                        </a:rPr>
                        <a:t>Memetic+repair</a:t>
                      </a:r>
                    </a:p>
                  </a:txBody>
                  <a:tcPr marL="82296" marR="54864" marT="18288" marB="18288" anchor="ctr">
                    <a:solidFill>
                      <a:srgbClr val="F6F9FB"/>
                    </a:solidFill>
                  </a:tcPr>
                </a:tc>
                <a:tc>
                  <a:txBody>
                    <a:bodyPr/>
                    <a:lstStyle/>
                    <a:p>
                      <a:pPr algn="ctr"/>
                      <a:r>
                        <a:rPr sz="1200" b="0" i="0">
                          <a:solidFill>
                            <a:srgbClr val="26303A"/>
                          </a:solidFill>
                          <a:latin typeface="Meiryo"/>
                          <a:ea typeface="Meiryo"/>
                        </a:rPr>
                        <a:t>Memetic+PR</a:t>
                      </a:r>
                    </a:p>
                  </a:txBody>
                  <a:tcPr marL="82296" marR="54864" marT="18288" marB="18288" anchor="ctr">
                    <a:solidFill>
                      <a:srgbClr val="F6F9FB"/>
                    </a:solidFill>
                  </a:tcPr>
                </a:tc>
                <a:extLst>
                  <a:ext uri="{0D108BD9-81ED-4DB2-BD59-A6C34878D82A}">
                    <a16:rowId xmlns:a16="http://schemas.microsoft.com/office/drawing/2014/main" val="10002"/>
                  </a:ext>
                </a:extLst>
              </a:tr>
            </a:tbl>
          </a:graphicData>
        </a:graphic>
      </p:graphicFrame>
      <p:sp>
        <p:nvSpPr>
          <p:cNvPr id="9" name="TextBox 8"/>
          <p:cNvSpPr txBox="1"/>
          <p:nvPr/>
        </p:nvSpPr>
        <p:spPr>
          <a:xfrm>
            <a:off x="566928" y="2734056"/>
            <a:ext cx="11057839" cy="365760"/>
          </a:xfrm>
          <a:prstGeom prst="rect">
            <a:avLst/>
          </a:prstGeom>
          <a:noFill/>
        </p:spPr>
        <p:txBody>
          <a:bodyPr wrap="square" lIns="18288" tIns="9144" rIns="18288" bIns="9144" anchor="t">
            <a:spAutoFit/>
          </a:bodyPr>
          <a:lstStyle/>
          <a:p>
            <a:pPr lvl="1">
              <a:lnSpc>
                <a:spcPct val="106000"/>
              </a:lnSpc>
              <a:spcBef>
                <a:spcPts val="300"/>
              </a:spcBef>
            </a:pPr>
            <a:r>
              <a:rPr sz="1200" b="0" i="0">
                <a:solidFill>
                  <a:srgbClr val="6E7A88"/>
                </a:solidFill>
                <a:latin typeface="Meiryo"/>
                <a:ea typeface="Meiryo"/>
              </a:rPr>
              <a:t>－ </a:t>
            </a:r>
            <a:r>
              <a:rPr sz="1400" b="0" i="0">
                <a:solidFill>
                  <a:srgbClr val="26303A"/>
                </a:solidFill>
                <a:latin typeface="Meiryo"/>
                <a:ea typeface="Meiryo"/>
              </a:rPr>
              <a:t>＋ </a:t>
            </a:r>
            <a:r>
              <a:rPr sz="1400" b="1" i="0">
                <a:solidFill>
                  <a:srgbClr val="16385C"/>
                </a:solidFill>
                <a:latin typeface="Meiryo"/>
                <a:ea typeface="Meiryo"/>
              </a:rPr>
              <a:t>GA</a:t>
            </a:r>
            <a:r>
              <a:rPr sz="1400" b="0" i="0">
                <a:solidFill>
                  <a:srgbClr val="26303A"/>
                </a:solidFill>
                <a:latin typeface="Meiryo"/>
                <a:ea typeface="Meiryo"/>
              </a:rPr>
              <a:t>（局所探索なしの参考ベースライン）で計 </a:t>
            </a:r>
            <a:r>
              <a:rPr sz="1400" b="1" i="0">
                <a:solidFill>
                  <a:srgbClr val="16385C"/>
                </a:solidFill>
                <a:latin typeface="Meiryo"/>
                <a:ea typeface="Meiryo"/>
              </a:rPr>
              <a:t>7 手法</a:t>
            </a:r>
            <a:r>
              <a:rPr sz="1400" b="0" i="0">
                <a:solidFill>
                  <a:srgbClr val="26303A"/>
                </a:solidFill>
                <a:latin typeface="Meiryo"/>
                <a:ea typeface="Meiryo"/>
              </a:rPr>
              <a:t>。</a:t>
            </a:r>
            <a:r>
              <a:rPr sz="1400" b="0" i="1">
                <a:solidFill>
                  <a:srgbClr val="26303A"/>
                </a:solidFill>
                <a:latin typeface="Meiryo"/>
                <a:ea typeface="Meiryo"/>
              </a:rPr>
              <a:t>S</a:t>
            </a:r>
            <a:r>
              <a:rPr sz="1008" b="0" i="1" baseline="-22000">
                <a:solidFill>
                  <a:srgbClr val="26303A"/>
                </a:solidFill>
                <a:latin typeface="Meiryo"/>
                <a:ea typeface="Meiryo"/>
              </a:rPr>
              <a:t>p</a:t>
            </a:r>
            <a:r>
              <a:rPr sz="1400" b="0" i="0">
                <a:solidFill>
                  <a:srgbClr val="26303A"/>
                </a:solidFill>
                <a:latin typeface="Meiryo"/>
                <a:ea typeface="Meiryo"/>
              </a:rPr>
              <a:t>（GA-500 の高品質解）を全手法で共有。</a:t>
            </a:r>
          </a:p>
        </p:txBody>
      </p:sp>
      <p:graphicFrame>
        <p:nvGraphicFramePr>
          <p:cNvPr id="10" name="Table 9"/>
          <p:cNvGraphicFramePr>
            <a:graphicFrameLocks noGrp="1"/>
          </p:cNvGraphicFramePr>
          <p:nvPr/>
        </p:nvGraphicFramePr>
        <p:xfrm>
          <a:off x="566928" y="3547872"/>
          <a:ext cx="5242410" cy="1508760"/>
        </p:xfrm>
        <a:graphic>
          <a:graphicData uri="http://schemas.openxmlformats.org/drawingml/2006/table">
            <a:tbl>
              <a:tblPr>
                <a:tableStyleId>{5940675A-B579-460E-94D1-54222C63F5DA}</a:tableStyleId>
              </a:tblPr>
              <a:tblGrid>
                <a:gridCol w="1677571">
                  <a:extLst>
                    <a:ext uri="{9D8B030D-6E8A-4147-A177-3AD203B41FA5}">
                      <a16:colId xmlns:a16="http://schemas.microsoft.com/office/drawing/2014/main" val="20000"/>
                    </a:ext>
                  </a:extLst>
                </a:gridCol>
                <a:gridCol w="3564839">
                  <a:extLst>
                    <a:ext uri="{9D8B030D-6E8A-4147-A177-3AD203B41FA5}">
                      <a16:colId xmlns:a16="http://schemas.microsoft.com/office/drawing/2014/main" val="20001"/>
                    </a:ext>
                  </a:extLst>
                </a:gridCol>
              </a:tblGrid>
              <a:tr h="301752">
                <a:tc>
                  <a:txBody>
                    <a:bodyPr/>
                    <a:lstStyle/>
                    <a:p>
                      <a:pPr algn="l"/>
                      <a:r>
                        <a:rPr sz="1100" b="1" i="0">
                          <a:solidFill>
                            <a:srgbClr val="FFFFFF"/>
                          </a:solidFill>
                          <a:latin typeface="Meiryo"/>
                          <a:ea typeface="Meiryo"/>
                        </a:rPr>
                        <a:t>項目</a:t>
                      </a:r>
                    </a:p>
                  </a:txBody>
                  <a:tcPr marL="82296" marR="54864" marT="18288" marB="18288" anchor="ctr">
                    <a:solidFill>
                      <a:srgbClr val="16385C"/>
                    </a:solidFill>
                  </a:tcPr>
                </a:tc>
                <a:tc>
                  <a:txBody>
                    <a:bodyPr/>
                    <a:lstStyle/>
                    <a:p>
                      <a:pPr algn="ctr"/>
                      <a:r>
                        <a:rPr sz="1100" b="1" i="0">
                          <a:solidFill>
                            <a:srgbClr val="FFFFFF"/>
                          </a:solidFill>
                          <a:latin typeface="Meiryo"/>
                          <a:ea typeface="Meiryo"/>
                        </a:rPr>
                        <a:t>設定</a:t>
                      </a:r>
                    </a:p>
                  </a:txBody>
                  <a:tcPr marL="82296" marR="54864" marT="18288" marB="18288" anchor="ctr">
                    <a:solidFill>
                      <a:srgbClr val="16385C"/>
                    </a:solidFill>
                  </a:tcPr>
                </a:tc>
                <a:extLst>
                  <a:ext uri="{0D108BD9-81ED-4DB2-BD59-A6C34878D82A}">
                    <a16:rowId xmlns:a16="http://schemas.microsoft.com/office/drawing/2014/main" val="10000"/>
                  </a:ext>
                </a:extLst>
              </a:tr>
              <a:tr h="301752">
                <a:tc>
                  <a:txBody>
                    <a:bodyPr/>
                    <a:lstStyle/>
                    <a:p>
                      <a:pPr algn="l"/>
                      <a:r>
                        <a:rPr sz="1100" b="0" i="0">
                          <a:solidFill>
                            <a:srgbClr val="26303A"/>
                          </a:solidFill>
                          <a:latin typeface="Meiryo"/>
                          <a:ea typeface="Meiryo"/>
                        </a:rPr>
                        <a:t>インスタンス</a:t>
                      </a:r>
                    </a:p>
                  </a:txBody>
                  <a:tcPr marL="82296" marR="54864" marT="18288" marB="18288" anchor="ctr">
                    <a:solidFill>
                      <a:srgbClr val="FFFFFF"/>
                    </a:solidFill>
                  </a:tcPr>
                </a:tc>
                <a:tc>
                  <a:txBody>
                    <a:bodyPr/>
                    <a:lstStyle/>
                    <a:p>
                      <a:pPr algn="ctr"/>
                      <a:r>
                        <a:rPr sz="1100" b="0" i="0">
                          <a:solidFill>
                            <a:srgbClr val="26303A"/>
                          </a:solidFill>
                          <a:latin typeface="Meiryo"/>
                          <a:ea typeface="Meiryo"/>
                        </a:rPr>
                        <a:t>mt10・la21・la36・la40・ta21</a:t>
                      </a:r>
                    </a:p>
                  </a:txBody>
                  <a:tcPr marL="82296" marR="54864" marT="18288" marB="18288" anchor="ctr">
                    <a:solidFill>
                      <a:srgbClr val="FFFFFF"/>
                    </a:solidFill>
                  </a:tcPr>
                </a:tc>
                <a:extLst>
                  <a:ext uri="{0D108BD9-81ED-4DB2-BD59-A6C34878D82A}">
                    <a16:rowId xmlns:a16="http://schemas.microsoft.com/office/drawing/2014/main" val="10001"/>
                  </a:ext>
                </a:extLst>
              </a:tr>
              <a:tr h="301752">
                <a:tc>
                  <a:txBody>
                    <a:bodyPr/>
                    <a:lstStyle/>
                    <a:p>
                      <a:pPr algn="l"/>
                      <a:r>
                        <a:rPr sz="1100" b="0" i="0">
                          <a:solidFill>
                            <a:srgbClr val="26303A"/>
                          </a:solidFill>
                          <a:latin typeface="Meiryo"/>
                          <a:ea typeface="Meiryo"/>
                        </a:rPr>
                        <a:t>重み λ</a:t>
                      </a:r>
                    </a:p>
                  </a:txBody>
                  <a:tcPr marL="82296" marR="54864" marT="18288" marB="18288" anchor="ctr">
                    <a:solidFill>
                      <a:srgbClr val="F6F9FB"/>
                    </a:solidFill>
                  </a:tcPr>
                </a:tc>
                <a:tc>
                  <a:txBody>
                    <a:bodyPr/>
                    <a:lstStyle/>
                    <a:p>
                      <a:pPr algn="ctr"/>
                      <a:r>
                        <a:rPr sz="1100" b="0" i="0">
                          <a:solidFill>
                            <a:srgbClr val="26303A"/>
                          </a:solidFill>
                          <a:latin typeface="Meiryo"/>
                          <a:ea typeface="Meiryo"/>
                        </a:rPr>
                        <a:t>10 点（0〜0.9・0.1 刻み）</a:t>
                      </a:r>
                    </a:p>
                  </a:txBody>
                  <a:tcPr marL="82296" marR="54864" marT="18288" marB="18288" anchor="ctr">
                    <a:solidFill>
                      <a:srgbClr val="F6F9FB"/>
                    </a:solidFill>
                  </a:tcPr>
                </a:tc>
                <a:extLst>
                  <a:ext uri="{0D108BD9-81ED-4DB2-BD59-A6C34878D82A}">
                    <a16:rowId xmlns:a16="http://schemas.microsoft.com/office/drawing/2014/main" val="10002"/>
                  </a:ext>
                </a:extLst>
              </a:tr>
              <a:tr h="301752">
                <a:tc>
                  <a:txBody>
                    <a:bodyPr/>
                    <a:lstStyle/>
                    <a:p>
                      <a:pPr algn="l"/>
                      <a:r>
                        <a:rPr sz="1100" b="0" i="0">
                          <a:solidFill>
                            <a:srgbClr val="26303A"/>
                          </a:solidFill>
                          <a:latin typeface="Meiryo"/>
                          <a:ea typeface="Meiryo"/>
                        </a:rPr>
                        <a:t>Trial</a:t>
                      </a:r>
                    </a:p>
                  </a:txBody>
                  <a:tcPr marL="82296" marR="54864" marT="18288" marB="18288" anchor="ctr">
                    <a:solidFill>
                      <a:srgbClr val="FFFFFF"/>
                    </a:solidFill>
                  </a:tcPr>
                </a:tc>
                <a:tc>
                  <a:txBody>
                    <a:bodyPr/>
                    <a:lstStyle/>
                    <a:p>
                      <a:pPr algn="ctr"/>
                      <a:r>
                        <a:rPr sz="1100" b="0" i="0">
                          <a:solidFill>
                            <a:srgbClr val="26303A"/>
                          </a:solidFill>
                          <a:latin typeface="Meiryo"/>
                          <a:ea typeface="Meiryo"/>
                        </a:rPr>
                        <a:t>n=10（解析単位＝1 trial）</a:t>
                      </a:r>
                    </a:p>
                  </a:txBody>
                  <a:tcPr marL="82296" marR="54864" marT="18288" marB="18288" anchor="ctr">
                    <a:solidFill>
                      <a:srgbClr val="FFFFFF"/>
                    </a:solidFill>
                  </a:tcPr>
                </a:tc>
                <a:extLst>
                  <a:ext uri="{0D108BD9-81ED-4DB2-BD59-A6C34878D82A}">
                    <a16:rowId xmlns:a16="http://schemas.microsoft.com/office/drawing/2014/main" val="10003"/>
                  </a:ext>
                </a:extLst>
              </a:tr>
              <a:tr h="301752">
                <a:tc>
                  <a:txBody>
                    <a:bodyPr/>
                    <a:lstStyle/>
                    <a:p>
                      <a:pPr algn="l"/>
                      <a:r>
                        <a:rPr sz="1100" b="0" i="0">
                          <a:solidFill>
                            <a:srgbClr val="26303A"/>
                          </a:solidFill>
                          <a:latin typeface="Meiryo"/>
                          <a:ea typeface="Meiryo"/>
                        </a:rPr>
                        <a:t>計算予算</a:t>
                      </a:r>
                    </a:p>
                  </a:txBody>
                  <a:tcPr marL="82296" marR="54864" marT="18288" marB="18288" anchor="ctr">
                    <a:solidFill>
                      <a:srgbClr val="F6F9FB"/>
                    </a:solidFill>
                  </a:tcPr>
                </a:tc>
                <a:tc>
                  <a:txBody>
                    <a:bodyPr/>
                    <a:lstStyle/>
                    <a:p>
                      <a:pPr algn="ctr"/>
                      <a:r>
                        <a:rPr sz="1100" b="0" i="0">
                          <a:solidFill>
                            <a:srgbClr val="26303A"/>
                          </a:solidFill>
                          <a:latin typeface="Meiryo"/>
                          <a:ea typeface="Meiryo"/>
                        </a:rPr>
                        <a:t>ILS 3000 反復／GA・Memetic 500 世代</a:t>
                      </a:r>
                    </a:p>
                  </a:txBody>
                  <a:tcPr marL="82296" marR="54864" marT="18288" marB="18288" anchor="ctr">
                    <a:solidFill>
                      <a:srgbClr val="F6F9FB"/>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6120235" y="3547872"/>
            <a:ext cx="5504531"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0" i="0">
                <a:solidFill>
                  <a:srgbClr val="26303A"/>
                </a:solidFill>
                <a:latin typeface="Meiryo"/>
                <a:ea typeface="Meiryo"/>
              </a:rPr>
              <a:t>各シナリオの%は</a:t>
            </a:r>
            <a:r>
              <a:rPr sz="1550" b="1" i="0">
                <a:solidFill>
                  <a:srgbClr val="16385C"/>
                </a:solidFill>
                <a:latin typeface="Meiryo"/>
                <a:ea typeface="Meiryo"/>
              </a:rPr>
              <a:t>再スケ率</a:t>
            </a:r>
            <a:r>
              <a:rPr sz="1550" b="0" i="0">
                <a:solidFill>
                  <a:srgbClr val="26303A"/>
                </a:solidFill>
                <a:latin typeface="Meiryo"/>
                <a:ea typeface="Meiryo"/>
              </a:rPr>
              <a:t> </a:t>
            </a:r>
            <a:r>
              <a:rPr sz="1550" b="0" i="1">
                <a:solidFill>
                  <a:srgbClr val="26303A"/>
                </a:solidFill>
                <a:latin typeface="Meiryo"/>
                <a:ea typeface="Meiryo"/>
              </a:rPr>
              <a:t>ρ=n</a:t>
            </a:r>
            <a:r>
              <a:rPr sz="1116" b="0" i="1" baseline="-22000">
                <a:solidFill>
                  <a:srgbClr val="26303A"/>
                </a:solidFill>
                <a:latin typeface="Meiryo"/>
                <a:ea typeface="Meiryo"/>
              </a:rPr>
              <a:t>res</a:t>
            </a:r>
            <a:r>
              <a:rPr sz="1550" b="0" i="1">
                <a:solidFill>
                  <a:srgbClr val="26303A"/>
                </a:solidFill>
                <a:latin typeface="Meiryo"/>
                <a:ea typeface="Meiryo"/>
              </a:rPr>
              <a:t>/ops</a:t>
            </a:r>
            <a:r>
              <a:rPr sz="1550" b="0" i="0">
                <a:solidFill>
                  <a:srgbClr val="26303A"/>
                </a:solidFill>
                <a:latin typeface="Meiryo"/>
                <a:ea typeface="Meiryo"/>
              </a:rPr>
              <a:t>（統制軸）：la36 27/54/73・ta21 32/82・mt10 72・la21 35・la40 32。</a:t>
            </a:r>
          </a:p>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la36 ラダー</a:t>
            </a:r>
            <a:r>
              <a:rPr sz="1550" b="0" i="0">
                <a:solidFill>
                  <a:srgbClr val="26303A"/>
                </a:solidFill>
                <a:latin typeface="Meiryo"/>
                <a:ea typeface="Meiryo"/>
              </a:rPr>
              <a:t>・</a:t>
            </a:r>
            <a:r>
              <a:rPr sz="1550" b="1" i="0">
                <a:solidFill>
                  <a:srgbClr val="16385C"/>
                </a:solidFill>
                <a:latin typeface="Meiryo"/>
                <a:ea typeface="Meiryo"/>
              </a:rPr>
              <a:t>ta21 対</a:t>
            </a:r>
            <a:r>
              <a:rPr sz="1550" b="0" i="0">
                <a:solidFill>
                  <a:srgbClr val="26303A"/>
                </a:solidFill>
                <a:latin typeface="Meiryo"/>
                <a:ea typeface="Meiryo"/>
              </a:rPr>
              <a:t>は同一 </a:t>
            </a:r>
            <a:r>
              <a:rPr sz="1550" b="0" i="1">
                <a:solidFill>
                  <a:srgbClr val="26303A"/>
                </a:solidFill>
                <a:latin typeface="Meiryo"/>
                <a:ea typeface="Meiryo"/>
              </a:rPr>
              <a:t>S</a:t>
            </a:r>
            <a:r>
              <a:rPr sz="1116" b="0" i="1" baseline="-22000">
                <a:solidFill>
                  <a:srgbClr val="26303A"/>
                </a:solidFill>
                <a:latin typeface="Meiryo"/>
                <a:ea typeface="Meiryo"/>
              </a:rPr>
              <a:t>p</a:t>
            </a:r>
            <a:r>
              <a:rPr sz="1550" b="0" i="0">
                <a:solidFill>
                  <a:srgbClr val="26303A"/>
                </a:solidFill>
                <a:latin typeface="Meiryo"/>
                <a:ea typeface="Meiryo"/>
              </a:rPr>
              <a:t> で </a:t>
            </a:r>
            <a:r>
              <a:rPr sz="1550" b="0" i="1">
                <a:solidFill>
                  <a:srgbClr val="26303A"/>
                </a:solidFill>
                <a:latin typeface="Meiryo"/>
                <a:ea typeface="Meiryo"/>
              </a:rPr>
              <a:t>ρ</a:t>
            </a:r>
            <a:r>
              <a:rPr sz="1550" b="0" i="0">
                <a:solidFill>
                  <a:srgbClr val="26303A"/>
                </a:solidFill>
                <a:latin typeface="Meiryo"/>
                <a:ea typeface="Meiryo"/>
              </a:rPr>
              <a:t> だけ段階変化 → </a:t>
            </a:r>
            <a:r>
              <a:rPr sz="1550" b="0" i="1">
                <a:solidFill>
                  <a:srgbClr val="26303A"/>
                </a:solidFill>
                <a:latin typeface="Meiryo"/>
                <a:ea typeface="Meiryo"/>
              </a:rPr>
              <a:t>ρ</a:t>
            </a:r>
            <a:r>
              <a:rPr sz="1550" b="0" i="0">
                <a:solidFill>
                  <a:srgbClr val="26303A"/>
                </a:solidFill>
                <a:latin typeface="Meiryo"/>
                <a:ea typeface="Meiryo"/>
              </a:rPr>
              <a:t> 依存を交絡なく分離。</a:t>
            </a:r>
          </a:p>
          <a:p>
            <a:pPr>
              <a:lnSpc>
                <a:spcPct val="106000"/>
              </a:lnSpc>
              <a:spcBef>
                <a:spcPts val="700"/>
              </a:spcBef>
            </a:pPr>
            <a:r>
              <a:rPr sz="1200" b="1" i="0">
                <a:solidFill>
                  <a:srgbClr val="16385C"/>
                </a:solidFill>
                <a:latin typeface="Meiryo"/>
                <a:ea typeface="Meiryo"/>
              </a:rPr>
              <a:t>▪ </a:t>
            </a:r>
            <a:r>
              <a:rPr sz="1550" b="0" i="0">
                <a:solidFill>
                  <a:srgbClr val="26303A"/>
                </a:solidFill>
                <a:latin typeface="Meiryo"/>
                <a:ea typeface="Meiryo"/>
              </a:rPr>
              <a:t>外乱は単一作業の完了遅延 </a:t>
            </a:r>
            <a:r>
              <a:rPr sz="1550" b="0" i="1">
                <a:solidFill>
                  <a:srgbClr val="26303A"/>
                </a:solidFill>
                <a:latin typeface="Meiryo"/>
                <a:ea typeface="Meiryo"/>
              </a:rPr>
              <a:t>Δ</a:t>
            </a:r>
            <a:r>
              <a:rPr sz="1550" b="0" i="0">
                <a:solidFill>
                  <a:srgbClr val="26303A"/>
                </a:solidFill>
                <a:latin typeface="Meiryo"/>
                <a:ea typeface="Meiryo"/>
              </a:rPr>
              <a:t>=60〜148。環境：Ryzen 5 7530U／Python 3.12・全乱数シード固定。</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4.2 結果1：軌道(ILS) vs 集団(Memetic)【H1】</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66928" y="1060704"/>
            <a:ext cx="59436" cy="310896"/>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042415"/>
            <a:ext cx="10856671" cy="384048"/>
          </a:xfrm>
          <a:prstGeom prst="rect">
            <a:avLst/>
          </a:prstGeom>
          <a:noFill/>
        </p:spPr>
        <p:txBody>
          <a:bodyPr wrap="square" lIns="18288" tIns="9144" rIns="18288" bIns="9144" anchor="ctr">
            <a:spAutoFit/>
          </a:bodyPr>
          <a:lstStyle/>
          <a:p>
            <a:pPr>
              <a:lnSpc>
                <a:spcPct val="100000"/>
              </a:lnSpc>
            </a:pPr>
            <a:r>
              <a:rPr sz="1500" b="1" i="0">
                <a:solidFill>
                  <a:srgbClr val="16385C"/>
                </a:solidFill>
                <a:latin typeface="Meiryo"/>
                <a:ea typeface="Meiryo"/>
              </a:rPr>
              <a:t>同じ N5 を積んでも、高安定領域は ILS が全 8 シナリオで完全分離——差は局所探索でなく探索構造</a:t>
            </a:r>
          </a:p>
        </p:txBody>
      </p:sp>
      <p:sp>
        <p:nvSpPr>
          <p:cNvPr id="6" name="TextBox 5"/>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4. 計算機実験</a:t>
            </a:r>
          </a:p>
        </p:txBody>
      </p:sp>
      <p:sp>
        <p:nvSpPr>
          <p:cNvPr id="7" name="TextBox 6"/>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16</a:t>
            </a:r>
          </a:p>
        </p:txBody>
      </p:sp>
      <p:pic>
        <p:nvPicPr>
          <p:cNvPr id="8" name="Picture 7" descr="core_v3_claim1.png"/>
          <p:cNvPicPr>
            <a:picLocks noChangeAspect="1"/>
          </p:cNvPicPr>
          <p:nvPr/>
        </p:nvPicPr>
        <p:blipFill>
          <a:blip r:embed="rId3"/>
          <a:stretch>
            <a:fillRect/>
          </a:stretch>
        </p:blipFill>
        <p:spPr>
          <a:xfrm>
            <a:off x="566928" y="1645920"/>
            <a:ext cx="11057839" cy="2825892"/>
          </a:xfrm>
          <a:prstGeom prst="rect">
            <a:avLst/>
          </a:prstGeom>
        </p:spPr>
      </p:pic>
      <p:sp>
        <p:nvSpPr>
          <p:cNvPr id="9" name="TextBox 8"/>
          <p:cNvSpPr txBox="1"/>
          <p:nvPr/>
        </p:nvSpPr>
        <p:spPr>
          <a:xfrm>
            <a:off x="566928" y="4499244"/>
            <a:ext cx="11057839" cy="274320"/>
          </a:xfrm>
          <a:prstGeom prst="rect">
            <a:avLst/>
          </a:prstGeom>
          <a:noFill/>
        </p:spPr>
        <p:txBody>
          <a:bodyPr wrap="square" lIns="18288" tIns="9144" rIns="18288" bIns="9144" anchor="t">
            <a:spAutoFit/>
          </a:bodyPr>
          <a:lstStyle/>
          <a:p>
            <a:pPr algn="ctr"/>
            <a:r>
              <a:rPr sz="1050" b="0" i="0">
                <a:solidFill>
                  <a:srgbClr val="6E7A88"/>
                </a:solidFill>
                <a:latin typeface="Meiryo"/>
                <a:ea typeface="Meiryo"/>
              </a:rPr>
              <a:t>局所探索(N5)を揃えた ILS-baseline vs Memetic-LS ｜ 統合HV=互角／高安定HV=ILS完全優越／AOC=6/8でILS優位</a:t>
            </a:r>
          </a:p>
        </p:txBody>
      </p:sp>
      <p:sp>
        <p:nvSpPr>
          <p:cNvPr id="10" name="TextBox 9"/>
          <p:cNvSpPr txBox="1"/>
          <p:nvPr/>
        </p:nvSpPr>
        <p:spPr>
          <a:xfrm>
            <a:off x="566928" y="4901580"/>
            <a:ext cx="11057839"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高安定 HV：ILS が全 8 シナリオを完全分離で上回る</a:t>
            </a:r>
            <a:r>
              <a:rPr sz="1550" b="0" i="0">
                <a:solidFill>
                  <a:srgbClr val="26303A"/>
                </a:solidFill>
                <a:latin typeface="Meiryo"/>
                <a:ea typeface="Meiryo"/>
              </a:rPr>
              <a:t>（</a:t>
            </a:r>
            <a:r>
              <a:rPr sz="1550" b="0" i="1">
                <a:solidFill>
                  <a:srgbClr val="26303A"/>
                </a:solidFill>
                <a:latin typeface="Meiryo"/>
                <a:ea typeface="Meiryo"/>
              </a:rPr>
              <a:t>p</a:t>
            </a:r>
            <a:r>
              <a:rPr sz="1550" b="0" i="0">
                <a:solidFill>
                  <a:srgbClr val="26303A"/>
                </a:solidFill>
                <a:latin typeface="Meiryo"/>
                <a:ea typeface="Meiryo"/>
              </a:rPr>
              <a:t>=0.001, </a:t>
            </a:r>
            <a:r>
              <a:rPr sz="1550" b="0" i="1">
                <a:solidFill>
                  <a:srgbClr val="26303A"/>
                </a:solidFill>
                <a:latin typeface="Meiryo"/>
                <a:ea typeface="Meiryo"/>
              </a:rPr>
              <a:t>|δ|</a:t>
            </a:r>
            <a:r>
              <a:rPr sz="1550" b="0" i="0">
                <a:solidFill>
                  <a:srgbClr val="26303A"/>
                </a:solidFill>
                <a:latin typeface="Meiryo"/>
                <a:ea typeface="Meiryo"/>
              </a:rPr>
              <a:t>=1.0）。低 </a:t>
            </a:r>
            <a:r>
              <a:rPr sz="1550" b="0" i="1">
                <a:solidFill>
                  <a:srgbClr val="26303A"/>
                </a:solidFill>
                <a:latin typeface="Meiryo"/>
                <a:ea typeface="Meiryo"/>
              </a:rPr>
              <a:t>ρ</a:t>
            </a:r>
            <a:r>
              <a:rPr sz="1550" b="0" i="0">
                <a:solidFill>
                  <a:srgbClr val="26303A"/>
                </a:solidFill>
                <a:latin typeface="Meiryo"/>
                <a:ea typeface="Meiryo"/>
              </a:rPr>
              <a:t> の 3 シナリオでは Memetic は高安定域に</a:t>
            </a:r>
            <a:r>
              <a:rPr sz="1550" b="1" i="0">
                <a:solidFill>
                  <a:srgbClr val="16385C"/>
                </a:solidFill>
                <a:latin typeface="Meiryo"/>
                <a:ea typeface="Meiryo"/>
              </a:rPr>
              <a:t>1 解も到達できず</a:t>
            </a:r>
            <a:r>
              <a:rPr sz="1550" b="0" i="0">
                <a:solidFill>
                  <a:srgbClr val="26303A"/>
                </a:solidFill>
                <a:latin typeface="Meiryo"/>
                <a:ea typeface="Meiryo"/>
              </a:rPr>
              <a:t>、残る 5 でも ILS が 2〜4.5 倍。Holm 補正後も全シナリオ有意。</a:t>
            </a:r>
          </a:p>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統合 HV は互角</a:t>
            </a:r>
            <a:r>
              <a:rPr sz="1550" b="0" i="0">
                <a:solidFill>
                  <a:srgbClr val="26303A"/>
                </a:solidFill>
                <a:latin typeface="Meiryo"/>
                <a:ea typeface="Meiryo"/>
              </a:rPr>
              <a:t>（ILS 5 勝・Memetic 3 勝、勝者は </a:t>
            </a:r>
            <a:r>
              <a:rPr sz="1550" b="0" i="1">
                <a:solidFill>
                  <a:srgbClr val="26303A"/>
                </a:solidFill>
                <a:latin typeface="Meiryo"/>
                <a:ea typeface="Meiryo"/>
              </a:rPr>
              <a:t>ρ</a:t>
            </a:r>
            <a:r>
              <a:rPr sz="1550" b="0" i="0">
                <a:solidFill>
                  <a:srgbClr val="26303A"/>
                </a:solidFill>
                <a:latin typeface="Meiryo"/>
                <a:ea typeface="Meiryo"/>
              </a:rPr>
              <a:t> で入れ替わる）。一方 </a:t>
            </a:r>
            <a:r>
              <a:rPr sz="1550" b="1" i="0">
                <a:solidFill>
                  <a:srgbClr val="16385C"/>
                </a:solidFill>
                <a:latin typeface="Meiryo"/>
                <a:ea typeface="Meiryo"/>
              </a:rPr>
              <a:t>AOC は ILS が 6/8 で優位</a:t>
            </a:r>
            <a:r>
              <a:rPr sz="1550" b="0" i="0">
                <a:solidFill>
                  <a:srgbClr val="26303A"/>
                </a:solidFill>
                <a:latin typeface="Meiryo"/>
                <a:ea typeface="Meiryo"/>
              </a:rPr>
              <a:t>（早期から良い incumbent を持つ）。差は</a:t>
            </a:r>
            <a:r>
              <a:rPr sz="1550" b="1" i="0">
                <a:solidFill>
                  <a:srgbClr val="16385C"/>
                </a:solidFill>
                <a:latin typeface="Meiryo"/>
                <a:ea typeface="Meiryo"/>
              </a:rPr>
              <a:t>局所探索の有無でなく探索構造</a:t>
            </a:r>
            <a:r>
              <a:rPr sz="1550" b="0" i="0">
                <a:solidFill>
                  <a:srgbClr val="26303A"/>
                </a:solidFill>
                <a:latin typeface="Meiryo"/>
                <a:ea typeface="Meiryo"/>
              </a:rPr>
              <a:t>に由来する。</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4.2 H1 の構造的原因 — 探索はどこを訪れたか</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66928" y="1060704"/>
            <a:ext cx="59436" cy="310896"/>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042415"/>
            <a:ext cx="10856671" cy="384048"/>
          </a:xfrm>
          <a:prstGeom prst="rect">
            <a:avLst/>
          </a:prstGeom>
          <a:noFill/>
        </p:spPr>
        <p:txBody>
          <a:bodyPr wrap="square" lIns="18288" tIns="9144" rIns="18288" bIns="9144" anchor="ctr">
            <a:spAutoFit/>
          </a:bodyPr>
          <a:lstStyle/>
          <a:p>
            <a:pPr>
              <a:lnSpc>
                <a:spcPct val="100000"/>
              </a:lnSpc>
            </a:pPr>
            <a:r>
              <a:rPr sz="1500" b="1" i="0">
                <a:solidFill>
                  <a:srgbClr val="16385C"/>
                </a:solidFill>
                <a:latin typeface="Meiryo"/>
                <a:ea typeface="Meiryo"/>
              </a:rPr>
              <a:t>軌道は低 </a:t>
            </a:r>
            <a:r>
              <a:rPr sz="1500" b="1" i="1">
                <a:solidFill>
                  <a:srgbClr val="16385C"/>
                </a:solidFill>
                <a:latin typeface="Meiryo"/>
                <a:ea typeface="Meiryo"/>
              </a:rPr>
              <a:t>D</a:t>
            </a:r>
            <a:r>
              <a:rPr sz="1500" b="1" i="0">
                <a:solidFill>
                  <a:srgbClr val="16385C"/>
                </a:solidFill>
                <a:latin typeface="Meiryo"/>
                <a:ea typeface="Meiryo"/>
              </a:rPr>
              <a:t>（安定側）のフロント帯にびっしり、集団は高 </a:t>
            </a:r>
            <a:r>
              <a:rPr sz="1500" b="1" i="1">
                <a:solidFill>
                  <a:srgbClr val="16385C"/>
                </a:solidFill>
                <a:latin typeface="Meiryo"/>
                <a:ea typeface="Meiryo"/>
              </a:rPr>
              <a:t>D</a:t>
            </a:r>
            <a:r>
              <a:rPr sz="1500" b="1" i="0">
                <a:solidFill>
                  <a:srgbClr val="16385C"/>
                </a:solidFill>
                <a:latin typeface="Meiryo"/>
                <a:ea typeface="Meiryo"/>
              </a:rPr>
              <a:t> の不安定領域に散る——狙う場所そのものが違う</a:t>
            </a:r>
          </a:p>
        </p:txBody>
      </p:sp>
      <p:sp>
        <p:nvSpPr>
          <p:cNvPr id="6" name="TextBox 5"/>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4. 計算機実験</a:t>
            </a:r>
          </a:p>
        </p:txBody>
      </p:sp>
      <p:sp>
        <p:nvSpPr>
          <p:cNvPr id="7" name="TextBox 6"/>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17</a:t>
            </a:r>
          </a:p>
        </p:txBody>
      </p:sp>
      <p:pic>
        <p:nvPicPr>
          <p:cNvPr id="8" name="Picture 7" descr="density_ja3.png"/>
          <p:cNvPicPr>
            <a:picLocks noChangeAspect="1"/>
          </p:cNvPicPr>
          <p:nvPr/>
        </p:nvPicPr>
        <p:blipFill>
          <a:blip r:embed="rId2"/>
          <a:stretch>
            <a:fillRect/>
          </a:stretch>
        </p:blipFill>
        <p:spPr>
          <a:xfrm>
            <a:off x="1116939" y="1645920"/>
            <a:ext cx="9957815" cy="3017520"/>
          </a:xfrm>
          <a:prstGeom prst="rect">
            <a:avLst/>
          </a:prstGeom>
        </p:spPr>
      </p:pic>
      <p:sp>
        <p:nvSpPr>
          <p:cNvPr id="9" name="TextBox 8"/>
          <p:cNvSpPr txBox="1"/>
          <p:nvPr/>
        </p:nvSpPr>
        <p:spPr>
          <a:xfrm>
            <a:off x="566928" y="4690872"/>
            <a:ext cx="11057839" cy="274320"/>
          </a:xfrm>
          <a:prstGeom prst="rect">
            <a:avLst/>
          </a:prstGeom>
          <a:noFill/>
        </p:spPr>
        <p:txBody>
          <a:bodyPr wrap="square" lIns="18288" tIns="9144" rIns="18288" bIns="9144" anchor="t">
            <a:spAutoFit/>
          </a:bodyPr>
          <a:lstStyle/>
          <a:p>
            <a:pPr algn="ctr"/>
            <a:r>
              <a:rPr sz="1050" b="0" i="0">
                <a:solidFill>
                  <a:srgbClr val="6E7A88"/>
                </a:solidFill>
                <a:latin typeface="Meiryo"/>
                <a:ea typeface="Meiryo"/>
              </a:rPr>
              <a:t>代表 3 シナリオの訪問密度差（手法ごと総和 1 で正規化）｜ 橙線＝軌道(ILS)のパレートフロント・緑線＝集団(Memetic)のパレートフロント</a:t>
            </a:r>
          </a:p>
        </p:txBody>
      </p:sp>
      <p:sp>
        <p:nvSpPr>
          <p:cNvPr id="10" name="TextBox 9"/>
          <p:cNvSpPr txBox="1"/>
          <p:nvPr/>
        </p:nvSpPr>
        <p:spPr>
          <a:xfrm>
            <a:off x="566928" y="5093207"/>
            <a:ext cx="11057839"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軌道(ILS)＝赤</a:t>
            </a:r>
            <a:r>
              <a:rPr sz="1550" b="0" i="0">
                <a:solidFill>
                  <a:srgbClr val="26303A"/>
                </a:solidFill>
                <a:latin typeface="Meiryo"/>
                <a:ea typeface="Meiryo"/>
              </a:rPr>
              <a:t>は </a:t>
            </a:r>
            <a:r>
              <a:rPr sz="1550" b="0" i="1">
                <a:solidFill>
                  <a:srgbClr val="26303A"/>
                </a:solidFill>
                <a:latin typeface="Meiryo"/>
                <a:ea typeface="Meiryo"/>
              </a:rPr>
              <a:t>D</a:t>
            </a:r>
            <a:r>
              <a:rPr sz="1550" b="0" i="0">
                <a:solidFill>
                  <a:srgbClr val="26303A"/>
                </a:solidFill>
                <a:latin typeface="Meiryo"/>
                <a:ea typeface="Meiryo"/>
              </a:rPr>
              <a:t> の小さいフロント帯に張り付き、</a:t>
            </a:r>
            <a:r>
              <a:rPr sz="1550" b="1" i="0">
                <a:solidFill>
                  <a:srgbClr val="16385C"/>
                </a:solidFill>
                <a:latin typeface="Meiryo"/>
                <a:ea typeface="Meiryo"/>
              </a:rPr>
              <a:t>集団(Memetic)＝青</a:t>
            </a:r>
            <a:r>
              <a:rPr sz="1550" b="0" i="0">
                <a:solidFill>
                  <a:srgbClr val="26303A"/>
                </a:solidFill>
                <a:latin typeface="Meiryo"/>
                <a:ea typeface="Meiryo"/>
              </a:rPr>
              <a:t>は高 </a:t>
            </a:r>
            <a:r>
              <a:rPr sz="1550" b="0" i="1">
                <a:solidFill>
                  <a:srgbClr val="26303A"/>
                </a:solidFill>
                <a:latin typeface="Meiryo"/>
                <a:ea typeface="Meiryo"/>
              </a:rPr>
              <a:t>D</a:t>
            </a:r>
            <a:r>
              <a:rPr sz="1550" b="0" i="0">
                <a:solidFill>
                  <a:srgbClr val="26303A"/>
                </a:solidFill>
                <a:latin typeface="Meiryo"/>
                <a:ea typeface="Meiryo"/>
              </a:rPr>
              <a:t> の不安定領域に散る。</a:t>
            </a:r>
            <a:r>
              <a:rPr sz="1550" b="0" i="1">
                <a:solidFill>
                  <a:srgbClr val="26303A"/>
                </a:solidFill>
                <a:latin typeface="Meiryo"/>
                <a:ea typeface="Meiryo"/>
              </a:rPr>
              <a:t>ρ</a:t>
            </a:r>
            <a:r>
              <a:rPr sz="1550" b="0" i="0">
                <a:solidFill>
                  <a:srgbClr val="26303A"/>
                </a:solidFill>
                <a:latin typeface="Meiryo"/>
                <a:ea typeface="Meiryo"/>
              </a:rPr>
              <a:t> が上がるほど青の雲は上へ膨らみ、</a:t>
            </a:r>
            <a:r>
              <a:rPr sz="1550" b="1" i="0">
                <a:solidFill>
                  <a:srgbClr val="16385C"/>
                </a:solidFill>
                <a:latin typeface="Meiryo"/>
                <a:ea typeface="Meiryo"/>
              </a:rPr>
              <a:t>橙のフロントだけが安定側の底を舐める</a:t>
            </a:r>
            <a:r>
              <a:rPr sz="1550" b="0" i="0">
                <a:solidFill>
                  <a:srgbClr val="26303A"/>
                </a:solidFill>
                <a:latin typeface="Meiryo"/>
                <a:ea typeface="Meiryo"/>
              </a:rPr>
              <a:t>。</a:t>
            </a:r>
          </a:p>
          <a:p>
            <a:pPr>
              <a:lnSpc>
                <a:spcPct val="106000"/>
              </a:lnSpc>
              <a:spcBef>
                <a:spcPts val="700"/>
              </a:spcBef>
            </a:pPr>
            <a:r>
              <a:rPr sz="1200" b="1" i="0">
                <a:solidFill>
                  <a:srgbClr val="16385C"/>
                </a:solidFill>
                <a:latin typeface="Meiryo"/>
                <a:ea typeface="Meiryo"/>
              </a:rPr>
              <a:t>▪ </a:t>
            </a:r>
            <a:r>
              <a:rPr sz="1550" b="0" i="0">
                <a:solidFill>
                  <a:srgbClr val="26303A"/>
                </a:solidFill>
                <a:latin typeface="Meiryo"/>
                <a:ea typeface="Meiryo"/>
              </a:rPr>
              <a:t>→ 高安定 HV 差の</a:t>
            </a:r>
            <a:r>
              <a:rPr sz="1550" b="1" i="0">
                <a:solidFill>
                  <a:srgbClr val="16385C"/>
                </a:solidFill>
                <a:latin typeface="Meiryo"/>
                <a:ea typeface="Meiryo"/>
              </a:rPr>
              <a:t>構造的原因</a:t>
            </a:r>
            <a:r>
              <a:rPr sz="1550" b="0" i="0">
                <a:solidFill>
                  <a:srgbClr val="26303A"/>
                </a:solidFill>
                <a:latin typeface="Meiryo"/>
                <a:ea typeface="Meiryo"/>
              </a:rPr>
              <a:t>。同時に、集団が </a:t>
            </a:r>
            <a:r>
              <a:rPr sz="1550" b="0" i="1">
                <a:solidFill>
                  <a:srgbClr val="26303A"/>
                </a:solidFill>
                <a:latin typeface="Meiryo"/>
                <a:ea typeface="Meiryo"/>
              </a:rPr>
              <a:t>S</a:t>
            </a:r>
            <a:r>
              <a:rPr sz="1116" b="0" i="1" baseline="-22000">
                <a:solidFill>
                  <a:srgbClr val="26303A"/>
                </a:solidFill>
                <a:latin typeface="Meiryo"/>
                <a:ea typeface="Meiryo"/>
              </a:rPr>
              <a:t>p</a:t>
            </a:r>
            <a:r>
              <a:rPr sz="1550" b="0" i="0">
                <a:solidFill>
                  <a:srgbClr val="26303A"/>
                </a:solidFill>
                <a:latin typeface="Meiryo"/>
                <a:ea typeface="Meiryo"/>
              </a:rPr>
              <a:t> から遠い解を多数持つこの性質が、次の H2 の土壌になる。</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4.3 結果2：PR・repair の非対称効果【H2】</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66928" y="1060704"/>
            <a:ext cx="59436" cy="310896"/>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042415"/>
            <a:ext cx="10856671" cy="384048"/>
          </a:xfrm>
          <a:prstGeom prst="rect">
            <a:avLst/>
          </a:prstGeom>
          <a:noFill/>
        </p:spPr>
        <p:txBody>
          <a:bodyPr wrap="square" lIns="18288" tIns="9144" rIns="18288" bIns="9144" anchor="ctr">
            <a:spAutoFit/>
          </a:bodyPr>
          <a:lstStyle/>
          <a:p>
            <a:pPr>
              <a:lnSpc>
                <a:spcPct val="100000"/>
              </a:lnSpc>
            </a:pPr>
            <a:r>
              <a:rPr sz="1500" b="1" i="0">
                <a:solidFill>
                  <a:srgbClr val="16385C"/>
                </a:solidFill>
                <a:latin typeface="Meiryo"/>
                <a:ea typeface="Meiryo"/>
              </a:rPr>
              <a:t>同一演算子が集団の高安定 HV を 2 倍超に引き上げ ILS 水準へ。だが自力充填済みの軌道はほぼ頭打ち＝非対称</a:t>
            </a:r>
          </a:p>
        </p:txBody>
      </p:sp>
      <p:sp>
        <p:nvSpPr>
          <p:cNvPr id="6" name="TextBox 5"/>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4. 計算機実験</a:t>
            </a:r>
          </a:p>
        </p:txBody>
      </p:sp>
      <p:sp>
        <p:nvSpPr>
          <p:cNvPr id="7" name="TextBox 6"/>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18</a:t>
            </a:r>
          </a:p>
        </p:txBody>
      </p:sp>
      <p:pic>
        <p:nvPicPr>
          <p:cNvPr id="8" name="Picture 7" descr="core_v3_claim2.png"/>
          <p:cNvPicPr>
            <a:picLocks noChangeAspect="1"/>
          </p:cNvPicPr>
          <p:nvPr/>
        </p:nvPicPr>
        <p:blipFill>
          <a:blip r:embed="rId2"/>
          <a:stretch>
            <a:fillRect/>
          </a:stretch>
        </p:blipFill>
        <p:spPr>
          <a:xfrm>
            <a:off x="1638147" y="1645920"/>
            <a:ext cx="8915400" cy="3154680"/>
          </a:xfrm>
          <a:prstGeom prst="rect">
            <a:avLst/>
          </a:prstGeom>
        </p:spPr>
      </p:pic>
      <p:sp>
        <p:nvSpPr>
          <p:cNvPr id="9" name="TextBox 8"/>
          <p:cNvSpPr txBox="1"/>
          <p:nvPr/>
        </p:nvSpPr>
        <p:spPr>
          <a:xfrm>
            <a:off x="566928" y="4828032"/>
            <a:ext cx="11057839" cy="274320"/>
          </a:xfrm>
          <a:prstGeom prst="rect">
            <a:avLst/>
          </a:prstGeom>
          <a:noFill/>
        </p:spPr>
        <p:txBody>
          <a:bodyPr wrap="square" lIns="18288" tIns="9144" rIns="18288" bIns="9144" anchor="t">
            <a:spAutoFit/>
          </a:bodyPr>
          <a:lstStyle/>
          <a:p>
            <a:pPr algn="ctr"/>
            <a:r>
              <a:rPr sz="1050" b="0" i="0">
                <a:solidFill>
                  <a:srgbClr val="6E7A88"/>
                </a:solidFill>
                <a:latin typeface="Meiryo"/>
                <a:ea typeface="Meiryo"/>
              </a:rPr>
              <a:t>baseline に機構を追加したときの高安定 HV の伸び（ホスト別）</a:t>
            </a:r>
          </a:p>
        </p:txBody>
      </p:sp>
      <p:sp>
        <p:nvSpPr>
          <p:cNvPr id="10" name="TextBox 9"/>
          <p:cNvSpPr txBox="1"/>
          <p:nvPr/>
        </p:nvSpPr>
        <p:spPr>
          <a:xfrm>
            <a:off x="566928" y="5230368"/>
            <a:ext cx="11057839"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集団(Memetic)：高安定 HV を大幅改善</a:t>
            </a:r>
            <a:r>
              <a:rPr sz="1550" b="0" i="0">
                <a:solidFill>
                  <a:srgbClr val="26303A"/>
                </a:solidFill>
                <a:latin typeface="Meiryo"/>
                <a:ea typeface="Meiryo"/>
              </a:rPr>
              <a:t>（全 8 シナリオで 2 倍以上, </a:t>
            </a:r>
            <a:r>
              <a:rPr sz="1550" b="0" i="1">
                <a:solidFill>
                  <a:srgbClr val="26303A"/>
                </a:solidFill>
                <a:latin typeface="Meiryo"/>
                <a:ea typeface="Meiryo"/>
              </a:rPr>
              <a:t>p</a:t>
            </a:r>
            <a:r>
              <a:rPr sz="1550" b="0" i="0">
                <a:solidFill>
                  <a:srgbClr val="26303A"/>
                </a:solidFill>
                <a:latin typeface="Meiryo"/>
                <a:ea typeface="Meiryo"/>
              </a:rPr>
              <a:t>=0.001, </a:t>
            </a:r>
            <a:r>
              <a:rPr sz="1550" b="0" i="1">
                <a:solidFill>
                  <a:srgbClr val="26303A"/>
                </a:solidFill>
                <a:latin typeface="Meiryo"/>
                <a:ea typeface="Meiryo"/>
              </a:rPr>
              <a:t>|δ|</a:t>
            </a:r>
            <a:r>
              <a:rPr sz="1550" b="0" i="0">
                <a:solidFill>
                  <a:srgbClr val="26303A"/>
                </a:solidFill>
                <a:latin typeface="Meiryo"/>
                <a:ea typeface="Meiryo"/>
              </a:rPr>
              <a:t>=1.0）。届かなかった </a:t>
            </a:r>
            <a:r>
              <a:rPr sz="1550" b="0" i="1">
                <a:solidFill>
                  <a:srgbClr val="26303A"/>
                </a:solidFill>
                <a:latin typeface="Meiryo"/>
                <a:ea typeface="Meiryo"/>
              </a:rPr>
              <a:t>S</a:t>
            </a:r>
            <a:r>
              <a:rPr sz="1116" b="0" i="1" baseline="-22000">
                <a:solidFill>
                  <a:srgbClr val="26303A"/>
                </a:solidFill>
                <a:latin typeface="Meiryo"/>
                <a:ea typeface="Meiryo"/>
              </a:rPr>
              <a:t>p</a:t>
            </a:r>
            <a:r>
              <a:rPr sz="1550" b="0" i="0">
                <a:solidFill>
                  <a:srgbClr val="26303A"/>
                </a:solidFill>
                <a:latin typeface="Meiryo"/>
                <a:ea typeface="Meiryo"/>
              </a:rPr>
              <a:t> 近傍を機構が直接充填 → </a:t>
            </a:r>
            <a:r>
              <a:rPr sz="1550" b="1" i="0">
                <a:solidFill>
                  <a:srgbClr val="16385C"/>
                </a:solidFill>
                <a:latin typeface="Meiryo"/>
                <a:ea typeface="Meiryo"/>
              </a:rPr>
              <a:t>高安定で ILS に追いつき、統合 HV では追い越す</a:t>
            </a:r>
            <a:r>
              <a:rPr sz="1550" b="0" i="0">
                <a:solidFill>
                  <a:srgbClr val="26303A"/>
                </a:solidFill>
                <a:latin typeface="Meiryo"/>
                <a:ea typeface="Meiryo"/>
              </a:rPr>
              <a:t>。</a:t>
            </a:r>
          </a:p>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軌道(ILS)：ほぼ頭打ち</a:t>
            </a:r>
            <a:r>
              <a:rPr sz="1550" b="0" i="0">
                <a:solidFill>
                  <a:srgbClr val="26303A"/>
                </a:solidFill>
                <a:latin typeface="Meiryo"/>
                <a:ea typeface="Meiryo"/>
              </a:rPr>
              <a:t>。baseline 時点で自力充填済み。機構が有意なのは最高 </a:t>
            </a:r>
            <a:r>
              <a:rPr sz="1550" b="0" i="1">
                <a:solidFill>
                  <a:srgbClr val="26303A"/>
                </a:solidFill>
                <a:latin typeface="Meiryo"/>
                <a:ea typeface="Meiryo"/>
              </a:rPr>
              <a:t>ρ</a:t>
            </a:r>
            <a:r>
              <a:rPr sz="1550" b="0" i="0">
                <a:solidFill>
                  <a:srgbClr val="26303A"/>
                </a:solidFill>
                <a:latin typeface="Meiryo"/>
                <a:ea typeface="Meiryo"/>
              </a:rPr>
              <a:t> 帯の la36L(73%)・ta21L(82%)のみ（Holm 後は ta21L のみ残存, </a:t>
            </a:r>
            <a:r>
              <a:rPr sz="1550" b="0" i="1">
                <a:solidFill>
                  <a:srgbClr val="26303A"/>
                </a:solidFill>
                <a:latin typeface="Meiryo"/>
                <a:ea typeface="Meiryo"/>
              </a:rPr>
              <a:t>p</a:t>
            </a:r>
            <a:r>
              <a:rPr sz="1116" b="0" i="1" baseline="-22000">
                <a:solidFill>
                  <a:srgbClr val="26303A"/>
                </a:solidFill>
                <a:latin typeface="Meiryo"/>
                <a:ea typeface="Meiryo"/>
              </a:rPr>
              <a:t>adj</a:t>
            </a:r>
            <a:r>
              <a:rPr sz="1550" b="0" i="0">
                <a:solidFill>
                  <a:srgbClr val="26303A"/>
                </a:solidFill>
                <a:latin typeface="Meiryo"/>
                <a:ea typeface="Meiryo"/>
              </a:rPr>
              <a:t>≈0.008）。</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4.3 H2 の機構的原因 — PR 経路統計</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66928" y="1060704"/>
            <a:ext cx="59436" cy="310896"/>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042415"/>
            <a:ext cx="10856671" cy="384048"/>
          </a:xfrm>
          <a:prstGeom prst="rect">
            <a:avLst/>
          </a:prstGeom>
          <a:noFill/>
        </p:spPr>
        <p:txBody>
          <a:bodyPr wrap="square" lIns="18288" tIns="9144" rIns="18288" bIns="9144" anchor="ctr">
            <a:spAutoFit/>
          </a:bodyPr>
          <a:lstStyle/>
          <a:p>
            <a:pPr>
              <a:lnSpc>
                <a:spcPct val="100000"/>
              </a:lnSpc>
            </a:pPr>
            <a:r>
              <a:rPr sz="1500" b="1" i="0">
                <a:solidFill>
                  <a:srgbClr val="16385C"/>
                </a:solidFill>
                <a:latin typeface="Meiryo"/>
                <a:ea typeface="Meiryo"/>
              </a:rPr>
              <a:t>集団は経路が長く道中で改善を 30〜65% 発見、ILS は経路が短く発見ほぼ 0%——方向づけは軌道では空振り</a:t>
            </a:r>
          </a:p>
        </p:txBody>
      </p:sp>
      <p:sp>
        <p:nvSpPr>
          <p:cNvPr id="6" name="TextBox 5"/>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4. 計算機実験</a:t>
            </a:r>
          </a:p>
        </p:txBody>
      </p:sp>
      <p:sp>
        <p:nvSpPr>
          <p:cNvPr id="7" name="TextBox 6"/>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19</a:t>
            </a:r>
          </a:p>
        </p:txBody>
      </p:sp>
      <p:pic>
        <p:nvPicPr>
          <p:cNvPr id="8" name="Picture 7" descr="mech_pr.png"/>
          <p:cNvPicPr>
            <a:picLocks noChangeAspect="1"/>
          </p:cNvPicPr>
          <p:nvPr/>
        </p:nvPicPr>
        <p:blipFill>
          <a:blip r:embed="rId2"/>
          <a:stretch>
            <a:fillRect/>
          </a:stretch>
        </p:blipFill>
        <p:spPr>
          <a:xfrm>
            <a:off x="1474185" y="1645920"/>
            <a:ext cx="9243324" cy="3127248"/>
          </a:xfrm>
          <a:prstGeom prst="rect">
            <a:avLst/>
          </a:prstGeom>
        </p:spPr>
      </p:pic>
      <p:sp>
        <p:nvSpPr>
          <p:cNvPr id="9" name="TextBox 8"/>
          <p:cNvSpPr txBox="1"/>
          <p:nvPr/>
        </p:nvSpPr>
        <p:spPr>
          <a:xfrm>
            <a:off x="566928" y="4864608"/>
            <a:ext cx="11057839"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Memetic</a:t>
            </a:r>
            <a:r>
              <a:rPr sz="1550" b="0" i="0">
                <a:solidFill>
                  <a:srgbClr val="26303A"/>
                </a:solidFill>
                <a:latin typeface="Meiryo"/>
                <a:ea typeface="Meiryo"/>
              </a:rPr>
              <a:t>：経路長 </a:t>
            </a:r>
            <a:r>
              <a:rPr sz="1550" b="0" i="1">
                <a:solidFill>
                  <a:srgbClr val="26303A"/>
                </a:solidFill>
                <a:latin typeface="Meiryo"/>
                <a:ea typeface="Meiryo"/>
              </a:rPr>
              <a:t>d</a:t>
            </a:r>
            <a:r>
              <a:rPr sz="1116" b="0" i="1" baseline="-22000">
                <a:solidFill>
                  <a:srgbClr val="26303A"/>
                </a:solidFill>
                <a:latin typeface="Meiryo"/>
                <a:ea typeface="Meiryo"/>
              </a:rPr>
              <a:t>0</a:t>
            </a:r>
            <a:r>
              <a:rPr sz="1550" b="0" i="0">
                <a:solidFill>
                  <a:srgbClr val="26303A"/>
                </a:solidFill>
                <a:latin typeface="Meiryo"/>
                <a:ea typeface="Meiryo"/>
              </a:rPr>
              <a:t> が大きく、経路上で</a:t>
            </a:r>
            <a:r>
              <a:rPr sz="1550" b="1" i="0">
                <a:solidFill>
                  <a:srgbClr val="16385C"/>
                </a:solidFill>
                <a:latin typeface="Meiryo"/>
                <a:ea typeface="Meiryo"/>
              </a:rPr>
              <a:t>約 30〜65%</a:t>
            </a:r>
            <a:r>
              <a:rPr sz="1550" b="0" i="0">
                <a:solidFill>
                  <a:srgbClr val="26303A"/>
                </a:solidFill>
                <a:latin typeface="Meiryo"/>
                <a:ea typeface="Meiryo"/>
              </a:rPr>
              <a:t> の確率で改善解を発見。一方 </a:t>
            </a:r>
            <a:r>
              <a:rPr sz="1550" b="1" i="0">
                <a:solidFill>
                  <a:srgbClr val="16385C"/>
                </a:solidFill>
                <a:latin typeface="Meiryo"/>
                <a:ea typeface="Meiryo"/>
              </a:rPr>
              <a:t>ILS</a:t>
            </a:r>
            <a:r>
              <a:rPr sz="1550" b="0" i="0">
                <a:solidFill>
                  <a:srgbClr val="26303A"/>
                </a:solidFill>
                <a:latin typeface="Meiryo"/>
                <a:ea typeface="Meiryo"/>
              </a:rPr>
              <a:t> は </a:t>
            </a:r>
            <a:r>
              <a:rPr sz="1550" b="0" i="1">
                <a:solidFill>
                  <a:srgbClr val="26303A"/>
                </a:solidFill>
                <a:latin typeface="Meiryo"/>
                <a:ea typeface="Meiryo"/>
              </a:rPr>
              <a:t>S</a:t>
            </a:r>
            <a:r>
              <a:rPr sz="1116" b="0" i="1" baseline="-22000">
                <a:solidFill>
                  <a:srgbClr val="26303A"/>
                </a:solidFill>
                <a:latin typeface="Meiryo"/>
                <a:ea typeface="Meiryo"/>
              </a:rPr>
              <a:t>p</a:t>
            </a:r>
            <a:r>
              <a:rPr sz="1550" b="0" i="0">
                <a:solidFill>
                  <a:srgbClr val="26303A"/>
                </a:solidFill>
                <a:latin typeface="Meiryo"/>
                <a:ea typeface="Meiryo"/>
              </a:rPr>
              <a:t> 近傍に張り付いて経路が短く、改善発見率は</a:t>
            </a:r>
            <a:r>
              <a:rPr sz="1550" b="1" i="0">
                <a:solidFill>
                  <a:srgbClr val="16385C"/>
                </a:solidFill>
                <a:latin typeface="Meiryo"/>
                <a:ea typeface="Meiryo"/>
              </a:rPr>
              <a:t>全シナリオほぼ 0%</a:t>
            </a:r>
            <a:r>
              <a:rPr sz="1550" b="0" i="0">
                <a:solidFill>
                  <a:srgbClr val="26303A"/>
                </a:solidFill>
                <a:latin typeface="Meiryo"/>
                <a:ea typeface="Meiryo"/>
              </a:rPr>
              <a:t>（ta21L でも 0.4%）。</a:t>
            </a:r>
          </a:p>
          <a:p>
            <a:pPr>
              <a:lnSpc>
                <a:spcPct val="106000"/>
              </a:lnSpc>
              <a:spcBef>
                <a:spcPts val="700"/>
              </a:spcBef>
            </a:pPr>
            <a:r>
              <a:rPr sz="1200" b="1" i="0">
                <a:solidFill>
                  <a:srgbClr val="16385C"/>
                </a:solidFill>
                <a:latin typeface="Meiryo"/>
                <a:ea typeface="Meiryo"/>
              </a:rPr>
              <a:t>▪ </a:t>
            </a:r>
            <a:r>
              <a:rPr sz="1550" b="0" i="0">
                <a:solidFill>
                  <a:srgbClr val="26303A"/>
                </a:solidFill>
                <a:latin typeface="Meiryo"/>
                <a:ea typeface="Meiryo"/>
              </a:rPr>
              <a:t>方向づけ移動は ILS では空振り。la36L・ta21L で僅かに効くのは、</a:t>
            </a:r>
            <a:r>
              <a:rPr sz="1550" b="1" i="0">
                <a:solidFill>
                  <a:srgbClr val="16385C"/>
                </a:solidFill>
                <a:latin typeface="Meiryo"/>
                <a:ea typeface="Meiryo"/>
              </a:rPr>
              <a:t>キック後の局所探索</a:t>
            </a:r>
            <a:r>
              <a:rPr sz="1550" b="0" i="0">
                <a:solidFill>
                  <a:srgbClr val="26303A"/>
                </a:solidFill>
                <a:latin typeface="Meiryo"/>
                <a:ea typeface="Meiryo"/>
              </a:rPr>
              <a:t>が埋め残しを再最適化する寄与による。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4.3 PR か repair か — ホスト依存の使い分け</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66928" y="1060704"/>
            <a:ext cx="59436" cy="310896"/>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042415"/>
            <a:ext cx="10856671" cy="384048"/>
          </a:xfrm>
          <a:prstGeom prst="rect">
            <a:avLst/>
          </a:prstGeom>
          <a:noFill/>
        </p:spPr>
        <p:txBody>
          <a:bodyPr wrap="square" lIns="18288" tIns="9144" rIns="18288" bIns="9144" anchor="ctr">
            <a:spAutoFit/>
          </a:bodyPr>
          <a:lstStyle/>
          <a:p>
            <a:pPr>
              <a:lnSpc>
                <a:spcPct val="100000"/>
              </a:lnSpc>
            </a:pPr>
            <a:r>
              <a:rPr sz="1500" b="1" i="0">
                <a:solidFill>
                  <a:srgbClr val="16385C"/>
                </a:solidFill>
                <a:latin typeface="Meiryo"/>
                <a:ea typeface="Meiryo"/>
              </a:rPr>
              <a:t>使い分けが要るのは集団だけ：最終品質なら PR、アンタイム重視なら repair（軌道はどちらでも同じ）</a:t>
            </a:r>
          </a:p>
        </p:txBody>
      </p:sp>
      <p:sp>
        <p:nvSpPr>
          <p:cNvPr id="6" name="TextBox 5"/>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4. 計算機実験</a:t>
            </a:r>
          </a:p>
        </p:txBody>
      </p:sp>
      <p:sp>
        <p:nvSpPr>
          <p:cNvPr id="7" name="TextBox 6"/>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20</a:t>
            </a:r>
          </a:p>
        </p:txBody>
      </p:sp>
      <p:sp>
        <p:nvSpPr>
          <p:cNvPr id="8" name="Rounded Rectangle 7"/>
          <p:cNvSpPr/>
          <p:nvPr/>
        </p:nvSpPr>
        <p:spPr>
          <a:xfrm>
            <a:off x="566928" y="1874519"/>
            <a:ext cx="5336895" cy="1920240"/>
          </a:xfrm>
          <a:prstGeom prst="roundRect">
            <a:avLst>
              <a:gd name="adj" fmla="val 5000"/>
            </a:avLst>
          </a:prstGeom>
          <a:solidFill>
            <a:srgbClr val="FFFFFF"/>
          </a:solidFill>
          <a:ln w="13970">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6384" y="2039112"/>
            <a:ext cx="3599535" cy="402336"/>
          </a:xfrm>
          <a:prstGeom prst="rect">
            <a:avLst/>
          </a:prstGeom>
          <a:noFill/>
        </p:spPr>
        <p:txBody>
          <a:bodyPr wrap="square" lIns="18288" tIns="9144" rIns="18288" bIns="9144" anchor="t">
            <a:spAutoFit/>
          </a:bodyPr>
          <a:lstStyle/>
          <a:p>
            <a:r>
              <a:rPr sz="1600" b="1" i="0">
                <a:solidFill>
                  <a:srgbClr val="16385C"/>
                </a:solidFill>
                <a:latin typeface="Meiryo"/>
                <a:ea typeface="Meiryo"/>
              </a:rPr>
              <a:t>軌道（ILS・</a:t>
            </a:r>
            <a:r>
              <a:rPr sz="1600" b="1" i="1">
                <a:solidFill>
                  <a:srgbClr val="16385C"/>
                </a:solidFill>
                <a:latin typeface="Meiryo"/>
                <a:ea typeface="Meiryo"/>
              </a:rPr>
              <a:t>d</a:t>
            </a:r>
            <a:r>
              <a:rPr sz="1600" b="1" i="0">
                <a:solidFill>
                  <a:srgbClr val="16385C"/>
                </a:solidFill>
                <a:latin typeface="Meiryo"/>
                <a:ea typeface="Meiryo"/>
              </a:rPr>
              <a:t> 小）</a:t>
            </a:r>
          </a:p>
        </p:txBody>
      </p:sp>
      <p:sp>
        <p:nvSpPr>
          <p:cNvPr id="10" name="Rounded Rectangle 9"/>
          <p:cNvSpPr/>
          <p:nvPr/>
        </p:nvSpPr>
        <p:spPr>
          <a:xfrm>
            <a:off x="4303623" y="2039112"/>
            <a:ext cx="1371600" cy="384048"/>
          </a:xfrm>
          <a:prstGeom prst="roundRect">
            <a:avLst>
              <a:gd name="adj" fmla="val 24000"/>
            </a:avLst>
          </a:prstGeom>
          <a:solidFill>
            <a:srgbClr val="3E618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00000"/>
              </a:lnSpc>
            </a:pPr>
            <a:r>
              <a:rPr sz="1150" b="1" i="0">
                <a:solidFill>
                  <a:srgbClr val="FFFFFF"/>
                </a:solidFill>
                <a:latin typeface="Meiryo"/>
                <a:ea typeface="Meiryo"/>
              </a:rPr>
              <a:t>どちらでも同じ</a:t>
            </a:r>
          </a:p>
        </p:txBody>
      </p:sp>
      <p:sp>
        <p:nvSpPr>
          <p:cNvPr id="11" name="TextBox 10"/>
          <p:cNvSpPr txBox="1"/>
          <p:nvPr/>
        </p:nvSpPr>
        <p:spPr>
          <a:xfrm>
            <a:off x="786384" y="2587752"/>
            <a:ext cx="4897983" cy="1097280"/>
          </a:xfrm>
          <a:prstGeom prst="rect">
            <a:avLst/>
          </a:prstGeom>
          <a:noFill/>
        </p:spPr>
        <p:txBody>
          <a:bodyPr wrap="square" lIns="18288" tIns="9144" rIns="18288" bIns="9144" anchor="t">
            <a:spAutoFit/>
          </a:bodyPr>
          <a:lstStyle/>
          <a:p>
            <a:pPr>
              <a:lnSpc>
                <a:spcPct val="112000"/>
              </a:lnSpc>
              <a:spcBef>
                <a:spcPts val="0"/>
              </a:spcBef>
            </a:pPr>
            <a:r>
              <a:rPr sz="1300" b="0" i="0">
                <a:solidFill>
                  <a:srgbClr val="6E7A88"/>
                </a:solidFill>
                <a:latin typeface="Meiryo"/>
                <a:ea typeface="Meiryo"/>
              </a:rPr>
              <a:t>品質　</a:t>
            </a:r>
            <a:r>
              <a:rPr sz="1350" b="0" i="0">
                <a:solidFill>
                  <a:srgbClr val="26303A"/>
                </a:solidFill>
                <a:latin typeface="Meiryo"/>
                <a:ea typeface="Meiryo"/>
              </a:rPr>
              <a:t>機構を足しても頭打ちで</a:t>
            </a:r>
            <a:r>
              <a:rPr sz="1350" b="1" i="0">
                <a:solidFill>
                  <a:srgbClr val="16385C"/>
                </a:solidFill>
                <a:latin typeface="Meiryo"/>
                <a:ea typeface="Meiryo"/>
              </a:rPr>
              <a:t>タイ</a:t>
            </a:r>
          </a:p>
          <a:p>
            <a:pPr>
              <a:lnSpc>
                <a:spcPct val="112000"/>
              </a:lnSpc>
              <a:spcBef>
                <a:spcPts val="600"/>
              </a:spcBef>
            </a:pPr>
            <a:r>
              <a:rPr sz="1300" b="0" i="0">
                <a:solidFill>
                  <a:srgbClr val="6E7A88"/>
                </a:solidFill>
                <a:latin typeface="Meiryo"/>
                <a:ea typeface="Meiryo"/>
              </a:rPr>
              <a:t>速さ AOC　</a:t>
            </a:r>
            <a:r>
              <a:rPr sz="1350" b="0" i="0">
                <a:solidFill>
                  <a:srgbClr val="26303A"/>
                </a:solidFill>
                <a:latin typeface="Meiryo"/>
                <a:ea typeface="Meiryo"/>
              </a:rPr>
              <a:t>全 8 シナリオで</a:t>
            </a:r>
            <a:r>
              <a:rPr sz="1350" b="1" i="0">
                <a:solidFill>
                  <a:srgbClr val="16385C"/>
                </a:solidFill>
                <a:latin typeface="Meiryo"/>
                <a:ea typeface="Meiryo"/>
              </a:rPr>
              <a:t>タイ</a:t>
            </a:r>
            <a:r>
              <a:rPr sz="1350" b="0" i="0">
                <a:solidFill>
                  <a:srgbClr val="26303A"/>
                </a:solidFill>
                <a:latin typeface="Meiryo"/>
                <a:ea typeface="Meiryo"/>
              </a:rPr>
              <a:t>（経路短く </a:t>
            </a:r>
            <a:r>
              <a:rPr sz="1350" b="0" i="1">
                <a:solidFill>
                  <a:srgbClr val="26303A"/>
                </a:solidFill>
                <a:latin typeface="Meiryo"/>
                <a:ea typeface="Meiryo"/>
              </a:rPr>
              <a:t>O(d)</a:t>
            </a:r>
            <a:r>
              <a:rPr sz="1350" b="0" i="0">
                <a:solidFill>
                  <a:srgbClr val="26303A"/>
                </a:solidFill>
                <a:latin typeface="Meiryo"/>
                <a:ea typeface="Meiryo"/>
              </a:rPr>
              <a:t>）</a:t>
            </a:r>
          </a:p>
          <a:p>
            <a:pPr>
              <a:lnSpc>
                <a:spcPct val="112000"/>
              </a:lnSpc>
              <a:spcBef>
                <a:spcPts val="600"/>
              </a:spcBef>
            </a:pPr>
            <a:r>
              <a:rPr sz="1300" b="0" i="0">
                <a:solidFill>
                  <a:srgbClr val="6E7A88"/>
                </a:solidFill>
                <a:latin typeface="Meiryo"/>
                <a:ea typeface="Meiryo"/>
              </a:rPr>
              <a:t>→　</a:t>
            </a:r>
            <a:r>
              <a:rPr sz="1350" b="1" i="0">
                <a:solidFill>
                  <a:srgbClr val="16385C"/>
                </a:solidFill>
                <a:latin typeface="Meiryo"/>
                <a:ea typeface="Meiryo"/>
              </a:rPr>
              <a:t>選択は問題にならない</a:t>
            </a:r>
          </a:p>
        </p:txBody>
      </p:sp>
      <p:sp>
        <p:nvSpPr>
          <p:cNvPr id="12" name="Rounded Rectangle 11"/>
          <p:cNvSpPr/>
          <p:nvPr/>
        </p:nvSpPr>
        <p:spPr>
          <a:xfrm>
            <a:off x="6287871" y="1874519"/>
            <a:ext cx="5336895" cy="1920240"/>
          </a:xfrm>
          <a:prstGeom prst="roundRect">
            <a:avLst>
              <a:gd name="adj" fmla="val 5000"/>
            </a:avLst>
          </a:prstGeom>
          <a:solidFill>
            <a:srgbClr val="FFFFFF"/>
          </a:solidFill>
          <a:ln w="13970">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07327" y="2039112"/>
            <a:ext cx="3599535" cy="402336"/>
          </a:xfrm>
          <a:prstGeom prst="rect">
            <a:avLst/>
          </a:prstGeom>
          <a:noFill/>
        </p:spPr>
        <p:txBody>
          <a:bodyPr wrap="square" lIns="18288" tIns="9144" rIns="18288" bIns="9144" anchor="t">
            <a:spAutoFit/>
          </a:bodyPr>
          <a:lstStyle/>
          <a:p>
            <a:r>
              <a:rPr sz="1600" b="1" i="0">
                <a:solidFill>
                  <a:srgbClr val="16385C"/>
                </a:solidFill>
                <a:latin typeface="Meiryo"/>
                <a:ea typeface="Meiryo"/>
              </a:rPr>
              <a:t>集団（Memetic・</a:t>
            </a:r>
            <a:r>
              <a:rPr sz="1600" b="1" i="1">
                <a:solidFill>
                  <a:srgbClr val="16385C"/>
                </a:solidFill>
                <a:latin typeface="Meiryo"/>
                <a:ea typeface="Meiryo"/>
              </a:rPr>
              <a:t>d</a:t>
            </a:r>
            <a:r>
              <a:rPr sz="1600" b="1" i="0">
                <a:solidFill>
                  <a:srgbClr val="16385C"/>
                </a:solidFill>
                <a:latin typeface="Meiryo"/>
                <a:ea typeface="Meiryo"/>
              </a:rPr>
              <a:t> 大）</a:t>
            </a:r>
          </a:p>
        </p:txBody>
      </p:sp>
      <p:sp>
        <p:nvSpPr>
          <p:cNvPr id="14" name="Rounded Rectangle 13"/>
          <p:cNvSpPr/>
          <p:nvPr/>
        </p:nvSpPr>
        <p:spPr>
          <a:xfrm>
            <a:off x="10024567" y="2039112"/>
            <a:ext cx="1371600" cy="384048"/>
          </a:xfrm>
          <a:prstGeom prst="roundRect">
            <a:avLst>
              <a:gd name="adj" fmla="val 24000"/>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00000"/>
              </a:lnSpc>
            </a:pPr>
            <a:r>
              <a:rPr sz="1150" b="1" i="0">
                <a:solidFill>
                  <a:srgbClr val="FFFFFF"/>
                </a:solidFill>
                <a:latin typeface="Meiryo"/>
                <a:ea typeface="Meiryo"/>
              </a:rPr>
              <a:t>使い分けが要る</a:t>
            </a:r>
          </a:p>
        </p:txBody>
      </p:sp>
      <p:sp>
        <p:nvSpPr>
          <p:cNvPr id="15" name="TextBox 14"/>
          <p:cNvSpPr txBox="1"/>
          <p:nvPr/>
        </p:nvSpPr>
        <p:spPr>
          <a:xfrm>
            <a:off x="6507327" y="2587752"/>
            <a:ext cx="4897983" cy="1097280"/>
          </a:xfrm>
          <a:prstGeom prst="rect">
            <a:avLst/>
          </a:prstGeom>
          <a:noFill/>
        </p:spPr>
        <p:txBody>
          <a:bodyPr wrap="square" lIns="18288" tIns="9144" rIns="18288" bIns="9144" anchor="t">
            <a:spAutoFit/>
          </a:bodyPr>
          <a:lstStyle/>
          <a:p>
            <a:pPr>
              <a:lnSpc>
                <a:spcPct val="112000"/>
              </a:lnSpc>
              <a:spcBef>
                <a:spcPts val="0"/>
              </a:spcBef>
            </a:pPr>
            <a:r>
              <a:rPr sz="1300" b="0" i="0">
                <a:solidFill>
                  <a:srgbClr val="6E7A88"/>
                </a:solidFill>
                <a:latin typeface="Meiryo"/>
                <a:ea typeface="Meiryo"/>
              </a:rPr>
              <a:t>品質　</a:t>
            </a:r>
            <a:r>
              <a:rPr sz="1350" b="1" i="0">
                <a:solidFill>
                  <a:srgbClr val="16385C"/>
                </a:solidFill>
                <a:latin typeface="Meiryo"/>
                <a:ea typeface="Meiryo"/>
              </a:rPr>
              <a:t>PR</a:t>
            </a:r>
            <a:r>
              <a:rPr sz="1350" b="0" i="0">
                <a:solidFill>
                  <a:srgbClr val="26303A"/>
                </a:solidFill>
                <a:latin typeface="Meiryo"/>
                <a:ea typeface="Meiryo"/>
              </a:rPr>
              <a:t> が僅かに優る</a:t>
            </a:r>
          </a:p>
          <a:p>
            <a:pPr>
              <a:lnSpc>
                <a:spcPct val="112000"/>
              </a:lnSpc>
              <a:spcBef>
                <a:spcPts val="600"/>
              </a:spcBef>
            </a:pPr>
            <a:r>
              <a:rPr sz="1300" b="0" i="0">
                <a:solidFill>
                  <a:srgbClr val="6E7A88"/>
                </a:solidFill>
                <a:latin typeface="Meiryo"/>
                <a:ea typeface="Meiryo"/>
              </a:rPr>
              <a:t>速さ AOC　</a:t>
            </a:r>
            <a:r>
              <a:rPr sz="1350" b="1" i="0">
                <a:solidFill>
                  <a:srgbClr val="16385C"/>
                </a:solidFill>
                <a:latin typeface="Meiryo"/>
                <a:ea typeface="Meiryo"/>
              </a:rPr>
              <a:t>repair</a:t>
            </a:r>
            <a:r>
              <a:rPr sz="1350" b="0" i="0">
                <a:solidFill>
                  <a:srgbClr val="26303A"/>
                </a:solidFill>
                <a:latin typeface="Meiryo"/>
                <a:ea typeface="Meiryo"/>
              </a:rPr>
              <a:t> が全 8 で PR に優る（δ 最大 +1.0）</a:t>
            </a:r>
          </a:p>
          <a:p>
            <a:pPr>
              <a:lnSpc>
                <a:spcPct val="112000"/>
              </a:lnSpc>
              <a:spcBef>
                <a:spcPts val="600"/>
              </a:spcBef>
            </a:pPr>
            <a:r>
              <a:rPr sz="1300" b="0" i="0">
                <a:solidFill>
                  <a:srgbClr val="6E7A88"/>
                </a:solidFill>
                <a:latin typeface="Meiryo"/>
                <a:ea typeface="Meiryo"/>
              </a:rPr>
              <a:t>→　</a:t>
            </a:r>
            <a:r>
              <a:rPr sz="1350" b="0" i="0">
                <a:solidFill>
                  <a:srgbClr val="26303A"/>
                </a:solidFill>
                <a:latin typeface="Meiryo"/>
                <a:ea typeface="Meiryo"/>
              </a:rPr>
              <a:t>品質＝</a:t>
            </a:r>
            <a:r>
              <a:rPr sz="1350" b="1" i="0">
                <a:solidFill>
                  <a:srgbClr val="16385C"/>
                </a:solidFill>
                <a:latin typeface="Meiryo"/>
                <a:ea typeface="Meiryo"/>
              </a:rPr>
              <a:t>PR</a:t>
            </a:r>
            <a:r>
              <a:rPr sz="1350" b="0" i="0">
                <a:solidFill>
                  <a:srgbClr val="26303A"/>
                </a:solidFill>
                <a:latin typeface="Meiryo"/>
                <a:ea typeface="Meiryo"/>
              </a:rPr>
              <a:t> ／ 予算厳しめ＝</a:t>
            </a:r>
            <a:r>
              <a:rPr sz="1350" b="1" i="0">
                <a:solidFill>
                  <a:srgbClr val="16385C"/>
                </a:solidFill>
                <a:latin typeface="Meiryo"/>
                <a:ea typeface="Meiryo"/>
              </a:rPr>
              <a:t>repair</a:t>
            </a:r>
          </a:p>
        </p:txBody>
      </p:sp>
      <p:sp>
        <p:nvSpPr>
          <p:cNvPr id="16" name="TextBox 15"/>
          <p:cNvSpPr txBox="1"/>
          <p:nvPr/>
        </p:nvSpPr>
        <p:spPr>
          <a:xfrm>
            <a:off x="566928" y="4160520"/>
            <a:ext cx="11057839" cy="365760"/>
          </a:xfrm>
          <a:prstGeom prst="rect">
            <a:avLst/>
          </a:prstGeom>
          <a:noFill/>
        </p:spPr>
        <p:txBody>
          <a:bodyPr wrap="square" lIns="18288" tIns="9144" rIns="18288" bIns="9144" anchor="t">
            <a:spAutoFit/>
          </a:bodyPr>
          <a:lstStyle/>
          <a:p>
            <a:pPr>
              <a:lnSpc>
                <a:spcPct val="106000"/>
              </a:lnSpc>
              <a:spcBef>
                <a:spcPts val="400"/>
              </a:spcBef>
            </a:pPr>
            <a:r>
              <a:rPr sz="1200" b="0" i="0">
                <a:solidFill>
                  <a:srgbClr val="6E7A88"/>
                </a:solidFill>
                <a:latin typeface="Meiryo"/>
                <a:ea typeface="Meiryo"/>
              </a:rPr>
              <a:t>PR は </a:t>
            </a:r>
            <a:r>
              <a:rPr sz="1200" b="0" i="1">
                <a:solidFill>
                  <a:srgbClr val="6E7A88"/>
                </a:solidFill>
                <a:latin typeface="Meiryo"/>
                <a:ea typeface="Meiryo"/>
              </a:rPr>
              <a:t>S</a:t>
            </a:r>
            <a:r>
              <a:rPr sz="864" b="0" i="1" baseline="-22000">
                <a:solidFill>
                  <a:srgbClr val="6E7A88"/>
                </a:solidFill>
                <a:latin typeface="Meiryo"/>
                <a:ea typeface="Meiryo"/>
              </a:rPr>
              <a:t>p</a:t>
            </a:r>
            <a:r>
              <a:rPr sz="1200" b="0" i="0">
                <a:solidFill>
                  <a:srgbClr val="6E7A88"/>
                </a:solidFill>
                <a:latin typeface="Meiryo"/>
                <a:ea typeface="Meiryo"/>
              </a:rPr>
              <a:t> までの長い経路を辿り切ってから最良中間解を返すため立ち上がりが遅い。repair は数手で打ち切り即座に incumbent を更新するためアンタイムに強い。</a:t>
            </a:r>
          </a:p>
        </p:txBody>
      </p:sp>
      <p:sp>
        <p:nvSpPr>
          <p:cNvPr id="17" name="Rectangle 16"/>
          <p:cNvSpPr/>
          <p:nvPr/>
        </p:nvSpPr>
        <p:spPr>
          <a:xfrm>
            <a:off x="566928" y="5074920"/>
            <a:ext cx="11057839" cy="694944"/>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66928" y="5074920"/>
            <a:ext cx="54864" cy="694944"/>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8096" y="5074920"/>
            <a:ext cx="10746943" cy="694944"/>
          </a:xfrm>
          <a:prstGeom prst="rect">
            <a:avLst/>
          </a:prstGeom>
          <a:noFill/>
        </p:spPr>
        <p:txBody>
          <a:bodyPr wrap="square" lIns="18288" tIns="9144" rIns="18288" bIns="9144" anchor="ctr">
            <a:spAutoFit/>
          </a:bodyPr>
          <a:lstStyle/>
          <a:p>
            <a:pPr>
              <a:lnSpc>
                <a:spcPct val="104000"/>
              </a:lnSpc>
            </a:pPr>
            <a:r>
              <a:rPr sz="1300" b="1" i="0">
                <a:solidFill>
                  <a:srgbClr val="16385C"/>
                </a:solidFill>
                <a:latin typeface="Meiryo"/>
                <a:ea typeface="Meiryo"/>
              </a:rPr>
              <a:t>使い分けの結論</a:t>
            </a:r>
            <a:r>
              <a:rPr sz="1300" b="0" i="0">
                <a:solidFill>
                  <a:srgbClr val="26303A"/>
                </a:solidFill>
                <a:latin typeface="Meiryo"/>
                <a:ea typeface="Meiryo"/>
              </a:rPr>
              <a:t>：最終品質最優先なら </a:t>
            </a:r>
            <a:r>
              <a:rPr sz="1300" b="1" i="0">
                <a:solidFill>
                  <a:srgbClr val="16385C"/>
                </a:solidFill>
                <a:latin typeface="Meiryo"/>
                <a:ea typeface="Meiryo"/>
              </a:rPr>
              <a:t>Memetic+PR</a:t>
            </a:r>
            <a:r>
              <a:rPr sz="1300" b="0" i="0">
                <a:solidFill>
                  <a:srgbClr val="26303A"/>
                </a:solidFill>
                <a:latin typeface="Meiryo"/>
                <a:ea typeface="Meiryo"/>
              </a:rPr>
              <a:t>、計算予算が厳しくアンタイム重視なら </a:t>
            </a:r>
            <a:r>
              <a:rPr sz="1300" b="1" i="0">
                <a:solidFill>
                  <a:srgbClr val="16385C"/>
                </a:solidFill>
                <a:latin typeface="Meiryo"/>
                <a:ea typeface="Meiryo"/>
              </a:rPr>
              <a:t>repair</a:t>
            </a:r>
            <a:r>
              <a:rPr sz="1300" b="0" i="0">
                <a:solidFill>
                  <a:srgbClr val="26303A"/>
                </a:solidFill>
                <a:latin typeface="Meiryo"/>
                <a:ea typeface="Meiryo"/>
              </a:rPr>
              <a:t>。ILS ではどちらも同等ゆえ既定の repair で足りる。</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4.4 総合スコアボード — 指標で首位が替わる</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66928" y="1060704"/>
            <a:ext cx="59436" cy="310896"/>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042415"/>
            <a:ext cx="10856671" cy="384048"/>
          </a:xfrm>
          <a:prstGeom prst="rect">
            <a:avLst/>
          </a:prstGeom>
          <a:noFill/>
        </p:spPr>
        <p:txBody>
          <a:bodyPr wrap="square" lIns="18288" tIns="9144" rIns="18288" bIns="9144" anchor="ctr">
            <a:spAutoFit/>
          </a:bodyPr>
          <a:lstStyle/>
          <a:p>
            <a:pPr>
              <a:lnSpc>
                <a:spcPct val="100000"/>
              </a:lnSpc>
            </a:pPr>
            <a:r>
              <a:rPr sz="1500" b="1" i="0">
                <a:solidFill>
                  <a:srgbClr val="16385C"/>
                </a:solidFill>
                <a:latin typeface="Meiryo"/>
                <a:ea typeface="Meiryo"/>
              </a:rPr>
              <a:t>評価軸が変われば首位も替わる：総合品質＝Memetic+機構／安定・速度＝ILS系。万能手法は存在しない</a:t>
            </a:r>
          </a:p>
        </p:txBody>
      </p:sp>
      <p:sp>
        <p:nvSpPr>
          <p:cNvPr id="6" name="TextBox 5"/>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4. 計算機実験</a:t>
            </a:r>
          </a:p>
        </p:txBody>
      </p:sp>
      <p:sp>
        <p:nvSpPr>
          <p:cNvPr id="7" name="TextBox 6"/>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21</a:t>
            </a:r>
          </a:p>
        </p:txBody>
      </p:sp>
      <p:pic>
        <p:nvPicPr>
          <p:cNvPr id="8" name="Picture 7" descr="scoreboard_union.png"/>
          <p:cNvPicPr>
            <a:picLocks noChangeAspect="1"/>
          </p:cNvPicPr>
          <p:nvPr/>
        </p:nvPicPr>
        <p:blipFill>
          <a:blip r:embed="rId3"/>
          <a:stretch>
            <a:fillRect/>
          </a:stretch>
        </p:blipFill>
        <p:spPr>
          <a:xfrm>
            <a:off x="566928" y="1645920"/>
            <a:ext cx="3533546" cy="1410597"/>
          </a:xfrm>
          <a:prstGeom prst="rect">
            <a:avLst/>
          </a:prstGeom>
        </p:spPr>
      </p:pic>
      <p:sp>
        <p:nvSpPr>
          <p:cNvPr id="9" name="TextBox 8"/>
          <p:cNvSpPr txBox="1"/>
          <p:nvPr/>
        </p:nvSpPr>
        <p:spPr>
          <a:xfrm>
            <a:off x="566928" y="3083949"/>
            <a:ext cx="3533546" cy="274320"/>
          </a:xfrm>
          <a:prstGeom prst="rect">
            <a:avLst/>
          </a:prstGeom>
          <a:noFill/>
        </p:spPr>
        <p:txBody>
          <a:bodyPr wrap="square" lIns="18288" tIns="9144" rIns="18288" bIns="9144" anchor="t">
            <a:spAutoFit/>
          </a:bodyPr>
          <a:lstStyle/>
          <a:p>
            <a:pPr algn="ctr"/>
            <a:r>
              <a:rPr sz="1050" b="0" i="0">
                <a:solidFill>
                  <a:srgbClr val="6E7A88"/>
                </a:solidFill>
                <a:latin typeface="Meiryo"/>
                <a:ea typeface="Meiryo"/>
              </a:rPr>
              <a:t>(a) 統合HV — 首位 Memetic+PR</a:t>
            </a:r>
          </a:p>
        </p:txBody>
      </p:sp>
      <p:pic>
        <p:nvPicPr>
          <p:cNvPr id="10" name="Picture 9" descr="scoreboard_highstab.png"/>
          <p:cNvPicPr>
            <a:picLocks noChangeAspect="1"/>
          </p:cNvPicPr>
          <p:nvPr/>
        </p:nvPicPr>
        <p:blipFill>
          <a:blip r:embed="rId4"/>
          <a:stretch>
            <a:fillRect/>
          </a:stretch>
        </p:blipFill>
        <p:spPr>
          <a:xfrm>
            <a:off x="4329074" y="1645920"/>
            <a:ext cx="3533546" cy="1409893"/>
          </a:xfrm>
          <a:prstGeom prst="rect">
            <a:avLst/>
          </a:prstGeom>
        </p:spPr>
      </p:pic>
      <p:sp>
        <p:nvSpPr>
          <p:cNvPr id="11" name="TextBox 10"/>
          <p:cNvSpPr txBox="1"/>
          <p:nvPr/>
        </p:nvSpPr>
        <p:spPr>
          <a:xfrm>
            <a:off x="4329074" y="3083245"/>
            <a:ext cx="3533546" cy="274320"/>
          </a:xfrm>
          <a:prstGeom prst="rect">
            <a:avLst/>
          </a:prstGeom>
          <a:noFill/>
        </p:spPr>
        <p:txBody>
          <a:bodyPr wrap="square" lIns="18288" tIns="9144" rIns="18288" bIns="9144" anchor="t">
            <a:spAutoFit/>
          </a:bodyPr>
          <a:lstStyle/>
          <a:p>
            <a:pPr algn="ctr"/>
            <a:r>
              <a:rPr sz="1050" b="0" i="0">
                <a:solidFill>
                  <a:srgbClr val="6E7A88"/>
                </a:solidFill>
                <a:latin typeface="Meiryo"/>
                <a:ea typeface="Meiryo"/>
              </a:rPr>
              <a:t>(b) 高安定HV — 首位 ILS 系</a:t>
            </a:r>
          </a:p>
        </p:txBody>
      </p:sp>
      <p:pic>
        <p:nvPicPr>
          <p:cNvPr id="12" name="Picture 11" descr="scoreboard_aoc.png"/>
          <p:cNvPicPr>
            <a:picLocks noChangeAspect="1"/>
          </p:cNvPicPr>
          <p:nvPr/>
        </p:nvPicPr>
        <p:blipFill>
          <a:blip r:embed="rId5"/>
          <a:stretch>
            <a:fillRect/>
          </a:stretch>
        </p:blipFill>
        <p:spPr>
          <a:xfrm>
            <a:off x="8091220" y="1645920"/>
            <a:ext cx="3533546" cy="1408834"/>
          </a:xfrm>
          <a:prstGeom prst="rect">
            <a:avLst/>
          </a:prstGeom>
        </p:spPr>
      </p:pic>
      <p:sp>
        <p:nvSpPr>
          <p:cNvPr id="13" name="TextBox 12"/>
          <p:cNvSpPr txBox="1"/>
          <p:nvPr/>
        </p:nvSpPr>
        <p:spPr>
          <a:xfrm>
            <a:off x="8091220" y="3082186"/>
            <a:ext cx="3533546" cy="274320"/>
          </a:xfrm>
          <a:prstGeom prst="rect">
            <a:avLst/>
          </a:prstGeom>
          <a:noFill/>
        </p:spPr>
        <p:txBody>
          <a:bodyPr wrap="square" lIns="18288" tIns="9144" rIns="18288" bIns="9144" anchor="t">
            <a:spAutoFit/>
          </a:bodyPr>
          <a:lstStyle/>
          <a:p>
            <a:pPr algn="ctr"/>
            <a:r>
              <a:rPr sz="1050" b="0" i="0">
                <a:solidFill>
                  <a:srgbClr val="6E7A88"/>
                </a:solidFill>
                <a:latin typeface="Meiryo"/>
                <a:ea typeface="Meiryo"/>
              </a:rPr>
              <a:t>(c) AOC — 首位 ILS 系</a:t>
            </a:r>
          </a:p>
        </p:txBody>
      </p:sp>
      <p:sp>
        <p:nvSpPr>
          <p:cNvPr id="14" name="TextBox 13"/>
          <p:cNvSpPr txBox="1"/>
          <p:nvPr/>
        </p:nvSpPr>
        <p:spPr>
          <a:xfrm>
            <a:off x="566928" y="3623445"/>
            <a:ext cx="11057839"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0" i="0">
                <a:solidFill>
                  <a:srgbClr val="26303A"/>
                </a:solidFill>
                <a:latin typeface="Meiryo"/>
                <a:ea typeface="Meiryo"/>
              </a:rPr>
              <a:t>Friedman 平均順位は 3 指標とも明確に分離（Kendall's </a:t>
            </a:r>
            <a:r>
              <a:rPr sz="1550" b="0" i="1">
                <a:solidFill>
                  <a:srgbClr val="26303A"/>
                </a:solidFill>
                <a:latin typeface="Meiryo"/>
                <a:ea typeface="Meiryo"/>
              </a:rPr>
              <a:t>W</a:t>
            </a:r>
            <a:r>
              <a:rPr sz="1550" b="0" i="0">
                <a:solidFill>
                  <a:srgbClr val="26303A"/>
                </a:solidFill>
                <a:latin typeface="Meiryo"/>
                <a:ea typeface="Meiryo"/>
              </a:rPr>
              <a:t>=0.59／0.81／0.63, </a:t>
            </a:r>
            <a:r>
              <a:rPr sz="1550" b="0" i="1">
                <a:solidFill>
                  <a:srgbClr val="26303A"/>
                </a:solidFill>
                <a:latin typeface="Meiryo"/>
                <a:ea typeface="Meiryo"/>
              </a:rPr>
              <a:t>p</a:t>
            </a:r>
            <a:r>
              <a:rPr sz="1550" b="0" i="0">
                <a:solidFill>
                  <a:srgbClr val="26303A"/>
                </a:solidFill>
                <a:latin typeface="Meiryo"/>
                <a:ea typeface="Meiryo"/>
              </a:rPr>
              <a:t>&lt;0.0001, 相関ゆえ探索的要約）。</a:t>
            </a:r>
          </a:p>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機構なしの素の集団(GA・Memetic-LS)だけが高安定 HV で ARPD≈70〜78% と壊滅</a:t>
            </a:r>
            <a:r>
              <a:rPr sz="1550" b="0" i="0">
                <a:solidFill>
                  <a:srgbClr val="26303A"/>
                </a:solidFill>
                <a:latin typeface="Meiryo"/>
                <a:ea typeface="Meiryo"/>
              </a:rPr>
              <a:t>し、</a:t>
            </a:r>
            <a:r>
              <a:rPr sz="1550" b="0" i="1">
                <a:solidFill>
                  <a:srgbClr val="26303A"/>
                </a:solidFill>
                <a:latin typeface="Meiryo"/>
                <a:ea typeface="Meiryo"/>
              </a:rPr>
              <a:t>S</a:t>
            </a:r>
            <a:r>
              <a:rPr sz="1116" b="0" i="1" baseline="-22000">
                <a:solidFill>
                  <a:srgbClr val="26303A"/>
                </a:solidFill>
                <a:latin typeface="Meiryo"/>
                <a:ea typeface="Meiryo"/>
              </a:rPr>
              <a:t>p</a:t>
            </a:r>
            <a:r>
              <a:rPr sz="1550" b="0" i="0">
                <a:solidFill>
                  <a:srgbClr val="26303A"/>
                </a:solidFill>
                <a:latin typeface="Meiryo"/>
                <a:ea typeface="Meiryo"/>
              </a:rPr>
              <a:t> 近傍に届かず二分される（H1・H2 の予言どおり）。</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4.4 結果の統合 — 相補構造と閾値頑健性</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66928" y="1060704"/>
            <a:ext cx="59436" cy="310896"/>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042415"/>
            <a:ext cx="10856671" cy="384048"/>
          </a:xfrm>
          <a:prstGeom prst="rect">
            <a:avLst/>
          </a:prstGeom>
          <a:noFill/>
        </p:spPr>
        <p:txBody>
          <a:bodyPr wrap="square" lIns="18288" tIns="9144" rIns="18288" bIns="9144" anchor="ctr">
            <a:spAutoFit/>
          </a:bodyPr>
          <a:lstStyle/>
          <a:p>
            <a:pPr>
              <a:lnSpc>
                <a:spcPct val="100000"/>
              </a:lnSpc>
            </a:pPr>
            <a:r>
              <a:rPr sz="1500" b="1" i="0">
                <a:solidFill>
                  <a:srgbClr val="16385C"/>
                </a:solidFill>
                <a:latin typeface="Meiryo"/>
                <a:ea typeface="Meiryo"/>
              </a:rPr>
              <a:t>「素の集団だけが高安定で壊滅」する二分構造は閾値 P25〜P75 で不変——相補構造は頑健</a:t>
            </a:r>
          </a:p>
        </p:txBody>
      </p:sp>
      <p:sp>
        <p:nvSpPr>
          <p:cNvPr id="6" name="TextBox 5"/>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4. 計算機実験</a:t>
            </a:r>
          </a:p>
        </p:txBody>
      </p:sp>
      <p:sp>
        <p:nvSpPr>
          <p:cNvPr id="7" name="TextBox 6"/>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22</a:t>
            </a:r>
          </a:p>
        </p:txBody>
      </p:sp>
      <p:sp>
        <p:nvSpPr>
          <p:cNvPr id="8" name="TextBox 7"/>
          <p:cNvSpPr txBox="1"/>
          <p:nvPr/>
        </p:nvSpPr>
        <p:spPr>
          <a:xfrm>
            <a:off x="566928" y="1645920"/>
            <a:ext cx="11057839"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統合 HV（品質）</a:t>
            </a:r>
            <a:r>
              <a:rPr sz="1550" b="0" i="0">
                <a:solidFill>
                  <a:srgbClr val="26303A"/>
                </a:solidFill>
                <a:latin typeface="Meiryo"/>
                <a:ea typeface="Meiryo"/>
              </a:rPr>
              <a:t>：機構込み集団が首位群（Memetic+PR 2.0・+repair 2.5）。素の集団と互角だった ILS の</a:t>
            </a:r>
            <a:r>
              <a:rPr sz="1550" b="1" i="0">
                <a:solidFill>
                  <a:srgbClr val="16385C"/>
                </a:solidFill>
                <a:latin typeface="Meiryo"/>
                <a:ea typeface="Meiryo"/>
              </a:rPr>
              <a:t>上に</a:t>
            </a:r>
            <a:r>
              <a:rPr sz="1550" b="0" i="0">
                <a:solidFill>
                  <a:srgbClr val="26303A"/>
                </a:solidFill>
                <a:latin typeface="Meiryo"/>
                <a:ea typeface="Meiryo"/>
              </a:rPr>
              <a:t>機構込み Memetic が立つ（首位は leave-one-out に頑健）。</a:t>
            </a:r>
          </a:p>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高安定 HV（本命）</a:t>
            </a:r>
            <a:r>
              <a:rPr sz="1550" b="0" i="0">
                <a:solidFill>
                  <a:srgbClr val="26303A"/>
                </a:solidFill>
                <a:latin typeface="Meiryo"/>
                <a:ea typeface="Meiryo"/>
              </a:rPr>
              <a:t>：ILS 系と機構込み Memetic が首位群(2.6〜3.4)、素の集団だけ壊滅（GA 6.4・Memetic-LS 6.6）。</a:t>
            </a:r>
          </a:p>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AOC（速さ）</a:t>
            </a:r>
            <a:r>
              <a:rPr sz="1550" b="0" i="0">
                <a:solidFill>
                  <a:srgbClr val="26303A"/>
                </a:solidFill>
                <a:latin typeface="Meiryo"/>
                <a:ea typeface="Meiryo"/>
              </a:rPr>
              <a:t>：ILS 系 3 種が首位群(2.5〜2.8)。ウォームアップの遅い Memetic+PR・GA が下位。</a:t>
            </a:r>
          </a:p>
          <a:p>
            <a:pPr>
              <a:lnSpc>
                <a:spcPct val="106000"/>
              </a:lnSpc>
              <a:spcBef>
                <a:spcPts val="400"/>
              </a:spcBef>
            </a:pPr>
            <a:r>
              <a:rPr sz="1200" b="0" i="0">
                <a:solidFill>
                  <a:srgbClr val="6E7A88"/>
                </a:solidFill>
                <a:latin typeface="Meiryo"/>
                <a:ea typeface="Meiryo"/>
              </a:rPr>
              <a:t>閾値頑健性：高安定 HV の P50 を P25〜P75 で掃引しても「素の集団＝最下位群／ILS系・機構込 Memetic＝上位群」の二分構造は不変。動くのは首位群内の僅差順位のみ。</a:t>
            </a:r>
          </a:p>
        </p:txBody>
      </p:sp>
      <p:sp>
        <p:nvSpPr>
          <p:cNvPr id="9" name="Rectangle 8"/>
          <p:cNvSpPr/>
          <p:nvPr/>
        </p:nvSpPr>
        <p:spPr>
          <a:xfrm>
            <a:off x="566928" y="4882896"/>
            <a:ext cx="11057839" cy="941832"/>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66928" y="4882896"/>
            <a:ext cx="54864" cy="941832"/>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8096" y="4882896"/>
            <a:ext cx="10746943" cy="941832"/>
          </a:xfrm>
          <a:prstGeom prst="rect">
            <a:avLst/>
          </a:prstGeom>
          <a:noFill/>
        </p:spPr>
        <p:txBody>
          <a:bodyPr wrap="square" lIns="18288" tIns="9144" rIns="18288" bIns="9144" anchor="ctr">
            <a:spAutoFit/>
          </a:bodyPr>
          <a:lstStyle/>
          <a:p>
            <a:pPr>
              <a:lnSpc>
                <a:spcPct val="104000"/>
              </a:lnSpc>
            </a:pPr>
            <a:r>
              <a:rPr sz="1300" b="1" i="0">
                <a:solidFill>
                  <a:srgbClr val="16385C"/>
                </a:solidFill>
                <a:latin typeface="Meiryo"/>
                <a:ea typeface="Meiryo"/>
              </a:rPr>
              <a:t>発散型 ILS</a:t>
            </a:r>
            <a:r>
              <a:rPr sz="1300" b="0" i="0">
                <a:solidFill>
                  <a:srgbClr val="26303A"/>
                </a:solidFill>
                <a:latin typeface="Meiryo"/>
                <a:ea typeface="Meiryo"/>
              </a:rPr>
              <a:t>（</a:t>
            </a:r>
            <a:r>
              <a:rPr sz="1300" b="0" i="1">
                <a:solidFill>
                  <a:srgbClr val="26303A"/>
                </a:solidFill>
                <a:latin typeface="Meiryo"/>
                <a:ea typeface="Meiryo"/>
              </a:rPr>
              <a:t>S</a:t>
            </a:r>
            <a:r>
              <a:rPr sz="936" b="0" i="1" baseline="-22000">
                <a:solidFill>
                  <a:srgbClr val="26303A"/>
                </a:solidFill>
                <a:latin typeface="Meiryo"/>
                <a:ea typeface="Meiryo"/>
              </a:rPr>
              <a:t>p</a:t>
            </a:r>
            <a:r>
              <a:rPr sz="1300" b="0" i="0">
                <a:solidFill>
                  <a:srgbClr val="26303A"/>
                </a:solidFill>
                <a:latin typeface="Meiryo"/>
                <a:ea typeface="Meiryo"/>
              </a:rPr>
              <a:t> 起点に外へ）と</a:t>
            </a:r>
            <a:r>
              <a:rPr sz="1300" b="1" i="0">
                <a:solidFill>
                  <a:srgbClr val="16385C"/>
                </a:solidFill>
                <a:latin typeface="Meiryo"/>
                <a:ea typeface="Meiryo"/>
              </a:rPr>
              <a:t>収束型 Memetic+PR</a:t>
            </a:r>
            <a:r>
              <a:rPr sz="1300" b="0" i="0">
                <a:solidFill>
                  <a:srgbClr val="26303A"/>
                </a:solidFill>
                <a:latin typeface="Meiryo"/>
                <a:ea typeface="Meiryo"/>
              </a:rPr>
              <a:t>（散った集団を </a:t>
            </a:r>
            <a:r>
              <a:rPr sz="1300" b="0" i="1">
                <a:solidFill>
                  <a:srgbClr val="26303A"/>
                </a:solidFill>
                <a:latin typeface="Meiryo"/>
                <a:ea typeface="Meiryo"/>
              </a:rPr>
              <a:t>S</a:t>
            </a:r>
            <a:r>
              <a:rPr sz="936" b="0" i="1" baseline="-22000">
                <a:solidFill>
                  <a:srgbClr val="26303A"/>
                </a:solidFill>
                <a:latin typeface="Meiryo"/>
                <a:ea typeface="Meiryo"/>
              </a:rPr>
              <a:t>p</a:t>
            </a:r>
            <a:r>
              <a:rPr sz="1300" b="0" i="0">
                <a:solidFill>
                  <a:srgbClr val="26303A"/>
                </a:solidFill>
                <a:latin typeface="Meiryo"/>
                <a:ea typeface="Meiryo"/>
              </a:rPr>
              <a:t> へ）は逆向きだが類似の最終 Pareto に到達。ILS は早期から良い incumbent を持ち、AOC でこの交差が ILS 優位として現れる。</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4.4【探索的】統合 HV の勝者と再スケ率</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66928" y="1060704"/>
            <a:ext cx="59436" cy="310896"/>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042415"/>
            <a:ext cx="10856671" cy="384048"/>
          </a:xfrm>
          <a:prstGeom prst="rect">
            <a:avLst/>
          </a:prstGeom>
          <a:noFill/>
        </p:spPr>
        <p:txBody>
          <a:bodyPr wrap="square" lIns="18288" tIns="9144" rIns="18288" bIns="9144" anchor="ctr">
            <a:spAutoFit/>
          </a:bodyPr>
          <a:lstStyle/>
          <a:p>
            <a:pPr>
              <a:lnSpc>
                <a:spcPct val="100000"/>
              </a:lnSpc>
            </a:pPr>
            <a:r>
              <a:rPr sz="1500" b="1" i="0">
                <a:solidFill>
                  <a:srgbClr val="16385C"/>
                </a:solidFill>
                <a:latin typeface="Meiryo"/>
                <a:ea typeface="Meiryo"/>
              </a:rPr>
              <a:t>総合HVの勝者は ρ≈50% で二分——ただし交絡ゆえ見立て。本命の結論はこれに依存しない</a:t>
            </a:r>
          </a:p>
        </p:txBody>
      </p:sp>
      <p:sp>
        <p:nvSpPr>
          <p:cNvPr id="6" name="TextBox 5"/>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4. 計算機実験</a:t>
            </a:r>
          </a:p>
        </p:txBody>
      </p:sp>
      <p:sp>
        <p:nvSpPr>
          <p:cNvPr id="7" name="TextBox 6"/>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23</a:t>
            </a:r>
          </a:p>
        </p:txBody>
      </p:sp>
      <p:sp>
        <p:nvSpPr>
          <p:cNvPr id="8" name="TextBox 7"/>
          <p:cNvSpPr txBox="1"/>
          <p:nvPr/>
        </p:nvSpPr>
        <p:spPr>
          <a:xfrm>
            <a:off x="566928" y="1645920"/>
            <a:ext cx="11057839"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0" i="0">
                <a:solidFill>
                  <a:srgbClr val="26303A"/>
                </a:solidFill>
                <a:latin typeface="Meiryo"/>
                <a:ea typeface="Meiryo"/>
              </a:rPr>
              <a:t>統合 HV の勝者は </a:t>
            </a:r>
            <a:r>
              <a:rPr sz="1550" b="0" i="1">
                <a:solidFill>
                  <a:srgbClr val="26303A"/>
                </a:solidFill>
                <a:latin typeface="Meiryo"/>
                <a:ea typeface="Meiryo"/>
              </a:rPr>
              <a:t>ρ</a:t>
            </a:r>
            <a:r>
              <a:rPr sz="1550" b="0" i="0">
                <a:solidFill>
                  <a:srgbClr val="26303A"/>
                </a:solidFill>
                <a:latin typeface="Meiryo"/>
                <a:ea typeface="Meiryo"/>
              </a:rPr>
              <a:t> と対応し、</a:t>
            </a:r>
            <a:r>
              <a:rPr sz="1550" b="1" i="0">
                <a:solidFill>
                  <a:srgbClr val="16385C"/>
                </a:solidFill>
                <a:latin typeface="Meiryo"/>
                <a:ea typeface="Meiryo"/>
              </a:rPr>
              <a:t>~50% を境に低で ILS・中〜高で Memetic</a:t>
            </a:r>
            <a:r>
              <a:rPr sz="1550" b="0" i="0">
                <a:solidFill>
                  <a:srgbClr val="26303A"/>
                </a:solidFill>
                <a:latin typeface="Meiryo"/>
                <a:ea typeface="Meiryo"/>
              </a:rPr>
              <a:t> に二分（同一 la36 ラダー 27/54/73% で ILS→Memetic→Memetic）。可動工程の絶対数や問題規模では捉えられない。</a:t>
            </a:r>
          </a:p>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機序の見立て</a:t>
            </a:r>
            <a:r>
              <a:rPr sz="1550" b="0" i="0">
                <a:solidFill>
                  <a:srgbClr val="26303A"/>
                </a:solidFill>
                <a:latin typeface="Meiryo"/>
                <a:ea typeface="Meiryo"/>
              </a:rPr>
              <a:t>：安定性項は </a:t>
            </a:r>
            <a:r>
              <a:rPr sz="1550" b="0" i="1">
                <a:solidFill>
                  <a:srgbClr val="26303A"/>
                </a:solidFill>
                <a:latin typeface="Meiryo"/>
                <a:ea typeface="Meiryo"/>
              </a:rPr>
              <a:t>S</a:t>
            </a:r>
            <a:r>
              <a:rPr sz="1116" b="0" i="1" baseline="-22000">
                <a:solidFill>
                  <a:srgbClr val="26303A"/>
                </a:solidFill>
                <a:latin typeface="Meiryo"/>
                <a:ea typeface="Meiryo"/>
              </a:rPr>
              <a:t>p</a:t>
            </a:r>
            <a:r>
              <a:rPr sz="1550" b="0" i="0">
                <a:solidFill>
                  <a:srgbClr val="26303A"/>
                </a:solidFill>
                <a:latin typeface="Meiryo"/>
                <a:ea typeface="Meiryo"/>
              </a:rPr>
              <a:t>(</a:t>
            </a:r>
            <a:r>
              <a:rPr sz="1550" b="0" i="1">
                <a:solidFill>
                  <a:srgbClr val="26303A"/>
                </a:solidFill>
                <a:latin typeface="Meiryo"/>
                <a:ea typeface="Meiryo"/>
              </a:rPr>
              <a:t>D</a:t>
            </a:r>
            <a:r>
              <a:rPr sz="1550" b="0" i="0">
                <a:solidFill>
                  <a:srgbClr val="26303A"/>
                </a:solidFill>
                <a:latin typeface="Meiryo"/>
                <a:ea typeface="Meiryo"/>
              </a:rPr>
              <a:t>=0) を引力点とする。</a:t>
            </a:r>
            <a:r>
              <a:rPr sz="1550" b="0" i="1">
                <a:solidFill>
                  <a:srgbClr val="26303A"/>
                </a:solidFill>
                <a:latin typeface="Meiryo"/>
                <a:ea typeface="Meiryo"/>
              </a:rPr>
              <a:t>ρ</a:t>
            </a:r>
            <a:r>
              <a:rPr sz="1550" b="0" i="0">
                <a:solidFill>
                  <a:srgbClr val="26303A"/>
                </a:solidFill>
                <a:latin typeface="Meiryo"/>
                <a:ea typeface="Meiryo"/>
              </a:rPr>
              <a:t> 小では良解が </a:t>
            </a:r>
            <a:r>
              <a:rPr sz="1550" b="0" i="1">
                <a:solidFill>
                  <a:srgbClr val="26303A"/>
                </a:solidFill>
                <a:latin typeface="Meiryo"/>
                <a:ea typeface="Meiryo"/>
              </a:rPr>
              <a:t>S</a:t>
            </a:r>
            <a:r>
              <a:rPr sz="1116" b="0" i="1" baseline="-22000">
                <a:solidFill>
                  <a:srgbClr val="26303A"/>
                </a:solidFill>
                <a:latin typeface="Meiryo"/>
                <a:ea typeface="Meiryo"/>
              </a:rPr>
              <a:t>p</a:t>
            </a:r>
            <a:r>
              <a:rPr sz="1550" b="0" i="0">
                <a:solidFill>
                  <a:srgbClr val="26303A"/>
                </a:solidFill>
                <a:latin typeface="Meiryo"/>
                <a:ea typeface="Meiryo"/>
              </a:rPr>
              <a:t> 近傍に限られ ILS の近傍充填で足りる。</a:t>
            </a:r>
            <a:r>
              <a:rPr sz="1550" b="0" i="1">
                <a:solidFill>
                  <a:srgbClr val="26303A"/>
                </a:solidFill>
                <a:latin typeface="Meiryo"/>
                <a:ea typeface="Meiryo"/>
              </a:rPr>
              <a:t>ρ</a:t>
            </a:r>
            <a:r>
              <a:rPr sz="1550" b="0" i="0">
                <a:solidFill>
                  <a:srgbClr val="26303A"/>
                </a:solidFill>
                <a:latin typeface="Meiryo"/>
                <a:ea typeface="Meiryo"/>
              </a:rPr>
              <a:t> 増で効率端が遠のくと、単一軌道の ILS は引力圏を脱しにくく、</a:t>
            </a:r>
            <a:r>
              <a:rPr sz="1550" b="0" i="1">
                <a:solidFill>
                  <a:srgbClr val="26303A"/>
                </a:solidFill>
                <a:latin typeface="Meiryo"/>
                <a:ea typeface="Meiryo"/>
              </a:rPr>
              <a:t>S</a:t>
            </a:r>
            <a:r>
              <a:rPr sz="1116" b="0" i="1" baseline="-22000">
                <a:solidFill>
                  <a:srgbClr val="26303A"/>
                </a:solidFill>
                <a:latin typeface="Meiryo"/>
                <a:ea typeface="Meiryo"/>
              </a:rPr>
              <a:t>p</a:t>
            </a:r>
            <a:r>
              <a:rPr sz="1550" b="0" i="0">
                <a:solidFill>
                  <a:srgbClr val="26303A"/>
                </a:solidFill>
                <a:latin typeface="Meiryo"/>
                <a:ea typeface="Meiryo"/>
              </a:rPr>
              <a:t> から離れた個体を保つ Memetic だけが届く（H1 と同型）。</a:t>
            </a:r>
          </a:p>
        </p:txBody>
      </p:sp>
      <p:sp>
        <p:nvSpPr>
          <p:cNvPr id="9" name="Rectangle 8"/>
          <p:cNvSpPr/>
          <p:nvPr/>
        </p:nvSpPr>
        <p:spPr>
          <a:xfrm>
            <a:off x="566928" y="3886200"/>
            <a:ext cx="11057839" cy="941832"/>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66928" y="3886200"/>
            <a:ext cx="54864" cy="941832"/>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8096" y="3886200"/>
            <a:ext cx="10746943" cy="941832"/>
          </a:xfrm>
          <a:prstGeom prst="rect">
            <a:avLst/>
          </a:prstGeom>
          <a:noFill/>
        </p:spPr>
        <p:txBody>
          <a:bodyPr wrap="square" lIns="18288" tIns="9144" rIns="18288" bIns="9144" anchor="ctr">
            <a:spAutoFit/>
          </a:bodyPr>
          <a:lstStyle/>
          <a:p>
            <a:pPr>
              <a:lnSpc>
                <a:spcPct val="104000"/>
              </a:lnSpc>
            </a:pPr>
            <a:r>
              <a:rPr sz="1300" b="0" i="0">
                <a:solidFill>
                  <a:srgbClr val="26303A"/>
                </a:solidFill>
                <a:latin typeface="Meiryo"/>
                <a:ea typeface="Meiryo"/>
              </a:rPr>
              <a:t>ただし ta21L(82%)は例外（≒タイ, </a:t>
            </a:r>
            <a:r>
              <a:rPr sz="1300" b="0" i="1">
                <a:solidFill>
                  <a:srgbClr val="26303A"/>
                </a:solidFill>
                <a:latin typeface="Meiryo"/>
                <a:ea typeface="Meiryo"/>
              </a:rPr>
              <a:t>p</a:t>
            </a:r>
            <a:r>
              <a:rPr sz="1300" b="0" i="0">
                <a:solidFill>
                  <a:srgbClr val="26303A"/>
                </a:solidFill>
                <a:latin typeface="Meiryo"/>
                <a:ea typeface="Meiryo"/>
              </a:rPr>
              <a:t>=0.053）で、</a:t>
            </a:r>
            <a:r>
              <a:rPr sz="1300" b="0" i="1">
                <a:solidFill>
                  <a:srgbClr val="26303A"/>
                </a:solidFill>
                <a:latin typeface="Meiryo"/>
                <a:ea typeface="Meiryo"/>
              </a:rPr>
              <a:t>S</a:t>
            </a:r>
            <a:r>
              <a:rPr sz="936" b="0" i="1" baseline="-22000">
                <a:solidFill>
                  <a:srgbClr val="26303A"/>
                </a:solidFill>
                <a:latin typeface="Meiryo"/>
                <a:ea typeface="Meiryo"/>
              </a:rPr>
              <a:t>p</a:t>
            </a:r>
            <a:r>
              <a:rPr sz="1300" b="0" i="0">
                <a:solidFill>
                  <a:srgbClr val="26303A"/>
                </a:solidFill>
                <a:latin typeface="Meiryo"/>
                <a:ea typeface="Meiryo"/>
              </a:rPr>
              <a:t> 品質の交絡と順列偏差表現への依存も残るため</a:t>
            </a:r>
            <a:r>
              <a:rPr sz="1300" b="1" i="0">
                <a:solidFill>
                  <a:srgbClr val="16385C"/>
                </a:solidFill>
                <a:latin typeface="Meiryo"/>
                <a:ea typeface="Meiryo"/>
              </a:rPr>
              <a:t>探索的見立て</a:t>
            </a:r>
            <a:r>
              <a:rPr sz="1300" b="0" i="0">
                <a:solidFill>
                  <a:srgbClr val="26303A"/>
                </a:solidFill>
                <a:latin typeface="Meiryo"/>
                <a:ea typeface="Meiryo"/>
              </a:rPr>
              <a:t>に留める。本命の高安定 HV 優位・機構非対称はこの対応に依存せず、全 8 シナリオの直接検定で独立に確立している。</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1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51560" y="2148840"/>
            <a:ext cx="1554480" cy="1371600"/>
          </a:xfrm>
          <a:prstGeom prst="rect">
            <a:avLst/>
          </a:prstGeom>
          <a:noFill/>
        </p:spPr>
        <p:txBody>
          <a:bodyPr wrap="square" lIns="18288" tIns="9144" rIns="18288" bIns="9144" anchor="ctr">
            <a:spAutoFit/>
          </a:bodyPr>
          <a:lstStyle/>
          <a:p>
            <a:r>
              <a:rPr sz="7800" b="1" i="0">
                <a:solidFill>
                  <a:srgbClr val="3E618C"/>
                </a:solidFill>
                <a:latin typeface="Meiryo"/>
                <a:ea typeface="Meiryo"/>
              </a:rPr>
              <a:t>5</a:t>
            </a:r>
          </a:p>
        </p:txBody>
      </p:sp>
      <p:sp>
        <p:nvSpPr>
          <p:cNvPr id="4" name="TextBox 3"/>
          <p:cNvSpPr txBox="1"/>
          <p:nvPr/>
        </p:nvSpPr>
        <p:spPr>
          <a:xfrm>
            <a:off x="2514600" y="2148840"/>
            <a:ext cx="8899855" cy="1371600"/>
          </a:xfrm>
          <a:prstGeom prst="rect">
            <a:avLst/>
          </a:prstGeom>
          <a:noFill/>
        </p:spPr>
        <p:txBody>
          <a:bodyPr wrap="square" lIns="18288" tIns="9144" rIns="18288" bIns="9144" anchor="ctr">
            <a:spAutoFit/>
          </a:bodyPr>
          <a:lstStyle/>
          <a:p>
            <a:r>
              <a:rPr sz="3000" b="1" i="0">
                <a:solidFill>
                  <a:srgbClr val="FFFFFF"/>
                </a:solidFill>
                <a:latin typeface="Meiryo"/>
                <a:ea typeface="Meiryo"/>
              </a:rPr>
              <a:t>結論</a:t>
            </a:r>
          </a:p>
          <a:p>
            <a:pPr>
              <a:spcBef>
                <a:spcPts val="1000"/>
              </a:spcBef>
            </a:pPr>
            <a:r>
              <a:rPr sz="1400" b="0" i="0">
                <a:solidFill>
                  <a:srgbClr val="AFC2D8"/>
                </a:solidFill>
                <a:latin typeface="Meiryo"/>
                <a:ea typeface="Meiryo"/>
              </a:rPr>
              <a:t>相補構造・限界・今後の課題</a:t>
            </a:r>
          </a:p>
        </p:txBody>
      </p:sp>
      <p:cxnSp>
        <p:nvCxnSpPr>
          <p:cNvPr id="5" name="Connector 4"/>
          <p:cNvCxnSpPr/>
          <p:nvPr/>
        </p:nvCxnSpPr>
        <p:spPr>
          <a:xfrm>
            <a:off x="2542032" y="3913632"/>
            <a:ext cx="4754880" cy="0"/>
          </a:xfrm>
          <a:prstGeom prst="bentConnector3">
            <a:avLst/>
          </a:prstGeom>
          <a:ln w="15875">
            <a:solidFill>
              <a:srgbClr val="3E618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5. 結論 — 3 つの主張</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66928" y="1060704"/>
            <a:ext cx="59436" cy="310896"/>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042415"/>
            <a:ext cx="10856671" cy="384048"/>
          </a:xfrm>
          <a:prstGeom prst="rect">
            <a:avLst/>
          </a:prstGeom>
          <a:noFill/>
        </p:spPr>
        <p:txBody>
          <a:bodyPr wrap="square" lIns="18288" tIns="9144" rIns="18288" bIns="9144" anchor="ctr">
            <a:spAutoFit/>
          </a:bodyPr>
          <a:lstStyle/>
          <a:p>
            <a:pPr>
              <a:lnSpc>
                <a:spcPct val="100000"/>
              </a:lnSpc>
            </a:pPr>
            <a:r>
              <a:rPr sz="1500" b="1" i="0">
                <a:solidFill>
                  <a:srgbClr val="16385C"/>
                </a:solidFill>
                <a:latin typeface="Meiryo"/>
                <a:ea typeface="Meiryo"/>
              </a:rPr>
              <a:t>安定性を「演算子」化して同一機構を両ホストへ移植し、そのホスト依存の非対称性を統制下で切り分けた</a:t>
            </a:r>
          </a:p>
        </p:txBody>
      </p:sp>
      <p:sp>
        <p:nvSpPr>
          <p:cNvPr id="6" name="TextBox 5"/>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5. 結論</a:t>
            </a:r>
          </a:p>
        </p:txBody>
      </p:sp>
      <p:sp>
        <p:nvSpPr>
          <p:cNvPr id="7" name="TextBox 6"/>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24</a:t>
            </a:r>
          </a:p>
        </p:txBody>
      </p:sp>
      <p:sp>
        <p:nvSpPr>
          <p:cNvPr id="8" name="TextBox 7"/>
          <p:cNvSpPr txBox="1"/>
          <p:nvPr/>
        </p:nvSpPr>
        <p:spPr>
          <a:xfrm>
            <a:off x="566928" y="1645920"/>
            <a:ext cx="11057839"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① 軌道(ILS)は高安定領域を効率的に充填する【H1】</a:t>
            </a:r>
            <a:r>
              <a:rPr sz="1550" b="0" i="0">
                <a:solidFill>
                  <a:srgbClr val="26303A"/>
                </a:solidFill>
                <a:latin typeface="Meiryo"/>
                <a:ea typeface="Meiryo"/>
              </a:rPr>
              <a:t>：総合品質は互角だが、本命の高安定領域で同一 N5 の集団を全 8 シナリオで完全分離で上回る（</a:t>
            </a:r>
            <a:r>
              <a:rPr sz="1550" b="0" i="1">
                <a:solidFill>
                  <a:srgbClr val="26303A"/>
                </a:solidFill>
                <a:latin typeface="Meiryo"/>
                <a:ea typeface="Meiryo"/>
              </a:rPr>
              <a:t>p</a:t>
            </a:r>
            <a:r>
              <a:rPr sz="1550" b="0" i="0">
                <a:solidFill>
                  <a:srgbClr val="26303A"/>
                </a:solidFill>
                <a:latin typeface="Meiryo"/>
                <a:ea typeface="Meiryo"/>
              </a:rPr>
              <a:t>=0.001, </a:t>
            </a:r>
            <a:r>
              <a:rPr sz="1550" b="0" i="1">
                <a:solidFill>
                  <a:srgbClr val="26303A"/>
                </a:solidFill>
                <a:latin typeface="Meiryo"/>
                <a:ea typeface="Meiryo"/>
              </a:rPr>
              <a:t>|δ|</a:t>
            </a:r>
            <a:r>
              <a:rPr sz="1550" b="0" i="0">
                <a:solidFill>
                  <a:srgbClr val="26303A"/>
                </a:solidFill>
                <a:latin typeface="Meiryo"/>
                <a:ea typeface="Meiryo"/>
              </a:rPr>
              <a:t>=1.0）。局所探索の有無でなく</a:t>
            </a:r>
            <a:r>
              <a:rPr sz="1550" b="1" i="0">
                <a:solidFill>
                  <a:srgbClr val="16385C"/>
                </a:solidFill>
                <a:latin typeface="Meiryo"/>
                <a:ea typeface="Meiryo"/>
              </a:rPr>
              <a:t>探索構造</a:t>
            </a:r>
            <a:r>
              <a:rPr sz="1550" b="0" i="0">
                <a:solidFill>
                  <a:srgbClr val="26303A"/>
                </a:solidFill>
                <a:latin typeface="Meiryo"/>
                <a:ea typeface="Meiryo"/>
              </a:rPr>
              <a:t>に由来。</a:t>
            </a:r>
          </a:p>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② PR・repair の効果はホスト依存で非対称【H2】</a:t>
            </a:r>
            <a:r>
              <a:rPr sz="1550" b="0" i="0">
                <a:solidFill>
                  <a:srgbClr val="26303A"/>
                </a:solidFill>
                <a:latin typeface="Meiryo"/>
                <a:ea typeface="Meiryo"/>
              </a:rPr>
              <a:t>：集団の高安定 HV を 2 倍以上押し上げ ILS 水準へ。自力充填済みの軌道はほぼ頭打ち（ただし極端な高 </a:t>
            </a:r>
            <a:r>
              <a:rPr sz="1550" b="0" i="1">
                <a:solidFill>
                  <a:srgbClr val="26303A"/>
                </a:solidFill>
                <a:latin typeface="Meiryo"/>
                <a:ea typeface="Meiryo"/>
              </a:rPr>
              <a:t>ρ</a:t>
            </a:r>
            <a:r>
              <a:rPr sz="1550" b="0" i="0">
                <a:solidFill>
                  <a:srgbClr val="26303A"/>
                </a:solidFill>
                <a:latin typeface="Meiryo"/>
                <a:ea typeface="Meiryo"/>
              </a:rPr>
              <a:t>=ta21L 82% では軌道にも有意に残る）。</a:t>
            </a:r>
          </a:p>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③ 軌道と集団の相補構造</a:t>
            </a:r>
            <a:r>
              <a:rPr sz="1550" b="0" i="0">
                <a:solidFill>
                  <a:srgbClr val="26303A"/>
                </a:solidFill>
                <a:latin typeface="Meiryo"/>
                <a:ea typeface="Meiryo"/>
              </a:rPr>
              <a:t>：総合品質＝Memetic+機構／安定性＝ILS と Memetic+機構の双方／速度＝ILS 系。</a:t>
            </a:r>
            <a:r>
              <a:rPr sz="1550" b="1" i="0">
                <a:solidFill>
                  <a:srgbClr val="16385C"/>
                </a:solidFill>
                <a:latin typeface="Meiryo"/>
                <a:ea typeface="Meiryo"/>
              </a:rPr>
              <a:t>評価指標により最良手法が替わる</a:t>
            </a:r>
            <a:r>
              <a:rPr sz="1550" b="0" i="0">
                <a:solidFill>
                  <a:srgbClr val="26303A"/>
                </a:solidFill>
                <a:latin typeface="Meiryo"/>
                <a:ea typeface="Meiryo"/>
              </a:rPr>
              <a:t>——両構造は再スケの異なる要求を補い合う。</a:t>
            </a:r>
          </a:p>
        </p:txBody>
      </p:sp>
      <p:sp>
        <p:nvSpPr>
          <p:cNvPr id="9" name="Rectangle 8"/>
          <p:cNvSpPr/>
          <p:nvPr/>
        </p:nvSpPr>
        <p:spPr>
          <a:xfrm>
            <a:off x="566928" y="4517136"/>
            <a:ext cx="11057839" cy="694944"/>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66928" y="4517136"/>
            <a:ext cx="54864" cy="694944"/>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8096" y="4517136"/>
            <a:ext cx="10746943" cy="694944"/>
          </a:xfrm>
          <a:prstGeom prst="rect">
            <a:avLst/>
          </a:prstGeom>
          <a:noFill/>
        </p:spPr>
        <p:txBody>
          <a:bodyPr wrap="square" lIns="18288" tIns="9144" rIns="18288" bIns="9144" anchor="ctr">
            <a:spAutoFit/>
          </a:bodyPr>
          <a:lstStyle/>
          <a:p>
            <a:pPr>
              <a:lnSpc>
                <a:spcPct val="104000"/>
              </a:lnSpc>
            </a:pPr>
            <a:r>
              <a:rPr sz="1300" b="1" i="0">
                <a:solidFill>
                  <a:srgbClr val="16385C"/>
                </a:solidFill>
                <a:latin typeface="Meiryo"/>
                <a:ea typeface="Meiryo"/>
              </a:rPr>
              <a:t>中心的貢献</a:t>
            </a:r>
            <a:r>
              <a:rPr sz="1300" b="0" i="0">
                <a:solidFill>
                  <a:srgbClr val="26303A"/>
                </a:solidFill>
                <a:latin typeface="Meiryo"/>
                <a:ea typeface="Meiryo"/>
              </a:rPr>
              <a:t>：安定性レバーを演算子として実装したことで同一機構を両ホストへ移植でき、そのホスト依存の非対称性を統制下で切り分けたこと。</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7839" cy="603504"/>
          </a:xfrm>
          <a:prstGeom prst="rect">
            <a:avLst/>
          </a:prstGeom>
          <a:noFill/>
        </p:spPr>
        <p:txBody>
          <a:bodyPr wrap="square" lIns="18288" tIns="9144" rIns="18288" bIns="9144" anchor="ctr">
            <a:spAutoFit/>
          </a:bodyPr>
          <a:lstStyle/>
          <a:p>
            <a:r>
              <a:rPr sz="2450" b="1" i="0">
                <a:solidFill>
                  <a:srgbClr val="16385C"/>
                </a:solidFill>
                <a:latin typeface="Meiryo"/>
                <a:ea typeface="Meiryo"/>
              </a:rPr>
              <a:t>5. 限界と今後の課題</a:t>
            </a:r>
          </a:p>
        </p:txBody>
      </p:sp>
      <p:cxnSp>
        <p:nvCxnSpPr>
          <p:cNvPr id="3" name="Connector 2"/>
          <p:cNvCxnSpPr/>
          <p:nvPr/>
        </p:nvCxnSpPr>
        <p:spPr>
          <a:xfrm>
            <a:off x="566928" y="969264"/>
            <a:ext cx="11057839" cy="0"/>
          </a:xfrm>
          <a:prstGeom prst="bentConnector3">
            <a:avLst/>
          </a:prstGeom>
          <a:ln w="15875">
            <a:solidFill>
              <a:srgbClr val="16385C"/>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66928" y="1060704"/>
            <a:ext cx="59436" cy="310896"/>
          </a:xfrm>
          <a:prstGeom prst="rect">
            <a:avLst/>
          </a:prstGeom>
          <a:solidFill>
            <a:srgbClr val="163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042415"/>
            <a:ext cx="10856671" cy="384048"/>
          </a:xfrm>
          <a:prstGeom prst="rect">
            <a:avLst/>
          </a:prstGeom>
          <a:noFill/>
        </p:spPr>
        <p:txBody>
          <a:bodyPr wrap="square" lIns="18288" tIns="9144" rIns="18288" bIns="9144" anchor="ctr">
            <a:spAutoFit/>
          </a:bodyPr>
          <a:lstStyle/>
          <a:p>
            <a:pPr>
              <a:lnSpc>
                <a:spcPct val="100000"/>
              </a:lnSpc>
            </a:pPr>
            <a:r>
              <a:rPr sz="1500" b="1" i="0">
                <a:solidFill>
                  <a:srgbClr val="16385C"/>
                </a:solidFill>
                <a:latin typeface="Meiryo"/>
                <a:ea typeface="Meiryo"/>
              </a:rPr>
              <a:t>主結論は「作業集合を保つ作業遅延・順列偏差」で確立——集合を変える外乱や開始時刻偏差が次の射程</a:t>
            </a:r>
          </a:p>
        </p:txBody>
      </p:sp>
      <p:sp>
        <p:nvSpPr>
          <p:cNvPr id="6" name="TextBox 5"/>
          <p:cNvSpPr txBox="1"/>
          <p:nvPr/>
        </p:nvSpPr>
        <p:spPr>
          <a:xfrm>
            <a:off x="566928" y="6473952"/>
            <a:ext cx="8229600" cy="274320"/>
          </a:xfrm>
          <a:prstGeom prst="rect">
            <a:avLst/>
          </a:prstGeom>
          <a:noFill/>
        </p:spPr>
        <p:txBody>
          <a:bodyPr wrap="square" lIns="18288" tIns="9144" rIns="18288" bIns="9144" anchor="t">
            <a:spAutoFit/>
          </a:bodyPr>
          <a:lstStyle/>
          <a:p>
            <a:r>
              <a:rPr sz="900" b="0" i="0">
                <a:solidFill>
                  <a:srgbClr val="6E7A88"/>
                </a:solidFill>
                <a:latin typeface="Meiryo"/>
                <a:ea typeface="Meiryo"/>
              </a:rPr>
              <a:t>5. 結論</a:t>
            </a:r>
          </a:p>
        </p:txBody>
      </p:sp>
      <p:sp>
        <p:nvSpPr>
          <p:cNvPr id="7" name="TextBox 6"/>
          <p:cNvSpPr txBox="1"/>
          <p:nvPr/>
        </p:nvSpPr>
        <p:spPr>
          <a:xfrm>
            <a:off x="10527487" y="6473952"/>
            <a:ext cx="1097280" cy="274320"/>
          </a:xfrm>
          <a:prstGeom prst="rect">
            <a:avLst/>
          </a:prstGeom>
          <a:noFill/>
        </p:spPr>
        <p:txBody>
          <a:bodyPr wrap="square" lIns="18288" tIns="9144" rIns="18288" bIns="9144" anchor="t">
            <a:spAutoFit/>
          </a:bodyPr>
          <a:lstStyle/>
          <a:p>
            <a:pPr algn="r"/>
            <a:r>
              <a:rPr sz="1000" b="0" i="0">
                <a:solidFill>
                  <a:srgbClr val="6E7A88"/>
                </a:solidFill>
                <a:latin typeface="Meiryo"/>
                <a:ea typeface="Meiryo"/>
              </a:rPr>
              <a:t>25</a:t>
            </a:r>
          </a:p>
        </p:txBody>
      </p:sp>
      <p:sp>
        <p:nvSpPr>
          <p:cNvPr id="8" name="TextBox 7"/>
          <p:cNvSpPr txBox="1"/>
          <p:nvPr/>
        </p:nvSpPr>
        <p:spPr>
          <a:xfrm>
            <a:off x="566928" y="1645920"/>
            <a:ext cx="5373471"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限界</a:t>
            </a:r>
          </a:p>
          <a:p>
            <a:pPr lvl="1">
              <a:lnSpc>
                <a:spcPct val="106000"/>
              </a:lnSpc>
              <a:spcBef>
                <a:spcPts val="300"/>
              </a:spcBef>
            </a:pPr>
            <a:r>
              <a:rPr sz="1200" b="0" i="0">
                <a:solidFill>
                  <a:srgbClr val="6E7A88"/>
                </a:solidFill>
                <a:latin typeface="Meiryo"/>
                <a:ea typeface="Meiryo"/>
              </a:rPr>
              <a:t>－ </a:t>
            </a:r>
            <a:r>
              <a:rPr sz="1400" b="0" i="0">
                <a:solidFill>
                  <a:srgbClr val="26303A"/>
                </a:solidFill>
                <a:latin typeface="Meiryo"/>
                <a:ea typeface="Meiryo"/>
              </a:rPr>
              <a:t>n=10 に基づく（飽和した主結論は頑健、境界事例は別）。</a:t>
            </a:r>
          </a:p>
          <a:p>
            <a:pPr lvl="1">
              <a:lnSpc>
                <a:spcPct val="106000"/>
              </a:lnSpc>
              <a:spcBef>
                <a:spcPts val="300"/>
              </a:spcBef>
            </a:pPr>
            <a:r>
              <a:rPr sz="1200" b="0" i="0">
                <a:solidFill>
                  <a:srgbClr val="6E7A88"/>
                </a:solidFill>
                <a:latin typeface="Meiryo"/>
                <a:ea typeface="Meiryo"/>
              </a:rPr>
              <a:t>－ </a:t>
            </a:r>
            <a:r>
              <a:rPr sz="1400" b="0" i="0">
                <a:solidFill>
                  <a:srgbClr val="26303A"/>
                </a:solidFill>
                <a:latin typeface="Meiryo"/>
                <a:ea typeface="Meiryo"/>
              </a:rPr>
              <a:t>安定性を</a:t>
            </a:r>
            <a:r>
              <a:rPr sz="1400" b="1" i="0">
                <a:solidFill>
                  <a:srgbClr val="16385C"/>
                </a:solidFill>
                <a:latin typeface="Meiryo"/>
                <a:ea typeface="Meiryo"/>
              </a:rPr>
              <a:t>順列偏差でのみ</a:t>
            </a:r>
            <a:r>
              <a:rPr sz="1400" b="0" i="0">
                <a:solidFill>
                  <a:srgbClr val="26303A"/>
                </a:solidFill>
                <a:latin typeface="Meiryo"/>
                <a:ea typeface="Meiryo"/>
              </a:rPr>
              <a:t>測定。開始時刻偏差下での妥当性は未検証。</a:t>
            </a:r>
          </a:p>
          <a:p>
            <a:pPr lvl="1">
              <a:lnSpc>
                <a:spcPct val="106000"/>
              </a:lnSpc>
              <a:spcBef>
                <a:spcPts val="300"/>
              </a:spcBef>
            </a:pPr>
            <a:r>
              <a:rPr sz="1200" b="0" i="0">
                <a:solidFill>
                  <a:srgbClr val="6E7A88"/>
                </a:solidFill>
                <a:latin typeface="Meiryo"/>
                <a:ea typeface="Meiryo"/>
              </a:rPr>
              <a:t>－ </a:t>
            </a:r>
            <a:r>
              <a:rPr sz="1400" b="0" i="0">
                <a:solidFill>
                  <a:srgbClr val="26303A"/>
                </a:solidFill>
                <a:latin typeface="Meiryo"/>
                <a:ea typeface="Meiryo"/>
              </a:rPr>
              <a:t>H1・H2 は</a:t>
            </a:r>
            <a:r>
              <a:rPr sz="1400" b="1" i="0">
                <a:solidFill>
                  <a:srgbClr val="16385C"/>
                </a:solidFill>
                <a:latin typeface="Meiryo"/>
                <a:ea typeface="Meiryo"/>
              </a:rPr>
              <a:t>作業集合を保つ作業遅延</a:t>
            </a:r>
            <a:r>
              <a:rPr sz="1400" b="0" i="0">
                <a:solidFill>
                  <a:srgbClr val="26303A"/>
                </a:solidFill>
                <a:latin typeface="Meiryo"/>
                <a:ea typeface="Meiryo"/>
              </a:rPr>
              <a:t>で確立。作業集合を変える外乱では </a:t>
            </a:r>
            <a:r>
              <a:rPr sz="1400" b="0" i="1">
                <a:solidFill>
                  <a:srgbClr val="26303A"/>
                </a:solidFill>
                <a:latin typeface="Meiryo"/>
                <a:ea typeface="Meiryo"/>
              </a:rPr>
              <a:t>S</a:t>
            </a:r>
            <a:r>
              <a:rPr sz="1008" b="0" i="1" baseline="-22000">
                <a:solidFill>
                  <a:srgbClr val="26303A"/>
                </a:solidFill>
                <a:latin typeface="Meiryo"/>
                <a:ea typeface="Meiryo"/>
              </a:rPr>
              <a:t>p</a:t>
            </a:r>
            <a:r>
              <a:rPr sz="1400" b="0" i="0">
                <a:solidFill>
                  <a:srgbClr val="26303A"/>
                </a:solidFill>
                <a:latin typeface="Meiryo"/>
                <a:ea typeface="Meiryo"/>
              </a:rPr>
              <a:t> が完全な参照解でなくなり、式(1)の定義自体が変わる。</a:t>
            </a:r>
          </a:p>
        </p:txBody>
      </p:sp>
      <p:sp>
        <p:nvSpPr>
          <p:cNvPr id="9" name="TextBox 8"/>
          <p:cNvSpPr txBox="1"/>
          <p:nvPr/>
        </p:nvSpPr>
        <p:spPr>
          <a:xfrm>
            <a:off x="6251295" y="1645920"/>
            <a:ext cx="5373471" cy="365760"/>
          </a:xfrm>
          <a:prstGeom prst="rect">
            <a:avLst/>
          </a:prstGeom>
          <a:noFill/>
        </p:spPr>
        <p:txBody>
          <a:bodyPr wrap="square" lIns="18288" tIns="9144" rIns="18288" bIns="9144" anchor="t">
            <a:spAutoFit/>
          </a:bodyPr>
          <a:lstStyle/>
          <a:p>
            <a:pPr>
              <a:lnSpc>
                <a:spcPct val="106000"/>
              </a:lnSpc>
              <a:spcBef>
                <a:spcPts val="700"/>
              </a:spcBef>
            </a:pPr>
            <a:r>
              <a:rPr sz="1200" b="1" i="0">
                <a:solidFill>
                  <a:srgbClr val="16385C"/>
                </a:solidFill>
                <a:latin typeface="Meiryo"/>
                <a:ea typeface="Meiryo"/>
              </a:rPr>
              <a:t>▪ </a:t>
            </a:r>
            <a:r>
              <a:rPr sz="1550" b="1" i="0">
                <a:solidFill>
                  <a:srgbClr val="16385C"/>
                </a:solidFill>
                <a:latin typeface="Meiryo"/>
                <a:ea typeface="Meiryo"/>
              </a:rPr>
              <a:t>今後の課題</a:t>
            </a:r>
          </a:p>
          <a:p>
            <a:pPr lvl="1">
              <a:lnSpc>
                <a:spcPct val="106000"/>
              </a:lnSpc>
              <a:spcBef>
                <a:spcPts val="300"/>
              </a:spcBef>
            </a:pPr>
            <a:r>
              <a:rPr sz="1200" b="0" i="0">
                <a:solidFill>
                  <a:srgbClr val="6E7A88"/>
                </a:solidFill>
                <a:latin typeface="Meiryo"/>
                <a:ea typeface="Meiryo"/>
              </a:rPr>
              <a:t>－ </a:t>
            </a:r>
            <a:r>
              <a:rPr sz="1400" b="0" i="0">
                <a:solidFill>
                  <a:srgbClr val="26303A"/>
                </a:solidFill>
                <a:latin typeface="Meiryo"/>
                <a:ea typeface="Meiryo"/>
              </a:rPr>
              <a:t>開始時刻偏差下での再検証。</a:t>
            </a:r>
          </a:p>
          <a:p>
            <a:pPr lvl="1">
              <a:lnSpc>
                <a:spcPct val="106000"/>
              </a:lnSpc>
              <a:spcBef>
                <a:spcPts val="300"/>
              </a:spcBef>
            </a:pPr>
            <a:r>
              <a:rPr sz="1200" b="0" i="0">
                <a:solidFill>
                  <a:srgbClr val="6E7A88"/>
                </a:solidFill>
                <a:latin typeface="Meiryo"/>
                <a:ea typeface="Meiryo"/>
              </a:rPr>
              <a:t>－ </a:t>
            </a:r>
            <a:r>
              <a:rPr sz="1400" b="0" i="0">
                <a:solidFill>
                  <a:srgbClr val="26303A"/>
                </a:solidFill>
                <a:latin typeface="Meiryo"/>
                <a:ea typeface="Meiryo"/>
              </a:rPr>
              <a:t>特急ジョブ割込み・ジョブ削除など</a:t>
            </a:r>
            <a:r>
              <a:rPr sz="1400" b="1" i="0">
                <a:solidFill>
                  <a:srgbClr val="16385C"/>
                </a:solidFill>
                <a:latin typeface="Meiryo"/>
                <a:ea typeface="Meiryo"/>
              </a:rPr>
              <a:t>作業集合を変える外乱</a:t>
            </a:r>
            <a:r>
              <a:rPr sz="1400" b="0" i="0">
                <a:solidFill>
                  <a:srgbClr val="26303A"/>
                </a:solidFill>
                <a:latin typeface="Meiryo"/>
                <a:ea typeface="Meiryo"/>
              </a:rPr>
              <a:t>への拡張。</a:t>
            </a:r>
          </a:p>
          <a:p>
            <a:pPr lvl="1">
              <a:lnSpc>
                <a:spcPct val="106000"/>
              </a:lnSpc>
              <a:spcBef>
                <a:spcPts val="300"/>
              </a:spcBef>
            </a:pPr>
            <a:r>
              <a:rPr sz="1200" b="0" i="0">
                <a:solidFill>
                  <a:srgbClr val="6E7A88"/>
                </a:solidFill>
                <a:latin typeface="Meiryo"/>
                <a:ea typeface="Meiryo"/>
              </a:rPr>
              <a:t>－ </a:t>
            </a:r>
            <a:r>
              <a:rPr sz="1400" b="0" i="0">
                <a:solidFill>
                  <a:srgbClr val="26303A"/>
                </a:solidFill>
                <a:latin typeface="Meiryo"/>
                <a:ea typeface="Meiryo"/>
              </a:rPr>
              <a:t>範囲レバーと演算子レバーの統合（波及範囲内での誘導演算子併用）。</a:t>
            </a:r>
          </a:p>
          <a:p>
            <a:pPr lvl="1">
              <a:lnSpc>
                <a:spcPct val="106000"/>
              </a:lnSpc>
              <a:spcBef>
                <a:spcPts val="300"/>
              </a:spcBef>
            </a:pPr>
            <a:r>
              <a:rPr sz="1200" b="0" i="0">
                <a:solidFill>
                  <a:srgbClr val="6E7A88"/>
                </a:solidFill>
                <a:latin typeface="Meiryo"/>
                <a:ea typeface="Meiryo"/>
              </a:rPr>
              <a:t>－ </a:t>
            </a:r>
            <a:r>
              <a:rPr sz="1400" b="0" i="0">
                <a:solidFill>
                  <a:srgbClr val="26303A"/>
                </a:solidFill>
                <a:latin typeface="Meiryo"/>
                <a:ea typeface="Meiryo"/>
              </a:rPr>
              <a:t>集団側の代替処方（</a:t>
            </a:r>
            <a:r>
              <a:rPr sz="1400" b="0" i="1">
                <a:solidFill>
                  <a:srgbClr val="26303A"/>
                </a:solidFill>
                <a:latin typeface="Meiryo"/>
                <a:ea typeface="Meiryo"/>
              </a:rPr>
              <a:t>S</a:t>
            </a:r>
            <a:r>
              <a:rPr sz="1008" b="0" i="1" baseline="-22000">
                <a:solidFill>
                  <a:srgbClr val="26303A"/>
                </a:solidFill>
                <a:latin typeface="Meiryo"/>
                <a:ea typeface="Meiryo"/>
              </a:rPr>
              <a:t>p</a:t>
            </a:r>
            <a:r>
              <a:rPr sz="1400" b="0" i="0">
                <a:solidFill>
                  <a:srgbClr val="26303A"/>
                </a:solidFill>
                <a:latin typeface="Meiryo"/>
                <a:ea typeface="Meiryo"/>
              </a:rPr>
              <a:t> 偏向交叉）との比較、Pareto-native 手法(NSGA-II 等)での再検証。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2459</Words>
  <Application>Microsoft Office PowerPoint</Application>
  <PresentationFormat>ワイド画面</PresentationFormat>
  <Paragraphs>304</Paragraphs>
  <Slides>31</Slides>
  <Notes>2</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31</vt:i4>
      </vt:variant>
    </vt:vector>
  </HeadingPairs>
  <TitlesOfParts>
    <vt:vector size="36" baseType="lpstr">
      <vt:lpstr>Meiryo</vt:lpstr>
      <vt:lpstr>游ゴシック</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拓海 鬼頭</cp:lastModifiedBy>
  <cp:revision>2</cp:revision>
  <dcterms:created xsi:type="dcterms:W3CDTF">2013-01-27T09:14:16Z</dcterms:created>
  <dcterms:modified xsi:type="dcterms:W3CDTF">2026-07-24T05:13:22Z</dcterms:modified>
  <cp:category/>
</cp:coreProperties>
</file>