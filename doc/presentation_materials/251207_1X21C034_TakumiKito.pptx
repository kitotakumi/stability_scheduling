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368" r:id="rId4"/>
    <p:sldId id="258" r:id="rId5"/>
    <p:sldId id="308" r:id="rId6"/>
    <p:sldId id="342" r:id="rId7"/>
    <p:sldId id="369" r:id="rId8"/>
    <p:sldId id="344" r:id="rId9"/>
    <p:sldId id="379" r:id="rId10"/>
    <p:sldId id="385" r:id="rId11"/>
    <p:sldId id="381" r:id="rId12"/>
    <p:sldId id="384" r:id="rId13"/>
    <p:sldId id="370" r:id="rId14"/>
    <p:sldId id="382" r:id="rId15"/>
    <p:sldId id="351" r:id="rId16"/>
    <p:sldId id="357" r:id="rId17"/>
    <p:sldId id="371" r:id="rId18"/>
    <p:sldId id="361" r:id="rId19"/>
    <p:sldId id="383" r:id="rId20"/>
    <p:sldId id="374" r:id="rId21"/>
    <p:sldId id="376" r:id="rId22"/>
    <p:sldId id="375" r:id="rId23"/>
    <p:sldId id="377" r:id="rId24"/>
    <p:sldId id="372"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5" autoAdjust="0"/>
    <p:restoredTop sz="94660"/>
  </p:normalViewPr>
  <p:slideViewPr>
    <p:cSldViewPr snapToGrid="0">
      <p:cViewPr varScale="1">
        <p:scale>
          <a:sx n="65" d="100"/>
          <a:sy n="65" d="100"/>
        </p:scale>
        <p:origin x="48" y="6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f3808df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f3808df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8f3808df64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85166DFF-27C8-2029-4164-2898C2E68452}"/>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3C40046A-855D-9E06-0BF7-63FECA9F1B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3C84F93C-4FEA-84D9-0251-65D206982B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1593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f3808df64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f3808df64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300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7E8EF74-AD3B-C5C6-5AA0-D9AEF31BAFAF}"/>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A22F579E-CE69-461E-8E70-F5CA17A66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9A9420DF-1C99-9309-4FA5-967B8351C9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9577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E906B3B2-0BAC-A7CD-E0A6-061565F70B80}"/>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8C5CE956-B3B5-00B6-A86F-DF600416F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A0AA5722-DCBF-4298-93D0-5C67CDC6F6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5755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A429955-8630-E592-226D-C8322670D8CE}"/>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49C845CE-D083-1185-8AAA-975E15F0F2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05562500-FE46-5DED-6704-48E65C9D09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3620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47075A2-94C1-4044-3A1B-825F8A3985B8}"/>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634DA1E6-4095-1CD2-1E4F-236B633A7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6A6AE406-3667-56AC-E1BD-828FA09E68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2875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BFB6FC3-0D0D-CCBE-E834-54CD36A1AEBE}"/>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5329EBC8-FAF6-8476-E324-9222E32186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DC3AF644-358C-B0BE-E0A8-028C62B5E4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8751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6AF60AC-60A5-598F-1887-15EC04867B10}"/>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40B7287E-3795-BCEA-3E50-FC4881C9B9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858AAC1A-786B-1DFF-122C-BB124000F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0886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2E7E9D3-1CBD-3616-A0C0-00AD50A52ADD}"/>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775528E2-1654-666E-E2E9-3DBB3ABA8D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575D511F-7B07-1BF6-0C9F-14A3D2A630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8767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A58A7F6A-8366-BA7C-FFD4-204272C9A7C6}"/>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58F3A292-9F75-221E-305F-048A183985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3E343239-E187-4B8E-8199-2C45CE1698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204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31F61AF-ADFD-0E5B-F85D-B8AD6DD41D5C}"/>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7B1563F2-F174-4520-6F33-0F8CAEE02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C961019A-AF5C-2D5C-4125-CB5E54C230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8538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6DD5405-1F63-1CFE-B3B8-D63C2C26083A}"/>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C79C5E0D-5169-57A9-29F8-778FF53896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6A9C3D90-FEA6-FA32-E989-7C20C148BB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2715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876038-5FFA-6C1A-1B57-4D5F79F2221A}"/>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D4598607-C0E2-9628-1355-E91865F1D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9910129B-3797-3A75-9D46-C0D408AB9D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064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389610BA-B1B4-E5B4-8714-AD40BE39C185}"/>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BF9994E3-951F-F224-A467-6BE9492DB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8DAC2529-BAF1-E973-FAF6-FDDBC0CA30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4683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E71FAB9-2F93-5ACE-231D-701D4658DAC6}"/>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01F14BBA-0E48-F5A8-30D3-2259407BE9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AB928F90-71CD-CF07-BE68-44EA855A28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211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9E38D3D6-2ABD-9F69-8A98-6FA16208905C}"/>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03FDFBB2-6419-E45C-2A77-27B4C374B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10996163-2321-15EB-B3A9-04525D64EA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7490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876E03A-976B-4299-D004-55163AE6BF61}"/>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A48EB8A7-C6BA-0B4E-EA49-9CF80A9801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008B6723-695B-5801-4FEF-D1187C6C1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4473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77E6AA1-D9E2-AD7E-C255-8822E3642695}"/>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AAD6DC44-6140-BF64-E544-733489819D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772C16EE-700C-A8E3-4D0E-A93EAA9241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43106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8D593EC-C3EB-CB5D-50FD-9DA4D0153013}"/>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04F223F4-0E07-3381-9695-F81E6E9E98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EF003DCC-A809-E3BB-EC59-AC827A2B16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3657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8582FD6-488A-5308-7917-3A4826EF9688}"/>
            </a:ext>
          </a:extLst>
        </p:cNvPr>
        <p:cNvGrpSpPr/>
        <p:nvPr/>
      </p:nvGrpSpPr>
      <p:grpSpPr>
        <a:xfrm>
          <a:off x="0" y="0"/>
          <a:ext cx="0" cy="0"/>
          <a:chOff x="0" y="0"/>
          <a:chExt cx="0" cy="0"/>
        </a:xfrm>
      </p:grpSpPr>
      <p:sp>
        <p:nvSpPr>
          <p:cNvPr id="86" name="Google Shape;86;g28f3808df64_0_205:notes">
            <a:extLst>
              <a:ext uri="{FF2B5EF4-FFF2-40B4-BE49-F238E27FC236}">
                <a16:creationId xmlns:a16="http://schemas.microsoft.com/office/drawing/2014/main" id="{2383513F-5824-2D9B-F86A-8DA4A3567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f3808df64_0_205:notes">
            <a:extLst>
              <a:ext uri="{FF2B5EF4-FFF2-40B4-BE49-F238E27FC236}">
                <a16:creationId xmlns:a16="http://schemas.microsoft.com/office/drawing/2014/main" id="{DDE9E92F-F06A-F41C-69BF-2A18BEE6A5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0710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B5963503-9D19-3ED0-D36D-0D96282EAA9C}"/>
            </a:ext>
          </a:extLst>
        </p:cNvPr>
        <p:cNvGrpSpPr/>
        <p:nvPr/>
      </p:nvGrpSpPr>
      <p:grpSpPr>
        <a:xfrm>
          <a:off x="0" y="0"/>
          <a:ext cx="0" cy="0"/>
          <a:chOff x="0" y="0"/>
          <a:chExt cx="0" cy="0"/>
        </a:xfrm>
      </p:grpSpPr>
      <p:sp>
        <p:nvSpPr>
          <p:cNvPr id="62" name="Google Shape;62;g28f3808df64_0_96:notes">
            <a:extLst>
              <a:ext uri="{FF2B5EF4-FFF2-40B4-BE49-F238E27FC236}">
                <a16:creationId xmlns:a16="http://schemas.microsoft.com/office/drawing/2014/main" id="{A4530A29-9164-AD9E-A61E-A3B7C8A955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8f3808df64_0_96:notes">
            <a:extLst>
              <a:ext uri="{FF2B5EF4-FFF2-40B4-BE49-F238E27FC236}">
                <a16:creationId xmlns:a16="http://schemas.microsoft.com/office/drawing/2014/main" id="{FAEE1ADE-2303-BF95-FFA8-D4780F6E6C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7822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p:nvPr/>
        </p:nvSpPr>
        <p:spPr>
          <a:xfrm>
            <a:off x="124500" y="1332000"/>
            <a:ext cx="9019500" cy="2479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cxnSp>
        <p:nvCxnSpPr>
          <p:cNvPr id="56" name="Google Shape;56;p13"/>
          <p:cNvCxnSpPr/>
          <p:nvPr/>
        </p:nvCxnSpPr>
        <p:spPr>
          <a:xfrm>
            <a:off x="1619250" y="3186925"/>
            <a:ext cx="1935900" cy="0"/>
          </a:xfrm>
          <a:prstGeom prst="straightConnector1">
            <a:avLst/>
          </a:prstGeom>
          <a:noFill/>
          <a:ln w="38100" cap="flat" cmpd="sng">
            <a:solidFill>
              <a:schemeClr val="accent1">
                <a:lumMod val="50000"/>
              </a:schemeClr>
            </a:solidFill>
            <a:prstDash val="solid"/>
            <a:round/>
            <a:headEnd type="none" w="med" len="med"/>
            <a:tailEnd type="none" w="med" len="med"/>
          </a:ln>
        </p:spPr>
      </p:cxnSp>
      <p:sp>
        <p:nvSpPr>
          <p:cNvPr id="57" name="Google Shape;57;p13"/>
          <p:cNvSpPr txBox="1"/>
          <p:nvPr/>
        </p:nvSpPr>
        <p:spPr>
          <a:xfrm>
            <a:off x="1791150" y="3526175"/>
            <a:ext cx="5561700" cy="70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1800" dirty="0"/>
              <a:t>早稲田大学　創造理工学部　経営システム工学科</a:t>
            </a:r>
            <a:endParaRPr sz="1800" dirty="0"/>
          </a:p>
          <a:p>
            <a:pPr marL="0" lvl="0" indent="0" algn="ctr" rtl="0">
              <a:spcBef>
                <a:spcPts val="0"/>
              </a:spcBef>
              <a:spcAft>
                <a:spcPts val="0"/>
              </a:spcAft>
              <a:buNone/>
            </a:pPr>
            <a:r>
              <a:rPr lang="ja" sz="1800" dirty="0"/>
              <a:t>1x21c034　鬼頭拓海</a:t>
            </a:r>
            <a:endParaRPr sz="1800" dirty="0"/>
          </a:p>
          <a:p>
            <a:pPr marL="0" lvl="0" indent="0" algn="l" rtl="0">
              <a:spcBef>
                <a:spcPts val="0"/>
              </a:spcBef>
              <a:spcAft>
                <a:spcPts val="0"/>
              </a:spcAft>
              <a:buNone/>
            </a:pPr>
            <a:endParaRPr sz="2000" b="1" dirty="0"/>
          </a:p>
        </p:txBody>
      </p:sp>
      <p:sp>
        <p:nvSpPr>
          <p:cNvPr id="58" name="Google Shape;58;p13"/>
          <p:cNvSpPr txBox="1"/>
          <p:nvPr/>
        </p:nvSpPr>
        <p:spPr>
          <a:xfrm>
            <a:off x="1543050" y="1951410"/>
            <a:ext cx="6177900" cy="104641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JP" altLang="en-US" sz="2800" b="1" dirty="0">
                <a:solidFill>
                  <a:schemeClr val="tx1">
                    <a:lumMod val="95000"/>
                    <a:lumOff val="5000"/>
                  </a:schemeClr>
                </a:solidFill>
              </a:rPr>
              <a:t>ジョブの投入順序の変更量を考慮した再スケジューリング手法の提案</a:t>
            </a:r>
            <a:endParaRPr sz="2800" b="1" dirty="0">
              <a:solidFill>
                <a:schemeClr val="tx1">
                  <a:lumMod val="95000"/>
                  <a:lumOff val="5000"/>
                </a:schemeClr>
              </a:solidFill>
            </a:endParaRPr>
          </a:p>
        </p:txBody>
      </p:sp>
      <p:cxnSp>
        <p:nvCxnSpPr>
          <p:cNvPr id="59" name="Google Shape;59;p13"/>
          <p:cNvCxnSpPr/>
          <p:nvPr/>
        </p:nvCxnSpPr>
        <p:spPr>
          <a:xfrm>
            <a:off x="3664050" y="3186925"/>
            <a:ext cx="1935900" cy="0"/>
          </a:xfrm>
          <a:prstGeom prst="straightConnector1">
            <a:avLst/>
          </a:prstGeom>
          <a:noFill/>
          <a:ln w="38100" cap="flat" cmpd="sng">
            <a:solidFill>
              <a:schemeClr val="accent1">
                <a:lumMod val="50000"/>
              </a:schemeClr>
            </a:solidFill>
            <a:prstDash val="solid"/>
            <a:round/>
            <a:headEnd type="none" w="med" len="med"/>
            <a:tailEnd type="none" w="med" len="med"/>
          </a:ln>
        </p:spPr>
      </p:cxnSp>
      <p:cxnSp>
        <p:nvCxnSpPr>
          <p:cNvPr id="60" name="Google Shape;60;p13"/>
          <p:cNvCxnSpPr/>
          <p:nvPr/>
        </p:nvCxnSpPr>
        <p:spPr>
          <a:xfrm>
            <a:off x="5708850" y="3186925"/>
            <a:ext cx="1935900" cy="0"/>
          </a:xfrm>
          <a:prstGeom prst="straightConnector1">
            <a:avLst/>
          </a:prstGeom>
          <a:noFill/>
          <a:ln w="38100" cap="flat" cmpd="sng">
            <a:solidFill>
              <a:schemeClr val="accent1">
                <a:lumMod val="50000"/>
              </a:schemeClr>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cxnSp>
        <p:nvCxnSpPr>
          <p:cNvPr id="65" name="Google Shape;65;p14"/>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提案手法</a:t>
            </a:r>
            <a:endParaRPr sz="2000" b="1" dirty="0">
              <a:solidFill>
                <a:schemeClr val="dk1"/>
              </a:solidFill>
            </a:endParaRPr>
          </a:p>
        </p:txBody>
      </p:sp>
      <p:sp>
        <p:nvSpPr>
          <p:cNvPr id="68" name="Google Shape;68;p14"/>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3</a:t>
            </a:r>
            <a:r>
              <a:rPr lang="en-US" altLang="ja" sz="2500" b="1" dirty="0">
                <a:solidFill>
                  <a:schemeClr val="accent1">
                    <a:lumMod val="50000"/>
                  </a:schemeClr>
                </a:solidFill>
              </a:rPr>
              <a:t>.</a:t>
            </a:r>
            <a:endParaRPr sz="2500" b="1" dirty="0">
              <a:solidFill>
                <a:schemeClr val="accent1">
                  <a:lumMod val="50000"/>
                </a:schemeClr>
              </a:solidFill>
            </a:endParaRPr>
          </a:p>
        </p:txBody>
      </p:sp>
      <p:sp>
        <p:nvSpPr>
          <p:cNvPr id="73" name="Google Shape;73;p14"/>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既存研究</a:t>
            </a:r>
            <a:endParaRPr sz="2000" b="1" dirty="0">
              <a:solidFill>
                <a:schemeClr val="dk1"/>
              </a:solidFill>
            </a:endParaRPr>
          </a:p>
        </p:txBody>
      </p:sp>
      <p:sp>
        <p:nvSpPr>
          <p:cNvPr id="74" name="Google Shape;74;p14"/>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2</a:t>
            </a:r>
            <a:r>
              <a:rPr lang="en-US" altLang="ja" sz="2500" b="1" dirty="0">
                <a:solidFill>
                  <a:schemeClr val="accent1">
                    <a:lumMod val="50000"/>
                  </a:schemeClr>
                </a:solidFill>
              </a:rPr>
              <a:t>.</a:t>
            </a:r>
            <a:endParaRPr sz="2500" b="1" dirty="0">
              <a:solidFill>
                <a:schemeClr val="accent1">
                  <a:lumMod val="50000"/>
                </a:schemeClr>
              </a:solidFill>
            </a:endParaRPr>
          </a:p>
        </p:txBody>
      </p:sp>
      <p:sp>
        <p:nvSpPr>
          <p:cNvPr id="69" name="Google Shape;69;p14"/>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今後のアプローチ</a:t>
            </a:r>
            <a:endParaRPr sz="2000" b="1" dirty="0">
              <a:solidFill>
                <a:schemeClr val="dk1"/>
              </a:solidFill>
            </a:endParaRPr>
          </a:p>
        </p:txBody>
      </p:sp>
      <p:sp>
        <p:nvSpPr>
          <p:cNvPr id="70" name="Google Shape;70;p14"/>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4</a:t>
            </a:r>
            <a:r>
              <a:rPr lang="en-US" altLang="ja" sz="2500" b="1" dirty="0">
                <a:solidFill>
                  <a:schemeClr val="accent1">
                    <a:lumMod val="50000"/>
                  </a:schemeClr>
                </a:solidFill>
              </a:rPr>
              <a:t>.</a:t>
            </a:r>
            <a:endParaRPr sz="2500" b="1" dirty="0">
              <a:solidFill>
                <a:schemeClr val="accent1">
                  <a:lumMod val="50000"/>
                </a:schemeClr>
              </a:solidFill>
            </a:endParaRPr>
          </a:p>
        </p:txBody>
      </p:sp>
      <p:cxnSp>
        <p:nvCxnSpPr>
          <p:cNvPr id="75" name="Google Shape;75;p14"/>
          <p:cNvCxnSpPr/>
          <p:nvPr/>
        </p:nvCxnSpPr>
        <p:spPr>
          <a:xfrm>
            <a:off x="1038900" y="3746491"/>
            <a:ext cx="3463800" cy="0"/>
          </a:xfrm>
          <a:prstGeom prst="straightConnector1">
            <a:avLst/>
          </a:prstGeom>
          <a:noFill/>
          <a:ln w="19050" cap="flat" cmpd="sng">
            <a:solidFill>
              <a:schemeClr val="accent1">
                <a:lumMod val="50000"/>
              </a:schemeClr>
            </a:solidFill>
            <a:prstDash val="solid"/>
            <a:round/>
            <a:headEnd type="none" w="med" len="med"/>
            <a:tailEnd type="diamond" w="med" len="med"/>
          </a:ln>
        </p:spPr>
      </p:cxnSp>
      <p:cxnSp>
        <p:nvCxnSpPr>
          <p:cNvPr id="76" name="Google Shape;76;p14"/>
          <p:cNvCxnSpPr/>
          <p:nvPr/>
        </p:nvCxnSpPr>
        <p:spPr>
          <a:xfrm>
            <a:off x="1038900" y="2265916"/>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cxnSp>
        <p:nvCxnSpPr>
          <p:cNvPr id="78" name="Google Shape;78;p14"/>
          <p:cNvCxnSpPr/>
          <p:nvPr/>
        </p:nvCxnSpPr>
        <p:spPr>
          <a:xfrm>
            <a:off x="1038900" y="3021128"/>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sp>
        <p:nvSpPr>
          <p:cNvPr id="79" name="Google Shape;79;p14"/>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rPr>
              <a:t>研究背景</a:t>
            </a:r>
            <a:r>
              <a:rPr lang="ja-JP" altLang="en-US" sz="2000" b="1" dirty="0">
                <a:solidFill>
                  <a:schemeClr val="dk1"/>
                </a:solidFill>
              </a:rPr>
              <a:t>・目的</a:t>
            </a:r>
            <a:endParaRPr sz="2000" b="1" dirty="0">
              <a:solidFill>
                <a:schemeClr val="dk1"/>
              </a:solidFill>
            </a:endParaRPr>
          </a:p>
        </p:txBody>
      </p:sp>
      <p:sp>
        <p:nvSpPr>
          <p:cNvPr id="80" name="Google Shape;80;p14"/>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1</a:t>
            </a:r>
            <a:r>
              <a:rPr lang="en-US" altLang="ja" sz="2500" b="1" dirty="0">
                <a:solidFill>
                  <a:schemeClr val="accent1">
                    <a:lumMod val="50000"/>
                  </a:schemeClr>
                </a:solidFill>
              </a:rPr>
              <a:t>.</a:t>
            </a:r>
            <a:endParaRPr sz="2500" b="1" dirty="0">
              <a:solidFill>
                <a:schemeClr val="accent1">
                  <a:lumMod val="50000"/>
                </a:schemeClr>
              </a:solidFill>
            </a:endParaRPr>
          </a:p>
        </p:txBody>
      </p:sp>
      <p:cxnSp>
        <p:nvCxnSpPr>
          <p:cNvPr id="81" name="Google Shape;81;p14"/>
          <p:cNvCxnSpPr/>
          <p:nvPr/>
        </p:nvCxnSpPr>
        <p:spPr>
          <a:xfrm>
            <a:off x="1038888" y="1545503"/>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C6BF7BB0-5278-76B5-9336-2892B9C7296C}"/>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8CE13BA7-CABE-D946-DE08-56A732BE7783}"/>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36B3DBFF-9AD4-1C74-2B2D-E21FEDD9DBA5}"/>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80510090-F029-9119-B2AB-88B3A1861DBC}"/>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提案手法</a:t>
            </a:r>
            <a:endParaRPr sz="2000" b="1" dirty="0">
              <a:solidFill>
                <a:schemeClr val="bg1">
                  <a:lumMod val="75000"/>
                </a:schemeClr>
              </a:solidFill>
            </a:endParaRPr>
          </a:p>
        </p:txBody>
      </p:sp>
      <p:sp>
        <p:nvSpPr>
          <p:cNvPr id="68" name="Google Shape;68;p14">
            <a:extLst>
              <a:ext uri="{FF2B5EF4-FFF2-40B4-BE49-F238E27FC236}">
                <a16:creationId xmlns:a16="http://schemas.microsoft.com/office/drawing/2014/main" id="{BC32F390-9BCD-DCFD-8164-97B1195C1613}"/>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3</a:t>
            </a:r>
            <a:r>
              <a:rPr lang="en-US" altLang="ja" sz="2500" b="1" dirty="0">
                <a:solidFill>
                  <a:schemeClr val="bg1">
                    <a:lumMod val="75000"/>
                  </a:schemeClr>
                </a:solidFill>
              </a:rPr>
              <a:t>.</a:t>
            </a:r>
            <a:endParaRPr sz="2500" b="1" dirty="0">
              <a:solidFill>
                <a:schemeClr val="bg1">
                  <a:lumMod val="75000"/>
                </a:schemeClr>
              </a:solidFill>
            </a:endParaRPr>
          </a:p>
        </p:txBody>
      </p:sp>
      <p:sp>
        <p:nvSpPr>
          <p:cNvPr id="73" name="Google Shape;73;p14">
            <a:extLst>
              <a:ext uri="{FF2B5EF4-FFF2-40B4-BE49-F238E27FC236}">
                <a16:creationId xmlns:a16="http://schemas.microsoft.com/office/drawing/2014/main" id="{BB066406-20D8-BD99-C7B2-6134E816E2AD}"/>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既存研究</a:t>
            </a:r>
            <a:endParaRPr sz="2000" b="1" dirty="0">
              <a:solidFill>
                <a:schemeClr val="bg1">
                  <a:lumMod val="75000"/>
                </a:schemeClr>
              </a:solidFill>
            </a:endParaRPr>
          </a:p>
        </p:txBody>
      </p:sp>
      <p:sp>
        <p:nvSpPr>
          <p:cNvPr id="74" name="Google Shape;74;p14">
            <a:extLst>
              <a:ext uri="{FF2B5EF4-FFF2-40B4-BE49-F238E27FC236}">
                <a16:creationId xmlns:a16="http://schemas.microsoft.com/office/drawing/2014/main" id="{3368B393-B1C0-22A1-6564-AB9BF3F82A40}"/>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2</a:t>
            </a:r>
            <a:r>
              <a:rPr lang="en-US" altLang="ja" sz="2500" b="1" dirty="0">
                <a:solidFill>
                  <a:schemeClr val="bg1">
                    <a:lumMod val="75000"/>
                  </a:schemeClr>
                </a:solidFill>
              </a:rPr>
              <a:t>.</a:t>
            </a:r>
            <a:endParaRPr sz="2500" b="1" dirty="0">
              <a:solidFill>
                <a:schemeClr val="bg1">
                  <a:lumMod val="75000"/>
                </a:schemeClr>
              </a:solidFill>
            </a:endParaRPr>
          </a:p>
        </p:txBody>
      </p:sp>
      <p:sp>
        <p:nvSpPr>
          <p:cNvPr id="69" name="Google Shape;69;p14">
            <a:extLst>
              <a:ext uri="{FF2B5EF4-FFF2-40B4-BE49-F238E27FC236}">
                <a16:creationId xmlns:a16="http://schemas.microsoft.com/office/drawing/2014/main" id="{251E5E3A-2C28-CC80-493C-CABE43D53506}"/>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計算機実験</a:t>
            </a:r>
            <a:endParaRPr sz="2000" b="1" dirty="0">
              <a:solidFill>
                <a:schemeClr val="bg1">
                  <a:lumMod val="75000"/>
                </a:schemeClr>
              </a:solidFill>
            </a:endParaRPr>
          </a:p>
        </p:txBody>
      </p:sp>
      <p:sp>
        <p:nvSpPr>
          <p:cNvPr id="70" name="Google Shape;70;p14">
            <a:extLst>
              <a:ext uri="{FF2B5EF4-FFF2-40B4-BE49-F238E27FC236}">
                <a16:creationId xmlns:a16="http://schemas.microsoft.com/office/drawing/2014/main" id="{F7AB817C-7804-8CD6-00EF-803724B36A9A}"/>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4</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75" name="Google Shape;75;p14">
            <a:extLst>
              <a:ext uri="{FF2B5EF4-FFF2-40B4-BE49-F238E27FC236}">
                <a16:creationId xmlns:a16="http://schemas.microsoft.com/office/drawing/2014/main" id="{C7553F39-22DE-31E4-8785-E4FAC75ED950}"/>
              </a:ext>
            </a:extLst>
          </p:cNvPr>
          <p:cNvCxnSpPr/>
          <p:nvPr/>
        </p:nvCxnSpPr>
        <p:spPr>
          <a:xfrm>
            <a:off x="1038900" y="3746491"/>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7E42D95A-6444-4C60-BD49-3F961269D05A}"/>
              </a:ext>
            </a:extLst>
          </p:cNvPr>
          <p:cNvCxnSpPr/>
          <p:nvPr/>
        </p:nvCxnSpPr>
        <p:spPr>
          <a:xfrm>
            <a:off x="1038900" y="2265916"/>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07D2EF4E-2D05-385E-9C6A-719BFAAE7619}"/>
              </a:ext>
            </a:extLst>
          </p:cNvPr>
          <p:cNvCxnSpPr/>
          <p:nvPr/>
        </p:nvCxnSpPr>
        <p:spPr>
          <a:xfrm>
            <a:off x="1038900" y="3021128"/>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66CA27E5-A527-7051-61AC-F94533A9C679}"/>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dk1"/>
                </a:solidFill>
              </a:rPr>
              <a:t>研究背景</a:t>
            </a:r>
            <a:r>
              <a:rPr lang="ja-JP" altLang="en-US" sz="2000" b="1" dirty="0">
                <a:solidFill>
                  <a:schemeClr val="dk1"/>
                </a:solidFill>
              </a:rPr>
              <a:t>・目的</a:t>
            </a:r>
            <a:endParaRPr sz="2000" b="1" dirty="0">
              <a:solidFill>
                <a:schemeClr val="dk1"/>
              </a:solidFill>
            </a:endParaRPr>
          </a:p>
        </p:txBody>
      </p:sp>
      <p:sp>
        <p:nvSpPr>
          <p:cNvPr id="80" name="Google Shape;80;p14">
            <a:extLst>
              <a:ext uri="{FF2B5EF4-FFF2-40B4-BE49-F238E27FC236}">
                <a16:creationId xmlns:a16="http://schemas.microsoft.com/office/drawing/2014/main" id="{72C17C8B-1349-DC9D-8008-3C65C7801EDB}"/>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1</a:t>
            </a:r>
            <a:r>
              <a:rPr lang="en-US" altLang="ja" sz="2500" b="1" dirty="0">
                <a:solidFill>
                  <a:schemeClr val="accent1">
                    <a:lumMod val="50000"/>
                  </a:schemeClr>
                </a:solidFill>
              </a:rPr>
              <a:t>.</a:t>
            </a:r>
            <a:endParaRPr sz="2500" b="1" dirty="0">
              <a:solidFill>
                <a:schemeClr val="accent1">
                  <a:lumMod val="50000"/>
                </a:schemeClr>
              </a:solidFill>
            </a:endParaRPr>
          </a:p>
        </p:txBody>
      </p:sp>
      <p:cxnSp>
        <p:nvCxnSpPr>
          <p:cNvPr id="81" name="Google Shape;81;p14">
            <a:extLst>
              <a:ext uri="{FF2B5EF4-FFF2-40B4-BE49-F238E27FC236}">
                <a16:creationId xmlns:a16="http://schemas.microsoft.com/office/drawing/2014/main" id="{56935903-F626-52C1-ACB5-8F32A84A50FB}"/>
              </a:ext>
            </a:extLst>
          </p:cNvPr>
          <p:cNvCxnSpPr/>
          <p:nvPr/>
        </p:nvCxnSpPr>
        <p:spPr>
          <a:xfrm>
            <a:off x="1038888" y="1545503"/>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sp>
        <p:nvSpPr>
          <p:cNvPr id="2" name="Google Shape;69;p14">
            <a:extLst>
              <a:ext uri="{FF2B5EF4-FFF2-40B4-BE49-F238E27FC236}">
                <a16:creationId xmlns:a16="http://schemas.microsoft.com/office/drawing/2014/main" id="{F4A1AF8A-8ED5-0A2A-832D-B807E3347D0F}"/>
              </a:ext>
            </a:extLst>
          </p:cNvPr>
          <p:cNvSpPr txBox="1"/>
          <p:nvPr/>
        </p:nvSpPr>
        <p:spPr>
          <a:xfrm>
            <a:off x="1387975" y="4090986"/>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結論</a:t>
            </a:r>
            <a:endParaRPr sz="2000" b="1" dirty="0">
              <a:solidFill>
                <a:schemeClr val="bg1">
                  <a:lumMod val="75000"/>
                </a:schemeClr>
              </a:solidFill>
            </a:endParaRPr>
          </a:p>
        </p:txBody>
      </p:sp>
      <p:sp>
        <p:nvSpPr>
          <p:cNvPr id="3" name="Google Shape;70;p14">
            <a:extLst>
              <a:ext uri="{FF2B5EF4-FFF2-40B4-BE49-F238E27FC236}">
                <a16:creationId xmlns:a16="http://schemas.microsoft.com/office/drawing/2014/main" id="{C237AF68-17FC-5A0F-8594-B7AEE973AB87}"/>
              </a:ext>
            </a:extLst>
          </p:cNvPr>
          <p:cNvSpPr txBox="1"/>
          <p:nvPr/>
        </p:nvSpPr>
        <p:spPr>
          <a:xfrm>
            <a:off x="710375" y="4027386"/>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2500" b="1" dirty="0">
                <a:solidFill>
                  <a:schemeClr val="bg1">
                    <a:lumMod val="75000"/>
                  </a:schemeClr>
                </a:solidFill>
              </a:rPr>
              <a:t>5.</a:t>
            </a:r>
            <a:endParaRPr sz="2500" b="1" dirty="0">
              <a:solidFill>
                <a:schemeClr val="bg1">
                  <a:lumMod val="75000"/>
                </a:schemeClr>
              </a:solidFill>
            </a:endParaRPr>
          </a:p>
        </p:txBody>
      </p:sp>
      <p:cxnSp>
        <p:nvCxnSpPr>
          <p:cNvPr id="4" name="Google Shape;75;p14">
            <a:extLst>
              <a:ext uri="{FF2B5EF4-FFF2-40B4-BE49-F238E27FC236}">
                <a16:creationId xmlns:a16="http://schemas.microsoft.com/office/drawing/2014/main" id="{C66D4F14-613E-9B1E-C82E-134DC61251D9}"/>
              </a:ext>
            </a:extLst>
          </p:cNvPr>
          <p:cNvCxnSpPr/>
          <p:nvPr/>
        </p:nvCxnSpPr>
        <p:spPr>
          <a:xfrm>
            <a:off x="1054950" y="4495086"/>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spTree>
    <p:extLst>
      <p:ext uri="{BB962C8B-B14F-4D97-AF65-F5344CB8AC3E}">
        <p14:creationId xmlns:p14="http://schemas.microsoft.com/office/powerpoint/2010/main" val="970691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0" name="Google Shape;90;p15"/>
          <p:cNvSpPr txBox="1"/>
          <p:nvPr/>
        </p:nvSpPr>
        <p:spPr>
          <a:xfrm>
            <a:off x="577500" y="1520138"/>
            <a:ext cx="7989000"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製造業の生産現場では作業の遅延や機械の故障などの</a:t>
            </a:r>
            <a:r>
              <a:rPr lang="ja-JP" altLang="en-US" sz="1600" b="1" dirty="0">
                <a:solidFill>
                  <a:schemeClr val="accent1">
                    <a:lumMod val="50000"/>
                  </a:schemeClr>
                </a:solidFill>
                <a:latin typeface="Calibri"/>
                <a:ea typeface="Calibri"/>
                <a:cs typeface="Calibri"/>
                <a:sym typeface="Calibri"/>
              </a:rPr>
              <a:t>予期せぬ外乱</a:t>
            </a:r>
            <a:r>
              <a:rPr lang="ja-JP" altLang="en-US" sz="1600" dirty="0">
                <a:latin typeface="Calibri"/>
                <a:ea typeface="Calibri"/>
                <a:cs typeface="Calibri"/>
                <a:sym typeface="Calibri"/>
              </a:rPr>
              <a:t>が頻繁に発生</a:t>
            </a: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これらの外乱は生産効率の低下や納期遅延を引き起こし、企業の競争力低下に</a:t>
            </a:r>
            <a:endParaRPr lang="en-US" altLang="ja-JP" sz="1600" dirty="0">
              <a:latin typeface="Calibri"/>
              <a:ea typeface="Calibri"/>
              <a:cs typeface="Calibri"/>
              <a:sym typeface="Calibri"/>
            </a:endParaRPr>
          </a:p>
          <a:p>
            <a:pPr marL="0" lvl="0" indent="0" algn="l" rtl="0">
              <a:spcBef>
                <a:spcPts val="0"/>
              </a:spcBef>
              <a:spcAft>
                <a:spcPts val="0"/>
              </a:spcAft>
              <a:buNone/>
            </a:pPr>
            <a:r>
              <a:rPr lang="ja-JP" altLang="en-US" sz="1600" b="1" dirty="0">
                <a:solidFill>
                  <a:schemeClr val="accent1">
                    <a:lumMod val="50000"/>
                  </a:schemeClr>
                </a:solidFill>
                <a:latin typeface="Calibri"/>
                <a:ea typeface="Calibri"/>
                <a:cs typeface="Calibri"/>
                <a:sym typeface="Calibri"/>
              </a:rPr>
              <a:t>　  直接的な悪影響</a:t>
            </a:r>
            <a:r>
              <a:rPr lang="ja-JP" altLang="en-US" sz="1600" dirty="0">
                <a:latin typeface="Calibri"/>
                <a:ea typeface="Calibri"/>
                <a:cs typeface="Calibri"/>
                <a:sym typeface="Calibri"/>
              </a:rPr>
              <a:t>を及ぼす</a:t>
            </a: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b="1" dirty="0">
                <a:solidFill>
                  <a:schemeClr val="accent1">
                    <a:lumMod val="50000"/>
                  </a:schemeClr>
                </a:solidFill>
                <a:latin typeface="Calibri"/>
                <a:ea typeface="Calibri"/>
                <a:cs typeface="Calibri"/>
                <a:sym typeface="Calibri"/>
              </a:rPr>
              <a:t>柔軟かつ迅速に外乱に対応</a:t>
            </a:r>
            <a:r>
              <a:rPr lang="ja-JP" altLang="en-US" sz="1600" dirty="0">
                <a:latin typeface="Calibri"/>
                <a:ea typeface="Calibri"/>
                <a:cs typeface="Calibri"/>
                <a:sym typeface="Calibri"/>
              </a:rPr>
              <a:t>するスケジューリングアプローチが必要</a:t>
            </a:r>
            <a:endParaRPr lang="en-US" altLang="ja-JP" sz="1600" dirty="0">
              <a:latin typeface="Calibri"/>
              <a:ea typeface="Calibri"/>
              <a:cs typeface="Calibri"/>
              <a:sym typeface="Calibri"/>
            </a:endParaRPr>
          </a:p>
        </p:txBody>
      </p:sp>
      <p:sp>
        <p:nvSpPr>
          <p:cNvPr id="91" name="Google Shape;9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sp>
        <p:nvSpPr>
          <p:cNvPr id="7" name="矢印: 山形 6">
            <a:extLst>
              <a:ext uri="{FF2B5EF4-FFF2-40B4-BE49-F238E27FC236}">
                <a16:creationId xmlns:a16="http://schemas.microsoft.com/office/drawing/2014/main" id="{E1D25703-4598-9577-72FD-C1FE298DF6BF}"/>
              </a:ext>
            </a:extLst>
          </p:cNvPr>
          <p:cNvSpPr/>
          <p:nvPr/>
        </p:nvSpPr>
        <p:spPr>
          <a:xfrm rot="5400000">
            <a:off x="4382753" y="2781741"/>
            <a:ext cx="271992" cy="434821"/>
          </a:xfrm>
          <a:prstGeom prst="chevron">
            <a:avLst/>
          </a:prstGeom>
          <a:solidFill>
            <a:schemeClr val="bg1"/>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3" name="Google Shape;65;p14">
            <a:extLst>
              <a:ext uri="{FF2B5EF4-FFF2-40B4-BE49-F238E27FC236}">
                <a16:creationId xmlns:a16="http://schemas.microsoft.com/office/drawing/2014/main" id="{15CF3880-EEC2-B47B-0A36-4CF5DD6F2E69}"/>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4F19F6B2-A663-CBAF-E4EA-749012F198CA}"/>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1.</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研究背景・目的：</a:t>
            </a:r>
            <a:r>
              <a:rPr lang="ja-JP" altLang="en-US" sz="1800" dirty="0">
                <a:solidFill>
                  <a:schemeClr val="tx1"/>
                </a:solidFill>
                <a:latin typeface="Calibri"/>
                <a:ea typeface="Calibri"/>
                <a:cs typeface="Calibri"/>
                <a:sym typeface="Calibri"/>
              </a:rPr>
              <a:t>外乱</a:t>
            </a:r>
            <a:endParaRPr sz="1800" b="1" dirty="0">
              <a:solidFill>
                <a:schemeClr val="tx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0" name="Google Shape;90;p15"/>
          <p:cNvSpPr txBox="1"/>
          <p:nvPr/>
        </p:nvSpPr>
        <p:spPr>
          <a:xfrm>
            <a:off x="577500" y="1093935"/>
            <a:ext cx="798900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ja-JP" altLang="en-US" sz="1600" dirty="0">
                <a:solidFill>
                  <a:schemeClr val="tx1"/>
                </a:solidFill>
                <a:latin typeface="Calibri"/>
                <a:ea typeface="Calibri"/>
                <a:cs typeface="Calibri"/>
                <a:sym typeface="Calibri"/>
              </a:rPr>
              <a:t>外乱に対応するスケジューリングアプローチは大きく２つに分類される</a:t>
            </a:r>
            <a:endParaRPr lang="en-US" altLang="ja-JP" sz="1600" dirty="0">
              <a:solidFill>
                <a:schemeClr val="tx1"/>
              </a:solidFill>
              <a:latin typeface="Calibri"/>
              <a:ea typeface="Calibri"/>
              <a:cs typeface="Calibri"/>
              <a:sym typeface="Calibri"/>
            </a:endParaRPr>
          </a:p>
        </p:txBody>
      </p:sp>
      <p:sp>
        <p:nvSpPr>
          <p:cNvPr id="91" name="Google Shape;9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cxnSp>
        <p:nvCxnSpPr>
          <p:cNvPr id="3" name="Google Shape;65;p14">
            <a:extLst>
              <a:ext uri="{FF2B5EF4-FFF2-40B4-BE49-F238E27FC236}">
                <a16:creationId xmlns:a16="http://schemas.microsoft.com/office/drawing/2014/main" id="{15CF3880-EEC2-B47B-0A36-4CF5DD6F2E69}"/>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4F19F6B2-A663-CBAF-E4EA-749012F198CA}"/>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1.</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研究背景・目的：</a:t>
            </a:r>
            <a:r>
              <a:rPr lang="ja-JP" altLang="en-US" sz="1800" dirty="0">
                <a:solidFill>
                  <a:schemeClr val="tx1"/>
                </a:solidFill>
                <a:latin typeface="Calibri"/>
                <a:ea typeface="Calibri"/>
                <a:cs typeface="Calibri"/>
                <a:sym typeface="Calibri"/>
              </a:rPr>
              <a:t>外乱に対応するスケジューリングアプローチ</a:t>
            </a:r>
            <a:endParaRPr sz="1800" b="1" dirty="0">
              <a:solidFill>
                <a:schemeClr val="tx1"/>
              </a:solidFill>
              <a:latin typeface="Calibri"/>
              <a:ea typeface="Calibri"/>
              <a:cs typeface="Calibri"/>
              <a:sym typeface="Calibri"/>
            </a:endParaRPr>
          </a:p>
        </p:txBody>
      </p:sp>
      <p:sp>
        <p:nvSpPr>
          <p:cNvPr id="8" name="正方形/長方形 7">
            <a:extLst>
              <a:ext uri="{FF2B5EF4-FFF2-40B4-BE49-F238E27FC236}">
                <a16:creationId xmlns:a16="http://schemas.microsoft.com/office/drawing/2014/main" id="{A2578A2A-F1F3-178A-3914-5BB0848C9292}"/>
              </a:ext>
            </a:extLst>
          </p:cNvPr>
          <p:cNvSpPr/>
          <p:nvPr/>
        </p:nvSpPr>
        <p:spPr>
          <a:xfrm>
            <a:off x="577500" y="1920748"/>
            <a:ext cx="3777932" cy="2180011"/>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600" dirty="0">
              <a:solidFill>
                <a:schemeClr val="tx1"/>
              </a:solidFill>
              <a:latin typeface="Calibri"/>
              <a:ea typeface="Calibri"/>
              <a:cs typeface="Calibri"/>
              <a:sym typeface="Calibri"/>
            </a:endParaRPr>
          </a:p>
          <a:p>
            <a:pPr algn="ctr"/>
            <a:r>
              <a:rPr lang="ja-JP" altLang="en-US" sz="1600" dirty="0">
                <a:solidFill>
                  <a:schemeClr val="tx1"/>
                </a:solidFill>
                <a:latin typeface="Calibri"/>
                <a:ea typeface="Calibri"/>
                <a:cs typeface="Calibri"/>
                <a:sym typeface="Calibri"/>
              </a:rPr>
              <a:t>初期スケジュールの時点で外乱に耐性の高いスケジュールを作成する</a:t>
            </a:r>
            <a:endParaRPr lang="en-US" altLang="ja-JP" sz="1600" dirty="0">
              <a:solidFill>
                <a:schemeClr val="tx1"/>
              </a:solidFill>
              <a:latin typeface="Calibri"/>
              <a:ea typeface="Calibri"/>
              <a:cs typeface="Calibri"/>
              <a:sym typeface="Calibri"/>
            </a:endParaRPr>
          </a:p>
          <a:p>
            <a:pPr algn="ctr"/>
            <a:endParaRPr lang="en-US" altLang="ja-JP" sz="1600" dirty="0">
              <a:solidFill>
                <a:schemeClr val="tx1"/>
              </a:solidFill>
              <a:latin typeface="Calibri"/>
              <a:ea typeface="Calibri"/>
              <a:cs typeface="Calibri"/>
              <a:sym typeface="Calibri"/>
            </a:endParaRPr>
          </a:p>
          <a:p>
            <a:pPr algn="ctr"/>
            <a:r>
              <a:rPr lang="en-US" altLang="ja-JP" sz="1600" dirty="0">
                <a:solidFill>
                  <a:schemeClr val="tx1"/>
                </a:solidFill>
                <a:latin typeface="Calibri"/>
                <a:ea typeface="Calibri"/>
                <a:cs typeface="Calibri"/>
                <a:sym typeface="Calibri"/>
              </a:rPr>
              <a:t>Ex)</a:t>
            </a:r>
          </a:p>
          <a:p>
            <a:pPr algn="ctr"/>
            <a:r>
              <a:rPr lang="ja-JP" altLang="en-US" sz="1600" dirty="0">
                <a:solidFill>
                  <a:schemeClr val="tx1"/>
                </a:solidFill>
                <a:latin typeface="Calibri"/>
                <a:ea typeface="Calibri"/>
                <a:cs typeface="Calibri"/>
                <a:sym typeface="Calibri"/>
              </a:rPr>
              <a:t>バッファリングアプローチ</a:t>
            </a:r>
            <a:endParaRPr lang="en-US" altLang="ja-JP" sz="1600" dirty="0">
              <a:solidFill>
                <a:schemeClr val="tx1"/>
              </a:solidFill>
              <a:latin typeface="Calibri"/>
              <a:ea typeface="Calibri"/>
              <a:cs typeface="Calibri"/>
              <a:sym typeface="Calibri"/>
            </a:endParaRPr>
          </a:p>
          <a:p>
            <a:pPr algn="ctr"/>
            <a:r>
              <a:rPr lang="ja-JP" altLang="en-US" sz="1600" dirty="0">
                <a:solidFill>
                  <a:schemeClr val="tx1"/>
                </a:solidFill>
                <a:latin typeface="Calibri"/>
                <a:ea typeface="Calibri"/>
                <a:cs typeface="Calibri"/>
                <a:sym typeface="Calibri"/>
              </a:rPr>
              <a:t>非バッファリングアプローチ</a:t>
            </a:r>
            <a:endParaRPr lang="en-US" altLang="ja-JP" sz="1600" dirty="0">
              <a:solidFill>
                <a:schemeClr val="tx1"/>
              </a:solidFill>
              <a:latin typeface="Calibri"/>
              <a:ea typeface="Calibri"/>
              <a:cs typeface="Calibri"/>
              <a:sym typeface="Calibri"/>
            </a:endParaRPr>
          </a:p>
        </p:txBody>
      </p:sp>
      <p:sp>
        <p:nvSpPr>
          <p:cNvPr id="9" name="正方形/長方形 8">
            <a:extLst>
              <a:ext uri="{FF2B5EF4-FFF2-40B4-BE49-F238E27FC236}">
                <a16:creationId xmlns:a16="http://schemas.microsoft.com/office/drawing/2014/main" id="{736D506C-A449-2D19-1098-8960252C2FBD}"/>
              </a:ext>
            </a:extLst>
          </p:cNvPr>
          <p:cNvSpPr/>
          <p:nvPr/>
        </p:nvSpPr>
        <p:spPr>
          <a:xfrm>
            <a:off x="4788570" y="1920755"/>
            <a:ext cx="3777932" cy="2180001"/>
          </a:xfrm>
          <a:prstGeom prst="rect">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0" indent="0" algn="ctr" rtl="0">
              <a:spcBef>
                <a:spcPts val="0"/>
              </a:spcBef>
              <a:spcAft>
                <a:spcPts val="0"/>
              </a:spcAft>
              <a:buNone/>
            </a:pP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r>
              <a:rPr lang="ja-JP" altLang="en-US" sz="1600" dirty="0">
                <a:solidFill>
                  <a:schemeClr val="tx1"/>
                </a:solidFill>
                <a:latin typeface="Calibri"/>
                <a:ea typeface="Calibri"/>
                <a:cs typeface="Calibri"/>
                <a:sym typeface="Calibri"/>
              </a:rPr>
              <a:t>生産状況に応じて動的に</a:t>
            </a: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r>
              <a:rPr lang="ja-JP" altLang="en-US" sz="1600" dirty="0">
                <a:solidFill>
                  <a:schemeClr val="tx1"/>
                </a:solidFill>
                <a:latin typeface="Calibri"/>
                <a:ea typeface="Calibri"/>
                <a:cs typeface="Calibri"/>
                <a:sym typeface="Calibri"/>
              </a:rPr>
              <a:t>スケジュールを変更する</a:t>
            </a: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r>
              <a:rPr lang="en-US" altLang="ja-JP" sz="1600" dirty="0">
                <a:solidFill>
                  <a:schemeClr val="tx1"/>
                </a:solidFill>
                <a:latin typeface="Calibri"/>
                <a:ea typeface="Calibri"/>
                <a:cs typeface="Calibri"/>
                <a:sym typeface="Calibri"/>
              </a:rPr>
              <a:t>Ex)</a:t>
            </a:r>
          </a:p>
          <a:p>
            <a:pPr marL="0" lvl="0" indent="0" algn="ctr" rtl="0">
              <a:spcBef>
                <a:spcPts val="0"/>
              </a:spcBef>
              <a:spcAft>
                <a:spcPts val="0"/>
              </a:spcAft>
              <a:buNone/>
            </a:pPr>
            <a:r>
              <a:rPr lang="ja-JP" altLang="en-US" sz="1600" dirty="0">
                <a:solidFill>
                  <a:schemeClr val="tx1"/>
                </a:solidFill>
                <a:latin typeface="Calibri"/>
                <a:ea typeface="Calibri"/>
                <a:cs typeface="Calibri"/>
                <a:sym typeface="Calibri"/>
              </a:rPr>
              <a:t>完全リアクティブスケジューリング</a:t>
            </a: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r>
              <a:rPr lang="ja-JP" altLang="en-US" sz="1600" dirty="0">
                <a:solidFill>
                  <a:schemeClr val="tx1"/>
                </a:solidFill>
                <a:latin typeface="Calibri"/>
                <a:ea typeface="Calibri"/>
                <a:cs typeface="Calibri"/>
                <a:sym typeface="Calibri"/>
              </a:rPr>
              <a:t>ローリング</a:t>
            </a:r>
            <a:endParaRPr lang="en-US" altLang="ja-JP" sz="1600" dirty="0">
              <a:solidFill>
                <a:schemeClr val="tx1"/>
              </a:solidFill>
              <a:latin typeface="Calibri"/>
              <a:ea typeface="Calibri"/>
              <a:cs typeface="Calibri"/>
              <a:sym typeface="Calibri"/>
            </a:endParaRPr>
          </a:p>
          <a:p>
            <a:pPr marL="0" lvl="0" indent="0" algn="ctr" rtl="0">
              <a:spcBef>
                <a:spcPts val="0"/>
              </a:spcBef>
              <a:spcAft>
                <a:spcPts val="0"/>
              </a:spcAft>
              <a:buNone/>
            </a:pPr>
            <a:r>
              <a:rPr lang="ja-JP" altLang="en-US" sz="1600" b="1" dirty="0">
                <a:solidFill>
                  <a:schemeClr val="accent1">
                    <a:lumMod val="50000"/>
                  </a:schemeClr>
                </a:solidFill>
                <a:latin typeface="Calibri"/>
                <a:ea typeface="Calibri"/>
                <a:cs typeface="Calibri"/>
                <a:sym typeface="Calibri"/>
              </a:rPr>
              <a:t>予測リアクティブスケジューリング</a:t>
            </a:r>
            <a:endParaRPr lang="en-US" altLang="ja-JP" sz="1600" b="1" dirty="0">
              <a:solidFill>
                <a:schemeClr val="accent1">
                  <a:lumMod val="50000"/>
                </a:schemeClr>
              </a:solidFill>
              <a:latin typeface="Calibri"/>
              <a:ea typeface="Calibri"/>
              <a:cs typeface="Calibri"/>
              <a:sym typeface="Calibri"/>
            </a:endParaRPr>
          </a:p>
        </p:txBody>
      </p:sp>
      <p:sp>
        <p:nvSpPr>
          <p:cNvPr id="11" name="正方形/長方形 10">
            <a:extLst>
              <a:ext uri="{FF2B5EF4-FFF2-40B4-BE49-F238E27FC236}">
                <a16:creationId xmlns:a16="http://schemas.microsoft.com/office/drawing/2014/main" id="{6CF1214D-C872-EC33-C114-AF6D4900EB4C}"/>
              </a:ext>
            </a:extLst>
          </p:cNvPr>
          <p:cNvSpPr/>
          <p:nvPr/>
        </p:nvSpPr>
        <p:spPr>
          <a:xfrm>
            <a:off x="1524145" y="1621647"/>
            <a:ext cx="1884642" cy="5030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800" b="1" dirty="0">
                <a:solidFill>
                  <a:schemeClr val="accent1">
                    <a:lumMod val="50000"/>
                  </a:schemeClr>
                </a:solidFill>
              </a:rPr>
              <a:t>静的アプローチ</a:t>
            </a:r>
          </a:p>
        </p:txBody>
      </p:sp>
      <p:sp>
        <p:nvSpPr>
          <p:cNvPr id="2" name="正方形/長方形 1">
            <a:extLst>
              <a:ext uri="{FF2B5EF4-FFF2-40B4-BE49-F238E27FC236}">
                <a16:creationId xmlns:a16="http://schemas.microsoft.com/office/drawing/2014/main" id="{6AA48506-69D5-FF25-F650-5FE817F93813}"/>
              </a:ext>
            </a:extLst>
          </p:cNvPr>
          <p:cNvSpPr/>
          <p:nvPr/>
        </p:nvSpPr>
        <p:spPr>
          <a:xfrm>
            <a:off x="5735213" y="1619747"/>
            <a:ext cx="1884642" cy="5030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800" b="1" dirty="0">
                <a:solidFill>
                  <a:schemeClr val="accent1">
                    <a:lumMod val="50000"/>
                  </a:schemeClr>
                </a:solidFill>
              </a:rPr>
              <a:t>動的アプローチ</a:t>
            </a:r>
          </a:p>
        </p:txBody>
      </p:sp>
      <p:sp>
        <p:nvSpPr>
          <p:cNvPr id="5" name="矢印: 山形 4">
            <a:extLst>
              <a:ext uri="{FF2B5EF4-FFF2-40B4-BE49-F238E27FC236}">
                <a16:creationId xmlns:a16="http://schemas.microsoft.com/office/drawing/2014/main" id="{00BC0692-42AF-C521-1250-273F36CC6B3D}"/>
              </a:ext>
            </a:extLst>
          </p:cNvPr>
          <p:cNvSpPr/>
          <p:nvPr/>
        </p:nvSpPr>
        <p:spPr>
          <a:xfrm>
            <a:off x="4824971" y="3784790"/>
            <a:ext cx="189247" cy="165777"/>
          </a:xfrm>
          <a:prstGeom prst="chevron">
            <a:avLst/>
          </a:prstGeom>
          <a:solidFill>
            <a:schemeClr val="accent1">
              <a:lumMod val="5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7" name="Google Shape;90;p15">
            <a:extLst>
              <a:ext uri="{FF2B5EF4-FFF2-40B4-BE49-F238E27FC236}">
                <a16:creationId xmlns:a16="http://schemas.microsoft.com/office/drawing/2014/main" id="{BC8DF5FB-862F-BC2A-163D-83F8FE869250}"/>
              </a:ext>
            </a:extLst>
          </p:cNvPr>
          <p:cNvSpPr txBox="1"/>
          <p:nvPr/>
        </p:nvSpPr>
        <p:spPr>
          <a:xfrm>
            <a:off x="622567" y="4242421"/>
            <a:ext cx="3679615"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dirty="0">
                <a:solidFill>
                  <a:schemeClr val="accent1">
                    <a:lumMod val="50000"/>
                  </a:schemeClr>
                </a:solidFill>
                <a:latin typeface="Calibri"/>
                <a:ea typeface="Calibri"/>
                <a:cs typeface="Calibri"/>
                <a:sym typeface="Calibri"/>
              </a:rPr>
              <a:t>◆</a:t>
            </a:r>
            <a:r>
              <a:rPr lang="ja-JP" altLang="en-US" dirty="0">
                <a:solidFill>
                  <a:schemeClr val="accent5"/>
                </a:solidFill>
                <a:latin typeface="Calibri"/>
                <a:ea typeface="Calibri"/>
                <a:cs typeface="Calibri"/>
                <a:sym typeface="Calibri"/>
              </a:rPr>
              <a:t>   </a:t>
            </a:r>
            <a:r>
              <a:rPr lang="ja-JP" altLang="en-US" dirty="0">
                <a:solidFill>
                  <a:schemeClr val="tx1"/>
                </a:solidFill>
                <a:latin typeface="Calibri"/>
                <a:ea typeface="Calibri"/>
                <a:cs typeface="Calibri"/>
                <a:sym typeface="Calibri"/>
              </a:rPr>
              <a:t>外乱への耐性とスケジュールの効率はト</a:t>
            </a:r>
            <a:endParaRPr lang="en-US" altLang="ja-JP" dirty="0">
              <a:solidFill>
                <a:schemeClr val="tx1"/>
              </a:solidFill>
              <a:latin typeface="Calibri"/>
              <a:ea typeface="Calibri"/>
              <a:cs typeface="Calibri"/>
              <a:sym typeface="Calibri"/>
            </a:endParaRPr>
          </a:p>
          <a:p>
            <a:pPr marL="0" lvl="0" indent="0" algn="l" rtl="0">
              <a:spcBef>
                <a:spcPts val="0"/>
              </a:spcBef>
              <a:spcAft>
                <a:spcPts val="0"/>
              </a:spcAft>
              <a:buNone/>
            </a:pPr>
            <a:r>
              <a:rPr lang="ja-JP" altLang="en-US" dirty="0">
                <a:solidFill>
                  <a:schemeClr val="tx1"/>
                </a:solidFill>
                <a:latin typeface="Calibri"/>
                <a:ea typeface="Calibri"/>
                <a:cs typeface="Calibri"/>
                <a:sym typeface="Calibri"/>
              </a:rPr>
              <a:t>　  レードオフ</a:t>
            </a:r>
            <a:endParaRPr lang="en-US" altLang="ja-JP" dirty="0">
              <a:solidFill>
                <a:schemeClr val="tx1"/>
              </a:solidFill>
              <a:latin typeface="Calibri"/>
              <a:ea typeface="Calibri"/>
              <a:cs typeface="Calibri"/>
              <a:sym typeface="Calibri"/>
            </a:endParaRPr>
          </a:p>
        </p:txBody>
      </p:sp>
      <p:sp>
        <p:nvSpPr>
          <p:cNvPr id="10" name="Google Shape;90;p15">
            <a:extLst>
              <a:ext uri="{FF2B5EF4-FFF2-40B4-BE49-F238E27FC236}">
                <a16:creationId xmlns:a16="http://schemas.microsoft.com/office/drawing/2014/main" id="{2E2182DC-776B-0E73-99CB-793F062BB7FB}"/>
              </a:ext>
            </a:extLst>
          </p:cNvPr>
          <p:cNvSpPr txBox="1"/>
          <p:nvPr/>
        </p:nvSpPr>
        <p:spPr>
          <a:xfrm>
            <a:off x="4886884" y="4242421"/>
            <a:ext cx="3679615"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dirty="0">
                <a:solidFill>
                  <a:schemeClr val="accent1">
                    <a:lumMod val="50000"/>
                  </a:schemeClr>
                </a:solidFill>
                <a:latin typeface="Calibri"/>
                <a:ea typeface="Calibri"/>
                <a:cs typeface="Calibri"/>
                <a:sym typeface="Calibri"/>
              </a:rPr>
              <a:t>◆</a:t>
            </a:r>
            <a:r>
              <a:rPr lang="ja-JP" altLang="en-US" dirty="0">
                <a:solidFill>
                  <a:schemeClr val="accent5"/>
                </a:solidFill>
                <a:latin typeface="Calibri"/>
                <a:ea typeface="Calibri"/>
                <a:cs typeface="Calibri"/>
                <a:sym typeface="Calibri"/>
              </a:rPr>
              <a:t>   </a:t>
            </a:r>
            <a:r>
              <a:rPr lang="ja-JP" altLang="en-US" dirty="0">
                <a:solidFill>
                  <a:schemeClr val="tx1"/>
                </a:solidFill>
                <a:latin typeface="Calibri"/>
                <a:ea typeface="Calibri"/>
                <a:cs typeface="Calibri"/>
                <a:sym typeface="Calibri"/>
              </a:rPr>
              <a:t>スケジュール変更はコストが発生する</a:t>
            </a:r>
            <a:endParaRPr lang="en-US" altLang="ja-JP"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3693232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4CCE64C4-33DD-EC6F-304B-0768BCB32B5F}"/>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C2310684-1BC1-8630-2110-A2BBBA5613E3}"/>
              </a:ext>
            </a:extLst>
          </p:cNvPr>
          <p:cNvSpPr txBox="1"/>
          <p:nvPr/>
        </p:nvSpPr>
        <p:spPr>
          <a:xfrm>
            <a:off x="577500" y="1177584"/>
            <a:ext cx="7989000"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再スケジュールを行い、スケジュールを変更すると</a:t>
            </a:r>
            <a:r>
              <a:rPr lang="ja-JP" altLang="en-US" sz="1600" b="1" dirty="0">
                <a:solidFill>
                  <a:schemeClr val="accent1">
                    <a:lumMod val="50000"/>
                  </a:schemeClr>
                </a:solidFill>
                <a:latin typeface="Calibri"/>
                <a:ea typeface="Calibri"/>
                <a:cs typeface="Calibri"/>
                <a:sym typeface="Calibri"/>
              </a:rPr>
              <a:t>スケジュール変更コスト</a:t>
            </a:r>
            <a:r>
              <a:rPr lang="ja-JP" altLang="en-US" sz="1600" dirty="0">
                <a:latin typeface="Calibri"/>
                <a:ea typeface="Calibri"/>
                <a:cs typeface="Calibri"/>
                <a:sym typeface="Calibri"/>
              </a:rPr>
              <a:t>が発生</a:t>
            </a: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本研究では再スケジューリングによって大幅にスケジュールが変更されることは</a:t>
            </a:r>
            <a:r>
              <a:rPr lang="ja-JP" altLang="en-US" sz="1600" b="1" dirty="0">
                <a:solidFill>
                  <a:schemeClr val="accent1">
                    <a:lumMod val="50000"/>
                  </a:schemeClr>
                </a:solidFill>
                <a:latin typeface="Calibri"/>
                <a:ea typeface="Calibri"/>
                <a:cs typeface="Calibri"/>
                <a:sym typeface="Calibri"/>
              </a:rPr>
              <a:t>安定性が低い</a:t>
            </a:r>
            <a:r>
              <a:rPr lang="ja-JP" altLang="en-US" sz="1600" dirty="0">
                <a:latin typeface="Calibri"/>
                <a:ea typeface="Calibri"/>
                <a:cs typeface="Calibri"/>
                <a:sym typeface="Calibri"/>
              </a:rPr>
              <a:t>と表現する</a:t>
            </a: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pPr marL="0" lvl="0" indent="0" algn="l" rtl="0">
              <a:spcBef>
                <a:spcPts val="0"/>
              </a:spcBef>
              <a:spcAft>
                <a:spcPts val="0"/>
              </a:spcAft>
              <a:buNone/>
            </a:pPr>
            <a:r>
              <a:rPr lang="ja-JP" altLang="en-US" sz="1600" u="sng" dirty="0">
                <a:solidFill>
                  <a:schemeClr val="accent1">
                    <a:lumMod val="50000"/>
                  </a:schemeClr>
                </a:solidFill>
                <a:latin typeface="Calibri"/>
                <a:ea typeface="Calibri"/>
                <a:cs typeface="Calibri"/>
                <a:sym typeface="Calibri"/>
              </a:rPr>
              <a:t>◆</a:t>
            </a:r>
            <a:r>
              <a:rPr lang="ja-JP" altLang="en-US" sz="1600" u="sng" dirty="0">
                <a:solidFill>
                  <a:schemeClr val="accent5"/>
                </a:solidFill>
                <a:latin typeface="Calibri"/>
                <a:ea typeface="Calibri"/>
                <a:cs typeface="Calibri"/>
                <a:sym typeface="Calibri"/>
              </a:rPr>
              <a:t> </a:t>
            </a:r>
            <a:r>
              <a:rPr lang="en-US" altLang="ja-JP" sz="1600" b="1" u="sng" dirty="0">
                <a:solidFill>
                  <a:schemeClr val="accent5"/>
                </a:solidFill>
                <a:latin typeface="Calibri"/>
                <a:ea typeface="Calibri"/>
                <a:cs typeface="Calibri"/>
                <a:sym typeface="Calibri"/>
              </a:rPr>
              <a:t> </a:t>
            </a:r>
            <a:r>
              <a:rPr lang="ja-JP" altLang="en-US" sz="1600" b="1" u="sng" dirty="0">
                <a:solidFill>
                  <a:schemeClr val="accent1">
                    <a:lumMod val="50000"/>
                  </a:schemeClr>
                </a:solidFill>
                <a:latin typeface="Calibri"/>
                <a:ea typeface="Calibri"/>
                <a:cs typeface="Calibri"/>
                <a:sym typeface="Calibri"/>
              </a:rPr>
              <a:t>安定性を考慮</a:t>
            </a:r>
            <a:r>
              <a:rPr lang="ja-JP" altLang="en-US" sz="1600" u="sng" dirty="0">
                <a:solidFill>
                  <a:schemeClr val="tx1"/>
                </a:solidFill>
                <a:latin typeface="Calibri"/>
                <a:ea typeface="Calibri"/>
                <a:cs typeface="Calibri"/>
                <a:sym typeface="Calibri"/>
              </a:rPr>
              <a:t>した、スケジュール変更度合いを抑制した再スケジューリング手法</a:t>
            </a:r>
            <a:r>
              <a:rPr lang="ja-JP" altLang="en-US" sz="1600" u="sng" dirty="0">
                <a:latin typeface="Calibri"/>
                <a:ea typeface="Calibri"/>
                <a:cs typeface="Calibri"/>
                <a:sym typeface="Calibri"/>
              </a:rPr>
              <a:t>の提案を本研究の目的とする</a:t>
            </a:r>
            <a:endParaRPr lang="en-US" altLang="ja-JP" sz="1600" u="sng"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86E46D18-5401-9041-50F3-33638CCA221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
        <p:nvSpPr>
          <p:cNvPr id="7" name="矢印: 山形 6">
            <a:extLst>
              <a:ext uri="{FF2B5EF4-FFF2-40B4-BE49-F238E27FC236}">
                <a16:creationId xmlns:a16="http://schemas.microsoft.com/office/drawing/2014/main" id="{1F314892-596A-6982-1F51-EFF3F1F45499}"/>
              </a:ext>
            </a:extLst>
          </p:cNvPr>
          <p:cNvSpPr/>
          <p:nvPr/>
        </p:nvSpPr>
        <p:spPr>
          <a:xfrm rot="5400000">
            <a:off x="4382753" y="2284351"/>
            <a:ext cx="271992" cy="434821"/>
          </a:xfrm>
          <a:prstGeom prst="chevron">
            <a:avLst/>
          </a:prstGeom>
          <a:solidFill>
            <a:schemeClr val="bg1"/>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3" name="Google Shape;65;p14">
            <a:extLst>
              <a:ext uri="{FF2B5EF4-FFF2-40B4-BE49-F238E27FC236}">
                <a16:creationId xmlns:a16="http://schemas.microsoft.com/office/drawing/2014/main" id="{1BE5D383-FA8A-4F42-37EF-C19330A14A03}"/>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9CF5B771-EEEC-539B-892A-65CA330CFC5C}"/>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1.</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研究背景・目的：</a:t>
            </a:r>
            <a:r>
              <a:rPr lang="ja-JP" altLang="en-US" sz="1800" dirty="0">
                <a:solidFill>
                  <a:schemeClr val="tx1"/>
                </a:solidFill>
                <a:latin typeface="Calibri"/>
                <a:ea typeface="Calibri"/>
                <a:cs typeface="Calibri"/>
                <a:sym typeface="Calibri"/>
              </a:rPr>
              <a:t>研究目的</a:t>
            </a:r>
            <a:endParaRPr sz="1800" b="1" dirty="0">
              <a:solidFill>
                <a:schemeClr val="tx1"/>
              </a:solidFill>
              <a:latin typeface="Calibri"/>
              <a:ea typeface="Calibri"/>
              <a:cs typeface="Calibri"/>
              <a:sym typeface="Calibri"/>
            </a:endParaRPr>
          </a:p>
        </p:txBody>
      </p:sp>
      <p:sp>
        <p:nvSpPr>
          <p:cNvPr id="2" name="Google Shape;90;p15">
            <a:extLst>
              <a:ext uri="{FF2B5EF4-FFF2-40B4-BE49-F238E27FC236}">
                <a16:creationId xmlns:a16="http://schemas.microsoft.com/office/drawing/2014/main" id="{150F7232-3A39-3F68-6A89-EDD3FF792F1B}"/>
              </a:ext>
            </a:extLst>
          </p:cNvPr>
          <p:cNvSpPr txBox="1"/>
          <p:nvPr/>
        </p:nvSpPr>
        <p:spPr>
          <a:xfrm>
            <a:off x="622567" y="3874285"/>
            <a:ext cx="3679615"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b="1" dirty="0">
                <a:solidFill>
                  <a:schemeClr val="accent1">
                    <a:lumMod val="50000"/>
                  </a:schemeClr>
                </a:solidFill>
                <a:latin typeface="Calibri"/>
                <a:ea typeface="Calibri"/>
                <a:cs typeface="Calibri"/>
                <a:sym typeface="Calibri"/>
              </a:rPr>
              <a:t>スケジュール変更コスト</a:t>
            </a:r>
            <a:r>
              <a:rPr lang="ja-JP" altLang="en-US" dirty="0">
                <a:solidFill>
                  <a:schemeClr val="tx1"/>
                </a:solidFill>
                <a:latin typeface="Calibri"/>
                <a:ea typeface="Calibri"/>
                <a:cs typeface="Calibri"/>
                <a:sym typeface="Calibri"/>
              </a:rPr>
              <a:t>：</a:t>
            </a:r>
            <a:endParaRPr lang="en-US" altLang="ja-JP" dirty="0">
              <a:solidFill>
                <a:schemeClr val="tx1"/>
              </a:solidFill>
              <a:latin typeface="Calibri"/>
              <a:ea typeface="Calibri"/>
              <a:cs typeface="Calibri"/>
              <a:sym typeface="Calibri"/>
            </a:endParaRPr>
          </a:p>
          <a:p>
            <a:pPr marL="0" lvl="0" indent="0" algn="l" rtl="0">
              <a:spcBef>
                <a:spcPts val="0"/>
              </a:spcBef>
              <a:spcAft>
                <a:spcPts val="0"/>
              </a:spcAft>
              <a:buNone/>
            </a:pPr>
            <a:r>
              <a:rPr lang="ja-JP" altLang="en-US" dirty="0"/>
              <a:t>て現場の混乱やリソース の再配置コスト，原材料の再注文コスト等のスケジュールを変更する際に発生するリスクがあるコスト。</a:t>
            </a:r>
            <a:endParaRPr lang="en-US" altLang="ja-JP" dirty="0">
              <a:solidFill>
                <a:schemeClr val="tx1"/>
              </a:solidFill>
              <a:latin typeface="Calibri"/>
              <a:ea typeface="Calibri"/>
              <a:cs typeface="Calibri"/>
              <a:sym typeface="Calibri"/>
            </a:endParaRPr>
          </a:p>
        </p:txBody>
      </p:sp>
      <p:sp>
        <p:nvSpPr>
          <p:cNvPr id="5" name="Google Shape;90;p15">
            <a:extLst>
              <a:ext uri="{FF2B5EF4-FFF2-40B4-BE49-F238E27FC236}">
                <a16:creationId xmlns:a16="http://schemas.microsoft.com/office/drawing/2014/main" id="{4CD71426-696F-1B41-1B3B-49CBD5FDDD01}"/>
              </a:ext>
            </a:extLst>
          </p:cNvPr>
          <p:cNvSpPr txBox="1"/>
          <p:nvPr/>
        </p:nvSpPr>
        <p:spPr>
          <a:xfrm>
            <a:off x="4841820" y="3874285"/>
            <a:ext cx="3679615"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b="1" dirty="0">
                <a:solidFill>
                  <a:schemeClr val="accent1">
                    <a:lumMod val="50000"/>
                  </a:schemeClr>
                </a:solidFill>
                <a:latin typeface="Calibri"/>
                <a:ea typeface="Calibri"/>
                <a:cs typeface="Calibri"/>
                <a:sym typeface="Calibri"/>
              </a:rPr>
              <a:t>安定性（</a:t>
            </a:r>
            <a:r>
              <a:rPr lang="en-US" altLang="ja-JP" b="1" dirty="0">
                <a:solidFill>
                  <a:schemeClr val="accent1">
                    <a:lumMod val="50000"/>
                  </a:schemeClr>
                </a:solidFill>
                <a:latin typeface="Calibri"/>
                <a:ea typeface="Calibri"/>
                <a:cs typeface="Calibri"/>
                <a:sym typeface="Calibri"/>
              </a:rPr>
              <a:t>Stability</a:t>
            </a:r>
            <a:r>
              <a:rPr lang="ja-JP" altLang="en-US" b="1" dirty="0">
                <a:solidFill>
                  <a:schemeClr val="accent1">
                    <a:lumMod val="50000"/>
                  </a:schemeClr>
                </a:solidFill>
                <a:latin typeface="Calibri"/>
                <a:ea typeface="Calibri"/>
                <a:cs typeface="Calibri"/>
                <a:sym typeface="Calibri"/>
              </a:rPr>
              <a:t>）</a:t>
            </a:r>
            <a:r>
              <a:rPr lang="ja-JP" altLang="en-US" dirty="0">
                <a:solidFill>
                  <a:schemeClr val="tx1"/>
                </a:solidFill>
                <a:latin typeface="Calibri"/>
                <a:ea typeface="Calibri"/>
                <a:cs typeface="Calibri"/>
                <a:sym typeface="Calibri"/>
              </a:rPr>
              <a:t>：</a:t>
            </a:r>
            <a:endParaRPr lang="en-US" altLang="ja-JP" dirty="0">
              <a:solidFill>
                <a:schemeClr val="tx1"/>
              </a:solidFill>
              <a:latin typeface="Calibri"/>
              <a:ea typeface="Calibri"/>
              <a:cs typeface="Calibri"/>
              <a:sym typeface="Calibri"/>
            </a:endParaRPr>
          </a:p>
          <a:p>
            <a:pPr marL="0" lvl="0" indent="0" algn="l" rtl="0">
              <a:spcBef>
                <a:spcPts val="0"/>
              </a:spcBef>
              <a:spcAft>
                <a:spcPts val="0"/>
              </a:spcAft>
              <a:buNone/>
            </a:pPr>
            <a:r>
              <a:rPr lang="ja-JP" altLang="en-US" dirty="0"/>
              <a:t>再スケジューリングにおいて修正したスケジュールと元のスケジュールの変更の度合い。</a:t>
            </a:r>
            <a:endParaRPr lang="en-US" altLang="ja-JP"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3288993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92C3ACF6-7D5C-FBCC-57FA-131DA5DE4AAA}"/>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587D47AC-FE8B-38FE-27E7-8EAC3545CA6B}"/>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8E1B8404-284A-C1A2-DB1A-A22A26784637}"/>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D3C883D3-0864-896B-E107-F329C430B91F}"/>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提案手法</a:t>
            </a:r>
            <a:endParaRPr sz="2000" b="1" dirty="0">
              <a:solidFill>
                <a:schemeClr val="bg1">
                  <a:lumMod val="75000"/>
                </a:schemeClr>
              </a:solidFill>
            </a:endParaRPr>
          </a:p>
        </p:txBody>
      </p:sp>
      <p:sp>
        <p:nvSpPr>
          <p:cNvPr id="68" name="Google Shape;68;p14">
            <a:extLst>
              <a:ext uri="{FF2B5EF4-FFF2-40B4-BE49-F238E27FC236}">
                <a16:creationId xmlns:a16="http://schemas.microsoft.com/office/drawing/2014/main" id="{F47D86E5-9934-7A40-0564-AED223CAFD43}"/>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3</a:t>
            </a:r>
            <a:r>
              <a:rPr lang="en-US" altLang="ja" sz="2500" b="1" dirty="0">
                <a:solidFill>
                  <a:schemeClr val="bg1">
                    <a:lumMod val="75000"/>
                  </a:schemeClr>
                </a:solidFill>
              </a:rPr>
              <a:t>.</a:t>
            </a:r>
            <a:endParaRPr sz="2500" b="1" dirty="0">
              <a:solidFill>
                <a:schemeClr val="bg1">
                  <a:lumMod val="75000"/>
                </a:schemeClr>
              </a:solidFill>
            </a:endParaRPr>
          </a:p>
        </p:txBody>
      </p:sp>
      <p:sp>
        <p:nvSpPr>
          <p:cNvPr id="73" name="Google Shape;73;p14">
            <a:extLst>
              <a:ext uri="{FF2B5EF4-FFF2-40B4-BE49-F238E27FC236}">
                <a16:creationId xmlns:a16="http://schemas.microsoft.com/office/drawing/2014/main" id="{774999DA-9D54-D3BA-FBA6-5BA8ACA7EBFB}"/>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既存研究</a:t>
            </a:r>
            <a:endParaRPr sz="2000" b="1" dirty="0">
              <a:solidFill>
                <a:schemeClr val="dk1"/>
              </a:solidFill>
            </a:endParaRPr>
          </a:p>
        </p:txBody>
      </p:sp>
      <p:sp>
        <p:nvSpPr>
          <p:cNvPr id="74" name="Google Shape;74;p14">
            <a:extLst>
              <a:ext uri="{FF2B5EF4-FFF2-40B4-BE49-F238E27FC236}">
                <a16:creationId xmlns:a16="http://schemas.microsoft.com/office/drawing/2014/main" id="{253F061F-22BB-591E-F722-EB3C825B5033}"/>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2</a:t>
            </a:r>
            <a:r>
              <a:rPr lang="en-US" altLang="ja" sz="2500" b="1" dirty="0">
                <a:solidFill>
                  <a:schemeClr val="accent1">
                    <a:lumMod val="50000"/>
                  </a:schemeClr>
                </a:solidFill>
              </a:rPr>
              <a:t>.</a:t>
            </a:r>
            <a:endParaRPr sz="2500" b="1" dirty="0">
              <a:solidFill>
                <a:schemeClr val="accent1">
                  <a:lumMod val="50000"/>
                </a:schemeClr>
              </a:solidFill>
            </a:endParaRPr>
          </a:p>
        </p:txBody>
      </p:sp>
      <p:sp>
        <p:nvSpPr>
          <p:cNvPr id="69" name="Google Shape;69;p14">
            <a:extLst>
              <a:ext uri="{FF2B5EF4-FFF2-40B4-BE49-F238E27FC236}">
                <a16:creationId xmlns:a16="http://schemas.microsoft.com/office/drawing/2014/main" id="{05DBCB3F-808C-BBD3-B071-0BA872F7F578}"/>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計算機実験</a:t>
            </a:r>
            <a:endParaRPr sz="2000" b="1" dirty="0">
              <a:solidFill>
                <a:schemeClr val="bg1">
                  <a:lumMod val="75000"/>
                </a:schemeClr>
              </a:solidFill>
            </a:endParaRPr>
          </a:p>
        </p:txBody>
      </p:sp>
      <p:sp>
        <p:nvSpPr>
          <p:cNvPr id="70" name="Google Shape;70;p14">
            <a:extLst>
              <a:ext uri="{FF2B5EF4-FFF2-40B4-BE49-F238E27FC236}">
                <a16:creationId xmlns:a16="http://schemas.microsoft.com/office/drawing/2014/main" id="{0A515778-CCEB-883F-524A-476987ED1096}"/>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4</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75" name="Google Shape;75;p14">
            <a:extLst>
              <a:ext uri="{FF2B5EF4-FFF2-40B4-BE49-F238E27FC236}">
                <a16:creationId xmlns:a16="http://schemas.microsoft.com/office/drawing/2014/main" id="{55C090C0-2152-1612-4291-17CD8911E803}"/>
              </a:ext>
            </a:extLst>
          </p:cNvPr>
          <p:cNvCxnSpPr/>
          <p:nvPr/>
        </p:nvCxnSpPr>
        <p:spPr>
          <a:xfrm>
            <a:off x="1038900" y="3746491"/>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5A462FF8-3E74-32E0-A4E1-A851D4DA303F}"/>
              </a:ext>
            </a:extLst>
          </p:cNvPr>
          <p:cNvCxnSpPr/>
          <p:nvPr/>
        </p:nvCxnSpPr>
        <p:spPr>
          <a:xfrm>
            <a:off x="1038900" y="2265916"/>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1CF4B94D-0502-9CF1-04C5-C347617E7D2F}"/>
              </a:ext>
            </a:extLst>
          </p:cNvPr>
          <p:cNvCxnSpPr/>
          <p:nvPr/>
        </p:nvCxnSpPr>
        <p:spPr>
          <a:xfrm>
            <a:off x="1038900" y="3021128"/>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F2C5F0B3-52A8-1B26-291B-4027B4B36DCB}"/>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bg1">
                    <a:lumMod val="75000"/>
                  </a:schemeClr>
                </a:solidFill>
              </a:rPr>
              <a:t>研究背景</a:t>
            </a:r>
            <a:r>
              <a:rPr lang="ja-JP" altLang="en-US" sz="2000" b="1" dirty="0">
                <a:solidFill>
                  <a:schemeClr val="bg1">
                    <a:lumMod val="75000"/>
                  </a:schemeClr>
                </a:solidFill>
              </a:rPr>
              <a:t>・目的</a:t>
            </a:r>
            <a:endParaRPr sz="2000" b="1" dirty="0">
              <a:solidFill>
                <a:schemeClr val="bg1">
                  <a:lumMod val="75000"/>
                </a:schemeClr>
              </a:solidFill>
            </a:endParaRPr>
          </a:p>
        </p:txBody>
      </p:sp>
      <p:sp>
        <p:nvSpPr>
          <p:cNvPr id="80" name="Google Shape;80;p14">
            <a:extLst>
              <a:ext uri="{FF2B5EF4-FFF2-40B4-BE49-F238E27FC236}">
                <a16:creationId xmlns:a16="http://schemas.microsoft.com/office/drawing/2014/main" id="{60F8D079-1CCE-2849-D0B2-DBC9E46A9407}"/>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1</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81" name="Google Shape;81;p14">
            <a:extLst>
              <a:ext uri="{FF2B5EF4-FFF2-40B4-BE49-F238E27FC236}">
                <a16:creationId xmlns:a16="http://schemas.microsoft.com/office/drawing/2014/main" id="{4908F580-6DA2-406C-071C-24EC415D61AD}"/>
              </a:ext>
            </a:extLst>
          </p:cNvPr>
          <p:cNvCxnSpPr/>
          <p:nvPr/>
        </p:nvCxnSpPr>
        <p:spPr>
          <a:xfrm>
            <a:off x="1038888" y="1545503"/>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2" name="Google Shape;69;p14">
            <a:extLst>
              <a:ext uri="{FF2B5EF4-FFF2-40B4-BE49-F238E27FC236}">
                <a16:creationId xmlns:a16="http://schemas.microsoft.com/office/drawing/2014/main" id="{B4A68EE2-3073-5B5A-9462-05AC1D839B98}"/>
              </a:ext>
            </a:extLst>
          </p:cNvPr>
          <p:cNvSpPr txBox="1"/>
          <p:nvPr/>
        </p:nvSpPr>
        <p:spPr>
          <a:xfrm>
            <a:off x="1387975" y="4090986"/>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結論</a:t>
            </a:r>
            <a:endParaRPr sz="2000" b="1" dirty="0">
              <a:solidFill>
                <a:schemeClr val="bg1">
                  <a:lumMod val="75000"/>
                </a:schemeClr>
              </a:solidFill>
            </a:endParaRPr>
          </a:p>
        </p:txBody>
      </p:sp>
      <p:sp>
        <p:nvSpPr>
          <p:cNvPr id="3" name="Google Shape;70;p14">
            <a:extLst>
              <a:ext uri="{FF2B5EF4-FFF2-40B4-BE49-F238E27FC236}">
                <a16:creationId xmlns:a16="http://schemas.microsoft.com/office/drawing/2014/main" id="{E64B9864-1E8A-7178-E6FC-8666250D367F}"/>
              </a:ext>
            </a:extLst>
          </p:cNvPr>
          <p:cNvSpPr txBox="1"/>
          <p:nvPr/>
        </p:nvSpPr>
        <p:spPr>
          <a:xfrm>
            <a:off x="710375" y="4027386"/>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2500" b="1" dirty="0">
                <a:solidFill>
                  <a:schemeClr val="bg1">
                    <a:lumMod val="75000"/>
                  </a:schemeClr>
                </a:solidFill>
              </a:rPr>
              <a:t>5.</a:t>
            </a:r>
            <a:endParaRPr sz="2500" b="1" dirty="0">
              <a:solidFill>
                <a:schemeClr val="bg1">
                  <a:lumMod val="75000"/>
                </a:schemeClr>
              </a:solidFill>
            </a:endParaRPr>
          </a:p>
        </p:txBody>
      </p:sp>
      <p:cxnSp>
        <p:nvCxnSpPr>
          <p:cNvPr id="4" name="Google Shape;75;p14">
            <a:extLst>
              <a:ext uri="{FF2B5EF4-FFF2-40B4-BE49-F238E27FC236}">
                <a16:creationId xmlns:a16="http://schemas.microsoft.com/office/drawing/2014/main" id="{F0CB5B72-414A-4768-1281-7354DE939417}"/>
              </a:ext>
            </a:extLst>
          </p:cNvPr>
          <p:cNvCxnSpPr/>
          <p:nvPr/>
        </p:nvCxnSpPr>
        <p:spPr>
          <a:xfrm>
            <a:off x="1054950" y="4495086"/>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spTree>
    <p:extLst>
      <p:ext uri="{BB962C8B-B14F-4D97-AF65-F5344CB8AC3E}">
        <p14:creationId xmlns:p14="http://schemas.microsoft.com/office/powerpoint/2010/main" val="2070553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D071890A-5481-F7F5-C9C6-E7EED247D683}"/>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FA54423D-3BF9-38E3-3579-80E0DE376ED2}"/>
              </a:ext>
            </a:extLst>
          </p:cNvPr>
          <p:cNvSpPr txBox="1"/>
          <p:nvPr/>
        </p:nvSpPr>
        <p:spPr>
          <a:xfrm>
            <a:off x="577500" y="1477061"/>
            <a:ext cx="7989000"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ジョブショップスケジューリング（</a:t>
            </a:r>
            <a:r>
              <a:rPr lang="en-US" altLang="ja-JP" sz="1600" dirty="0">
                <a:latin typeface="Calibri"/>
                <a:ea typeface="Calibri"/>
                <a:cs typeface="Calibri"/>
                <a:sym typeface="Calibri"/>
              </a:rPr>
              <a:t>JSSP</a:t>
            </a:r>
            <a:r>
              <a:rPr lang="ja-JP" altLang="en-US" sz="1600" dirty="0">
                <a:latin typeface="Calibri"/>
                <a:ea typeface="Calibri"/>
                <a:cs typeface="Calibri"/>
                <a:sym typeface="Calibri"/>
              </a:rPr>
              <a:t>）は厳密解を求めるのが難しい</a:t>
            </a:r>
            <a:r>
              <a:rPr lang="en-US" altLang="ja-JP" sz="1600" dirty="0">
                <a:latin typeface="Calibri"/>
                <a:ea typeface="Calibri"/>
                <a:cs typeface="Calibri"/>
                <a:sym typeface="Calibri"/>
              </a:rPr>
              <a:t>NP</a:t>
            </a:r>
            <a:r>
              <a:rPr lang="ja-JP" altLang="en-US" sz="1600" dirty="0">
                <a:latin typeface="Calibri"/>
                <a:ea typeface="Calibri"/>
                <a:cs typeface="Calibri"/>
                <a:sym typeface="Calibri"/>
              </a:rPr>
              <a:t>困難問題</a:t>
            </a:r>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en-US" altLang="ja-JP" sz="1600" dirty="0">
                <a:latin typeface="Calibri"/>
                <a:ea typeface="Calibri"/>
                <a:cs typeface="Calibri"/>
                <a:sym typeface="Calibri"/>
              </a:rPr>
              <a:t>JSSP</a:t>
            </a:r>
            <a:r>
              <a:rPr lang="ja-JP" altLang="en-US" sz="1600" dirty="0">
                <a:latin typeface="Calibri"/>
                <a:ea typeface="Calibri"/>
                <a:cs typeface="Calibri"/>
                <a:sym typeface="Calibri"/>
              </a:rPr>
              <a:t>においては</a:t>
            </a:r>
            <a:r>
              <a:rPr lang="en-US" altLang="ja-JP" sz="1600" dirty="0">
                <a:latin typeface="Calibri"/>
                <a:ea typeface="Calibri"/>
                <a:cs typeface="Calibri"/>
                <a:sym typeface="Calibri"/>
              </a:rPr>
              <a:t>GA</a:t>
            </a:r>
            <a:r>
              <a:rPr lang="ja-JP" altLang="en-US" sz="1600" dirty="0">
                <a:latin typeface="Calibri"/>
                <a:ea typeface="Calibri"/>
                <a:cs typeface="Calibri"/>
                <a:sym typeface="Calibri"/>
              </a:rPr>
              <a:t>ベースの解法が主流であり、動的</a:t>
            </a:r>
            <a:r>
              <a:rPr lang="en-US" altLang="ja-JP" sz="1600" dirty="0">
                <a:latin typeface="Calibri"/>
                <a:ea typeface="Calibri"/>
                <a:cs typeface="Calibri"/>
                <a:sym typeface="Calibri"/>
              </a:rPr>
              <a:t>JSSP</a:t>
            </a:r>
            <a:r>
              <a:rPr lang="ja-JP" altLang="en-US" sz="1600" dirty="0">
                <a:latin typeface="Calibri"/>
                <a:ea typeface="Calibri"/>
                <a:cs typeface="Calibri"/>
                <a:sym typeface="Calibri"/>
              </a:rPr>
              <a:t>においても同様</a:t>
            </a:r>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pPr lvl="0"/>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動的スケジュール問題における安定性は重要性は指摘されているが、それを目的とした研究は少ない</a:t>
            </a:r>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重みパラメータ法によって安定性関数と効率性関数の最適化を行うことによって安定性を確保する研究がいくつか行われている</a:t>
            </a:r>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13758F37-1117-25C8-9C03-C740DFF79432}"/>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cxnSp>
        <p:nvCxnSpPr>
          <p:cNvPr id="3" name="Google Shape;65;p14">
            <a:extLst>
              <a:ext uri="{FF2B5EF4-FFF2-40B4-BE49-F238E27FC236}">
                <a16:creationId xmlns:a16="http://schemas.microsoft.com/office/drawing/2014/main" id="{3AF875F3-924D-1D26-2914-B3EC673D1849}"/>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78BFF79B-542C-FF2C-4395-D5CDF07CB6FA}"/>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既存研究：</a:t>
            </a:r>
            <a:r>
              <a:rPr lang="ja-JP" altLang="en-US" sz="1800" dirty="0">
                <a:solidFill>
                  <a:schemeClr val="tx1"/>
                </a:solidFill>
                <a:latin typeface="Calibri"/>
                <a:ea typeface="Calibri"/>
                <a:cs typeface="Calibri"/>
                <a:sym typeface="Calibri"/>
              </a:rPr>
              <a:t>ジョブショップスケジューリングと多目的最適化</a:t>
            </a:r>
            <a:endParaRPr sz="1800" b="1"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354625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928F2F70-E6FA-D49B-AAF6-359CCBB68126}"/>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2D089184-0193-2083-7A09-EE6B5F33828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cxnSp>
        <p:nvCxnSpPr>
          <p:cNvPr id="3" name="Google Shape;65;p14">
            <a:extLst>
              <a:ext uri="{FF2B5EF4-FFF2-40B4-BE49-F238E27FC236}">
                <a16:creationId xmlns:a16="http://schemas.microsoft.com/office/drawing/2014/main" id="{CB697706-C155-480F-EC52-03E75026C286}"/>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47A8B14A-EF4E-789D-A6AD-161623B97EC2}"/>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lvl="0"/>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既存研究：</a:t>
            </a:r>
            <a:r>
              <a:rPr lang="ja-JP" altLang="en-US" sz="1800" dirty="0">
                <a:solidFill>
                  <a:schemeClr val="tx1"/>
                </a:solidFill>
                <a:latin typeface="Calibri"/>
                <a:ea typeface="Calibri"/>
                <a:cs typeface="Calibri"/>
                <a:sym typeface="Calibri"/>
              </a:rPr>
              <a:t>リアクティブスケジューリングと安定性</a:t>
            </a:r>
            <a:endParaRPr sz="1800" b="1" dirty="0">
              <a:solidFill>
                <a:schemeClr val="tx1"/>
              </a:solidFill>
              <a:latin typeface="Calibri"/>
              <a:ea typeface="Calibri"/>
              <a:cs typeface="Calibri"/>
              <a:sym typeface="Calibri"/>
            </a:endParaRPr>
          </a:p>
        </p:txBody>
      </p:sp>
      <p:sp>
        <p:nvSpPr>
          <p:cNvPr id="8" name="テキスト ボックス 7">
            <a:extLst>
              <a:ext uri="{FF2B5EF4-FFF2-40B4-BE49-F238E27FC236}">
                <a16:creationId xmlns:a16="http://schemas.microsoft.com/office/drawing/2014/main" id="{179F2108-59B5-BF68-BAF4-044BDC08BB25}"/>
              </a:ext>
            </a:extLst>
          </p:cNvPr>
          <p:cNvSpPr txBox="1"/>
          <p:nvPr/>
        </p:nvSpPr>
        <p:spPr>
          <a:xfrm>
            <a:off x="577499" y="1150004"/>
            <a:ext cx="7988999" cy="1077218"/>
          </a:xfrm>
          <a:prstGeom prst="rect">
            <a:avLst/>
          </a:prstGeom>
          <a:noFill/>
        </p:spPr>
        <p:txBody>
          <a:bodyPr wrap="square">
            <a:spAutoFit/>
          </a:bodyPr>
          <a:lstStyle/>
          <a:p>
            <a:pPr lvl="0"/>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en-US" altLang="ja-JP" sz="1600" dirty="0">
                <a:latin typeface="Calibri"/>
                <a:ea typeface="Calibri"/>
                <a:cs typeface="Calibri"/>
                <a:sym typeface="Calibri"/>
              </a:rPr>
              <a:t>Rangsaritratsamee</a:t>
            </a:r>
            <a:r>
              <a:rPr lang="ja-JP" altLang="en-US" sz="1600" dirty="0">
                <a:latin typeface="Calibri"/>
                <a:ea typeface="Calibri"/>
                <a:cs typeface="Calibri"/>
                <a:sym typeface="Calibri"/>
              </a:rPr>
              <a:t>ら</a:t>
            </a:r>
            <a:r>
              <a:rPr lang="en-US" altLang="ja-JP" sz="1600" dirty="0">
                <a:latin typeface="Calibri"/>
                <a:ea typeface="Calibri"/>
                <a:cs typeface="Calibri"/>
                <a:sym typeface="Calibri"/>
              </a:rPr>
              <a:t>[2]</a:t>
            </a:r>
            <a:r>
              <a:rPr lang="ja-JP" altLang="en-US" sz="1600" dirty="0">
                <a:latin typeface="Calibri"/>
                <a:ea typeface="Calibri"/>
                <a:cs typeface="Calibri"/>
                <a:sym typeface="Calibri"/>
              </a:rPr>
              <a:t>は再スケジューリング時刻からの時間的距離が近い作業ほどスケジュール変更コストが大きいことを指摘し、以下の評価関数を提案</a:t>
            </a:r>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遺伝的アルゴリズムに局所探索を組み込んだハイブリッド</a:t>
            </a:r>
            <a:r>
              <a:rPr lang="en-US" altLang="ja-JP" sz="1600" dirty="0">
                <a:latin typeface="Calibri"/>
                <a:ea typeface="Calibri"/>
                <a:cs typeface="Calibri"/>
                <a:sym typeface="Calibri"/>
              </a:rPr>
              <a:t>GA</a:t>
            </a:r>
            <a:r>
              <a:rPr lang="ja-JP" altLang="en-US" sz="1600" dirty="0">
                <a:latin typeface="Calibri"/>
                <a:ea typeface="Calibri"/>
                <a:cs typeface="Calibri"/>
                <a:sym typeface="Calibri"/>
              </a:rPr>
              <a:t>を提案した</a:t>
            </a:r>
            <a:endParaRPr lang="en-US" altLang="ja-JP" sz="1600" dirty="0">
              <a:latin typeface="Calibri"/>
              <a:ea typeface="Calibri"/>
              <a:cs typeface="Calibri"/>
              <a:sym typeface="Calibri"/>
            </a:endParaRPr>
          </a:p>
        </p:txBody>
      </p:sp>
      <p:pic>
        <p:nvPicPr>
          <p:cNvPr id="5" name="図 4">
            <a:extLst>
              <a:ext uri="{FF2B5EF4-FFF2-40B4-BE49-F238E27FC236}">
                <a16:creationId xmlns:a16="http://schemas.microsoft.com/office/drawing/2014/main" id="{90ED71D3-3DEC-7FD8-FA39-00D7112CE01F}"/>
              </a:ext>
            </a:extLst>
          </p:cNvPr>
          <p:cNvPicPr>
            <a:picLocks noChangeAspect="1"/>
          </p:cNvPicPr>
          <p:nvPr/>
        </p:nvPicPr>
        <p:blipFill>
          <a:blip r:embed="rId3"/>
          <a:stretch>
            <a:fillRect/>
          </a:stretch>
        </p:blipFill>
        <p:spPr>
          <a:xfrm>
            <a:off x="827759" y="2641763"/>
            <a:ext cx="3886742" cy="2010056"/>
          </a:xfrm>
          <a:prstGeom prst="rect">
            <a:avLst/>
          </a:prstGeom>
        </p:spPr>
      </p:pic>
      <p:pic>
        <p:nvPicPr>
          <p:cNvPr id="7" name="図 6">
            <a:extLst>
              <a:ext uri="{FF2B5EF4-FFF2-40B4-BE49-F238E27FC236}">
                <a16:creationId xmlns:a16="http://schemas.microsoft.com/office/drawing/2014/main" id="{F69B1DA8-508D-39D4-87E6-558797C1AC15}"/>
              </a:ext>
            </a:extLst>
          </p:cNvPr>
          <p:cNvPicPr>
            <a:picLocks noChangeAspect="1"/>
          </p:cNvPicPr>
          <p:nvPr/>
        </p:nvPicPr>
        <p:blipFill>
          <a:blip r:embed="rId4"/>
          <a:stretch>
            <a:fillRect/>
          </a:stretch>
        </p:blipFill>
        <p:spPr>
          <a:xfrm>
            <a:off x="4651146" y="2777584"/>
            <a:ext cx="3915353" cy="1945567"/>
          </a:xfrm>
          <a:prstGeom prst="rect">
            <a:avLst/>
          </a:prstGeom>
        </p:spPr>
      </p:pic>
    </p:spTree>
    <p:extLst>
      <p:ext uri="{BB962C8B-B14F-4D97-AF65-F5344CB8AC3E}">
        <p14:creationId xmlns:p14="http://schemas.microsoft.com/office/powerpoint/2010/main" val="1446485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9F565BD3-CB93-DDFE-7253-09F2D5400379}"/>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8F06FBEF-CB7A-B0E8-A200-B1A50AC7472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cxnSp>
        <p:nvCxnSpPr>
          <p:cNvPr id="3" name="Google Shape;65;p14">
            <a:extLst>
              <a:ext uri="{FF2B5EF4-FFF2-40B4-BE49-F238E27FC236}">
                <a16:creationId xmlns:a16="http://schemas.microsoft.com/office/drawing/2014/main" id="{35DB9E27-3931-9AE6-474E-987B448C193E}"/>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C39CF553-6A4A-F050-23BB-F599A6DA7A1A}"/>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lvl="0"/>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既存研究：</a:t>
            </a:r>
            <a:r>
              <a:rPr lang="ja-JP" altLang="en-US" sz="1800" dirty="0">
                <a:solidFill>
                  <a:schemeClr val="tx1"/>
                </a:solidFill>
                <a:latin typeface="Calibri"/>
                <a:ea typeface="Calibri"/>
                <a:cs typeface="Calibri"/>
                <a:sym typeface="Calibri"/>
              </a:rPr>
              <a:t>リアクティブスケジューリングと安定性</a:t>
            </a:r>
            <a:endParaRPr sz="1800" b="1" dirty="0">
              <a:solidFill>
                <a:schemeClr val="tx1"/>
              </a:solidFill>
              <a:latin typeface="Calibri"/>
              <a:ea typeface="Calibri"/>
              <a:cs typeface="Calibri"/>
              <a:sym typeface="Calibri"/>
            </a:endParaRPr>
          </a:p>
        </p:txBody>
      </p:sp>
      <p:sp>
        <p:nvSpPr>
          <p:cNvPr id="8" name="テキスト ボックス 7">
            <a:extLst>
              <a:ext uri="{FF2B5EF4-FFF2-40B4-BE49-F238E27FC236}">
                <a16:creationId xmlns:a16="http://schemas.microsoft.com/office/drawing/2014/main" id="{311A9064-D9F4-C151-0059-1236F8329967}"/>
              </a:ext>
            </a:extLst>
          </p:cNvPr>
          <p:cNvSpPr txBox="1"/>
          <p:nvPr/>
        </p:nvSpPr>
        <p:spPr>
          <a:xfrm>
            <a:off x="577499" y="1150004"/>
            <a:ext cx="7988999" cy="584775"/>
          </a:xfrm>
          <a:prstGeom prst="rect">
            <a:avLst/>
          </a:prstGeom>
          <a:noFill/>
        </p:spPr>
        <p:txBody>
          <a:bodyPr wrap="square">
            <a:spAutoFit/>
          </a:bodyPr>
          <a:lstStyle/>
          <a:p>
            <a:pPr lvl="0"/>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en-US" altLang="ja-JP" sz="1600" dirty="0">
                <a:latin typeface="Calibri"/>
                <a:ea typeface="Calibri"/>
                <a:cs typeface="Calibri"/>
                <a:sym typeface="Calibri"/>
              </a:rPr>
              <a:t>Zhang</a:t>
            </a:r>
            <a:r>
              <a:rPr lang="ja-JP" altLang="en-US" sz="1600" dirty="0">
                <a:latin typeface="Calibri"/>
                <a:ea typeface="Calibri"/>
                <a:cs typeface="Calibri"/>
                <a:sym typeface="Calibri"/>
              </a:rPr>
              <a:t>らは開始時刻偏差を</a:t>
            </a:r>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遺伝的アルゴリズムに局所探索を組み込んだハイブリッド</a:t>
            </a:r>
            <a:r>
              <a:rPr lang="en-US" altLang="ja-JP" sz="1600" dirty="0">
                <a:latin typeface="Calibri"/>
                <a:ea typeface="Calibri"/>
                <a:cs typeface="Calibri"/>
                <a:sym typeface="Calibri"/>
              </a:rPr>
              <a:t>GA</a:t>
            </a:r>
            <a:r>
              <a:rPr lang="ja-JP" altLang="en-US" sz="1600" dirty="0">
                <a:latin typeface="Calibri"/>
                <a:ea typeface="Calibri"/>
                <a:cs typeface="Calibri"/>
                <a:sym typeface="Calibri"/>
              </a:rPr>
              <a:t>を提案した</a:t>
            </a:r>
            <a:endParaRPr lang="en-US" altLang="ja-JP" sz="1600" dirty="0">
              <a:latin typeface="Calibri"/>
              <a:ea typeface="Calibri"/>
              <a:cs typeface="Calibri"/>
              <a:sym typeface="Calibri"/>
            </a:endParaRPr>
          </a:p>
        </p:txBody>
      </p:sp>
      <p:pic>
        <p:nvPicPr>
          <p:cNvPr id="5" name="図 4">
            <a:extLst>
              <a:ext uri="{FF2B5EF4-FFF2-40B4-BE49-F238E27FC236}">
                <a16:creationId xmlns:a16="http://schemas.microsoft.com/office/drawing/2014/main" id="{CA50B7F0-CC63-8B5F-9501-E65109C3A1F6}"/>
              </a:ext>
            </a:extLst>
          </p:cNvPr>
          <p:cNvPicPr>
            <a:picLocks noChangeAspect="1"/>
          </p:cNvPicPr>
          <p:nvPr/>
        </p:nvPicPr>
        <p:blipFill>
          <a:blip r:embed="rId3"/>
          <a:stretch>
            <a:fillRect/>
          </a:stretch>
        </p:blipFill>
        <p:spPr>
          <a:xfrm>
            <a:off x="827759" y="2641763"/>
            <a:ext cx="3886742" cy="2010056"/>
          </a:xfrm>
          <a:prstGeom prst="rect">
            <a:avLst/>
          </a:prstGeom>
        </p:spPr>
      </p:pic>
      <p:pic>
        <p:nvPicPr>
          <p:cNvPr id="7" name="図 6">
            <a:extLst>
              <a:ext uri="{FF2B5EF4-FFF2-40B4-BE49-F238E27FC236}">
                <a16:creationId xmlns:a16="http://schemas.microsoft.com/office/drawing/2014/main" id="{28DB2773-30B6-10F6-4904-BB52808AA125}"/>
              </a:ext>
            </a:extLst>
          </p:cNvPr>
          <p:cNvPicPr>
            <a:picLocks noChangeAspect="1"/>
          </p:cNvPicPr>
          <p:nvPr/>
        </p:nvPicPr>
        <p:blipFill>
          <a:blip r:embed="rId4"/>
          <a:stretch>
            <a:fillRect/>
          </a:stretch>
        </p:blipFill>
        <p:spPr>
          <a:xfrm>
            <a:off x="4651146" y="2777584"/>
            <a:ext cx="3915353" cy="1945567"/>
          </a:xfrm>
          <a:prstGeom prst="rect">
            <a:avLst/>
          </a:prstGeom>
        </p:spPr>
      </p:pic>
    </p:spTree>
    <p:extLst>
      <p:ext uri="{BB962C8B-B14F-4D97-AF65-F5344CB8AC3E}">
        <p14:creationId xmlns:p14="http://schemas.microsoft.com/office/powerpoint/2010/main" val="375928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4408EC7C-87F9-C29F-1823-3D9F8B4289C1}"/>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EA489965-DDCF-9B98-1545-174393096E7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cxnSp>
        <p:nvCxnSpPr>
          <p:cNvPr id="3" name="Google Shape;65;p14">
            <a:extLst>
              <a:ext uri="{FF2B5EF4-FFF2-40B4-BE49-F238E27FC236}">
                <a16:creationId xmlns:a16="http://schemas.microsoft.com/office/drawing/2014/main" id="{BFE19DD2-5BE2-259F-0333-BBC85C91F4B6}"/>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2FEC16ED-AFAE-88CE-21BD-2A0FF46E6FDF}"/>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lvl="0"/>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既存研究：</a:t>
            </a:r>
            <a:r>
              <a:rPr lang="ja-JP" altLang="en-US" sz="1800" dirty="0">
                <a:solidFill>
                  <a:schemeClr val="tx1"/>
                </a:solidFill>
                <a:latin typeface="Calibri"/>
                <a:ea typeface="Calibri"/>
                <a:cs typeface="Calibri"/>
                <a:sym typeface="Calibri"/>
              </a:rPr>
              <a:t>リアクティブスケジューリングと安定性</a:t>
            </a:r>
            <a:endParaRPr sz="1800" b="1" dirty="0">
              <a:solidFill>
                <a:schemeClr val="tx1"/>
              </a:solidFill>
              <a:latin typeface="Calibri"/>
              <a:ea typeface="Calibri"/>
              <a:cs typeface="Calibri"/>
              <a:sym typeface="Calibri"/>
            </a:endParaRPr>
          </a:p>
        </p:txBody>
      </p:sp>
      <p:sp>
        <p:nvSpPr>
          <p:cNvPr id="8" name="テキスト ボックス 7">
            <a:extLst>
              <a:ext uri="{FF2B5EF4-FFF2-40B4-BE49-F238E27FC236}">
                <a16:creationId xmlns:a16="http://schemas.microsoft.com/office/drawing/2014/main" id="{E8951717-BBCE-382C-3CE5-E41E2450A517}"/>
              </a:ext>
            </a:extLst>
          </p:cNvPr>
          <p:cNvSpPr txBox="1"/>
          <p:nvPr/>
        </p:nvSpPr>
        <p:spPr>
          <a:xfrm>
            <a:off x="577499" y="1074912"/>
            <a:ext cx="7988999" cy="3662541"/>
          </a:xfrm>
          <a:prstGeom prst="rect">
            <a:avLst/>
          </a:prstGeom>
          <a:noFill/>
        </p:spPr>
        <p:txBody>
          <a:bodyPr wrap="square">
            <a:spAutoFit/>
          </a:bodyPr>
          <a:lstStyle/>
          <a:p>
            <a:pPr lvl="0"/>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本研究では卒業論文で提案した以下の評価関数を安定性の評価関数として使用し、</a:t>
            </a:r>
            <a:r>
              <a:rPr lang="en-US" altLang="ja-JP" sz="1600" dirty="0">
                <a:latin typeface="Calibri"/>
                <a:ea typeface="Calibri"/>
                <a:cs typeface="Calibri"/>
                <a:sym typeface="Calibri"/>
              </a:rPr>
              <a:t>MOGLS</a:t>
            </a:r>
            <a:r>
              <a:rPr lang="ja-JP" altLang="en-US" sz="1600" dirty="0">
                <a:latin typeface="Calibri"/>
                <a:ea typeface="Calibri"/>
                <a:cs typeface="Calibri"/>
                <a:sym typeface="Calibri"/>
              </a:rPr>
              <a:t>でパレートフロントの探索を行う</a:t>
            </a:r>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endParaRPr lang="en-US" altLang="ja-JP" sz="1000" dirty="0">
              <a:solidFill>
                <a:schemeClr val="accent1">
                  <a:lumMod val="50000"/>
                </a:schemeClr>
              </a:solidFill>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ジョブの投入順序の変更量の総和の抑制</a:t>
            </a:r>
            <a:endParaRPr lang="en-US" altLang="ja-JP" sz="1600" dirty="0">
              <a:latin typeface="Calibri"/>
              <a:ea typeface="Calibri"/>
              <a:cs typeface="Calibri"/>
              <a:sym typeface="Calibri"/>
            </a:endParaRPr>
          </a:p>
          <a:p>
            <a:endParaRPr lang="en-US" altLang="ja-JP" sz="8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投入順序の早いジョブの順序変更量の抑制</a:t>
            </a:r>
            <a:endParaRPr lang="en-US" altLang="ja-JP" sz="1600" dirty="0">
              <a:latin typeface="Calibri"/>
              <a:ea typeface="Calibri"/>
              <a:cs typeface="Calibri"/>
              <a:sym typeface="Calibri"/>
            </a:endParaRPr>
          </a:p>
        </p:txBody>
      </p:sp>
      <p:pic>
        <p:nvPicPr>
          <p:cNvPr id="2" name="図 1">
            <a:extLst>
              <a:ext uri="{FF2B5EF4-FFF2-40B4-BE49-F238E27FC236}">
                <a16:creationId xmlns:a16="http://schemas.microsoft.com/office/drawing/2014/main" id="{6DDFAED5-A123-741C-10C3-CE79F2D22F25}"/>
              </a:ext>
            </a:extLst>
          </p:cNvPr>
          <p:cNvPicPr>
            <a:picLocks noChangeAspect="1"/>
          </p:cNvPicPr>
          <p:nvPr/>
        </p:nvPicPr>
        <p:blipFill>
          <a:blip r:embed="rId3"/>
          <a:stretch>
            <a:fillRect/>
          </a:stretch>
        </p:blipFill>
        <p:spPr>
          <a:xfrm>
            <a:off x="772993" y="1802856"/>
            <a:ext cx="3799007" cy="1893316"/>
          </a:xfrm>
          <a:prstGeom prst="rect">
            <a:avLst/>
          </a:prstGeom>
        </p:spPr>
      </p:pic>
      <p:pic>
        <p:nvPicPr>
          <p:cNvPr id="6" name="図 5">
            <a:extLst>
              <a:ext uri="{FF2B5EF4-FFF2-40B4-BE49-F238E27FC236}">
                <a16:creationId xmlns:a16="http://schemas.microsoft.com/office/drawing/2014/main" id="{43036690-7FBA-490C-8651-E881580AA3E2}"/>
              </a:ext>
            </a:extLst>
          </p:cNvPr>
          <p:cNvPicPr>
            <a:picLocks noChangeAspect="1"/>
          </p:cNvPicPr>
          <p:nvPr/>
        </p:nvPicPr>
        <p:blipFill>
          <a:blip r:embed="rId4"/>
          <a:stretch>
            <a:fillRect/>
          </a:stretch>
        </p:blipFill>
        <p:spPr>
          <a:xfrm>
            <a:off x="4438751" y="2737791"/>
            <a:ext cx="3419952" cy="685896"/>
          </a:xfrm>
          <a:prstGeom prst="rect">
            <a:avLst/>
          </a:prstGeom>
        </p:spPr>
      </p:pic>
      <p:pic>
        <p:nvPicPr>
          <p:cNvPr id="9" name="図 8">
            <a:extLst>
              <a:ext uri="{FF2B5EF4-FFF2-40B4-BE49-F238E27FC236}">
                <a16:creationId xmlns:a16="http://schemas.microsoft.com/office/drawing/2014/main" id="{885CC649-467C-D231-CC4D-01C6ADBE07C0}"/>
              </a:ext>
            </a:extLst>
          </p:cNvPr>
          <p:cNvPicPr>
            <a:picLocks noChangeAspect="1"/>
          </p:cNvPicPr>
          <p:nvPr/>
        </p:nvPicPr>
        <p:blipFill>
          <a:blip r:embed="rId5"/>
          <a:stretch>
            <a:fillRect/>
          </a:stretch>
        </p:blipFill>
        <p:spPr>
          <a:xfrm>
            <a:off x="4478830" y="2151649"/>
            <a:ext cx="3316347" cy="685897"/>
          </a:xfrm>
          <a:prstGeom prst="rect">
            <a:avLst/>
          </a:prstGeom>
        </p:spPr>
      </p:pic>
    </p:spTree>
    <p:extLst>
      <p:ext uri="{BB962C8B-B14F-4D97-AF65-F5344CB8AC3E}">
        <p14:creationId xmlns:p14="http://schemas.microsoft.com/office/powerpoint/2010/main" val="4239332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D015EBB6-8CDC-7541-5948-9A2027A4A942}"/>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3E17B2C2-A83B-E4AD-561F-6A55BECBBFA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cxnSp>
        <p:nvCxnSpPr>
          <p:cNvPr id="3" name="Google Shape;65;p14">
            <a:extLst>
              <a:ext uri="{FF2B5EF4-FFF2-40B4-BE49-F238E27FC236}">
                <a16:creationId xmlns:a16="http://schemas.microsoft.com/office/drawing/2014/main" id="{93B0A3FC-83AF-54AD-17F4-506BCB189118}"/>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BDD67649-89CC-ADFC-B797-B72D3C2BB600}"/>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lvl="0"/>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既存研究：</a:t>
            </a:r>
            <a:r>
              <a:rPr lang="ja-JP" altLang="en-US" sz="1800" dirty="0">
                <a:solidFill>
                  <a:schemeClr val="tx1"/>
                </a:solidFill>
                <a:latin typeface="Calibri"/>
                <a:ea typeface="Calibri"/>
                <a:cs typeface="Calibri"/>
                <a:sym typeface="Calibri"/>
              </a:rPr>
              <a:t>リアクティブスケジューリングと安定性</a:t>
            </a:r>
            <a:endParaRPr sz="1800" b="1" dirty="0">
              <a:solidFill>
                <a:schemeClr val="tx1"/>
              </a:solidFill>
              <a:latin typeface="Calibri"/>
              <a:ea typeface="Calibri"/>
              <a:cs typeface="Calibri"/>
              <a:sym typeface="Calibri"/>
            </a:endParaRPr>
          </a:p>
        </p:txBody>
      </p:sp>
      <p:sp>
        <p:nvSpPr>
          <p:cNvPr id="8" name="テキスト ボックス 7">
            <a:extLst>
              <a:ext uri="{FF2B5EF4-FFF2-40B4-BE49-F238E27FC236}">
                <a16:creationId xmlns:a16="http://schemas.microsoft.com/office/drawing/2014/main" id="{5F8D382A-95FC-9BCB-B407-928202753F12}"/>
              </a:ext>
            </a:extLst>
          </p:cNvPr>
          <p:cNvSpPr txBox="1"/>
          <p:nvPr/>
        </p:nvSpPr>
        <p:spPr>
          <a:xfrm>
            <a:off x="577499" y="1074912"/>
            <a:ext cx="7988999" cy="1323439"/>
          </a:xfrm>
          <a:prstGeom prst="rect">
            <a:avLst/>
          </a:prstGeom>
          <a:noFill/>
        </p:spPr>
        <p:txBody>
          <a:bodyPr wrap="square">
            <a:spAutoFit/>
          </a:bodyPr>
          <a:lstStyle/>
          <a:p>
            <a:pPr lvl="0"/>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先行研究や卒業研究では目的関数の提示とそれをもとにした重みパラメータ法の提示に留まっていた。</a:t>
            </a:r>
            <a:endParaRPr lang="en-US" altLang="ja-JP" sz="1600" dirty="0">
              <a:latin typeface="Calibri"/>
              <a:ea typeface="Calibri"/>
              <a:cs typeface="Calibri"/>
              <a:sym typeface="Calibri"/>
            </a:endParaRPr>
          </a:p>
          <a:p>
            <a:pPr lvl="0"/>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本研究ではそこから踏み込んで、パレートフロント構築アプローチを構築し、さらに本研究目的に則した交叉等の遺伝的操作やアルゴリズムの提示を行なう。</a:t>
            </a:r>
            <a:endParaRPr lang="en-US" altLang="ja-JP" sz="1600" dirty="0">
              <a:latin typeface="Calibri"/>
              <a:ea typeface="Calibri"/>
              <a:cs typeface="Calibri"/>
              <a:sym typeface="Calibri"/>
            </a:endParaRPr>
          </a:p>
        </p:txBody>
      </p:sp>
    </p:spTree>
    <p:extLst>
      <p:ext uri="{BB962C8B-B14F-4D97-AF65-F5344CB8AC3E}">
        <p14:creationId xmlns:p14="http://schemas.microsoft.com/office/powerpoint/2010/main" val="77200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9B94703F-EA04-4130-43D3-F7916DB0E1D0}"/>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44F06969-443D-F92E-7540-57FDFF31B239}"/>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59CFDFFC-A738-46D4-9E59-76DBC389B46E}"/>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CD06B336-781A-737B-ED42-2EE0DF1351E8}"/>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提案手法</a:t>
            </a:r>
            <a:endParaRPr sz="2000" b="1" dirty="0">
              <a:solidFill>
                <a:schemeClr val="dk1"/>
              </a:solidFill>
            </a:endParaRPr>
          </a:p>
        </p:txBody>
      </p:sp>
      <p:sp>
        <p:nvSpPr>
          <p:cNvPr id="68" name="Google Shape;68;p14">
            <a:extLst>
              <a:ext uri="{FF2B5EF4-FFF2-40B4-BE49-F238E27FC236}">
                <a16:creationId xmlns:a16="http://schemas.microsoft.com/office/drawing/2014/main" id="{EA069DCA-3A11-4D56-B377-0A2F75FA6633}"/>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3</a:t>
            </a:r>
            <a:r>
              <a:rPr lang="en-US" altLang="ja" sz="2500" b="1" dirty="0">
                <a:solidFill>
                  <a:schemeClr val="accent1">
                    <a:lumMod val="50000"/>
                  </a:schemeClr>
                </a:solidFill>
              </a:rPr>
              <a:t>.</a:t>
            </a:r>
            <a:endParaRPr sz="2500" b="1" dirty="0">
              <a:solidFill>
                <a:schemeClr val="accent1">
                  <a:lumMod val="50000"/>
                </a:schemeClr>
              </a:solidFill>
            </a:endParaRPr>
          </a:p>
        </p:txBody>
      </p:sp>
      <p:sp>
        <p:nvSpPr>
          <p:cNvPr id="73" name="Google Shape;73;p14">
            <a:extLst>
              <a:ext uri="{FF2B5EF4-FFF2-40B4-BE49-F238E27FC236}">
                <a16:creationId xmlns:a16="http://schemas.microsoft.com/office/drawing/2014/main" id="{224A1F7A-C244-0CAA-0FD6-27E9420F62BC}"/>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既存研究</a:t>
            </a:r>
            <a:endParaRPr sz="2000" b="1" dirty="0">
              <a:solidFill>
                <a:schemeClr val="bg1">
                  <a:lumMod val="75000"/>
                </a:schemeClr>
              </a:solidFill>
            </a:endParaRPr>
          </a:p>
        </p:txBody>
      </p:sp>
      <p:sp>
        <p:nvSpPr>
          <p:cNvPr id="74" name="Google Shape;74;p14">
            <a:extLst>
              <a:ext uri="{FF2B5EF4-FFF2-40B4-BE49-F238E27FC236}">
                <a16:creationId xmlns:a16="http://schemas.microsoft.com/office/drawing/2014/main" id="{A960C07A-D00E-0531-7D56-CB3792B593EE}"/>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2</a:t>
            </a:r>
            <a:r>
              <a:rPr lang="en-US" altLang="ja" sz="2500" b="1" dirty="0">
                <a:solidFill>
                  <a:schemeClr val="bg1">
                    <a:lumMod val="75000"/>
                  </a:schemeClr>
                </a:solidFill>
              </a:rPr>
              <a:t>.</a:t>
            </a:r>
            <a:endParaRPr sz="2500" b="1" dirty="0">
              <a:solidFill>
                <a:schemeClr val="bg1">
                  <a:lumMod val="75000"/>
                </a:schemeClr>
              </a:solidFill>
            </a:endParaRPr>
          </a:p>
        </p:txBody>
      </p:sp>
      <p:sp>
        <p:nvSpPr>
          <p:cNvPr id="69" name="Google Shape;69;p14">
            <a:extLst>
              <a:ext uri="{FF2B5EF4-FFF2-40B4-BE49-F238E27FC236}">
                <a16:creationId xmlns:a16="http://schemas.microsoft.com/office/drawing/2014/main" id="{89F8CEB1-9E9A-9948-729E-06D494CAF768}"/>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計算機実験</a:t>
            </a:r>
            <a:endParaRPr sz="2000" b="1" dirty="0">
              <a:solidFill>
                <a:schemeClr val="bg1">
                  <a:lumMod val="75000"/>
                </a:schemeClr>
              </a:solidFill>
            </a:endParaRPr>
          </a:p>
        </p:txBody>
      </p:sp>
      <p:sp>
        <p:nvSpPr>
          <p:cNvPr id="70" name="Google Shape;70;p14">
            <a:extLst>
              <a:ext uri="{FF2B5EF4-FFF2-40B4-BE49-F238E27FC236}">
                <a16:creationId xmlns:a16="http://schemas.microsoft.com/office/drawing/2014/main" id="{DBF41984-9302-B070-ACCA-21BFEE103B4B}"/>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4</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75" name="Google Shape;75;p14">
            <a:extLst>
              <a:ext uri="{FF2B5EF4-FFF2-40B4-BE49-F238E27FC236}">
                <a16:creationId xmlns:a16="http://schemas.microsoft.com/office/drawing/2014/main" id="{D24C3C23-C2CD-620C-35E4-787E0AEAAE33}"/>
              </a:ext>
            </a:extLst>
          </p:cNvPr>
          <p:cNvCxnSpPr/>
          <p:nvPr/>
        </p:nvCxnSpPr>
        <p:spPr>
          <a:xfrm>
            <a:off x="1038900" y="3746491"/>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3D868DC7-42C4-BF70-76E4-6B4FECFEF14D}"/>
              </a:ext>
            </a:extLst>
          </p:cNvPr>
          <p:cNvCxnSpPr/>
          <p:nvPr/>
        </p:nvCxnSpPr>
        <p:spPr>
          <a:xfrm>
            <a:off x="1038900" y="2265916"/>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BCCA5D4C-5876-8A2D-3D03-99DDA46FC376}"/>
              </a:ext>
            </a:extLst>
          </p:cNvPr>
          <p:cNvCxnSpPr/>
          <p:nvPr/>
        </p:nvCxnSpPr>
        <p:spPr>
          <a:xfrm>
            <a:off x="1038900" y="3021128"/>
            <a:ext cx="3454500" cy="0"/>
          </a:xfrm>
          <a:prstGeom prst="straightConnector1">
            <a:avLst/>
          </a:prstGeom>
          <a:noFill/>
          <a:ln w="19050" cap="flat" cmpd="sng">
            <a:solidFill>
              <a:schemeClr val="accent1">
                <a:lumMod val="50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BD55C760-AB7E-44E9-9A61-6E85EA41CCAA}"/>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bg1">
                    <a:lumMod val="75000"/>
                  </a:schemeClr>
                </a:solidFill>
              </a:rPr>
              <a:t>研究背景</a:t>
            </a:r>
            <a:r>
              <a:rPr lang="ja-JP" altLang="en-US" sz="2000" b="1" dirty="0">
                <a:solidFill>
                  <a:schemeClr val="bg1">
                    <a:lumMod val="75000"/>
                  </a:schemeClr>
                </a:solidFill>
              </a:rPr>
              <a:t>・目的</a:t>
            </a:r>
            <a:endParaRPr sz="2000" b="1" dirty="0">
              <a:solidFill>
                <a:schemeClr val="bg1">
                  <a:lumMod val="75000"/>
                </a:schemeClr>
              </a:solidFill>
            </a:endParaRPr>
          </a:p>
        </p:txBody>
      </p:sp>
      <p:sp>
        <p:nvSpPr>
          <p:cNvPr id="80" name="Google Shape;80;p14">
            <a:extLst>
              <a:ext uri="{FF2B5EF4-FFF2-40B4-BE49-F238E27FC236}">
                <a16:creationId xmlns:a16="http://schemas.microsoft.com/office/drawing/2014/main" id="{87DAE7C9-D7A9-F0EF-541A-17C6FCB1DE11}"/>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1</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81" name="Google Shape;81;p14">
            <a:extLst>
              <a:ext uri="{FF2B5EF4-FFF2-40B4-BE49-F238E27FC236}">
                <a16:creationId xmlns:a16="http://schemas.microsoft.com/office/drawing/2014/main" id="{2EF055C8-95DD-EB55-ACD7-427D20CF6BE7}"/>
              </a:ext>
            </a:extLst>
          </p:cNvPr>
          <p:cNvCxnSpPr/>
          <p:nvPr/>
        </p:nvCxnSpPr>
        <p:spPr>
          <a:xfrm>
            <a:off x="1038888" y="1545503"/>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2" name="Google Shape;69;p14">
            <a:extLst>
              <a:ext uri="{FF2B5EF4-FFF2-40B4-BE49-F238E27FC236}">
                <a16:creationId xmlns:a16="http://schemas.microsoft.com/office/drawing/2014/main" id="{78704A3C-5D2D-0C20-7FE0-E58B1891AA3A}"/>
              </a:ext>
            </a:extLst>
          </p:cNvPr>
          <p:cNvSpPr txBox="1"/>
          <p:nvPr/>
        </p:nvSpPr>
        <p:spPr>
          <a:xfrm>
            <a:off x="1387975" y="4090986"/>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結論</a:t>
            </a:r>
            <a:endParaRPr sz="2000" b="1" dirty="0">
              <a:solidFill>
                <a:schemeClr val="bg1">
                  <a:lumMod val="75000"/>
                </a:schemeClr>
              </a:solidFill>
            </a:endParaRPr>
          </a:p>
        </p:txBody>
      </p:sp>
      <p:sp>
        <p:nvSpPr>
          <p:cNvPr id="3" name="Google Shape;70;p14">
            <a:extLst>
              <a:ext uri="{FF2B5EF4-FFF2-40B4-BE49-F238E27FC236}">
                <a16:creationId xmlns:a16="http://schemas.microsoft.com/office/drawing/2014/main" id="{215CE5D8-61BE-F71D-27C6-3D7ED5C391CA}"/>
              </a:ext>
            </a:extLst>
          </p:cNvPr>
          <p:cNvSpPr txBox="1"/>
          <p:nvPr/>
        </p:nvSpPr>
        <p:spPr>
          <a:xfrm>
            <a:off x="710375" y="4027386"/>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2500" b="1" dirty="0">
                <a:solidFill>
                  <a:schemeClr val="bg1">
                    <a:lumMod val="75000"/>
                  </a:schemeClr>
                </a:solidFill>
              </a:rPr>
              <a:t>5.</a:t>
            </a:r>
            <a:endParaRPr sz="2500" b="1" dirty="0">
              <a:solidFill>
                <a:schemeClr val="bg1">
                  <a:lumMod val="75000"/>
                </a:schemeClr>
              </a:solidFill>
            </a:endParaRPr>
          </a:p>
        </p:txBody>
      </p:sp>
      <p:cxnSp>
        <p:nvCxnSpPr>
          <p:cNvPr id="4" name="Google Shape;75;p14">
            <a:extLst>
              <a:ext uri="{FF2B5EF4-FFF2-40B4-BE49-F238E27FC236}">
                <a16:creationId xmlns:a16="http://schemas.microsoft.com/office/drawing/2014/main" id="{DB0DE5F1-0889-05DD-5BC6-4E5CFDC8AA1B}"/>
              </a:ext>
            </a:extLst>
          </p:cNvPr>
          <p:cNvCxnSpPr/>
          <p:nvPr/>
        </p:nvCxnSpPr>
        <p:spPr>
          <a:xfrm>
            <a:off x="1054950" y="4495086"/>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spTree>
    <p:extLst>
      <p:ext uri="{BB962C8B-B14F-4D97-AF65-F5344CB8AC3E}">
        <p14:creationId xmlns:p14="http://schemas.microsoft.com/office/powerpoint/2010/main" val="2990063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EBCAAA0-E0E7-7461-7387-F3B32F0D6E62}"/>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9F07EF51-B76C-3159-D283-D0DEC78A69B5}"/>
              </a:ext>
            </a:extLst>
          </p:cNvPr>
          <p:cNvSpPr txBox="1"/>
          <p:nvPr/>
        </p:nvSpPr>
        <p:spPr>
          <a:xfrm>
            <a:off x="577500" y="1557141"/>
            <a:ext cx="7989000" cy="2154406"/>
          </a:xfrm>
          <a:prstGeom prst="rect">
            <a:avLst/>
          </a:prstGeom>
          <a:noFill/>
          <a:ln>
            <a:noFill/>
          </a:ln>
        </p:spPr>
        <p:txBody>
          <a:bodyPr spcFirstLastPara="1" wrap="square" lIns="91425" tIns="91425" rIns="91425" bIns="91425" anchor="t" anchorCtr="0">
            <a:spAutoFit/>
          </a:bodyPr>
          <a:lstStyle/>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ジョブショップスケジューリング問題において作業の遅延が発生した際に再スケジューリングを行う</a:t>
            </a:r>
            <a:endParaRPr lang="en-US" altLang="ja-JP" sz="1600" dirty="0">
              <a:latin typeface="Calibri"/>
              <a:ea typeface="Calibri"/>
              <a:cs typeface="Calibri"/>
              <a:sym typeface="Calibri"/>
            </a:endParaRPr>
          </a:p>
          <a:p>
            <a:endParaRPr lang="en-US" altLang="ja-JP" sz="1600" dirty="0">
              <a:solidFill>
                <a:schemeClr val="accent1">
                  <a:lumMod val="50000"/>
                </a:schemeClr>
              </a:solidFill>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エンコードには</a:t>
            </a:r>
            <a:r>
              <a:rPr lang="en-US" altLang="ja-JP" sz="1600" dirty="0">
                <a:latin typeface="Calibri"/>
                <a:ea typeface="Calibri"/>
                <a:cs typeface="Calibri"/>
                <a:sym typeface="Calibri"/>
              </a:rPr>
              <a:t>GT</a:t>
            </a:r>
            <a:r>
              <a:rPr lang="ja-JP" altLang="en-US" sz="1600" dirty="0">
                <a:latin typeface="Calibri"/>
                <a:ea typeface="Calibri"/>
                <a:cs typeface="Calibri"/>
                <a:sym typeface="Calibri"/>
              </a:rPr>
              <a:t>法を用いる</a:t>
            </a:r>
            <a:endParaRPr lang="en-US" altLang="ja-JP" sz="1600" dirty="0">
              <a:solidFill>
                <a:schemeClr val="accent1">
                  <a:lumMod val="50000"/>
                </a:schemeClr>
              </a:solidFill>
              <a:latin typeface="Calibri"/>
              <a:ea typeface="Calibri"/>
              <a:cs typeface="Calibri"/>
              <a:sym typeface="Calibri"/>
            </a:endParaRPr>
          </a:p>
          <a:p>
            <a:pPr marL="0" lvl="0" indent="0" algn="l" rtl="0">
              <a:spcBef>
                <a:spcPts val="0"/>
              </a:spcBef>
              <a:spcAft>
                <a:spcPts val="0"/>
              </a:spcAft>
              <a:buNone/>
            </a:pPr>
            <a:endParaRPr lang="en-US" altLang="ja-JP" sz="1600" dirty="0">
              <a:solidFill>
                <a:schemeClr val="accent1">
                  <a:lumMod val="50000"/>
                </a:schemeClr>
              </a:solidFill>
              <a:latin typeface="Calibri"/>
              <a:ea typeface="Calibri"/>
              <a:cs typeface="Calibri"/>
              <a:sym typeface="Calibri"/>
            </a:endParaRPr>
          </a:p>
          <a:p>
            <a:pPr marL="0" lvl="0" indent="0" algn="l" rtl="0">
              <a:spcBef>
                <a:spcPts val="0"/>
              </a:spcBef>
              <a:spcAft>
                <a:spcPts val="0"/>
              </a:spcAft>
              <a:buNone/>
            </a:pPr>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en-US" altLang="ja-JP" sz="1600" b="1" dirty="0">
                <a:solidFill>
                  <a:schemeClr val="accent1">
                    <a:lumMod val="50000"/>
                  </a:schemeClr>
                </a:solidFill>
                <a:latin typeface="Calibri"/>
                <a:ea typeface="Calibri"/>
                <a:cs typeface="Calibri"/>
                <a:sym typeface="Calibri"/>
              </a:rPr>
              <a:t>MOGLS</a:t>
            </a:r>
            <a:r>
              <a:rPr lang="ja-JP" altLang="en-US" sz="1600" dirty="0">
                <a:latin typeface="Calibri"/>
                <a:ea typeface="Calibri"/>
                <a:cs typeface="Calibri"/>
                <a:sym typeface="Calibri"/>
              </a:rPr>
              <a:t>によって効率性関数と安定性関数の</a:t>
            </a:r>
            <a:r>
              <a:rPr lang="ja-JP" altLang="en-US" sz="1600" b="1" dirty="0">
                <a:solidFill>
                  <a:schemeClr val="accent1">
                    <a:lumMod val="50000"/>
                  </a:schemeClr>
                </a:solidFill>
                <a:latin typeface="Calibri"/>
                <a:ea typeface="Calibri"/>
                <a:cs typeface="Calibri"/>
                <a:sym typeface="Calibri"/>
              </a:rPr>
              <a:t>パレート解</a:t>
            </a:r>
            <a:r>
              <a:rPr lang="ja-JP" altLang="en-US" sz="1600" dirty="0">
                <a:latin typeface="Calibri"/>
                <a:ea typeface="Calibri"/>
                <a:cs typeface="Calibri"/>
                <a:sym typeface="Calibri"/>
              </a:rPr>
              <a:t>を求解する</a:t>
            </a:r>
            <a:endParaRPr lang="en-US" altLang="ja-JP" sz="1600" dirty="0">
              <a:latin typeface="Calibri"/>
              <a:ea typeface="Calibri"/>
              <a:cs typeface="Calibri"/>
              <a:sym typeface="Calibri"/>
            </a:endParaRPr>
          </a:p>
          <a:p>
            <a:pPr marL="0" lvl="0" indent="0" algn="l" rtl="0">
              <a:spcBef>
                <a:spcPts val="0"/>
              </a:spcBef>
              <a:spcAft>
                <a:spcPts val="0"/>
              </a:spcAft>
              <a:buNone/>
            </a:pPr>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本研究に</a:t>
            </a:r>
            <a:r>
              <a:rPr lang="ja-JP" altLang="en-US" sz="1600" b="1" dirty="0">
                <a:solidFill>
                  <a:schemeClr val="accent1">
                    <a:lumMod val="50000"/>
                  </a:schemeClr>
                </a:solidFill>
                <a:latin typeface="Calibri"/>
                <a:ea typeface="Calibri"/>
                <a:cs typeface="Calibri"/>
                <a:sym typeface="Calibri"/>
              </a:rPr>
              <a:t>最適化した遺伝的操作と局所探索手法</a:t>
            </a:r>
            <a:r>
              <a:rPr lang="ja-JP" altLang="en-US" sz="1600" dirty="0">
                <a:latin typeface="Calibri"/>
                <a:ea typeface="Calibri"/>
                <a:cs typeface="Calibri"/>
                <a:sym typeface="Calibri"/>
              </a:rPr>
              <a:t>を開発する</a:t>
            </a:r>
            <a:endParaRPr lang="en-US" altLang="ja-JP" sz="1600"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AFC4105C-57B6-1050-BBC1-2306D7C66C1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cxnSp>
        <p:nvCxnSpPr>
          <p:cNvPr id="3" name="Google Shape;65;p14">
            <a:extLst>
              <a:ext uri="{FF2B5EF4-FFF2-40B4-BE49-F238E27FC236}">
                <a16:creationId xmlns:a16="http://schemas.microsoft.com/office/drawing/2014/main" id="{565687A6-434B-EB40-AA81-0F908A188AF5}"/>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6A179FCD-D8E5-AE94-E9CB-D3F1E049B200}"/>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3.</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提案手法：</a:t>
            </a:r>
            <a:r>
              <a:rPr lang="ja-JP" altLang="en-US" sz="1800" dirty="0">
                <a:solidFill>
                  <a:schemeClr val="tx1"/>
                </a:solidFill>
                <a:latin typeface="Calibri"/>
                <a:ea typeface="Calibri"/>
                <a:cs typeface="Calibri"/>
                <a:sym typeface="Calibri"/>
              </a:rPr>
              <a:t>概要</a:t>
            </a:r>
            <a:endParaRPr sz="1800" b="1"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1214792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9F08BD17-41F4-9D68-888C-48B99E175D93}"/>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1F902136-3D0C-C97F-EACE-F02B30FBB3C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cxnSp>
        <p:nvCxnSpPr>
          <p:cNvPr id="3" name="Google Shape;65;p14">
            <a:extLst>
              <a:ext uri="{FF2B5EF4-FFF2-40B4-BE49-F238E27FC236}">
                <a16:creationId xmlns:a16="http://schemas.microsoft.com/office/drawing/2014/main" id="{A62C0F35-F5D5-AD08-2296-008DDA56A9BB}"/>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C0B30B10-A798-DC01-7547-8390218B82FB}"/>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3.</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提案手法：</a:t>
            </a:r>
            <a:r>
              <a:rPr lang="en-US" altLang="ja-JP" sz="1800" dirty="0">
                <a:solidFill>
                  <a:schemeClr val="tx1"/>
                </a:solidFill>
                <a:latin typeface="Calibri"/>
                <a:ea typeface="Calibri"/>
                <a:cs typeface="Calibri"/>
                <a:sym typeface="Calibri"/>
              </a:rPr>
              <a:t>MOGLS</a:t>
            </a:r>
            <a:r>
              <a:rPr lang="ja-JP" altLang="en-US" sz="1800" dirty="0">
                <a:solidFill>
                  <a:schemeClr val="tx1"/>
                </a:solidFill>
                <a:latin typeface="Calibri"/>
                <a:ea typeface="Calibri"/>
                <a:cs typeface="Calibri"/>
                <a:sym typeface="Calibri"/>
              </a:rPr>
              <a:t>アルゴリズム</a:t>
            </a:r>
            <a:endParaRPr sz="1800" b="1" dirty="0">
              <a:solidFill>
                <a:schemeClr val="tx1"/>
              </a:solidFill>
              <a:latin typeface="Calibri"/>
              <a:ea typeface="Calibri"/>
              <a:cs typeface="Calibri"/>
              <a:sym typeface="Calibri"/>
            </a:endParaRPr>
          </a:p>
        </p:txBody>
      </p:sp>
      <p:pic>
        <p:nvPicPr>
          <p:cNvPr id="7" name="図 6">
            <a:extLst>
              <a:ext uri="{FF2B5EF4-FFF2-40B4-BE49-F238E27FC236}">
                <a16:creationId xmlns:a16="http://schemas.microsoft.com/office/drawing/2014/main" id="{227ADD46-FB07-9CFB-FAF5-1EA96A3CC864}"/>
              </a:ext>
            </a:extLst>
          </p:cNvPr>
          <p:cNvPicPr>
            <a:picLocks noChangeAspect="1"/>
          </p:cNvPicPr>
          <p:nvPr/>
        </p:nvPicPr>
        <p:blipFill>
          <a:blip r:embed="rId3"/>
          <a:stretch>
            <a:fillRect/>
          </a:stretch>
        </p:blipFill>
        <p:spPr>
          <a:xfrm>
            <a:off x="234789" y="720346"/>
            <a:ext cx="2189354" cy="4336471"/>
          </a:xfrm>
          <a:prstGeom prst="rect">
            <a:avLst/>
          </a:prstGeom>
        </p:spPr>
      </p:pic>
      <p:pic>
        <p:nvPicPr>
          <p:cNvPr id="13" name="図 12">
            <a:extLst>
              <a:ext uri="{FF2B5EF4-FFF2-40B4-BE49-F238E27FC236}">
                <a16:creationId xmlns:a16="http://schemas.microsoft.com/office/drawing/2014/main" id="{2288675E-119B-A1D0-FBCD-ADFB235BB60C}"/>
              </a:ext>
            </a:extLst>
          </p:cNvPr>
          <p:cNvPicPr>
            <a:picLocks noChangeAspect="1"/>
          </p:cNvPicPr>
          <p:nvPr/>
        </p:nvPicPr>
        <p:blipFill>
          <a:blip r:embed="rId4"/>
          <a:stretch>
            <a:fillRect/>
          </a:stretch>
        </p:blipFill>
        <p:spPr>
          <a:xfrm>
            <a:off x="3269931" y="720346"/>
            <a:ext cx="2066423" cy="4336471"/>
          </a:xfrm>
          <a:prstGeom prst="rect">
            <a:avLst/>
          </a:prstGeom>
        </p:spPr>
      </p:pic>
      <p:pic>
        <p:nvPicPr>
          <p:cNvPr id="17" name="図 16">
            <a:extLst>
              <a:ext uri="{FF2B5EF4-FFF2-40B4-BE49-F238E27FC236}">
                <a16:creationId xmlns:a16="http://schemas.microsoft.com/office/drawing/2014/main" id="{EE52BD86-BE85-7E2B-7A5A-6DF3C068B4C2}"/>
              </a:ext>
            </a:extLst>
          </p:cNvPr>
          <p:cNvPicPr>
            <a:picLocks noChangeAspect="1"/>
          </p:cNvPicPr>
          <p:nvPr/>
        </p:nvPicPr>
        <p:blipFill>
          <a:blip r:embed="rId5"/>
          <a:stretch>
            <a:fillRect/>
          </a:stretch>
        </p:blipFill>
        <p:spPr>
          <a:xfrm>
            <a:off x="6393156" y="591465"/>
            <a:ext cx="1886871" cy="4493194"/>
          </a:xfrm>
          <a:prstGeom prst="rect">
            <a:avLst/>
          </a:prstGeom>
        </p:spPr>
      </p:pic>
    </p:spTree>
    <p:extLst>
      <p:ext uri="{BB962C8B-B14F-4D97-AF65-F5344CB8AC3E}">
        <p14:creationId xmlns:p14="http://schemas.microsoft.com/office/powerpoint/2010/main" val="301806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23E0EC2B-06A4-E9EB-BB0F-A74D4122E927}"/>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995CE20E-9FBC-F27C-D8D9-3899F92574D0}"/>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cxnSp>
        <p:nvCxnSpPr>
          <p:cNvPr id="3" name="Google Shape;65;p14">
            <a:extLst>
              <a:ext uri="{FF2B5EF4-FFF2-40B4-BE49-F238E27FC236}">
                <a16:creationId xmlns:a16="http://schemas.microsoft.com/office/drawing/2014/main" id="{94147551-433E-7F6F-90D1-113B2D630A94}"/>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2E1B9E96-E84F-270E-BB41-D04B2CEF6E81}"/>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3.</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提案手法：</a:t>
            </a:r>
            <a:r>
              <a:rPr lang="ja-JP" altLang="en-US" sz="1800" dirty="0">
                <a:solidFill>
                  <a:schemeClr val="tx1"/>
                </a:solidFill>
                <a:latin typeface="Calibri"/>
                <a:ea typeface="Calibri"/>
                <a:cs typeface="Calibri"/>
                <a:sym typeface="Calibri"/>
              </a:rPr>
              <a:t>目的関数</a:t>
            </a:r>
            <a:endParaRPr sz="1800" b="1" dirty="0">
              <a:solidFill>
                <a:schemeClr val="tx1"/>
              </a:solidFill>
              <a:latin typeface="Calibri"/>
              <a:ea typeface="Calibri"/>
              <a:cs typeface="Calibri"/>
              <a:sym typeface="Calibri"/>
            </a:endParaRPr>
          </a:p>
        </p:txBody>
      </p:sp>
      <p:sp>
        <p:nvSpPr>
          <p:cNvPr id="2" name="Google Shape;90;p15">
            <a:extLst>
              <a:ext uri="{FF2B5EF4-FFF2-40B4-BE49-F238E27FC236}">
                <a16:creationId xmlns:a16="http://schemas.microsoft.com/office/drawing/2014/main" id="{0ED05860-B75A-CC57-7061-9BCC83914167}"/>
              </a:ext>
            </a:extLst>
          </p:cNvPr>
          <p:cNvSpPr txBox="1"/>
          <p:nvPr/>
        </p:nvSpPr>
        <p:spPr>
          <a:xfrm>
            <a:off x="577500" y="849954"/>
            <a:ext cx="7989000" cy="2154406"/>
          </a:xfrm>
          <a:prstGeom prst="rect">
            <a:avLst/>
          </a:prstGeom>
          <a:noFill/>
          <a:ln>
            <a:noFill/>
          </a:ln>
        </p:spPr>
        <p:txBody>
          <a:bodyPr spcFirstLastPara="1" wrap="square" lIns="91425" tIns="91425" rIns="91425" bIns="91425" anchor="t" anchorCtr="0">
            <a:spAutoFit/>
          </a:bodyPr>
          <a:lstStyle/>
          <a:p>
            <a:endParaRPr lang="en-US" altLang="ja-JP" sz="1600" dirty="0">
              <a:latin typeface="Calibri"/>
              <a:ea typeface="Calibri"/>
              <a:cs typeface="Calibri"/>
              <a:sym typeface="Calibri"/>
            </a:endParaRPr>
          </a:p>
          <a:p>
            <a:endParaRPr lang="en-US" altLang="ja-JP" sz="1600" dirty="0">
              <a:solidFill>
                <a:schemeClr val="accent1">
                  <a:lumMod val="50000"/>
                </a:schemeClr>
              </a:solidFill>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重みベクトルごとに安定性関数と総所要時間の重みパラメータ法を行う</a:t>
            </a:r>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endParaRPr lang="en-US" altLang="ja-JP" sz="1600" dirty="0">
              <a:latin typeface="Calibri"/>
              <a:ea typeface="Calibri"/>
              <a:cs typeface="Calibri"/>
              <a:sym typeface="Calibri"/>
            </a:endParaRPr>
          </a:p>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重みスケールを合わせるために</a:t>
            </a:r>
            <a:r>
              <a:rPr lang="en-US" altLang="ja-JP" sz="1600" dirty="0">
                <a:latin typeface="Calibri"/>
                <a:ea typeface="Calibri"/>
                <a:cs typeface="Calibri"/>
                <a:sym typeface="Calibri"/>
              </a:rPr>
              <a:t>min-max</a:t>
            </a:r>
            <a:r>
              <a:rPr lang="ja-JP" altLang="en-US" sz="1600" dirty="0">
                <a:latin typeface="Calibri"/>
                <a:ea typeface="Calibri"/>
                <a:cs typeface="Calibri"/>
                <a:sym typeface="Calibri"/>
              </a:rPr>
              <a:t>正規化を行う</a:t>
            </a:r>
            <a:endParaRPr lang="en-US" altLang="ja-JP" sz="1600" dirty="0">
              <a:latin typeface="Calibri"/>
              <a:ea typeface="Calibri"/>
              <a:cs typeface="Calibri"/>
              <a:sym typeface="Calibri"/>
            </a:endParaRPr>
          </a:p>
        </p:txBody>
      </p:sp>
      <p:pic>
        <p:nvPicPr>
          <p:cNvPr id="8" name="図 7">
            <a:extLst>
              <a:ext uri="{FF2B5EF4-FFF2-40B4-BE49-F238E27FC236}">
                <a16:creationId xmlns:a16="http://schemas.microsoft.com/office/drawing/2014/main" id="{F7BFF3D0-1421-1857-5B55-C026DB83076E}"/>
              </a:ext>
            </a:extLst>
          </p:cNvPr>
          <p:cNvPicPr>
            <a:picLocks noChangeAspect="1"/>
          </p:cNvPicPr>
          <p:nvPr/>
        </p:nvPicPr>
        <p:blipFill>
          <a:blip r:embed="rId3"/>
          <a:stretch>
            <a:fillRect/>
          </a:stretch>
        </p:blipFill>
        <p:spPr>
          <a:xfrm>
            <a:off x="1095831" y="1751266"/>
            <a:ext cx="3674755" cy="834759"/>
          </a:xfrm>
          <a:prstGeom prst="rect">
            <a:avLst/>
          </a:prstGeom>
        </p:spPr>
      </p:pic>
      <p:pic>
        <p:nvPicPr>
          <p:cNvPr id="10" name="図 9">
            <a:extLst>
              <a:ext uri="{FF2B5EF4-FFF2-40B4-BE49-F238E27FC236}">
                <a16:creationId xmlns:a16="http://schemas.microsoft.com/office/drawing/2014/main" id="{28ABAD73-7935-B727-FBC2-A69E83CC3D60}"/>
              </a:ext>
            </a:extLst>
          </p:cNvPr>
          <p:cNvPicPr>
            <a:picLocks noChangeAspect="1"/>
          </p:cNvPicPr>
          <p:nvPr/>
        </p:nvPicPr>
        <p:blipFill>
          <a:blip r:embed="rId4"/>
          <a:stretch>
            <a:fillRect/>
          </a:stretch>
        </p:blipFill>
        <p:spPr>
          <a:xfrm>
            <a:off x="5241417" y="1986887"/>
            <a:ext cx="1812527" cy="387984"/>
          </a:xfrm>
          <a:prstGeom prst="rect">
            <a:avLst/>
          </a:prstGeom>
        </p:spPr>
      </p:pic>
      <p:pic>
        <p:nvPicPr>
          <p:cNvPr id="12" name="図 11">
            <a:extLst>
              <a:ext uri="{FF2B5EF4-FFF2-40B4-BE49-F238E27FC236}">
                <a16:creationId xmlns:a16="http://schemas.microsoft.com/office/drawing/2014/main" id="{8F788B35-E827-4F4A-B311-EBCA88A018D3}"/>
              </a:ext>
            </a:extLst>
          </p:cNvPr>
          <p:cNvPicPr>
            <a:picLocks noChangeAspect="1"/>
          </p:cNvPicPr>
          <p:nvPr/>
        </p:nvPicPr>
        <p:blipFill>
          <a:blip r:embed="rId5"/>
          <a:stretch>
            <a:fillRect/>
          </a:stretch>
        </p:blipFill>
        <p:spPr>
          <a:xfrm>
            <a:off x="1022147" y="3274635"/>
            <a:ext cx="2509870" cy="1050644"/>
          </a:xfrm>
          <a:prstGeom prst="rect">
            <a:avLst/>
          </a:prstGeom>
        </p:spPr>
      </p:pic>
      <p:pic>
        <p:nvPicPr>
          <p:cNvPr id="14" name="図 13">
            <a:extLst>
              <a:ext uri="{FF2B5EF4-FFF2-40B4-BE49-F238E27FC236}">
                <a16:creationId xmlns:a16="http://schemas.microsoft.com/office/drawing/2014/main" id="{05F082D4-D5D6-A712-E569-930E1406E7BA}"/>
              </a:ext>
            </a:extLst>
          </p:cNvPr>
          <p:cNvPicPr>
            <a:picLocks noChangeAspect="1"/>
          </p:cNvPicPr>
          <p:nvPr/>
        </p:nvPicPr>
        <p:blipFill>
          <a:blip r:embed="rId6"/>
          <a:stretch>
            <a:fillRect/>
          </a:stretch>
        </p:blipFill>
        <p:spPr>
          <a:xfrm>
            <a:off x="5171820" y="3203993"/>
            <a:ext cx="2756634" cy="1298580"/>
          </a:xfrm>
          <a:prstGeom prst="rect">
            <a:avLst/>
          </a:prstGeom>
        </p:spPr>
      </p:pic>
    </p:spTree>
    <p:extLst>
      <p:ext uri="{BB962C8B-B14F-4D97-AF65-F5344CB8AC3E}">
        <p14:creationId xmlns:p14="http://schemas.microsoft.com/office/powerpoint/2010/main" val="890942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9928649B-D7DC-3381-EFF8-E949377DB7CA}"/>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4CFF7C89-24C7-4B4C-41EF-F01E83E9457F}"/>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3C2674D7-1B1F-6C2A-AC83-CD056F7AD8BE}"/>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7E8E7BD8-655D-7332-139E-456387B430D8}"/>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提案手法</a:t>
            </a:r>
            <a:endParaRPr sz="2000" b="1" dirty="0">
              <a:solidFill>
                <a:schemeClr val="bg1">
                  <a:lumMod val="75000"/>
                </a:schemeClr>
              </a:solidFill>
            </a:endParaRPr>
          </a:p>
        </p:txBody>
      </p:sp>
      <p:sp>
        <p:nvSpPr>
          <p:cNvPr id="68" name="Google Shape;68;p14">
            <a:extLst>
              <a:ext uri="{FF2B5EF4-FFF2-40B4-BE49-F238E27FC236}">
                <a16:creationId xmlns:a16="http://schemas.microsoft.com/office/drawing/2014/main" id="{E35DB658-BCC3-DE4A-8F05-5B949DC05CB7}"/>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3</a:t>
            </a:r>
            <a:r>
              <a:rPr lang="en-US" altLang="ja" sz="2500" b="1" dirty="0">
                <a:solidFill>
                  <a:schemeClr val="bg1">
                    <a:lumMod val="75000"/>
                  </a:schemeClr>
                </a:solidFill>
              </a:rPr>
              <a:t>.</a:t>
            </a:r>
            <a:endParaRPr sz="2500" b="1" dirty="0">
              <a:solidFill>
                <a:schemeClr val="bg1">
                  <a:lumMod val="75000"/>
                </a:schemeClr>
              </a:solidFill>
            </a:endParaRPr>
          </a:p>
        </p:txBody>
      </p:sp>
      <p:sp>
        <p:nvSpPr>
          <p:cNvPr id="73" name="Google Shape;73;p14">
            <a:extLst>
              <a:ext uri="{FF2B5EF4-FFF2-40B4-BE49-F238E27FC236}">
                <a16:creationId xmlns:a16="http://schemas.microsoft.com/office/drawing/2014/main" id="{490C6DAD-B79C-9C34-4458-A5CFDE135571}"/>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既存研究</a:t>
            </a:r>
            <a:endParaRPr sz="2000" b="1" dirty="0">
              <a:solidFill>
                <a:schemeClr val="bg1">
                  <a:lumMod val="75000"/>
                </a:schemeClr>
              </a:solidFill>
            </a:endParaRPr>
          </a:p>
        </p:txBody>
      </p:sp>
      <p:sp>
        <p:nvSpPr>
          <p:cNvPr id="74" name="Google Shape;74;p14">
            <a:extLst>
              <a:ext uri="{FF2B5EF4-FFF2-40B4-BE49-F238E27FC236}">
                <a16:creationId xmlns:a16="http://schemas.microsoft.com/office/drawing/2014/main" id="{4E15B6DA-00A1-9B4E-CD66-872E5BCFB5EB}"/>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2</a:t>
            </a:r>
            <a:r>
              <a:rPr lang="en-US" altLang="ja" sz="2500" b="1" dirty="0">
                <a:solidFill>
                  <a:schemeClr val="bg1">
                    <a:lumMod val="75000"/>
                  </a:schemeClr>
                </a:solidFill>
              </a:rPr>
              <a:t>.</a:t>
            </a:r>
            <a:endParaRPr sz="2500" b="1" dirty="0">
              <a:solidFill>
                <a:schemeClr val="bg1">
                  <a:lumMod val="75000"/>
                </a:schemeClr>
              </a:solidFill>
            </a:endParaRPr>
          </a:p>
        </p:txBody>
      </p:sp>
      <p:sp>
        <p:nvSpPr>
          <p:cNvPr id="69" name="Google Shape;69;p14">
            <a:extLst>
              <a:ext uri="{FF2B5EF4-FFF2-40B4-BE49-F238E27FC236}">
                <a16:creationId xmlns:a16="http://schemas.microsoft.com/office/drawing/2014/main" id="{8BB43772-37A6-FC31-AEE7-A1266AD18CC7}"/>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計算機実験</a:t>
            </a:r>
            <a:endParaRPr sz="2000" b="1" dirty="0">
              <a:solidFill>
                <a:schemeClr val="dk1"/>
              </a:solidFill>
            </a:endParaRPr>
          </a:p>
        </p:txBody>
      </p:sp>
      <p:sp>
        <p:nvSpPr>
          <p:cNvPr id="70" name="Google Shape;70;p14">
            <a:extLst>
              <a:ext uri="{FF2B5EF4-FFF2-40B4-BE49-F238E27FC236}">
                <a16:creationId xmlns:a16="http://schemas.microsoft.com/office/drawing/2014/main" id="{D07DFC44-C702-8FD4-7B2B-5B3A78F2E376}"/>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4</a:t>
            </a:r>
            <a:r>
              <a:rPr lang="en-US" altLang="ja" sz="2500" b="1" dirty="0">
                <a:solidFill>
                  <a:schemeClr val="accent1">
                    <a:lumMod val="50000"/>
                  </a:schemeClr>
                </a:solidFill>
              </a:rPr>
              <a:t>.</a:t>
            </a:r>
            <a:endParaRPr sz="2500" b="1" dirty="0">
              <a:solidFill>
                <a:schemeClr val="accent1">
                  <a:lumMod val="50000"/>
                </a:schemeClr>
              </a:solidFill>
            </a:endParaRPr>
          </a:p>
        </p:txBody>
      </p:sp>
      <p:cxnSp>
        <p:nvCxnSpPr>
          <p:cNvPr id="75" name="Google Shape;75;p14">
            <a:extLst>
              <a:ext uri="{FF2B5EF4-FFF2-40B4-BE49-F238E27FC236}">
                <a16:creationId xmlns:a16="http://schemas.microsoft.com/office/drawing/2014/main" id="{627673B1-6BE3-C919-3B47-0D7D53D1AD97}"/>
              </a:ext>
            </a:extLst>
          </p:cNvPr>
          <p:cNvCxnSpPr/>
          <p:nvPr/>
        </p:nvCxnSpPr>
        <p:spPr>
          <a:xfrm>
            <a:off x="1038900" y="3746491"/>
            <a:ext cx="3463800" cy="0"/>
          </a:xfrm>
          <a:prstGeom prst="straightConnector1">
            <a:avLst/>
          </a:prstGeom>
          <a:noFill/>
          <a:ln w="19050" cap="flat" cmpd="sng">
            <a:solidFill>
              <a:schemeClr val="accent1">
                <a:lumMod val="50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41992C86-8250-1402-2A5A-1D9C3FD45B93}"/>
              </a:ext>
            </a:extLst>
          </p:cNvPr>
          <p:cNvCxnSpPr/>
          <p:nvPr/>
        </p:nvCxnSpPr>
        <p:spPr>
          <a:xfrm>
            <a:off x="1038900" y="2265916"/>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562F6D8E-CF54-EED6-210E-2B711934B6F8}"/>
              </a:ext>
            </a:extLst>
          </p:cNvPr>
          <p:cNvCxnSpPr/>
          <p:nvPr/>
        </p:nvCxnSpPr>
        <p:spPr>
          <a:xfrm>
            <a:off x="1038900" y="3021128"/>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40E769AE-41CB-B65F-01B9-7CFCD6D1B368}"/>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bg1">
                    <a:lumMod val="75000"/>
                  </a:schemeClr>
                </a:solidFill>
              </a:rPr>
              <a:t>研究背景</a:t>
            </a:r>
            <a:r>
              <a:rPr lang="ja-JP" altLang="en-US" sz="2000" b="1" dirty="0">
                <a:solidFill>
                  <a:schemeClr val="bg1">
                    <a:lumMod val="75000"/>
                  </a:schemeClr>
                </a:solidFill>
              </a:rPr>
              <a:t>・目的</a:t>
            </a:r>
            <a:endParaRPr sz="2000" b="1" dirty="0">
              <a:solidFill>
                <a:schemeClr val="bg1">
                  <a:lumMod val="75000"/>
                </a:schemeClr>
              </a:solidFill>
            </a:endParaRPr>
          </a:p>
        </p:txBody>
      </p:sp>
      <p:sp>
        <p:nvSpPr>
          <p:cNvPr id="80" name="Google Shape;80;p14">
            <a:extLst>
              <a:ext uri="{FF2B5EF4-FFF2-40B4-BE49-F238E27FC236}">
                <a16:creationId xmlns:a16="http://schemas.microsoft.com/office/drawing/2014/main" id="{8AE719C8-72D8-647F-4E0F-A7A2F79F4CA2}"/>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1</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81" name="Google Shape;81;p14">
            <a:extLst>
              <a:ext uri="{FF2B5EF4-FFF2-40B4-BE49-F238E27FC236}">
                <a16:creationId xmlns:a16="http://schemas.microsoft.com/office/drawing/2014/main" id="{364EA8FF-7C54-5906-3EC7-A16721812D10}"/>
              </a:ext>
            </a:extLst>
          </p:cNvPr>
          <p:cNvCxnSpPr/>
          <p:nvPr/>
        </p:nvCxnSpPr>
        <p:spPr>
          <a:xfrm>
            <a:off x="1038888" y="1545503"/>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2" name="Google Shape;69;p14">
            <a:extLst>
              <a:ext uri="{FF2B5EF4-FFF2-40B4-BE49-F238E27FC236}">
                <a16:creationId xmlns:a16="http://schemas.microsoft.com/office/drawing/2014/main" id="{329949DF-72A1-5DCB-BFB0-72FC08DAFADB}"/>
              </a:ext>
            </a:extLst>
          </p:cNvPr>
          <p:cNvSpPr txBox="1"/>
          <p:nvPr/>
        </p:nvSpPr>
        <p:spPr>
          <a:xfrm>
            <a:off x="1387975" y="4090986"/>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結論</a:t>
            </a:r>
            <a:endParaRPr sz="2000" b="1" dirty="0">
              <a:solidFill>
                <a:schemeClr val="bg1">
                  <a:lumMod val="75000"/>
                </a:schemeClr>
              </a:solidFill>
            </a:endParaRPr>
          </a:p>
        </p:txBody>
      </p:sp>
      <p:sp>
        <p:nvSpPr>
          <p:cNvPr id="3" name="Google Shape;70;p14">
            <a:extLst>
              <a:ext uri="{FF2B5EF4-FFF2-40B4-BE49-F238E27FC236}">
                <a16:creationId xmlns:a16="http://schemas.microsoft.com/office/drawing/2014/main" id="{B1E56B8D-E5DC-AC0A-134D-CB3EDEAE5E40}"/>
              </a:ext>
            </a:extLst>
          </p:cNvPr>
          <p:cNvSpPr txBox="1"/>
          <p:nvPr/>
        </p:nvSpPr>
        <p:spPr>
          <a:xfrm>
            <a:off x="710375" y="4027386"/>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2500" b="1" dirty="0">
                <a:solidFill>
                  <a:schemeClr val="bg1">
                    <a:lumMod val="75000"/>
                  </a:schemeClr>
                </a:solidFill>
              </a:rPr>
              <a:t>5.</a:t>
            </a:r>
            <a:endParaRPr sz="2500" b="1" dirty="0">
              <a:solidFill>
                <a:schemeClr val="bg1">
                  <a:lumMod val="75000"/>
                </a:schemeClr>
              </a:solidFill>
            </a:endParaRPr>
          </a:p>
        </p:txBody>
      </p:sp>
      <p:cxnSp>
        <p:nvCxnSpPr>
          <p:cNvPr id="4" name="Google Shape;75;p14">
            <a:extLst>
              <a:ext uri="{FF2B5EF4-FFF2-40B4-BE49-F238E27FC236}">
                <a16:creationId xmlns:a16="http://schemas.microsoft.com/office/drawing/2014/main" id="{3EEEF292-C67C-8D08-A93A-05D8D7C2A4CB}"/>
              </a:ext>
            </a:extLst>
          </p:cNvPr>
          <p:cNvCxnSpPr/>
          <p:nvPr/>
        </p:nvCxnSpPr>
        <p:spPr>
          <a:xfrm>
            <a:off x="1054950" y="4495086"/>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spTree>
    <p:extLst>
      <p:ext uri="{BB962C8B-B14F-4D97-AF65-F5344CB8AC3E}">
        <p14:creationId xmlns:p14="http://schemas.microsoft.com/office/powerpoint/2010/main" val="167058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31305388-DFBC-45D7-F20B-DA1AE99F7106}"/>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60A42A68-278D-A6B7-15F0-3B3625DD048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cxnSp>
        <p:nvCxnSpPr>
          <p:cNvPr id="3" name="Google Shape;65;p14">
            <a:extLst>
              <a:ext uri="{FF2B5EF4-FFF2-40B4-BE49-F238E27FC236}">
                <a16:creationId xmlns:a16="http://schemas.microsoft.com/office/drawing/2014/main" id="{15A93097-D22D-EC42-7D0F-7467415192C2}"/>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43180DCC-A5C1-6C83-DB57-4069A7143A44}"/>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4.</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計算機実験：</a:t>
            </a:r>
            <a:r>
              <a:rPr lang="ja-JP" altLang="en-US" sz="1800" dirty="0">
                <a:solidFill>
                  <a:schemeClr val="tx1"/>
                </a:solidFill>
                <a:latin typeface="Calibri"/>
                <a:ea typeface="Calibri"/>
                <a:cs typeface="Calibri"/>
                <a:sym typeface="Calibri"/>
              </a:rPr>
              <a:t>実験１</a:t>
            </a:r>
            <a:endParaRPr sz="1800" b="1" dirty="0">
              <a:solidFill>
                <a:schemeClr val="tx1"/>
              </a:solidFill>
              <a:latin typeface="Calibri"/>
              <a:ea typeface="Calibri"/>
              <a:cs typeface="Calibri"/>
              <a:sym typeface="Calibri"/>
            </a:endParaRPr>
          </a:p>
        </p:txBody>
      </p:sp>
      <p:pic>
        <p:nvPicPr>
          <p:cNvPr id="7" name="図 6">
            <a:extLst>
              <a:ext uri="{FF2B5EF4-FFF2-40B4-BE49-F238E27FC236}">
                <a16:creationId xmlns:a16="http://schemas.microsoft.com/office/drawing/2014/main" id="{1D3FFCD7-9374-E78B-0219-C98FA800F4FC}"/>
              </a:ext>
            </a:extLst>
          </p:cNvPr>
          <p:cNvPicPr>
            <a:picLocks noChangeAspect="1"/>
          </p:cNvPicPr>
          <p:nvPr/>
        </p:nvPicPr>
        <p:blipFill>
          <a:blip r:embed="rId3"/>
          <a:srcRect t="5159"/>
          <a:stretch>
            <a:fillRect/>
          </a:stretch>
        </p:blipFill>
        <p:spPr>
          <a:xfrm>
            <a:off x="122842" y="711918"/>
            <a:ext cx="3702654" cy="3760741"/>
          </a:xfrm>
          <a:prstGeom prst="rect">
            <a:avLst/>
          </a:prstGeom>
        </p:spPr>
      </p:pic>
      <p:pic>
        <p:nvPicPr>
          <p:cNvPr id="10" name="図 9">
            <a:extLst>
              <a:ext uri="{FF2B5EF4-FFF2-40B4-BE49-F238E27FC236}">
                <a16:creationId xmlns:a16="http://schemas.microsoft.com/office/drawing/2014/main" id="{2FA015BF-E687-088F-5073-07B32E4EAFC9}"/>
              </a:ext>
            </a:extLst>
          </p:cNvPr>
          <p:cNvPicPr>
            <a:picLocks noChangeAspect="1"/>
          </p:cNvPicPr>
          <p:nvPr/>
        </p:nvPicPr>
        <p:blipFill>
          <a:blip r:embed="rId4"/>
          <a:stretch>
            <a:fillRect/>
          </a:stretch>
        </p:blipFill>
        <p:spPr>
          <a:xfrm>
            <a:off x="3953727" y="1277435"/>
            <a:ext cx="4983273" cy="2468007"/>
          </a:xfrm>
          <a:prstGeom prst="rect">
            <a:avLst/>
          </a:prstGeom>
        </p:spPr>
      </p:pic>
      <p:sp>
        <p:nvSpPr>
          <p:cNvPr id="2" name="Google Shape;90;p15">
            <a:extLst>
              <a:ext uri="{FF2B5EF4-FFF2-40B4-BE49-F238E27FC236}">
                <a16:creationId xmlns:a16="http://schemas.microsoft.com/office/drawing/2014/main" id="{E9B52979-1AC7-7C94-BCD1-1EA1CB80C75E}"/>
              </a:ext>
            </a:extLst>
          </p:cNvPr>
          <p:cNvSpPr txBox="1"/>
          <p:nvPr/>
        </p:nvSpPr>
        <p:spPr>
          <a:xfrm>
            <a:off x="577500" y="4522991"/>
            <a:ext cx="7989000" cy="430857"/>
          </a:xfrm>
          <a:prstGeom prst="rect">
            <a:avLst/>
          </a:prstGeom>
          <a:noFill/>
          <a:ln>
            <a:noFill/>
          </a:ln>
        </p:spPr>
        <p:txBody>
          <a:bodyPr spcFirstLastPara="1" wrap="square" lIns="91425" tIns="91425" rIns="91425" bIns="91425" anchor="t" anchorCtr="0">
            <a:spAutoFit/>
          </a:bodyPr>
          <a:lstStyle/>
          <a:p>
            <a:r>
              <a:rPr lang="ja-JP" altLang="en-US" sz="1600" dirty="0">
                <a:solidFill>
                  <a:schemeClr val="accent1">
                    <a:lumMod val="50000"/>
                  </a:schemeClr>
                </a:solidFill>
                <a:latin typeface="Calibri"/>
                <a:ea typeface="Calibri"/>
                <a:cs typeface="Calibri"/>
                <a:sym typeface="Calibri"/>
              </a:rPr>
              <a:t>◆</a:t>
            </a:r>
            <a:r>
              <a:rPr lang="ja-JP" altLang="en-US" sz="1600" dirty="0">
                <a:solidFill>
                  <a:schemeClr val="accent5"/>
                </a:solidFill>
                <a:latin typeface="Calibri"/>
                <a:ea typeface="Calibri"/>
                <a:cs typeface="Calibri"/>
                <a:sym typeface="Calibri"/>
              </a:rPr>
              <a:t> </a:t>
            </a:r>
            <a:r>
              <a:rPr lang="en-US" altLang="ja-JP" sz="1600" b="1" dirty="0">
                <a:solidFill>
                  <a:schemeClr val="accent5"/>
                </a:solidFill>
                <a:latin typeface="Calibri"/>
                <a:ea typeface="Calibri"/>
                <a:cs typeface="Calibri"/>
                <a:sym typeface="Calibri"/>
              </a:rPr>
              <a:t> </a:t>
            </a:r>
            <a:r>
              <a:rPr lang="ja-JP" altLang="en-US" sz="1600" dirty="0">
                <a:latin typeface="Calibri"/>
                <a:ea typeface="Calibri"/>
                <a:cs typeface="Calibri"/>
                <a:sym typeface="Calibri"/>
              </a:rPr>
              <a:t>現状、有効な解の探索ができていない。</a:t>
            </a:r>
            <a:endParaRPr lang="en-US" altLang="ja-JP" sz="1600" dirty="0">
              <a:latin typeface="Calibri"/>
              <a:ea typeface="Calibri"/>
              <a:cs typeface="Calibri"/>
              <a:sym typeface="Calibri"/>
            </a:endParaRPr>
          </a:p>
        </p:txBody>
      </p:sp>
    </p:spTree>
    <p:extLst>
      <p:ext uri="{BB962C8B-B14F-4D97-AF65-F5344CB8AC3E}">
        <p14:creationId xmlns:p14="http://schemas.microsoft.com/office/powerpoint/2010/main" val="1481872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09105002-7AD8-D5C6-DD40-222B8F4B8B4E}"/>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D2998E85-6A13-6A92-4277-99A2665DD24A}"/>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95FDCA36-FEAD-7B51-36FA-A1BD260241FD}"/>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AEDFC4B5-E8A6-38AF-7EA7-CCFD3D99D729}"/>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提案手法</a:t>
            </a:r>
            <a:endParaRPr sz="2000" b="1" dirty="0">
              <a:solidFill>
                <a:schemeClr val="bg1">
                  <a:lumMod val="75000"/>
                </a:schemeClr>
              </a:solidFill>
            </a:endParaRPr>
          </a:p>
        </p:txBody>
      </p:sp>
      <p:sp>
        <p:nvSpPr>
          <p:cNvPr id="68" name="Google Shape;68;p14">
            <a:extLst>
              <a:ext uri="{FF2B5EF4-FFF2-40B4-BE49-F238E27FC236}">
                <a16:creationId xmlns:a16="http://schemas.microsoft.com/office/drawing/2014/main" id="{6ACBF8E7-1FCB-8664-C743-C40FC13E70CD}"/>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3</a:t>
            </a:r>
            <a:r>
              <a:rPr lang="en-US" altLang="ja" sz="2500" b="1" dirty="0">
                <a:solidFill>
                  <a:schemeClr val="bg1">
                    <a:lumMod val="75000"/>
                  </a:schemeClr>
                </a:solidFill>
              </a:rPr>
              <a:t>.</a:t>
            </a:r>
            <a:endParaRPr sz="2500" b="1" dirty="0">
              <a:solidFill>
                <a:schemeClr val="bg1">
                  <a:lumMod val="75000"/>
                </a:schemeClr>
              </a:solidFill>
            </a:endParaRPr>
          </a:p>
        </p:txBody>
      </p:sp>
      <p:sp>
        <p:nvSpPr>
          <p:cNvPr id="73" name="Google Shape;73;p14">
            <a:extLst>
              <a:ext uri="{FF2B5EF4-FFF2-40B4-BE49-F238E27FC236}">
                <a16:creationId xmlns:a16="http://schemas.microsoft.com/office/drawing/2014/main" id="{77EEE625-64AD-F7BC-ADA3-1DF5B2D19FA1}"/>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既存研究</a:t>
            </a:r>
            <a:endParaRPr sz="2000" b="1" dirty="0">
              <a:solidFill>
                <a:schemeClr val="bg1">
                  <a:lumMod val="75000"/>
                </a:schemeClr>
              </a:solidFill>
            </a:endParaRPr>
          </a:p>
        </p:txBody>
      </p:sp>
      <p:sp>
        <p:nvSpPr>
          <p:cNvPr id="74" name="Google Shape;74;p14">
            <a:extLst>
              <a:ext uri="{FF2B5EF4-FFF2-40B4-BE49-F238E27FC236}">
                <a16:creationId xmlns:a16="http://schemas.microsoft.com/office/drawing/2014/main" id="{218C8565-CF54-1195-0563-DE36AAD0F866}"/>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2</a:t>
            </a:r>
            <a:r>
              <a:rPr lang="en-US" altLang="ja" sz="2500" b="1" dirty="0">
                <a:solidFill>
                  <a:schemeClr val="bg1">
                    <a:lumMod val="75000"/>
                  </a:schemeClr>
                </a:solidFill>
              </a:rPr>
              <a:t>.</a:t>
            </a:r>
            <a:endParaRPr sz="2500" b="1" dirty="0">
              <a:solidFill>
                <a:schemeClr val="bg1">
                  <a:lumMod val="75000"/>
                </a:schemeClr>
              </a:solidFill>
            </a:endParaRPr>
          </a:p>
        </p:txBody>
      </p:sp>
      <p:sp>
        <p:nvSpPr>
          <p:cNvPr id="69" name="Google Shape;69;p14">
            <a:extLst>
              <a:ext uri="{FF2B5EF4-FFF2-40B4-BE49-F238E27FC236}">
                <a16:creationId xmlns:a16="http://schemas.microsoft.com/office/drawing/2014/main" id="{ED579BE8-7376-2604-2C9C-4CDDF5098CC1}"/>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今後のアプローチ</a:t>
            </a:r>
            <a:endParaRPr sz="2000" b="1" dirty="0">
              <a:solidFill>
                <a:schemeClr val="dk1"/>
              </a:solidFill>
            </a:endParaRPr>
          </a:p>
        </p:txBody>
      </p:sp>
      <p:sp>
        <p:nvSpPr>
          <p:cNvPr id="70" name="Google Shape;70;p14">
            <a:extLst>
              <a:ext uri="{FF2B5EF4-FFF2-40B4-BE49-F238E27FC236}">
                <a16:creationId xmlns:a16="http://schemas.microsoft.com/office/drawing/2014/main" id="{E6BBD8A7-2B47-F4DB-C625-AA1168157F64}"/>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accent1">
                    <a:lumMod val="50000"/>
                  </a:schemeClr>
                </a:solidFill>
              </a:rPr>
              <a:t>4</a:t>
            </a:r>
            <a:r>
              <a:rPr lang="en-US" altLang="ja" sz="2500" b="1" dirty="0">
                <a:solidFill>
                  <a:schemeClr val="accent1">
                    <a:lumMod val="50000"/>
                  </a:schemeClr>
                </a:solidFill>
              </a:rPr>
              <a:t>.</a:t>
            </a:r>
            <a:endParaRPr sz="2500" b="1" dirty="0">
              <a:solidFill>
                <a:schemeClr val="accent1">
                  <a:lumMod val="50000"/>
                </a:schemeClr>
              </a:solidFill>
            </a:endParaRPr>
          </a:p>
        </p:txBody>
      </p:sp>
      <p:cxnSp>
        <p:nvCxnSpPr>
          <p:cNvPr id="75" name="Google Shape;75;p14">
            <a:extLst>
              <a:ext uri="{FF2B5EF4-FFF2-40B4-BE49-F238E27FC236}">
                <a16:creationId xmlns:a16="http://schemas.microsoft.com/office/drawing/2014/main" id="{EF46E94A-8C50-CFD3-CDBE-FCC727E35059}"/>
              </a:ext>
            </a:extLst>
          </p:cNvPr>
          <p:cNvCxnSpPr/>
          <p:nvPr/>
        </p:nvCxnSpPr>
        <p:spPr>
          <a:xfrm>
            <a:off x="1038900" y="3746491"/>
            <a:ext cx="3463800" cy="0"/>
          </a:xfrm>
          <a:prstGeom prst="straightConnector1">
            <a:avLst/>
          </a:prstGeom>
          <a:noFill/>
          <a:ln w="19050" cap="flat" cmpd="sng">
            <a:solidFill>
              <a:schemeClr val="accent1">
                <a:lumMod val="50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77B43C2C-2BB2-D27D-755A-F1BF727778A6}"/>
              </a:ext>
            </a:extLst>
          </p:cNvPr>
          <p:cNvCxnSpPr/>
          <p:nvPr/>
        </p:nvCxnSpPr>
        <p:spPr>
          <a:xfrm>
            <a:off x="1038900" y="2265916"/>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4E414CE5-0C6D-E53B-CD6F-DA7C44168F24}"/>
              </a:ext>
            </a:extLst>
          </p:cNvPr>
          <p:cNvCxnSpPr/>
          <p:nvPr/>
        </p:nvCxnSpPr>
        <p:spPr>
          <a:xfrm>
            <a:off x="1038900" y="3021128"/>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CD7364D9-F969-08E2-D379-3F7B25161C74}"/>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bg1">
                    <a:lumMod val="75000"/>
                  </a:schemeClr>
                </a:solidFill>
              </a:rPr>
              <a:t>研究背景</a:t>
            </a:r>
            <a:r>
              <a:rPr lang="ja-JP" altLang="en-US" sz="2000" b="1" dirty="0">
                <a:solidFill>
                  <a:schemeClr val="bg1">
                    <a:lumMod val="75000"/>
                  </a:schemeClr>
                </a:solidFill>
              </a:rPr>
              <a:t>・目的</a:t>
            </a:r>
            <a:endParaRPr sz="2000" b="1" dirty="0">
              <a:solidFill>
                <a:schemeClr val="bg1">
                  <a:lumMod val="75000"/>
                </a:schemeClr>
              </a:solidFill>
            </a:endParaRPr>
          </a:p>
        </p:txBody>
      </p:sp>
      <p:sp>
        <p:nvSpPr>
          <p:cNvPr id="80" name="Google Shape;80;p14">
            <a:extLst>
              <a:ext uri="{FF2B5EF4-FFF2-40B4-BE49-F238E27FC236}">
                <a16:creationId xmlns:a16="http://schemas.microsoft.com/office/drawing/2014/main" id="{C0870F4B-80AC-F7CF-0CE3-89D0CE340406}"/>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1</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81" name="Google Shape;81;p14">
            <a:extLst>
              <a:ext uri="{FF2B5EF4-FFF2-40B4-BE49-F238E27FC236}">
                <a16:creationId xmlns:a16="http://schemas.microsoft.com/office/drawing/2014/main" id="{E0212F55-2B0E-5467-D44D-10AF66A87235}"/>
              </a:ext>
            </a:extLst>
          </p:cNvPr>
          <p:cNvCxnSpPr/>
          <p:nvPr/>
        </p:nvCxnSpPr>
        <p:spPr>
          <a:xfrm>
            <a:off x="1038888" y="1545503"/>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Tree>
    <p:extLst>
      <p:ext uri="{BB962C8B-B14F-4D97-AF65-F5344CB8AC3E}">
        <p14:creationId xmlns:p14="http://schemas.microsoft.com/office/powerpoint/2010/main" val="2152827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6A7793D4-7651-738C-E848-FC1FE09B63DA}"/>
            </a:ext>
          </a:extLst>
        </p:cNvPr>
        <p:cNvGrpSpPr/>
        <p:nvPr/>
      </p:nvGrpSpPr>
      <p:grpSpPr>
        <a:xfrm>
          <a:off x="0" y="0"/>
          <a:ext cx="0" cy="0"/>
          <a:chOff x="0" y="0"/>
          <a:chExt cx="0" cy="0"/>
        </a:xfrm>
      </p:grpSpPr>
      <p:sp>
        <p:nvSpPr>
          <p:cNvPr id="91" name="Google Shape;91;p15">
            <a:extLst>
              <a:ext uri="{FF2B5EF4-FFF2-40B4-BE49-F238E27FC236}">
                <a16:creationId xmlns:a16="http://schemas.microsoft.com/office/drawing/2014/main" id="{46BE1BE4-9ECB-7F31-F1D2-40094E18617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cxnSp>
        <p:nvCxnSpPr>
          <p:cNvPr id="3" name="Google Shape;65;p14">
            <a:extLst>
              <a:ext uri="{FF2B5EF4-FFF2-40B4-BE49-F238E27FC236}">
                <a16:creationId xmlns:a16="http://schemas.microsoft.com/office/drawing/2014/main" id="{B27D6A9D-B85A-D98C-6616-7263786A4D84}"/>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4" name="Google Shape;66;p14">
            <a:extLst>
              <a:ext uri="{FF2B5EF4-FFF2-40B4-BE49-F238E27FC236}">
                <a16:creationId xmlns:a16="http://schemas.microsoft.com/office/drawing/2014/main" id="{B995657A-1D72-5FDB-F8D1-3D7C3BB0B8CB}"/>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4.</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今後のアプローチ</a:t>
            </a:r>
            <a:endParaRPr sz="1800" b="1" dirty="0">
              <a:solidFill>
                <a:schemeClr val="tx1"/>
              </a:solidFill>
              <a:latin typeface="Calibri"/>
              <a:ea typeface="Calibri"/>
              <a:cs typeface="Calibri"/>
              <a:sym typeface="Calibri"/>
            </a:endParaRPr>
          </a:p>
        </p:txBody>
      </p:sp>
      <p:sp>
        <p:nvSpPr>
          <p:cNvPr id="2" name="Google Shape;90;p15">
            <a:extLst>
              <a:ext uri="{FF2B5EF4-FFF2-40B4-BE49-F238E27FC236}">
                <a16:creationId xmlns:a16="http://schemas.microsoft.com/office/drawing/2014/main" id="{31F9B157-20D7-9826-55A4-962F893129F0}"/>
              </a:ext>
            </a:extLst>
          </p:cNvPr>
          <p:cNvSpPr txBox="1"/>
          <p:nvPr/>
        </p:nvSpPr>
        <p:spPr>
          <a:xfrm>
            <a:off x="577500" y="1464767"/>
            <a:ext cx="7989000" cy="2400627"/>
          </a:xfrm>
          <a:prstGeom prst="rect">
            <a:avLst/>
          </a:prstGeom>
          <a:noFill/>
          <a:ln>
            <a:noFill/>
          </a:ln>
        </p:spPr>
        <p:txBody>
          <a:bodyPr spcFirstLastPara="1" wrap="square" lIns="91425" tIns="91425" rIns="91425" bIns="91425" anchor="t" anchorCtr="0">
            <a:spAutoFit/>
          </a:bodyPr>
          <a:lstStyle/>
          <a:p>
            <a:r>
              <a:rPr lang="ja-JP" altLang="en-US" sz="1800" dirty="0">
                <a:solidFill>
                  <a:schemeClr val="accent1">
                    <a:lumMod val="50000"/>
                  </a:schemeClr>
                </a:solidFill>
                <a:latin typeface="Calibri"/>
                <a:ea typeface="Calibri"/>
                <a:cs typeface="Calibri"/>
                <a:sym typeface="Calibri"/>
              </a:rPr>
              <a:t>◆</a:t>
            </a:r>
            <a:r>
              <a:rPr lang="ja-JP" altLang="en-US" sz="1800" dirty="0">
                <a:solidFill>
                  <a:schemeClr val="accent5"/>
                </a:solidFill>
                <a:latin typeface="Calibri"/>
                <a:ea typeface="Calibri"/>
                <a:cs typeface="Calibri"/>
                <a:sym typeface="Calibri"/>
              </a:rPr>
              <a:t> </a:t>
            </a:r>
            <a:r>
              <a:rPr lang="en-US" altLang="ja-JP" sz="1800" b="1" dirty="0">
                <a:solidFill>
                  <a:schemeClr val="accent5"/>
                </a:solidFill>
                <a:latin typeface="Calibri"/>
                <a:ea typeface="Calibri"/>
                <a:cs typeface="Calibri"/>
                <a:sym typeface="Calibri"/>
              </a:rPr>
              <a:t> </a:t>
            </a:r>
            <a:r>
              <a:rPr lang="en-US" altLang="ja-JP" sz="1800" dirty="0">
                <a:latin typeface="Calibri"/>
                <a:ea typeface="Calibri"/>
                <a:cs typeface="Calibri"/>
                <a:sym typeface="Calibri"/>
              </a:rPr>
              <a:t>Step1</a:t>
            </a:r>
            <a:r>
              <a:rPr lang="ja-JP" altLang="en-US" sz="1800" dirty="0">
                <a:latin typeface="Calibri"/>
                <a:ea typeface="Calibri"/>
                <a:cs typeface="Calibri"/>
                <a:sym typeface="Calibri"/>
              </a:rPr>
              <a:t>：</a:t>
            </a:r>
            <a:r>
              <a:rPr lang="en-US" altLang="ja-JP" sz="1800" dirty="0">
                <a:latin typeface="Calibri"/>
                <a:ea typeface="Calibri"/>
                <a:cs typeface="Calibri"/>
                <a:sym typeface="Calibri"/>
              </a:rPr>
              <a:t>MOGLS</a:t>
            </a:r>
            <a:r>
              <a:rPr lang="ja-JP" altLang="en-US" sz="1800" dirty="0">
                <a:latin typeface="Calibri"/>
                <a:ea typeface="Calibri"/>
                <a:cs typeface="Calibri"/>
                <a:sym typeface="Calibri"/>
              </a:rPr>
              <a:t>のアルゴリズムやパラメータ調整　← 夏</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solidFill>
                <a:schemeClr val="accent1">
                  <a:lumMod val="50000"/>
                </a:schemeClr>
              </a:solidFill>
              <a:latin typeface="Calibri"/>
              <a:ea typeface="Calibri"/>
              <a:cs typeface="Calibri"/>
              <a:sym typeface="Calibri"/>
            </a:endParaRPr>
          </a:p>
          <a:p>
            <a:pPr lvl="0"/>
            <a:r>
              <a:rPr lang="ja-JP" altLang="en-US" sz="1800" dirty="0">
                <a:solidFill>
                  <a:schemeClr val="accent1">
                    <a:lumMod val="50000"/>
                  </a:schemeClr>
                </a:solidFill>
                <a:latin typeface="Calibri"/>
                <a:ea typeface="Calibri"/>
                <a:cs typeface="Calibri"/>
                <a:sym typeface="Calibri"/>
              </a:rPr>
              <a:t>◆</a:t>
            </a:r>
            <a:r>
              <a:rPr lang="ja-JP" altLang="en-US" sz="1800" dirty="0">
                <a:solidFill>
                  <a:schemeClr val="accent5"/>
                </a:solidFill>
                <a:latin typeface="Calibri"/>
                <a:ea typeface="Calibri"/>
                <a:cs typeface="Calibri"/>
                <a:sym typeface="Calibri"/>
              </a:rPr>
              <a:t> </a:t>
            </a:r>
            <a:r>
              <a:rPr lang="en-US" altLang="ja-JP" sz="1800" b="1" dirty="0">
                <a:solidFill>
                  <a:schemeClr val="accent5"/>
                </a:solidFill>
                <a:latin typeface="Calibri"/>
                <a:ea typeface="Calibri"/>
                <a:cs typeface="Calibri"/>
                <a:sym typeface="Calibri"/>
              </a:rPr>
              <a:t> </a:t>
            </a:r>
            <a:r>
              <a:rPr lang="en-US" altLang="ja-JP" sz="1800" dirty="0">
                <a:latin typeface="Calibri"/>
                <a:ea typeface="Calibri"/>
                <a:cs typeface="Calibri"/>
                <a:sym typeface="Calibri"/>
              </a:rPr>
              <a:t>Step2</a:t>
            </a:r>
            <a:r>
              <a:rPr lang="ja-JP" altLang="en-US" sz="1800" dirty="0">
                <a:latin typeface="Calibri"/>
                <a:ea typeface="Calibri"/>
                <a:cs typeface="Calibri"/>
                <a:sym typeface="Calibri"/>
              </a:rPr>
              <a:t>：本手法に最適化された交叉手法の開発　 ← 秋学期</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r>
              <a:rPr lang="ja-JP" altLang="en-US" sz="1800" dirty="0">
                <a:solidFill>
                  <a:schemeClr val="accent1">
                    <a:lumMod val="50000"/>
                  </a:schemeClr>
                </a:solidFill>
                <a:latin typeface="Calibri"/>
                <a:ea typeface="Calibri"/>
                <a:cs typeface="Calibri"/>
                <a:sym typeface="Calibri"/>
              </a:rPr>
              <a:t>◆</a:t>
            </a:r>
            <a:r>
              <a:rPr lang="ja-JP" altLang="en-US" sz="1800" dirty="0">
                <a:solidFill>
                  <a:schemeClr val="accent5"/>
                </a:solidFill>
                <a:latin typeface="Calibri"/>
                <a:ea typeface="Calibri"/>
                <a:cs typeface="Calibri"/>
                <a:sym typeface="Calibri"/>
              </a:rPr>
              <a:t> </a:t>
            </a:r>
            <a:r>
              <a:rPr lang="en-US" altLang="ja-JP" sz="1800" b="1" dirty="0">
                <a:solidFill>
                  <a:schemeClr val="accent5"/>
                </a:solidFill>
                <a:latin typeface="Calibri"/>
                <a:ea typeface="Calibri"/>
                <a:cs typeface="Calibri"/>
                <a:sym typeface="Calibri"/>
              </a:rPr>
              <a:t> </a:t>
            </a:r>
            <a:r>
              <a:rPr lang="en-US" altLang="ja-JP" sz="1800" dirty="0">
                <a:latin typeface="Calibri"/>
                <a:ea typeface="Calibri"/>
                <a:cs typeface="Calibri"/>
                <a:sym typeface="Calibri"/>
              </a:rPr>
              <a:t>Step2</a:t>
            </a:r>
            <a:r>
              <a:rPr lang="ja-JP" altLang="en-US" sz="1800" dirty="0">
                <a:latin typeface="Calibri"/>
                <a:ea typeface="Calibri"/>
                <a:cs typeface="Calibri"/>
                <a:sym typeface="Calibri"/>
              </a:rPr>
              <a:t>：本手法に最適化された局所探索手法の開発　 ← 秋学期</a:t>
            </a:r>
            <a:endParaRPr lang="en-US" altLang="ja-JP" sz="1800" dirty="0">
              <a:latin typeface="Calibri"/>
              <a:ea typeface="Calibri"/>
              <a:cs typeface="Calibri"/>
              <a:sym typeface="Calibri"/>
            </a:endParaRPr>
          </a:p>
          <a:p>
            <a:endParaRPr lang="en-US" altLang="ja-JP" sz="1800" dirty="0">
              <a:latin typeface="Calibri"/>
              <a:ea typeface="Calibri"/>
              <a:cs typeface="Calibri"/>
              <a:sym typeface="Calibri"/>
            </a:endParaRPr>
          </a:p>
          <a:p>
            <a:r>
              <a:rPr lang="ja-JP" altLang="en-US" sz="1800" dirty="0">
                <a:solidFill>
                  <a:schemeClr val="accent1">
                    <a:lumMod val="50000"/>
                  </a:schemeClr>
                </a:solidFill>
                <a:latin typeface="Calibri"/>
                <a:ea typeface="Calibri"/>
                <a:cs typeface="Calibri"/>
                <a:sym typeface="Calibri"/>
              </a:rPr>
              <a:t>◆</a:t>
            </a:r>
            <a:r>
              <a:rPr lang="ja-JP" altLang="en-US" sz="1800" dirty="0">
                <a:solidFill>
                  <a:schemeClr val="accent5"/>
                </a:solidFill>
                <a:latin typeface="Calibri"/>
                <a:ea typeface="Calibri"/>
                <a:cs typeface="Calibri"/>
                <a:sym typeface="Calibri"/>
              </a:rPr>
              <a:t> </a:t>
            </a:r>
            <a:r>
              <a:rPr lang="en-US" altLang="ja-JP" sz="1800" b="1" dirty="0">
                <a:solidFill>
                  <a:schemeClr val="accent5"/>
                </a:solidFill>
                <a:latin typeface="Calibri"/>
                <a:ea typeface="Calibri"/>
                <a:cs typeface="Calibri"/>
                <a:sym typeface="Calibri"/>
              </a:rPr>
              <a:t> </a:t>
            </a:r>
            <a:r>
              <a:rPr lang="en-US" altLang="ja-JP" sz="1800" dirty="0">
                <a:latin typeface="Calibri"/>
                <a:ea typeface="Calibri"/>
                <a:cs typeface="Calibri"/>
                <a:sym typeface="Calibri"/>
              </a:rPr>
              <a:t>Step3</a:t>
            </a:r>
            <a:r>
              <a:rPr lang="ja-JP" altLang="en-US" sz="1800" dirty="0">
                <a:latin typeface="Calibri"/>
                <a:ea typeface="Calibri"/>
                <a:cs typeface="Calibri"/>
                <a:sym typeface="Calibri"/>
              </a:rPr>
              <a:t>： シミュレーション環境での再スケジューリング性能検証</a:t>
            </a:r>
            <a:endParaRPr lang="en-US" altLang="ja-JP" sz="1800" dirty="0">
              <a:latin typeface="Calibri"/>
              <a:ea typeface="Calibri"/>
              <a:cs typeface="Calibri"/>
              <a:sym typeface="Calibri"/>
            </a:endParaRPr>
          </a:p>
          <a:p>
            <a:r>
              <a:rPr lang="ja-JP" altLang="en-US" sz="1800" dirty="0">
                <a:latin typeface="Calibri"/>
                <a:ea typeface="Calibri"/>
                <a:cs typeface="Calibri"/>
                <a:sym typeface="Calibri"/>
              </a:rPr>
              <a:t>　　→現状は一回の外乱発生時の再スケジューリング</a:t>
            </a:r>
            <a:endParaRPr lang="en-US" altLang="ja-JP" sz="1800" dirty="0">
              <a:latin typeface="Calibri"/>
              <a:ea typeface="Calibri"/>
              <a:cs typeface="Calibri"/>
              <a:sym typeface="Calibri"/>
            </a:endParaRPr>
          </a:p>
        </p:txBody>
      </p:sp>
    </p:spTree>
    <p:extLst>
      <p:ext uri="{BB962C8B-B14F-4D97-AF65-F5344CB8AC3E}">
        <p14:creationId xmlns:p14="http://schemas.microsoft.com/office/powerpoint/2010/main" val="3916136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4055EAD-9919-D52A-C4D9-F68DBF038217}"/>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E80283E2-18D8-416D-CB57-7D15C4706F62}"/>
              </a:ext>
            </a:extLst>
          </p:cNvPr>
          <p:cNvSpPr txBox="1"/>
          <p:nvPr/>
        </p:nvSpPr>
        <p:spPr>
          <a:xfrm>
            <a:off x="577500" y="692464"/>
            <a:ext cx="79890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800" dirty="0">
                <a:latin typeface="Calibri"/>
                <a:ea typeface="Calibri"/>
                <a:cs typeface="Calibri"/>
                <a:sym typeface="Calibri"/>
              </a:rPr>
              <a:t>目的：再スケジューリングにおいて変更度を抑制したい</a:t>
            </a:r>
            <a:endParaRPr lang="en-US" altLang="ja-JP" sz="1800"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15DFEA18-3965-D305-5F0A-DC4F71F9EB3D}"/>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cxnSp>
        <p:nvCxnSpPr>
          <p:cNvPr id="11" name="Google Shape;65;p14">
            <a:extLst>
              <a:ext uri="{FF2B5EF4-FFF2-40B4-BE49-F238E27FC236}">
                <a16:creationId xmlns:a16="http://schemas.microsoft.com/office/drawing/2014/main" id="{7B86DE36-F6BB-453D-98FA-E79223A2F435}"/>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12" name="Google Shape;66;p14">
            <a:extLst>
              <a:ext uri="{FF2B5EF4-FFF2-40B4-BE49-F238E27FC236}">
                <a16:creationId xmlns:a16="http://schemas.microsoft.com/office/drawing/2014/main" id="{7B3E21A8-FD9C-CFE6-05D9-6DD343800B05}"/>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2.</a:t>
            </a:r>
            <a:r>
              <a:rPr lang="ja-JP" altLang="en-US"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今後のアプローチ</a:t>
            </a:r>
            <a:endParaRPr lang="ja-JP" altLang="en-US" sz="1800" b="1" dirty="0">
              <a:solidFill>
                <a:schemeClr val="tx1"/>
              </a:solidFill>
              <a:latin typeface="Calibri"/>
              <a:ea typeface="Calibri"/>
              <a:cs typeface="Calibri"/>
              <a:sym typeface="Calibri"/>
            </a:endParaRPr>
          </a:p>
        </p:txBody>
      </p:sp>
      <p:sp>
        <p:nvSpPr>
          <p:cNvPr id="13" name="楕円 12">
            <a:extLst>
              <a:ext uri="{FF2B5EF4-FFF2-40B4-BE49-F238E27FC236}">
                <a16:creationId xmlns:a16="http://schemas.microsoft.com/office/drawing/2014/main" id="{80B63768-ECB9-A726-E395-8CBB3E01EBA0}"/>
              </a:ext>
            </a:extLst>
          </p:cNvPr>
          <p:cNvSpPr/>
          <p:nvPr/>
        </p:nvSpPr>
        <p:spPr>
          <a:xfrm>
            <a:off x="111147" y="1248937"/>
            <a:ext cx="6289287" cy="33164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シミュレーション環境での性能検証</a:t>
            </a:r>
            <a:br>
              <a:rPr kumimoji="1" lang="en-US" altLang="ja-JP" dirty="0"/>
            </a:br>
            <a:r>
              <a:rPr kumimoji="1" lang="ja-JP" altLang="en-US" dirty="0"/>
              <a:t>（ジョブに対して確率的に外乱を起こす）</a:t>
            </a: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p:txBody>
      </p:sp>
      <p:sp>
        <p:nvSpPr>
          <p:cNvPr id="32" name="楕円 31">
            <a:extLst>
              <a:ext uri="{FF2B5EF4-FFF2-40B4-BE49-F238E27FC236}">
                <a16:creationId xmlns:a16="http://schemas.microsoft.com/office/drawing/2014/main" id="{9F69B548-D695-886E-19DE-4E8EF2301055}"/>
              </a:ext>
            </a:extLst>
          </p:cNvPr>
          <p:cNvSpPr/>
          <p:nvPr/>
        </p:nvSpPr>
        <p:spPr>
          <a:xfrm>
            <a:off x="743421" y="2414637"/>
            <a:ext cx="984653" cy="985024"/>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作業遅延</a:t>
            </a:r>
            <a:endParaRPr kumimoji="1" lang="en-US" altLang="ja-JP" dirty="0"/>
          </a:p>
        </p:txBody>
      </p:sp>
      <p:sp>
        <p:nvSpPr>
          <p:cNvPr id="33" name="楕円 32">
            <a:extLst>
              <a:ext uri="{FF2B5EF4-FFF2-40B4-BE49-F238E27FC236}">
                <a16:creationId xmlns:a16="http://schemas.microsoft.com/office/drawing/2014/main" id="{6E339A0B-363C-FD33-618A-E7D17D53F0BD}"/>
              </a:ext>
            </a:extLst>
          </p:cNvPr>
          <p:cNvSpPr/>
          <p:nvPr/>
        </p:nvSpPr>
        <p:spPr>
          <a:xfrm>
            <a:off x="2763463" y="2414637"/>
            <a:ext cx="984653" cy="985024"/>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作業遅延</a:t>
            </a:r>
            <a:endParaRPr kumimoji="1" lang="en-US" altLang="ja-JP" dirty="0"/>
          </a:p>
        </p:txBody>
      </p:sp>
      <p:sp>
        <p:nvSpPr>
          <p:cNvPr id="34" name="楕円 33">
            <a:extLst>
              <a:ext uri="{FF2B5EF4-FFF2-40B4-BE49-F238E27FC236}">
                <a16:creationId xmlns:a16="http://schemas.microsoft.com/office/drawing/2014/main" id="{BEB7D108-481C-BB36-57DE-F98483BC318B}"/>
              </a:ext>
            </a:extLst>
          </p:cNvPr>
          <p:cNvSpPr/>
          <p:nvPr/>
        </p:nvSpPr>
        <p:spPr>
          <a:xfrm>
            <a:off x="4819745" y="2414637"/>
            <a:ext cx="984653" cy="985024"/>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作業遅延</a:t>
            </a:r>
            <a:endParaRPr kumimoji="1" lang="en-US" altLang="ja-JP" dirty="0"/>
          </a:p>
        </p:txBody>
      </p:sp>
      <p:sp>
        <p:nvSpPr>
          <p:cNvPr id="35" name="正方形/長方形 34">
            <a:extLst>
              <a:ext uri="{FF2B5EF4-FFF2-40B4-BE49-F238E27FC236}">
                <a16:creationId xmlns:a16="http://schemas.microsoft.com/office/drawing/2014/main" id="{085C1E73-F633-10E2-2498-2577D6F55CF4}"/>
              </a:ext>
            </a:extLst>
          </p:cNvPr>
          <p:cNvSpPr/>
          <p:nvPr/>
        </p:nvSpPr>
        <p:spPr>
          <a:xfrm>
            <a:off x="384352" y="3141551"/>
            <a:ext cx="1704650" cy="3526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リスケジューリング</a:t>
            </a:r>
          </a:p>
        </p:txBody>
      </p:sp>
      <p:sp>
        <p:nvSpPr>
          <p:cNvPr id="36" name="正方形/長方形 35">
            <a:extLst>
              <a:ext uri="{FF2B5EF4-FFF2-40B4-BE49-F238E27FC236}">
                <a16:creationId xmlns:a16="http://schemas.microsoft.com/office/drawing/2014/main" id="{F4B7A89A-9689-1BD5-0246-8033557BC30D}"/>
              </a:ext>
            </a:extLst>
          </p:cNvPr>
          <p:cNvSpPr/>
          <p:nvPr/>
        </p:nvSpPr>
        <p:spPr>
          <a:xfrm>
            <a:off x="2448071" y="3141551"/>
            <a:ext cx="1704650" cy="3526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リスケジューリング</a:t>
            </a:r>
          </a:p>
        </p:txBody>
      </p:sp>
      <p:sp>
        <p:nvSpPr>
          <p:cNvPr id="37" name="正方形/長方形 36">
            <a:extLst>
              <a:ext uri="{FF2B5EF4-FFF2-40B4-BE49-F238E27FC236}">
                <a16:creationId xmlns:a16="http://schemas.microsoft.com/office/drawing/2014/main" id="{B46AA395-F03B-A1DF-2737-F0C9BF8E328B}"/>
              </a:ext>
            </a:extLst>
          </p:cNvPr>
          <p:cNvSpPr/>
          <p:nvPr/>
        </p:nvSpPr>
        <p:spPr>
          <a:xfrm>
            <a:off x="4459746" y="3141551"/>
            <a:ext cx="1704650" cy="3526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リスケジューリング</a:t>
            </a:r>
          </a:p>
        </p:txBody>
      </p:sp>
      <p:cxnSp>
        <p:nvCxnSpPr>
          <p:cNvPr id="39" name="直線矢印コネクタ 38">
            <a:extLst>
              <a:ext uri="{FF2B5EF4-FFF2-40B4-BE49-F238E27FC236}">
                <a16:creationId xmlns:a16="http://schemas.microsoft.com/office/drawing/2014/main" id="{D32EEF50-EA76-4616-7CA8-B0CF37E3FD1A}"/>
              </a:ext>
            </a:extLst>
          </p:cNvPr>
          <p:cNvCxnSpPr>
            <a:cxnSpLocks/>
            <a:stCxn id="37" idx="3"/>
          </p:cNvCxnSpPr>
          <p:nvPr/>
        </p:nvCxnSpPr>
        <p:spPr>
          <a:xfrm flipV="1">
            <a:off x="6164396" y="2414637"/>
            <a:ext cx="711631" cy="9032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28726299-F3D0-7954-23A0-7B371DD1D9AE}"/>
              </a:ext>
            </a:extLst>
          </p:cNvPr>
          <p:cNvSpPr/>
          <p:nvPr/>
        </p:nvSpPr>
        <p:spPr>
          <a:xfrm>
            <a:off x="6935499" y="1249077"/>
            <a:ext cx="2078225" cy="215058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accent1">
                    <a:lumMod val="75000"/>
                  </a:schemeClr>
                </a:solidFill>
              </a:rPr>
              <a:t>ある一点における再スケジューリング性能検証</a:t>
            </a:r>
            <a:endParaRPr kumimoji="1" lang="en-US" altLang="ja-JP" dirty="0">
              <a:solidFill>
                <a:schemeClr val="accent1">
                  <a:lumMod val="75000"/>
                </a:schemeClr>
              </a:solidFill>
            </a:endParaRPr>
          </a:p>
          <a:p>
            <a:pPr algn="ctr"/>
            <a:r>
              <a:rPr kumimoji="1" lang="ja-JP" altLang="en-US" dirty="0">
                <a:solidFill>
                  <a:schemeClr val="accent1">
                    <a:lumMod val="75000"/>
                  </a:schemeClr>
                </a:solidFill>
              </a:rPr>
              <a:t>（安定性</a:t>
            </a:r>
            <a:r>
              <a:rPr kumimoji="1" lang="en-US" altLang="ja-JP" dirty="0">
                <a:solidFill>
                  <a:schemeClr val="accent1">
                    <a:lumMod val="75000"/>
                  </a:schemeClr>
                </a:solidFill>
              </a:rPr>
              <a:t>+</a:t>
            </a:r>
            <a:r>
              <a:rPr kumimoji="1" lang="ja-JP" altLang="en-US" dirty="0">
                <a:solidFill>
                  <a:schemeClr val="accent1">
                    <a:lumMod val="75000"/>
                  </a:schemeClr>
                </a:solidFill>
              </a:rPr>
              <a:t>効率性）</a:t>
            </a:r>
            <a:endParaRPr kumimoji="1" lang="en-US" altLang="ja-JP" dirty="0">
              <a:solidFill>
                <a:schemeClr val="accent1">
                  <a:lumMod val="75000"/>
                </a:schemeClr>
              </a:solidFill>
            </a:endParaRPr>
          </a:p>
          <a:p>
            <a:pPr algn="ctr"/>
            <a:endParaRPr kumimoji="1" lang="en-US" altLang="ja-JP" dirty="0">
              <a:solidFill>
                <a:schemeClr val="tx1"/>
              </a:solidFill>
            </a:endParaRPr>
          </a:p>
          <a:p>
            <a:pPr algn="ctr"/>
            <a:r>
              <a:rPr kumimoji="1" lang="ja-JP" altLang="en-US" dirty="0">
                <a:solidFill>
                  <a:schemeClr val="tx1"/>
                </a:solidFill>
              </a:rPr>
              <a:t>・遺伝子操作（交叉）</a:t>
            </a:r>
            <a:endParaRPr kumimoji="1" lang="en-US" altLang="ja-JP" dirty="0">
              <a:solidFill>
                <a:schemeClr val="tx1"/>
              </a:solidFill>
            </a:endParaRPr>
          </a:p>
          <a:p>
            <a:pPr algn="ctr"/>
            <a:endParaRPr kumimoji="1" lang="en-US" altLang="ja-JP" dirty="0">
              <a:solidFill>
                <a:schemeClr val="tx1"/>
              </a:solidFill>
            </a:endParaRPr>
          </a:p>
          <a:p>
            <a:pPr algn="ctr"/>
            <a:r>
              <a:rPr kumimoji="1" lang="ja-JP" altLang="en-US" dirty="0">
                <a:solidFill>
                  <a:schemeClr val="tx1"/>
                </a:solidFill>
              </a:rPr>
              <a:t>・二目的最適化手法</a:t>
            </a:r>
            <a:endParaRPr kumimoji="1" lang="en-US" altLang="ja-JP" dirty="0">
              <a:solidFill>
                <a:schemeClr val="tx1"/>
              </a:solidFill>
            </a:endParaRPr>
          </a:p>
          <a:p>
            <a:pPr algn="ctr"/>
            <a:r>
              <a:rPr kumimoji="1" lang="ja-JP" altLang="en-US" dirty="0">
                <a:solidFill>
                  <a:schemeClr val="tx1"/>
                </a:solidFill>
              </a:rPr>
              <a:t>（重みパラメータ→パレートフロント）</a:t>
            </a:r>
            <a:endParaRPr kumimoji="1" lang="en-US" altLang="ja-JP" dirty="0">
              <a:solidFill>
                <a:schemeClr val="tx1"/>
              </a:solidFill>
            </a:endParaRPr>
          </a:p>
        </p:txBody>
      </p:sp>
      <p:sp>
        <p:nvSpPr>
          <p:cNvPr id="43" name="テキスト ボックス 42">
            <a:extLst>
              <a:ext uri="{FF2B5EF4-FFF2-40B4-BE49-F238E27FC236}">
                <a16:creationId xmlns:a16="http://schemas.microsoft.com/office/drawing/2014/main" id="{A0019FA3-2F80-C358-44C9-0AECFFBA57FE}"/>
              </a:ext>
            </a:extLst>
          </p:cNvPr>
          <p:cNvSpPr txBox="1"/>
          <p:nvPr/>
        </p:nvSpPr>
        <p:spPr>
          <a:xfrm>
            <a:off x="5653675" y="3894423"/>
            <a:ext cx="3021981" cy="523220"/>
          </a:xfrm>
          <a:prstGeom prst="rect">
            <a:avLst/>
          </a:prstGeom>
          <a:noFill/>
        </p:spPr>
        <p:txBody>
          <a:bodyPr wrap="square">
            <a:spAutoFit/>
          </a:bodyPr>
          <a:lstStyle/>
          <a:p>
            <a:pPr algn="ctr"/>
            <a:r>
              <a:rPr kumimoji="1" lang="ja-JP" altLang="en-US" dirty="0">
                <a:solidFill>
                  <a:schemeClr val="tx1"/>
                </a:solidFill>
              </a:rPr>
              <a:t>・再スケジューリング手法</a:t>
            </a:r>
            <a:endParaRPr kumimoji="1" lang="en-US" altLang="ja-JP" dirty="0">
              <a:solidFill>
                <a:schemeClr val="tx1"/>
              </a:solidFill>
            </a:endParaRPr>
          </a:p>
          <a:p>
            <a:pPr algn="ctr"/>
            <a:r>
              <a:rPr kumimoji="1" lang="ja-JP" altLang="en-US" dirty="0">
                <a:solidFill>
                  <a:schemeClr val="tx1"/>
                </a:solidFill>
              </a:rPr>
              <a:t>（リアクティブ・ローリング）</a:t>
            </a:r>
            <a:endParaRPr kumimoji="1" lang="en-US" altLang="ja-JP" dirty="0">
              <a:solidFill>
                <a:schemeClr val="tx1"/>
              </a:solidFill>
            </a:endParaRPr>
          </a:p>
        </p:txBody>
      </p:sp>
    </p:spTree>
    <p:extLst>
      <p:ext uri="{BB962C8B-B14F-4D97-AF65-F5344CB8AC3E}">
        <p14:creationId xmlns:p14="http://schemas.microsoft.com/office/powerpoint/2010/main" val="328623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0ABA2BC0-34DD-11C9-331F-2330080DA64E}"/>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CDF4884E-8D4A-1155-05EE-7FC9A46152D4}"/>
              </a:ext>
            </a:extLst>
          </p:cNvPr>
          <p:cNvSpPr txBox="1"/>
          <p:nvPr/>
        </p:nvSpPr>
        <p:spPr>
          <a:xfrm>
            <a:off x="577500" y="692464"/>
            <a:ext cx="7989000" cy="43396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800" dirty="0">
                <a:latin typeface="Calibri"/>
                <a:ea typeface="Calibri"/>
                <a:cs typeface="Calibri"/>
                <a:sym typeface="Calibri"/>
              </a:rPr>
              <a:t>順序を離れた場所同士で入れ替えたくない</a:t>
            </a: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現在時刻に近いところは動かしたくない</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確率変動型順序交叉</a:t>
            </a: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交叉：確率的に選択した２点交叉（現在時刻から離れた箇所かつ近く同士の染色体が選ばれやすくする）</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遺伝子の順序が必ずしも時系列になっているとは限らない→これは大丈夫</a:t>
            </a:r>
            <a:endParaRPr lang="en-US" altLang="ja-JP" sz="1800"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AE51786E-BC9E-2365-FA9C-FF89B1E5E40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 name="正方形/長方形 1">
            <a:extLst>
              <a:ext uri="{FF2B5EF4-FFF2-40B4-BE49-F238E27FC236}">
                <a16:creationId xmlns:a16="http://schemas.microsoft.com/office/drawing/2014/main" id="{9A785765-4167-7A64-28A6-CB343B8A3023}"/>
              </a:ext>
            </a:extLst>
          </p:cNvPr>
          <p:cNvSpPr/>
          <p:nvPr/>
        </p:nvSpPr>
        <p:spPr>
          <a:xfrm>
            <a:off x="511525" y="2849539"/>
            <a:ext cx="414376" cy="414376"/>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１</a:t>
            </a:r>
          </a:p>
        </p:txBody>
      </p:sp>
      <p:sp>
        <p:nvSpPr>
          <p:cNvPr id="3" name="正方形/長方形 2">
            <a:extLst>
              <a:ext uri="{FF2B5EF4-FFF2-40B4-BE49-F238E27FC236}">
                <a16:creationId xmlns:a16="http://schemas.microsoft.com/office/drawing/2014/main" id="{8C3D08EB-8378-0297-33BE-D5D12ADCDEA3}"/>
              </a:ext>
            </a:extLst>
          </p:cNvPr>
          <p:cNvSpPr/>
          <p:nvPr/>
        </p:nvSpPr>
        <p:spPr>
          <a:xfrm>
            <a:off x="925901" y="2849539"/>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２</a:t>
            </a:r>
          </a:p>
        </p:txBody>
      </p:sp>
      <p:sp>
        <p:nvSpPr>
          <p:cNvPr id="4" name="正方形/長方形 3">
            <a:extLst>
              <a:ext uri="{FF2B5EF4-FFF2-40B4-BE49-F238E27FC236}">
                <a16:creationId xmlns:a16="http://schemas.microsoft.com/office/drawing/2014/main" id="{CC61A392-C4F3-342E-0D5B-B3EF14011E70}"/>
              </a:ext>
            </a:extLst>
          </p:cNvPr>
          <p:cNvSpPr/>
          <p:nvPr/>
        </p:nvSpPr>
        <p:spPr>
          <a:xfrm>
            <a:off x="1340277" y="2849539"/>
            <a:ext cx="414376" cy="414376"/>
          </a:xfrm>
          <a:prstGeom prst="rect">
            <a:avLst/>
          </a:prstGeom>
          <a:solidFill>
            <a:schemeClr val="bg1"/>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３</a:t>
            </a:r>
          </a:p>
        </p:txBody>
      </p:sp>
      <p:sp>
        <p:nvSpPr>
          <p:cNvPr id="5" name="正方形/長方形 4">
            <a:extLst>
              <a:ext uri="{FF2B5EF4-FFF2-40B4-BE49-F238E27FC236}">
                <a16:creationId xmlns:a16="http://schemas.microsoft.com/office/drawing/2014/main" id="{A1B8E7A3-C128-D68C-1290-7D69AF633BC7}"/>
              </a:ext>
            </a:extLst>
          </p:cNvPr>
          <p:cNvSpPr/>
          <p:nvPr/>
        </p:nvSpPr>
        <p:spPr>
          <a:xfrm>
            <a:off x="1754653" y="2849539"/>
            <a:ext cx="414376" cy="414376"/>
          </a:xfrm>
          <a:prstGeom prst="rect">
            <a:avLst/>
          </a:prstGeom>
          <a:solidFill>
            <a:schemeClr val="accent1">
              <a:lumMod val="40000"/>
              <a:lumOff val="6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４</a:t>
            </a:r>
          </a:p>
        </p:txBody>
      </p:sp>
      <p:sp>
        <p:nvSpPr>
          <p:cNvPr id="6" name="正方形/長方形 5">
            <a:extLst>
              <a:ext uri="{FF2B5EF4-FFF2-40B4-BE49-F238E27FC236}">
                <a16:creationId xmlns:a16="http://schemas.microsoft.com/office/drawing/2014/main" id="{1DFF7C9A-AB68-8F28-5872-A47D4E25636D}"/>
              </a:ext>
            </a:extLst>
          </p:cNvPr>
          <p:cNvSpPr/>
          <p:nvPr/>
        </p:nvSpPr>
        <p:spPr>
          <a:xfrm>
            <a:off x="2169029" y="2849539"/>
            <a:ext cx="414376" cy="41437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５</a:t>
            </a:r>
          </a:p>
        </p:txBody>
      </p:sp>
      <p:sp>
        <p:nvSpPr>
          <p:cNvPr id="7" name="正方形/長方形 6">
            <a:extLst>
              <a:ext uri="{FF2B5EF4-FFF2-40B4-BE49-F238E27FC236}">
                <a16:creationId xmlns:a16="http://schemas.microsoft.com/office/drawing/2014/main" id="{2F46E7F3-0256-C27A-0B20-0D9D163BB0E3}"/>
              </a:ext>
            </a:extLst>
          </p:cNvPr>
          <p:cNvSpPr/>
          <p:nvPr/>
        </p:nvSpPr>
        <p:spPr>
          <a:xfrm>
            <a:off x="2583405" y="2849539"/>
            <a:ext cx="414376" cy="41437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６</a:t>
            </a:r>
          </a:p>
        </p:txBody>
      </p:sp>
      <p:sp>
        <p:nvSpPr>
          <p:cNvPr id="14" name="正方形/長方形 13">
            <a:extLst>
              <a:ext uri="{FF2B5EF4-FFF2-40B4-BE49-F238E27FC236}">
                <a16:creationId xmlns:a16="http://schemas.microsoft.com/office/drawing/2014/main" id="{9E28072A-4C08-3AB9-8334-C03C398CB039}"/>
              </a:ext>
            </a:extLst>
          </p:cNvPr>
          <p:cNvSpPr/>
          <p:nvPr/>
        </p:nvSpPr>
        <p:spPr>
          <a:xfrm>
            <a:off x="3867153" y="2849539"/>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２</a:t>
            </a:r>
          </a:p>
        </p:txBody>
      </p:sp>
      <p:sp>
        <p:nvSpPr>
          <p:cNvPr id="15" name="正方形/長方形 14">
            <a:extLst>
              <a:ext uri="{FF2B5EF4-FFF2-40B4-BE49-F238E27FC236}">
                <a16:creationId xmlns:a16="http://schemas.microsoft.com/office/drawing/2014/main" id="{0B0BFB1B-7B59-045B-8DC9-72D8E23F215C}"/>
              </a:ext>
            </a:extLst>
          </p:cNvPr>
          <p:cNvSpPr/>
          <p:nvPr/>
        </p:nvSpPr>
        <p:spPr>
          <a:xfrm>
            <a:off x="4695905" y="2849538"/>
            <a:ext cx="414376" cy="414376"/>
          </a:xfrm>
          <a:prstGeom prst="rect">
            <a:avLst/>
          </a:prstGeom>
          <a:solidFill>
            <a:schemeClr val="accent4">
              <a:lumMod val="40000"/>
              <a:lumOff val="6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４</a:t>
            </a:r>
          </a:p>
        </p:txBody>
      </p:sp>
      <p:sp>
        <p:nvSpPr>
          <p:cNvPr id="16" name="正方形/長方形 15">
            <a:extLst>
              <a:ext uri="{FF2B5EF4-FFF2-40B4-BE49-F238E27FC236}">
                <a16:creationId xmlns:a16="http://schemas.microsoft.com/office/drawing/2014/main" id="{55BA15C5-A8F8-FA70-9CD9-7AF0959C8D09}"/>
              </a:ext>
            </a:extLst>
          </p:cNvPr>
          <p:cNvSpPr/>
          <p:nvPr/>
        </p:nvSpPr>
        <p:spPr>
          <a:xfrm>
            <a:off x="4281529" y="2847037"/>
            <a:ext cx="414376" cy="414376"/>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６</a:t>
            </a:r>
          </a:p>
        </p:txBody>
      </p:sp>
      <p:sp>
        <p:nvSpPr>
          <p:cNvPr id="17" name="正方形/長方形 16">
            <a:extLst>
              <a:ext uri="{FF2B5EF4-FFF2-40B4-BE49-F238E27FC236}">
                <a16:creationId xmlns:a16="http://schemas.microsoft.com/office/drawing/2014/main" id="{1ACA9D28-83F5-E669-4127-4BCE828E5E53}"/>
              </a:ext>
            </a:extLst>
          </p:cNvPr>
          <p:cNvSpPr/>
          <p:nvPr/>
        </p:nvSpPr>
        <p:spPr>
          <a:xfrm>
            <a:off x="5110281" y="2849539"/>
            <a:ext cx="414376" cy="414376"/>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１</a:t>
            </a:r>
          </a:p>
        </p:txBody>
      </p:sp>
      <p:sp>
        <p:nvSpPr>
          <p:cNvPr id="18" name="正方形/長方形 17">
            <a:extLst>
              <a:ext uri="{FF2B5EF4-FFF2-40B4-BE49-F238E27FC236}">
                <a16:creationId xmlns:a16="http://schemas.microsoft.com/office/drawing/2014/main" id="{7D52F95C-BF5B-8B7B-DD5C-0713C647997E}"/>
              </a:ext>
            </a:extLst>
          </p:cNvPr>
          <p:cNvSpPr/>
          <p:nvPr/>
        </p:nvSpPr>
        <p:spPr>
          <a:xfrm>
            <a:off x="5524657" y="2849539"/>
            <a:ext cx="414376" cy="414376"/>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３</a:t>
            </a:r>
          </a:p>
        </p:txBody>
      </p:sp>
      <p:sp>
        <p:nvSpPr>
          <p:cNvPr id="19" name="正方形/長方形 18">
            <a:extLst>
              <a:ext uri="{FF2B5EF4-FFF2-40B4-BE49-F238E27FC236}">
                <a16:creationId xmlns:a16="http://schemas.microsoft.com/office/drawing/2014/main" id="{C2D06709-01FF-F88C-3F7D-C2A231412477}"/>
              </a:ext>
            </a:extLst>
          </p:cNvPr>
          <p:cNvSpPr/>
          <p:nvPr/>
        </p:nvSpPr>
        <p:spPr>
          <a:xfrm>
            <a:off x="5939033" y="2849539"/>
            <a:ext cx="414376" cy="414376"/>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５</a:t>
            </a:r>
          </a:p>
        </p:txBody>
      </p:sp>
      <p:sp>
        <p:nvSpPr>
          <p:cNvPr id="20" name="正方形/長方形 19">
            <a:extLst>
              <a:ext uri="{FF2B5EF4-FFF2-40B4-BE49-F238E27FC236}">
                <a16:creationId xmlns:a16="http://schemas.microsoft.com/office/drawing/2014/main" id="{90954F14-F94D-E66C-A8D7-79194D2A4867}"/>
              </a:ext>
            </a:extLst>
          </p:cNvPr>
          <p:cNvSpPr/>
          <p:nvPr/>
        </p:nvSpPr>
        <p:spPr>
          <a:xfrm>
            <a:off x="511525" y="3883687"/>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１</a:t>
            </a:r>
          </a:p>
        </p:txBody>
      </p:sp>
      <p:sp>
        <p:nvSpPr>
          <p:cNvPr id="21" name="正方形/長方形 20">
            <a:extLst>
              <a:ext uri="{FF2B5EF4-FFF2-40B4-BE49-F238E27FC236}">
                <a16:creationId xmlns:a16="http://schemas.microsoft.com/office/drawing/2014/main" id="{6C15F787-F643-9628-8BD0-A36C6637A48F}"/>
              </a:ext>
            </a:extLst>
          </p:cNvPr>
          <p:cNvSpPr/>
          <p:nvPr/>
        </p:nvSpPr>
        <p:spPr>
          <a:xfrm>
            <a:off x="925901" y="3883687"/>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２</a:t>
            </a:r>
          </a:p>
        </p:txBody>
      </p:sp>
      <p:sp>
        <p:nvSpPr>
          <p:cNvPr id="22" name="正方形/長方形 21">
            <a:extLst>
              <a:ext uri="{FF2B5EF4-FFF2-40B4-BE49-F238E27FC236}">
                <a16:creationId xmlns:a16="http://schemas.microsoft.com/office/drawing/2014/main" id="{BCC3BE45-1B02-2501-9461-E79EE180BF8C}"/>
              </a:ext>
            </a:extLst>
          </p:cNvPr>
          <p:cNvSpPr/>
          <p:nvPr/>
        </p:nvSpPr>
        <p:spPr>
          <a:xfrm>
            <a:off x="1340277" y="3883687"/>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３</a:t>
            </a:r>
          </a:p>
        </p:txBody>
      </p:sp>
      <p:sp>
        <p:nvSpPr>
          <p:cNvPr id="23" name="正方形/長方形 22">
            <a:extLst>
              <a:ext uri="{FF2B5EF4-FFF2-40B4-BE49-F238E27FC236}">
                <a16:creationId xmlns:a16="http://schemas.microsoft.com/office/drawing/2014/main" id="{285575BA-46A5-8E22-776B-09B1CD1265ED}"/>
              </a:ext>
            </a:extLst>
          </p:cNvPr>
          <p:cNvSpPr/>
          <p:nvPr/>
        </p:nvSpPr>
        <p:spPr>
          <a:xfrm>
            <a:off x="1754653" y="3883687"/>
            <a:ext cx="414376" cy="41437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４</a:t>
            </a:r>
          </a:p>
        </p:txBody>
      </p:sp>
      <p:sp>
        <p:nvSpPr>
          <p:cNvPr id="24" name="正方形/長方形 23">
            <a:extLst>
              <a:ext uri="{FF2B5EF4-FFF2-40B4-BE49-F238E27FC236}">
                <a16:creationId xmlns:a16="http://schemas.microsoft.com/office/drawing/2014/main" id="{3FDAB460-6765-56AA-87F6-2D233A430A92}"/>
              </a:ext>
            </a:extLst>
          </p:cNvPr>
          <p:cNvSpPr/>
          <p:nvPr/>
        </p:nvSpPr>
        <p:spPr>
          <a:xfrm>
            <a:off x="2169029" y="3883687"/>
            <a:ext cx="414376" cy="41437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６</a:t>
            </a:r>
          </a:p>
        </p:txBody>
      </p:sp>
      <p:sp>
        <p:nvSpPr>
          <p:cNvPr id="25" name="正方形/長方形 24">
            <a:extLst>
              <a:ext uri="{FF2B5EF4-FFF2-40B4-BE49-F238E27FC236}">
                <a16:creationId xmlns:a16="http://schemas.microsoft.com/office/drawing/2014/main" id="{219A99E1-22B3-D707-04B1-C490BD716259}"/>
              </a:ext>
            </a:extLst>
          </p:cNvPr>
          <p:cNvSpPr/>
          <p:nvPr/>
        </p:nvSpPr>
        <p:spPr>
          <a:xfrm>
            <a:off x="2583405" y="3883687"/>
            <a:ext cx="414376" cy="41437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５</a:t>
            </a:r>
          </a:p>
        </p:txBody>
      </p:sp>
      <p:sp>
        <p:nvSpPr>
          <p:cNvPr id="26" name="正方形/長方形 25">
            <a:extLst>
              <a:ext uri="{FF2B5EF4-FFF2-40B4-BE49-F238E27FC236}">
                <a16:creationId xmlns:a16="http://schemas.microsoft.com/office/drawing/2014/main" id="{B618C53E-D2EC-817C-572A-11B88419CEF3}"/>
              </a:ext>
            </a:extLst>
          </p:cNvPr>
          <p:cNvSpPr/>
          <p:nvPr/>
        </p:nvSpPr>
        <p:spPr>
          <a:xfrm>
            <a:off x="3867153" y="3883687"/>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２</a:t>
            </a:r>
          </a:p>
        </p:txBody>
      </p:sp>
      <p:sp>
        <p:nvSpPr>
          <p:cNvPr id="27" name="正方形/長方形 26">
            <a:extLst>
              <a:ext uri="{FF2B5EF4-FFF2-40B4-BE49-F238E27FC236}">
                <a16:creationId xmlns:a16="http://schemas.microsoft.com/office/drawing/2014/main" id="{CC91A339-1EEB-2256-4947-DCDC5A0E5F55}"/>
              </a:ext>
            </a:extLst>
          </p:cNvPr>
          <p:cNvSpPr/>
          <p:nvPr/>
        </p:nvSpPr>
        <p:spPr>
          <a:xfrm>
            <a:off x="4695905" y="3883687"/>
            <a:ext cx="414376" cy="414376"/>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１</a:t>
            </a:r>
          </a:p>
        </p:txBody>
      </p:sp>
      <p:sp>
        <p:nvSpPr>
          <p:cNvPr id="28" name="正方形/長方形 27">
            <a:extLst>
              <a:ext uri="{FF2B5EF4-FFF2-40B4-BE49-F238E27FC236}">
                <a16:creationId xmlns:a16="http://schemas.microsoft.com/office/drawing/2014/main" id="{87369065-0079-BC70-FF51-CA736E901FFC}"/>
              </a:ext>
            </a:extLst>
          </p:cNvPr>
          <p:cNvSpPr/>
          <p:nvPr/>
        </p:nvSpPr>
        <p:spPr>
          <a:xfrm>
            <a:off x="4281529" y="3881185"/>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６</a:t>
            </a:r>
          </a:p>
        </p:txBody>
      </p:sp>
      <p:sp>
        <p:nvSpPr>
          <p:cNvPr id="29" name="正方形/長方形 28">
            <a:extLst>
              <a:ext uri="{FF2B5EF4-FFF2-40B4-BE49-F238E27FC236}">
                <a16:creationId xmlns:a16="http://schemas.microsoft.com/office/drawing/2014/main" id="{9DA15206-7850-2664-2D50-26A8C689D226}"/>
              </a:ext>
            </a:extLst>
          </p:cNvPr>
          <p:cNvSpPr/>
          <p:nvPr/>
        </p:nvSpPr>
        <p:spPr>
          <a:xfrm>
            <a:off x="5110281" y="3883687"/>
            <a:ext cx="414376" cy="414376"/>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３</a:t>
            </a:r>
            <a:endParaRPr kumimoji="1" lang="en-US" altLang="ja-JP" dirty="0">
              <a:solidFill>
                <a:schemeClr val="tx1"/>
              </a:solidFill>
            </a:endParaRPr>
          </a:p>
        </p:txBody>
      </p:sp>
      <p:sp>
        <p:nvSpPr>
          <p:cNvPr id="30" name="正方形/長方形 29">
            <a:extLst>
              <a:ext uri="{FF2B5EF4-FFF2-40B4-BE49-F238E27FC236}">
                <a16:creationId xmlns:a16="http://schemas.microsoft.com/office/drawing/2014/main" id="{BA4A801D-2B2E-1510-B84D-E3DD920318FE}"/>
              </a:ext>
            </a:extLst>
          </p:cNvPr>
          <p:cNvSpPr/>
          <p:nvPr/>
        </p:nvSpPr>
        <p:spPr>
          <a:xfrm>
            <a:off x="5524657" y="3883687"/>
            <a:ext cx="414376" cy="414376"/>
          </a:xfrm>
          <a:prstGeom prst="rect">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４</a:t>
            </a:r>
          </a:p>
        </p:txBody>
      </p:sp>
      <p:sp>
        <p:nvSpPr>
          <p:cNvPr id="31" name="正方形/長方形 30">
            <a:extLst>
              <a:ext uri="{FF2B5EF4-FFF2-40B4-BE49-F238E27FC236}">
                <a16:creationId xmlns:a16="http://schemas.microsoft.com/office/drawing/2014/main" id="{A0BA0802-D8A2-6B84-F561-2F910CDC496F}"/>
              </a:ext>
            </a:extLst>
          </p:cNvPr>
          <p:cNvSpPr/>
          <p:nvPr/>
        </p:nvSpPr>
        <p:spPr>
          <a:xfrm>
            <a:off x="5939033" y="3883687"/>
            <a:ext cx="414376" cy="41437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５</a:t>
            </a:r>
          </a:p>
        </p:txBody>
      </p:sp>
      <p:sp>
        <p:nvSpPr>
          <p:cNvPr id="8" name="テキスト ボックス 7">
            <a:extLst>
              <a:ext uri="{FF2B5EF4-FFF2-40B4-BE49-F238E27FC236}">
                <a16:creationId xmlns:a16="http://schemas.microsoft.com/office/drawing/2014/main" id="{E3AB2AB7-69FE-C3BA-B418-C360751E4DD9}"/>
              </a:ext>
            </a:extLst>
          </p:cNvPr>
          <p:cNvSpPr txBox="1"/>
          <p:nvPr/>
        </p:nvSpPr>
        <p:spPr>
          <a:xfrm>
            <a:off x="3250366" y="2902838"/>
            <a:ext cx="364202" cy="307777"/>
          </a:xfrm>
          <a:prstGeom prst="rect">
            <a:avLst/>
          </a:prstGeom>
          <a:noFill/>
        </p:spPr>
        <p:txBody>
          <a:bodyPr wrap="none" rtlCol="0">
            <a:spAutoFit/>
          </a:bodyPr>
          <a:lstStyle/>
          <a:p>
            <a:r>
              <a:rPr kumimoji="1" lang="ja-JP" altLang="en-US" dirty="0"/>
              <a:t>＋</a:t>
            </a:r>
          </a:p>
        </p:txBody>
      </p:sp>
      <p:sp>
        <p:nvSpPr>
          <p:cNvPr id="9" name="テキスト ボックス 8">
            <a:extLst>
              <a:ext uri="{FF2B5EF4-FFF2-40B4-BE49-F238E27FC236}">
                <a16:creationId xmlns:a16="http://schemas.microsoft.com/office/drawing/2014/main" id="{C06BEAEF-6B39-7141-CE1B-2C785576AD07}"/>
              </a:ext>
            </a:extLst>
          </p:cNvPr>
          <p:cNvSpPr txBox="1"/>
          <p:nvPr/>
        </p:nvSpPr>
        <p:spPr>
          <a:xfrm>
            <a:off x="1547465" y="3442471"/>
            <a:ext cx="274434" cy="307777"/>
          </a:xfrm>
          <a:prstGeom prst="rect">
            <a:avLst/>
          </a:prstGeom>
          <a:noFill/>
        </p:spPr>
        <p:txBody>
          <a:bodyPr wrap="none" rtlCol="0">
            <a:spAutoFit/>
          </a:bodyPr>
          <a:lstStyle/>
          <a:p>
            <a:r>
              <a:rPr kumimoji="1" lang="ja-JP" altLang="en-US" dirty="0"/>
              <a:t>↓</a:t>
            </a:r>
          </a:p>
        </p:txBody>
      </p:sp>
      <p:sp>
        <p:nvSpPr>
          <p:cNvPr id="10" name="テキスト ボックス 9">
            <a:extLst>
              <a:ext uri="{FF2B5EF4-FFF2-40B4-BE49-F238E27FC236}">
                <a16:creationId xmlns:a16="http://schemas.microsoft.com/office/drawing/2014/main" id="{B0FB3D55-FC46-92C1-21F4-E3A4821FF8D9}"/>
              </a:ext>
            </a:extLst>
          </p:cNvPr>
          <p:cNvSpPr txBox="1"/>
          <p:nvPr/>
        </p:nvSpPr>
        <p:spPr>
          <a:xfrm>
            <a:off x="4973064" y="3403814"/>
            <a:ext cx="274434" cy="307777"/>
          </a:xfrm>
          <a:prstGeom prst="rect">
            <a:avLst/>
          </a:prstGeom>
          <a:noFill/>
        </p:spPr>
        <p:txBody>
          <a:bodyPr wrap="square" rtlCol="0">
            <a:spAutoFit/>
          </a:bodyPr>
          <a:lstStyle/>
          <a:p>
            <a:r>
              <a:rPr kumimoji="1" lang="ja-JP" altLang="en-US" dirty="0"/>
              <a:t>↓</a:t>
            </a:r>
          </a:p>
        </p:txBody>
      </p:sp>
      <p:cxnSp>
        <p:nvCxnSpPr>
          <p:cNvPr id="11" name="Google Shape;65;p14">
            <a:extLst>
              <a:ext uri="{FF2B5EF4-FFF2-40B4-BE49-F238E27FC236}">
                <a16:creationId xmlns:a16="http://schemas.microsoft.com/office/drawing/2014/main" id="{003106BE-2E45-3349-4E17-44584D59A63F}"/>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12" name="Google Shape;66;p14">
            <a:extLst>
              <a:ext uri="{FF2B5EF4-FFF2-40B4-BE49-F238E27FC236}">
                <a16:creationId xmlns:a16="http://schemas.microsoft.com/office/drawing/2014/main" id="{8647BB56-3E60-B523-ABE2-90D9373D4DA0}"/>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新たな交叉手法の開発</a:t>
            </a:r>
            <a:endParaRPr sz="1800" b="1"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940865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5EDC28A2-1588-3826-99C4-172B78805EAB}"/>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B98943DC-1A53-7469-A649-5C86CF7B6AE9}"/>
              </a:ext>
            </a:extLst>
          </p:cNvPr>
          <p:cNvSpPr txBox="1"/>
          <p:nvPr/>
        </p:nvSpPr>
        <p:spPr>
          <a:xfrm>
            <a:off x="577500" y="692464"/>
            <a:ext cx="7989000" cy="295462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JP" altLang="en-US" sz="1800" dirty="0">
                <a:latin typeface="Calibri"/>
                <a:ea typeface="Calibri"/>
                <a:cs typeface="Calibri"/>
                <a:sym typeface="Calibri"/>
              </a:rPr>
              <a:t>論点</a:t>
            </a: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・確率的に前のほうのジョブを変えないとしているが、そもそも前のほうのジョブを入れ替えないとスケジュールが改善しないということが卒論で判明している（</a:t>
            </a:r>
            <a:r>
              <a:rPr lang="en-US" altLang="ja-JP" sz="1800" dirty="0">
                <a:latin typeface="Calibri"/>
                <a:ea typeface="Calibri"/>
                <a:cs typeface="Calibri"/>
                <a:sym typeface="Calibri"/>
              </a:rPr>
              <a:t>PMX</a:t>
            </a:r>
            <a:r>
              <a:rPr lang="ja-JP" altLang="en-US" sz="1800" dirty="0">
                <a:latin typeface="Calibri"/>
                <a:ea typeface="Calibri"/>
                <a:cs typeface="Calibri"/>
                <a:sym typeface="Calibri"/>
              </a:rPr>
              <a:t>→順序交叉の意義は変わらずあるはず）</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a:t>
            </a:r>
            <a:r>
              <a:rPr lang="en-US" altLang="ja-JP" sz="1800" dirty="0">
                <a:latin typeface="Calibri"/>
                <a:ea typeface="Calibri"/>
                <a:cs typeface="Calibri"/>
                <a:sym typeface="Calibri"/>
              </a:rPr>
              <a:t>2</a:t>
            </a:r>
            <a:r>
              <a:rPr lang="ja-JP" altLang="en-US" sz="1800" dirty="0">
                <a:latin typeface="Calibri"/>
                <a:ea typeface="Calibri"/>
                <a:cs typeface="Calibri"/>
                <a:sym typeface="Calibri"/>
              </a:rPr>
              <a:t>点交叉の幅を制限できるようにしてもいいかもしれない</a:t>
            </a:r>
            <a:endParaRPr lang="en-US" altLang="ja-JP" sz="1800" dirty="0">
              <a:latin typeface="Calibri"/>
              <a:ea typeface="Calibri"/>
              <a:cs typeface="Calibri"/>
              <a:sym typeface="Calibri"/>
            </a:endParaRPr>
          </a:p>
          <a:p>
            <a:pPr marL="0" lvl="0" indent="0" algn="l" rtl="0">
              <a:spcBef>
                <a:spcPts val="0"/>
              </a:spcBef>
              <a:spcAft>
                <a:spcPts val="0"/>
              </a:spcAft>
              <a:buNone/>
            </a:pP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・外乱の種類をまとめる・増やす</a:t>
            </a: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・交叉法を開発する目的は</a:t>
            </a:r>
            <a:endParaRPr lang="en-US" altLang="ja-JP" sz="1800" dirty="0">
              <a:latin typeface="Calibri"/>
              <a:ea typeface="Calibri"/>
              <a:cs typeface="Calibri"/>
              <a:sym typeface="Calibri"/>
            </a:endParaRPr>
          </a:p>
          <a:p>
            <a:pPr marL="0" lvl="0" indent="0" algn="l" rtl="0">
              <a:spcBef>
                <a:spcPts val="0"/>
              </a:spcBef>
              <a:spcAft>
                <a:spcPts val="0"/>
              </a:spcAft>
              <a:buNone/>
            </a:pPr>
            <a:r>
              <a:rPr lang="ja-JP" altLang="en-US" sz="1800" dirty="0">
                <a:latin typeface="Calibri"/>
                <a:ea typeface="Calibri"/>
                <a:cs typeface="Calibri"/>
                <a:sym typeface="Calibri"/>
              </a:rPr>
              <a:t>・作業者を増やすとか問題条件の拡張も</a:t>
            </a:r>
            <a:endParaRPr lang="en-US" altLang="ja-JP" sz="1800" dirty="0">
              <a:latin typeface="Calibri"/>
              <a:ea typeface="Calibri"/>
              <a:cs typeface="Calibri"/>
              <a:sym typeface="Calibri"/>
            </a:endParaRPr>
          </a:p>
        </p:txBody>
      </p:sp>
      <p:sp>
        <p:nvSpPr>
          <p:cNvPr id="91" name="Google Shape;91;p15">
            <a:extLst>
              <a:ext uri="{FF2B5EF4-FFF2-40B4-BE49-F238E27FC236}">
                <a16:creationId xmlns:a16="http://schemas.microsoft.com/office/drawing/2014/main" id="{C3E621CA-C415-5507-BBF6-F4E93E6FCB6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cxnSp>
        <p:nvCxnSpPr>
          <p:cNvPr id="11" name="Google Shape;65;p14">
            <a:extLst>
              <a:ext uri="{FF2B5EF4-FFF2-40B4-BE49-F238E27FC236}">
                <a16:creationId xmlns:a16="http://schemas.microsoft.com/office/drawing/2014/main" id="{C2B34570-2AB0-09C4-A8D6-8F798B61E956}"/>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12" name="Google Shape;66;p14">
            <a:extLst>
              <a:ext uri="{FF2B5EF4-FFF2-40B4-BE49-F238E27FC236}">
                <a16:creationId xmlns:a16="http://schemas.microsoft.com/office/drawing/2014/main" id="{2DC5F494-945F-C437-C562-9CB611157E32}"/>
              </a:ext>
            </a:extLst>
          </p:cNvPr>
          <p:cNvSpPr txBox="1"/>
          <p:nvPr/>
        </p:nvSpPr>
        <p:spPr>
          <a:xfrm>
            <a:off x="234789" y="80950"/>
            <a:ext cx="833171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2.</a:t>
            </a:r>
            <a:r>
              <a:rPr lang="en-US" altLang="ja-JP" sz="2200" dirty="0">
                <a:solidFill>
                  <a:schemeClr val="accent5"/>
                </a:solidFill>
                <a:latin typeface="Calibri"/>
                <a:ea typeface="Calibri"/>
                <a:cs typeface="Calibri"/>
                <a:sym typeface="Calibri"/>
              </a:rPr>
              <a:t> </a:t>
            </a:r>
            <a:r>
              <a:rPr lang="ja-JP" altLang="en-US" sz="2200" dirty="0">
                <a:solidFill>
                  <a:schemeClr val="tx1"/>
                </a:solidFill>
                <a:latin typeface="Calibri"/>
                <a:ea typeface="Calibri"/>
                <a:cs typeface="Calibri"/>
                <a:sym typeface="Calibri"/>
              </a:rPr>
              <a:t>新たな交叉手法の開発</a:t>
            </a:r>
            <a:endParaRPr sz="1800" b="1" dirty="0">
              <a:solidFill>
                <a:schemeClr val="tx1"/>
              </a:solidFill>
              <a:latin typeface="Calibri"/>
              <a:ea typeface="Calibri"/>
              <a:cs typeface="Calibri"/>
              <a:sym typeface="Calibri"/>
            </a:endParaRPr>
          </a:p>
        </p:txBody>
      </p:sp>
    </p:spTree>
    <p:extLst>
      <p:ext uri="{BB962C8B-B14F-4D97-AF65-F5344CB8AC3E}">
        <p14:creationId xmlns:p14="http://schemas.microsoft.com/office/powerpoint/2010/main" val="882737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E148C6AF-D5DA-4F40-2E8B-7CCDC4A25E0E}"/>
            </a:ext>
          </a:extLst>
        </p:cNvPr>
        <p:cNvGrpSpPr/>
        <p:nvPr/>
      </p:nvGrpSpPr>
      <p:grpSpPr>
        <a:xfrm>
          <a:off x="0" y="0"/>
          <a:ext cx="0" cy="0"/>
          <a:chOff x="0" y="0"/>
          <a:chExt cx="0" cy="0"/>
        </a:xfrm>
      </p:grpSpPr>
      <p:cxnSp>
        <p:nvCxnSpPr>
          <p:cNvPr id="65" name="Google Shape;65;p14">
            <a:extLst>
              <a:ext uri="{FF2B5EF4-FFF2-40B4-BE49-F238E27FC236}">
                <a16:creationId xmlns:a16="http://schemas.microsoft.com/office/drawing/2014/main" id="{2A424196-4BF4-FB10-B139-0C740352E58E}"/>
              </a:ext>
            </a:extLst>
          </p:cNvPr>
          <p:cNvCxnSpPr/>
          <p:nvPr/>
        </p:nvCxnSpPr>
        <p:spPr>
          <a:xfrm>
            <a:off x="100500" y="578139"/>
            <a:ext cx="8836500" cy="0"/>
          </a:xfrm>
          <a:prstGeom prst="straightConnector1">
            <a:avLst/>
          </a:prstGeom>
          <a:noFill/>
          <a:ln w="28575" cap="flat" cmpd="sng">
            <a:solidFill>
              <a:schemeClr val="accent1">
                <a:lumMod val="50000"/>
              </a:schemeClr>
            </a:solidFill>
            <a:prstDash val="solid"/>
            <a:round/>
            <a:headEnd type="none" w="med" len="med"/>
            <a:tailEnd type="none" w="med" len="med"/>
          </a:ln>
        </p:spPr>
      </p:cxnSp>
      <p:sp>
        <p:nvSpPr>
          <p:cNvPr id="66" name="Google Shape;66;p14">
            <a:extLst>
              <a:ext uri="{FF2B5EF4-FFF2-40B4-BE49-F238E27FC236}">
                <a16:creationId xmlns:a16="http://schemas.microsoft.com/office/drawing/2014/main" id="{91FD9E5B-6F85-10A3-7133-8B16A05D8D30}"/>
              </a:ext>
            </a:extLst>
          </p:cNvPr>
          <p:cNvSpPr txBox="1"/>
          <p:nvPr/>
        </p:nvSpPr>
        <p:spPr>
          <a:xfrm>
            <a:off x="234789" y="80950"/>
            <a:ext cx="34626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JP" sz="2500" dirty="0">
                <a:solidFill>
                  <a:schemeClr val="accent1">
                    <a:lumMod val="50000"/>
                  </a:schemeClr>
                </a:solidFill>
                <a:latin typeface="Calibri"/>
                <a:ea typeface="Calibri"/>
                <a:cs typeface="Calibri"/>
                <a:sym typeface="Calibri"/>
              </a:rPr>
              <a:t>0.</a:t>
            </a:r>
            <a:r>
              <a:rPr lang="en-US" altLang="ja-JP" sz="2200" dirty="0">
                <a:solidFill>
                  <a:schemeClr val="accent5"/>
                </a:solidFill>
                <a:latin typeface="Calibri"/>
                <a:ea typeface="Calibri"/>
                <a:cs typeface="Calibri"/>
                <a:sym typeface="Calibri"/>
              </a:rPr>
              <a:t> </a:t>
            </a:r>
            <a:r>
              <a:rPr lang="ja-JP" altLang="en-US" sz="2200" dirty="0">
                <a:latin typeface="Calibri"/>
                <a:ea typeface="Calibri"/>
                <a:cs typeface="Calibri"/>
                <a:sym typeface="Calibri"/>
              </a:rPr>
              <a:t>目次</a:t>
            </a:r>
            <a:endParaRPr sz="2200" dirty="0">
              <a:latin typeface="Calibri"/>
              <a:ea typeface="Calibri"/>
              <a:cs typeface="Calibri"/>
              <a:sym typeface="Calibri"/>
            </a:endParaRPr>
          </a:p>
        </p:txBody>
      </p:sp>
      <p:sp>
        <p:nvSpPr>
          <p:cNvPr id="67" name="Google Shape;67;p14">
            <a:extLst>
              <a:ext uri="{FF2B5EF4-FFF2-40B4-BE49-F238E27FC236}">
                <a16:creationId xmlns:a16="http://schemas.microsoft.com/office/drawing/2014/main" id="{1DD355E8-7357-33A0-D938-1C83CF3BFD9B}"/>
              </a:ext>
            </a:extLst>
          </p:cNvPr>
          <p:cNvSpPr txBox="1"/>
          <p:nvPr/>
        </p:nvSpPr>
        <p:spPr>
          <a:xfrm>
            <a:off x="1371925" y="2617028"/>
            <a:ext cx="26022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提案手法</a:t>
            </a:r>
            <a:endParaRPr sz="2000" b="1" dirty="0">
              <a:solidFill>
                <a:schemeClr val="bg1">
                  <a:lumMod val="75000"/>
                </a:schemeClr>
              </a:solidFill>
            </a:endParaRPr>
          </a:p>
        </p:txBody>
      </p:sp>
      <p:sp>
        <p:nvSpPr>
          <p:cNvPr id="68" name="Google Shape;68;p14">
            <a:extLst>
              <a:ext uri="{FF2B5EF4-FFF2-40B4-BE49-F238E27FC236}">
                <a16:creationId xmlns:a16="http://schemas.microsoft.com/office/drawing/2014/main" id="{24DCC371-ED79-9D87-005D-2B3F6376C584}"/>
              </a:ext>
            </a:extLst>
          </p:cNvPr>
          <p:cNvSpPr txBox="1"/>
          <p:nvPr/>
        </p:nvSpPr>
        <p:spPr>
          <a:xfrm>
            <a:off x="694325" y="25534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3</a:t>
            </a:r>
            <a:r>
              <a:rPr lang="en-US" altLang="ja" sz="2500" b="1" dirty="0">
                <a:solidFill>
                  <a:schemeClr val="bg1">
                    <a:lumMod val="75000"/>
                  </a:schemeClr>
                </a:solidFill>
              </a:rPr>
              <a:t>.</a:t>
            </a:r>
            <a:endParaRPr sz="2500" b="1" dirty="0">
              <a:solidFill>
                <a:schemeClr val="bg1">
                  <a:lumMod val="75000"/>
                </a:schemeClr>
              </a:solidFill>
            </a:endParaRPr>
          </a:p>
        </p:txBody>
      </p:sp>
      <p:sp>
        <p:nvSpPr>
          <p:cNvPr id="73" name="Google Shape;73;p14">
            <a:extLst>
              <a:ext uri="{FF2B5EF4-FFF2-40B4-BE49-F238E27FC236}">
                <a16:creationId xmlns:a16="http://schemas.microsoft.com/office/drawing/2014/main" id="{AB130558-8F02-DF00-76EF-9A59EA79D427}"/>
              </a:ext>
            </a:extLst>
          </p:cNvPr>
          <p:cNvSpPr txBox="1"/>
          <p:nvPr/>
        </p:nvSpPr>
        <p:spPr>
          <a:xfrm>
            <a:off x="1371925" y="1839878"/>
            <a:ext cx="20337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既存研究</a:t>
            </a:r>
            <a:endParaRPr sz="2000" b="1" dirty="0">
              <a:solidFill>
                <a:schemeClr val="bg1">
                  <a:lumMod val="75000"/>
                </a:schemeClr>
              </a:solidFill>
            </a:endParaRPr>
          </a:p>
        </p:txBody>
      </p:sp>
      <p:sp>
        <p:nvSpPr>
          <p:cNvPr id="74" name="Google Shape;74;p14">
            <a:extLst>
              <a:ext uri="{FF2B5EF4-FFF2-40B4-BE49-F238E27FC236}">
                <a16:creationId xmlns:a16="http://schemas.microsoft.com/office/drawing/2014/main" id="{9F357A9E-632E-A2BD-401C-907A694D1588}"/>
              </a:ext>
            </a:extLst>
          </p:cNvPr>
          <p:cNvSpPr txBox="1"/>
          <p:nvPr/>
        </p:nvSpPr>
        <p:spPr>
          <a:xfrm>
            <a:off x="694325" y="177627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2</a:t>
            </a:r>
            <a:r>
              <a:rPr lang="en-US" altLang="ja" sz="2500" b="1" dirty="0">
                <a:solidFill>
                  <a:schemeClr val="bg1">
                    <a:lumMod val="75000"/>
                  </a:schemeClr>
                </a:solidFill>
              </a:rPr>
              <a:t>.</a:t>
            </a:r>
            <a:endParaRPr sz="2500" b="1" dirty="0">
              <a:solidFill>
                <a:schemeClr val="bg1">
                  <a:lumMod val="75000"/>
                </a:schemeClr>
              </a:solidFill>
            </a:endParaRPr>
          </a:p>
        </p:txBody>
      </p:sp>
      <p:sp>
        <p:nvSpPr>
          <p:cNvPr id="69" name="Google Shape;69;p14">
            <a:extLst>
              <a:ext uri="{FF2B5EF4-FFF2-40B4-BE49-F238E27FC236}">
                <a16:creationId xmlns:a16="http://schemas.microsoft.com/office/drawing/2014/main" id="{72A8F3E1-FB33-D68B-E884-FDA4954E629B}"/>
              </a:ext>
            </a:extLst>
          </p:cNvPr>
          <p:cNvSpPr txBox="1"/>
          <p:nvPr/>
        </p:nvSpPr>
        <p:spPr>
          <a:xfrm>
            <a:off x="1371925" y="3342391"/>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bg1">
                    <a:lumMod val="75000"/>
                  </a:schemeClr>
                </a:solidFill>
              </a:rPr>
              <a:t>計算機実験</a:t>
            </a:r>
            <a:endParaRPr sz="2000" b="1" dirty="0">
              <a:solidFill>
                <a:schemeClr val="bg1">
                  <a:lumMod val="75000"/>
                </a:schemeClr>
              </a:solidFill>
            </a:endParaRPr>
          </a:p>
        </p:txBody>
      </p:sp>
      <p:sp>
        <p:nvSpPr>
          <p:cNvPr id="70" name="Google Shape;70;p14">
            <a:extLst>
              <a:ext uri="{FF2B5EF4-FFF2-40B4-BE49-F238E27FC236}">
                <a16:creationId xmlns:a16="http://schemas.microsoft.com/office/drawing/2014/main" id="{BFD42A43-F31B-902C-8C7D-DD31B1F567EA}"/>
              </a:ext>
            </a:extLst>
          </p:cNvPr>
          <p:cNvSpPr txBox="1"/>
          <p:nvPr/>
        </p:nvSpPr>
        <p:spPr>
          <a:xfrm>
            <a:off x="694325" y="3278791"/>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4</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75" name="Google Shape;75;p14">
            <a:extLst>
              <a:ext uri="{FF2B5EF4-FFF2-40B4-BE49-F238E27FC236}">
                <a16:creationId xmlns:a16="http://schemas.microsoft.com/office/drawing/2014/main" id="{0EE2E802-2154-43F4-542E-2180C07BE4D7}"/>
              </a:ext>
            </a:extLst>
          </p:cNvPr>
          <p:cNvCxnSpPr/>
          <p:nvPr/>
        </p:nvCxnSpPr>
        <p:spPr>
          <a:xfrm>
            <a:off x="1038900" y="3746491"/>
            <a:ext cx="34638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6" name="Google Shape;76;p14">
            <a:extLst>
              <a:ext uri="{FF2B5EF4-FFF2-40B4-BE49-F238E27FC236}">
                <a16:creationId xmlns:a16="http://schemas.microsoft.com/office/drawing/2014/main" id="{863AE8B3-FCEA-8736-9DD1-F8D5C3BC324C}"/>
              </a:ext>
            </a:extLst>
          </p:cNvPr>
          <p:cNvCxnSpPr/>
          <p:nvPr/>
        </p:nvCxnSpPr>
        <p:spPr>
          <a:xfrm>
            <a:off x="1038900" y="2265916"/>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cxnSp>
        <p:nvCxnSpPr>
          <p:cNvPr id="78" name="Google Shape;78;p14">
            <a:extLst>
              <a:ext uri="{FF2B5EF4-FFF2-40B4-BE49-F238E27FC236}">
                <a16:creationId xmlns:a16="http://schemas.microsoft.com/office/drawing/2014/main" id="{ECD98776-7FE5-BEF1-1B36-44D465F9C0DC}"/>
              </a:ext>
            </a:extLst>
          </p:cNvPr>
          <p:cNvCxnSpPr/>
          <p:nvPr/>
        </p:nvCxnSpPr>
        <p:spPr>
          <a:xfrm>
            <a:off x="1038900" y="3021128"/>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79" name="Google Shape;79;p14">
            <a:extLst>
              <a:ext uri="{FF2B5EF4-FFF2-40B4-BE49-F238E27FC236}">
                <a16:creationId xmlns:a16="http://schemas.microsoft.com/office/drawing/2014/main" id="{670BE1E9-E1CD-5CA1-9612-B327653BD7DC}"/>
              </a:ext>
            </a:extLst>
          </p:cNvPr>
          <p:cNvSpPr txBox="1"/>
          <p:nvPr/>
        </p:nvSpPr>
        <p:spPr>
          <a:xfrm>
            <a:off x="1371913" y="1126328"/>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2000" b="1" dirty="0">
                <a:solidFill>
                  <a:schemeClr val="bg1">
                    <a:lumMod val="75000"/>
                  </a:schemeClr>
                </a:solidFill>
              </a:rPr>
              <a:t>研究背景</a:t>
            </a:r>
            <a:r>
              <a:rPr lang="ja-JP" altLang="en-US" sz="2000" b="1" dirty="0">
                <a:solidFill>
                  <a:schemeClr val="bg1">
                    <a:lumMod val="75000"/>
                  </a:schemeClr>
                </a:solidFill>
              </a:rPr>
              <a:t>・目的</a:t>
            </a:r>
            <a:endParaRPr sz="2000" b="1" dirty="0">
              <a:solidFill>
                <a:schemeClr val="bg1">
                  <a:lumMod val="75000"/>
                </a:schemeClr>
              </a:solidFill>
            </a:endParaRPr>
          </a:p>
        </p:txBody>
      </p:sp>
      <p:sp>
        <p:nvSpPr>
          <p:cNvPr id="80" name="Google Shape;80;p14">
            <a:extLst>
              <a:ext uri="{FF2B5EF4-FFF2-40B4-BE49-F238E27FC236}">
                <a16:creationId xmlns:a16="http://schemas.microsoft.com/office/drawing/2014/main" id="{1411F3AA-CE98-3A81-C8CD-42E6FDAAA272}"/>
              </a:ext>
            </a:extLst>
          </p:cNvPr>
          <p:cNvSpPr txBox="1"/>
          <p:nvPr/>
        </p:nvSpPr>
        <p:spPr>
          <a:xfrm>
            <a:off x="694313" y="1062728"/>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500" b="1" dirty="0">
                <a:solidFill>
                  <a:schemeClr val="bg1">
                    <a:lumMod val="75000"/>
                  </a:schemeClr>
                </a:solidFill>
              </a:rPr>
              <a:t>1</a:t>
            </a:r>
            <a:r>
              <a:rPr lang="en-US" altLang="ja" sz="2500" b="1" dirty="0">
                <a:solidFill>
                  <a:schemeClr val="bg1">
                    <a:lumMod val="75000"/>
                  </a:schemeClr>
                </a:solidFill>
              </a:rPr>
              <a:t>.</a:t>
            </a:r>
            <a:endParaRPr sz="2500" b="1" dirty="0">
              <a:solidFill>
                <a:schemeClr val="bg1">
                  <a:lumMod val="75000"/>
                </a:schemeClr>
              </a:solidFill>
            </a:endParaRPr>
          </a:p>
        </p:txBody>
      </p:sp>
      <p:cxnSp>
        <p:nvCxnSpPr>
          <p:cNvPr id="81" name="Google Shape;81;p14">
            <a:extLst>
              <a:ext uri="{FF2B5EF4-FFF2-40B4-BE49-F238E27FC236}">
                <a16:creationId xmlns:a16="http://schemas.microsoft.com/office/drawing/2014/main" id="{51D2AB8F-4DDC-89DA-BD6F-0948B402124F}"/>
              </a:ext>
            </a:extLst>
          </p:cNvPr>
          <p:cNvCxnSpPr/>
          <p:nvPr/>
        </p:nvCxnSpPr>
        <p:spPr>
          <a:xfrm>
            <a:off x="1038888" y="1545503"/>
            <a:ext cx="3454500" cy="0"/>
          </a:xfrm>
          <a:prstGeom prst="straightConnector1">
            <a:avLst/>
          </a:prstGeom>
          <a:noFill/>
          <a:ln w="19050" cap="flat" cmpd="sng">
            <a:solidFill>
              <a:schemeClr val="bg1">
                <a:lumMod val="75000"/>
              </a:schemeClr>
            </a:solidFill>
            <a:prstDash val="solid"/>
            <a:round/>
            <a:headEnd type="none" w="med" len="med"/>
            <a:tailEnd type="diamond" w="med" len="med"/>
          </a:ln>
        </p:spPr>
      </p:cxnSp>
      <p:sp>
        <p:nvSpPr>
          <p:cNvPr id="2" name="Google Shape;69;p14">
            <a:extLst>
              <a:ext uri="{FF2B5EF4-FFF2-40B4-BE49-F238E27FC236}">
                <a16:creationId xmlns:a16="http://schemas.microsoft.com/office/drawing/2014/main" id="{3A3D37DE-B492-E197-5DC8-3FEDA1AC56D8}"/>
              </a:ext>
            </a:extLst>
          </p:cNvPr>
          <p:cNvSpPr txBox="1"/>
          <p:nvPr/>
        </p:nvSpPr>
        <p:spPr>
          <a:xfrm>
            <a:off x="1387975" y="4090986"/>
            <a:ext cx="28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000" b="1" dirty="0">
                <a:solidFill>
                  <a:schemeClr val="dk1"/>
                </a:solidFill>
              </a:rPr>
              <a:t>結論</a:t>
            </a:r>
            <a:endParaRPr sz="2000" b="1" dirty="0">
              <a:solidFill>
                <a:schemeClr val="dk1"/>
              </a:solidFill>
            </a:endParaRPr>
          </a:p>
        </p:txBody>
      </p:sp>
      <p:sp>
        <p:nvSpPr>
          <p:cNvPr id="3" name="Google Shape;70;p14">
            <a:extLst>
              <a:ext uri="{FF2B5EF4-FFF2-40B4-BE49-F238E27FC236}">
                <a16:creationId xmlns:a16="http://schemas.microsoft.com/office/drawing/2014/main" id="{3EBCF14C-F1F6-A17D-9E67-13B7F076DDFD}"/>
              </a:ext>
            </a:extLst>
          </p:cNvPr>
          <p:cNvSpPr txBox="1"/>
          <p:nvPr/>
        </p:nvSpPr>
        <p:spPr>
          <a:xfrm>
            <a:off x="710375" y="4027386"/>
            <a:ext cx="825900" cy="46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2500" b="1" dirty="0">
                <a:solidFill>
                  <a:schemeClr val="accent1">
                    <a:lumMod val="50000"/>
                  </a:schemeClr>
                </a:solidFill>
              </a:rPr>
              <a:t>5.</a:t>
            </a:r>
            <a:endParaRPr sz="2500" b="1" dirty="0">
              <a:solidFill>
                <a:schemeClr val="accent1">
                  <a:lumMod val="50000"/>
                </a:schemeClr>
              </a:solidFill>
            </a:endParaRPr>
          </a:p>
        </p:txBody>
      </p:sp>
      <p:cxnSp>
        <p:nvCxnSpPr>
          <p:cNvPr id="4" name="Google Shape;75;p14">
            <a:extLst>
              <a:ext uri="{FF2B5EF4-FFF2-40B4-BE49-F238E27FC236}">
                <a16:creationId xmlns:a16="http://schemas.microsoft.com/office/drawing/2014/main" id="{A1DB7E93-50AE-9D5C-D0B5-3D47A8B56B9A}"/>
              </a:ext>
            </a:extLst>
          </p:cNvPr>
          <p:cNvCxnSpPr/>
          <p:nvPr/>
        </p:nvCxnSpPr>
        <p:spPr>
          <a:xfrm>
            <a:off x="1054950" y="4495086"/>
            <a:ext cx="3463800" cy="0"/>
          </a:xfrm>
          <a:prstGeom prst="straightConnector1">
            <a:avLst/>
          </a:prstGeom>
          <a:noFill/>
          <a:ln w="19050" cap="flat" cmpd="sng">
            <a:solidFill>
              <a:schemeClr val="accent1">
                <a:lumMod val="50000"/>
              </a:schemeClr>
            </a:solidFill>
            <a:prstDash val="solid"/>
            <a:round/>
            <a:headEnd type="none" w="med" len="med"/>
            <a:tailEnd type="diamond" w="med" len="med"/>
          </a:ln>
        </p:spPr>
      </p:cxnSp>
    </p:spTree>
    <p:extLst>
      <p:ext uri="{BB962C8B-B14F-4D97-AF65-F5344CB8AC3E}">
        <p14:creationId xmlns:p14="http://schemas.microsoft.com/office/powerpoint/2010/main" val="350860360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251223</TotalTime>
  <Words>1236</Words>
  <Application>Microsoft Office PowerPoint</Application>
  <PresentationFormat>画面に合わせる (16:9)</PresentationFormat>
  <Paragraphs>276</Paragraphs>
  <Slides>24</Slides>
  <Notes>24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24</vt:i4>
      </vt:variant>
    </vt:vector>
  </HeadingPairs>
  <TitlesOfParts>
    <vt:vector size="27" baseType="lpstr">
      <vt:lpstr>Arial</vt:lpstr>
      <vt:lpstr>Calibri</vt:lpstr>
      <vt:lpstr>Simple Light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鬼頭拓海</dc:creator>
  <cp:lastModifiedBy>拓海 鬼頭</cp:lastModifiedBy>
  <cp:revision>49</cp:revision>
  <dcterms:modified xsi:type="dcterms:W3CDTF">2025-12-07T12:21:12Z</dcterms:modified>
</cp:coreProperties>
</file>